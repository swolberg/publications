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theme/theme2.xml" ContentType="application/vnd.openxmlformats-officedocument.theme+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officeDocument/2006/relationships/officeDocument" Target="ppt/presentation.xml"/><Relationship Id="rId1" Type="http://schemas.microsoft.com/office/2011/relationships/webextensiontaskpanes" Target="ppt/webextensions/taskpanes.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2" r:id="rId1"/>
    <p:sldMasterId id="2147483693" r:id="rId2"/>
    <p:sldMasterId id="2147483694" r:id="rId3"/>
  </p:sldMasterIdLst>
  <p:notesMasterIdLst>
    <p:notesMasterId r:id="rId44"/>
  </p:notesMasterIdLst>
  <p:sldIdLst>
    <p:sldId id="256" r:id="rId4"/>
    <p:sldId id="257" r:id="rId5"/>
    <p:sldId id="258" r:id="rId6"/>
    <p:sldId id="259" r:id="rId7"/>
    <p:sldId id="272" r:id="rId8"/>
    <p:sldId id="274" r:id="rId9"/>
    <p:sldId id="281" r:id="rId10"/>
    <p:sldId id="279" r:id="rId11"/>
    <p:sldId id="283" r:id="rId12"/>
    <p:sldId id="285" r:id="rId13"/>
    <p:sldId id="288" r:id="rId14"/>
    <p:sldId id="261" r:id="rId15"/>
    <p:sldId id="290" r:id="rId16"/>
    <p:sldId id="291" r:id="rId17"/>
    <p:sldId id="293" r:id="rId18"/>
    <p:sldId id="295" r:id="rId19"/>
    <p:sldId id="297" r:id="rId20"/>
    <p:sldId id="298" r:id="rId21"/>
    <p:sldId id="306" r:id="rId22"/>
    <p:sldId id="307" r:id="rId23"/>
    <p:sldId id="313" r:id="rId24"/>
    <p:sldId id="308" r:id="rId25"/>
    <p:sldId id="323" r:id="rId26"/>
    <p:sldId id="309" r:id="rId27"/>
    <p:sldId id="324" r:id="rId28"/>
    <p:sldId id="310" r:id="rId29"/>
    <p:sldId id="322" r:id="rId30"/>
    <p:sldId id="311" r:id="rId31"/>
    <p:sldId id="321" r:id="rId32"/>
    <p:sldId id="334" r:id="rId33"/>
    <p:sldId id="335" r:id="rId34"/>
    <p:sldId id="336" r:id="rId35"/>
    <p:sldId id="337" r:id="rId36"/>
    <p:sldId id="338" r:id="rId37"/>
    <p:sldId id="339" r:id="rId38"/>
    <p:sldId id="340" r:id="rId39"/>
    <p:sldId id="341" r:id="rId40"/>
    <p:sldId id="265" r:id="rId41"/>
    <p:sldId id="342" r:id="rId42"/>
    <p:sldId id="268" r:id="rId43"/>
  </p:sldIdLst>
  <p:sldSz cx="9144000" cy="5143500" type="screen16x9"/>
  <p:notesSz cx="6858000" cy="9144000"/>
  <p:embeddedFontLst>
    <p:embeddedFont>
      <p:font typeface="Century Gothic" panose="020B0502020202020204" pitchFamily="34" charset="0"/>
      <p:regular r:id="rId45"/>
      <p:bold r:id="rId46"/>
      <p:italic r:id="rId47"/>
      <p:boldItalic r:id="rId48"/>
    </p:embeddedFont>
    <p:embeddedFont>
      <p:font typeface="Consolas" panose="020B0609020204030204" pitchFamily="49" charset="0"/>
      <p:regular r:id="rId49"/>
      <p:bold r:id="rId50"/>
      <p:italic r:id="rId51"/>
      <p:boldItalic r:id="rId52"/>
    </p:embeddedFont>
    <p:embeddedFont>
      <p:font typeface="Montserrat" pitchFamily="2" charset="77"/>
      <p:regular r:id="rId53"/>
      <p:bold r:id="rId54"/>
      <p:italic r:id="rId55"/>
      <p:boldItalic r:id="rId56"/>
    </p:embeddedFont>
    <p:embeddedFont>
      <p:font typeface="Nunito" pitchFamily="2" charset="77"/>
      <p:regular r:id="rId57"/>
      <p:bold r:id="rId58"/>
      <p:italic r:id="rId59"/>
      <p:boldItalic r:id="rId60"/>
    </p:embeddedFont>
    <p:embeddedFont>
      <p:font typeface="Nunito ExtraBold" pitchFamily="2" charset="77"/>
      <p:bold r:id="rId61"/>
      <p:italic r:id="rId62"/>
      <p:boldItalic r:id="rId63"/>
    </p:embeddedFont>
    <p:embeddedFont>
      <p:font typeface="Nunito SemiBold" pitchFamily="2" charset="77"/>
      <p:regular r:id="rId64"/>
      <p:bold r:id="rId65"/>
      <p:italic r:id="rId66"/>
      <p:boldItalic r:id="rId6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11B3D4AF-D05D-46CC-AD48-3D6A0D768892}">
  <a:tblStyle styleId="{11B3D4AF-D05D-46CC-AD48-3D6A0D768892}" styleName="Table_0">
    <a:wholeTbl>
      <a:tcTxStyle b="off" i="off">
        <a:font>
          <a:latin typeface="Arial"/>
          <a:ea typeface="Arial"/>
          <a:cs typeface="Arial"/>
        </a:font>
        <a:srgbClr val="000000"/>
      </a:tcTxStyle>
      <a:tcStyle>
        <a:tcBdr>
          <a:left>
            <a:ln w="9525" cap="flat" cmpd="sng">
              <a:solidFill>
                <a:srgbClr val="000000">
                  <a:alpha val="0"/>
                </a:srgbClr>
              </a:solidFill>
              <a:prstDash val="solid"/>
              <a:round/>
              <a:headEnd type="none" w="sm" len="sm"/>
              <a:tailEnd type="none" w="sm" len="sm"/>
            </a:ln>
          </a:left>
          <a:right>
            <a:ln w="9525" cap="flat" cmpd="sng">
              <a:solidFill>
                <a:srgbClr val="000000">
                  <a:alpha val="0"/>
                </a:srgbClr>
              </a:solidFill>
              <a:prstDash val="solid"/>
              <a:round/>
              <a:headEnd type="none" w="sm" len="sm"/>
              <a:tailEnd type="none" w="sm" len="sm"/>
            </a:ln>
          </a:right>
          <a:top>
            <a:ln w="12700" cap="flat" cmpd="sng">
              <a:solidFill>
                <a:srgbClr val="5B9BD5"/>
              </a:solidFill>
              <a:prstDash val="solid"/>
              <a:round/>
              <a:headEnd type="none" w="sm" len="sm"/>
              <a:tailEnd type="none" w="sm" len="sm"/>
            </a:ln>
          </a:top>
          <a:bottom>
            <a:ln w="12700" cap="flat" cmpd="sng">
              <a:solidFill>
                <a:srgbClr val="5B9BD5"/>
              </a:solidFill>
              <a:prstDash val="solid"/>
              <a:round/>
              <a:headEnd type="none" w="sm" len="sm"/>
              <a:tailEnd type="none" w="sm" len="sm"/>
            </a:ln>
          </a:bottom>
          <a:insideH>
            <a:ln w="9525" cap="flat" cmpd="sng">
              <a:solidFill>
                <a:srgbClr val="000000">
                  <a:alpha val="0"/>
                </a:srgbClr>
              </a:solidFill>
              <a:prstDash val="solid"/>
              <a:round/>
              <a:headEnd type="none" w="sm" len="sm"/>
              <a:tailEnd type="none" w="sm" len="sm"/>
            </a:ln>
          </a:insideH>
          <a:insideV>
            <a:ln w="9525" cap="flat" cmpd="sng">
              <a:solidFill>
                <a:srgbClr val="000000">
                  <a:alpha val="0"/>
                </a:srgbClr>
              </a:solidFill>
              <a:prstDash val="solid"/>
              <a:round/>
              <a:headEnd type="none" w="sm" len="sm"/>
              <a:tailEnd type="none" w="sm" len="sm"/>
            </a:ln>
          </a:insideV>
        </a:tcBdr>
        <a:fill>
          <a:solidFill>
            <a:srgbClr val="FFFFFF">
              <a:alpha val="0"/>
            </a:srgbClr>
          </a:solidFill>
        </a:fill>
      </a:tcStyle>
    </a:wholeTbl>
    <a:band1H>
      <a:tcTxStyle b="off" i="off"/>
      <a:tcStyle>
        <a:tcBdr/>
        <a:fill>
          <a:solidFill>
            <a:srgbClr val="5B9BD5">
              <a:alpha val="20000"/>
            </a:srgbClr>
          </a:solidFill>
        </a:fill>
      </a:tcStyle>
    </a:band1H>
    <a:band2H>
      <a:tcTxStyle b="off" i="off"/>
      <a:tcStyle>
        <a:tcBdr/>
      </a:tcStyle>
    </a:band2H>
    <a:band1V>
      <a:tcTxStyle b="off" i="off"/>
      <a:tcStyle>
        <a:tcBdr/>
        <a:fill>
          <a:solidFill>
            <a:srgbClr val="5B9BD5">
              <a:alpha val="20000"/>
            </a:srgbClr>
          </a:solidFill>
        </a:fill>
      </a:tcStyle>
    </a:band1V>
    <a:band2V>
      <a:tcTxStyle b="off" i="off"/>
      <a:tcStyle>
        <a:tcBdr/>
      </a:tcStyle>
    </a:band2V>
    <a:lastCol>
      <a:tcTxStyle b="on" i="off"/>
      <a:tcStyle>
        <a:tcBdr/>
      </a:tcStyle>
    </a:lastCol>
    <a:firstCol>
      <a:tcTxStyle b="on" i="off"/>
      <a:tcStyle>
        <a:tcBdr/>
      </a:tcStyle>
    </a:firstCol>
    <a:lastRow>
      <a:tcTxStyle b="on" i="off"/>
      <a:tcStyle>
        <a:tcBdr>
          <a:top>
            <a:ln w="12700" cap="flat" cmpd="sng">
              <a:solidFill>
                <a:srgbClr val="5B9BD5"/>
              </a:solidFill>
              <a:prstDash val="solid"/>
              <a:round/>
              <a:headEnd type="none" w="sm" len="sm"/>
              <a:tailEnd type="none" w="sm" len="sm"/>
            </a:ln>
          </a:top>
        </a:tcBdr>
        <a:fill>
          <a:solidFill>
            <a:srgbClr val="FFFFFF">
              <a:alpha val="0"/>
            </a:srgbClr>
          </a:solidFill>
        </a:fill>
      </a:tcStyle>
    </a:lastRow>
    <a:seCell>
      <a:tcTxStyle b="off" i="off"/>
      <a:tcStyle>
        <a:tcBdr/>
      </a:tcStyle>
    </a:seCell>
    <a:swCell>
      <a:tcTxStyle b="off" i="off"/>
      <a:tcStyle>
        <a:tcBdr/>
      </a:tcStyle>
    </a:swCell>
    <a:firstRow>
      <a:tcTxStyle b="on" i="off"/>
      <a:tcStyle>
        <a:tcBdr>
          <a:bottom>
            <a:ln w="12700" cap="flat" cmpd="sng">
              <a:solidFill>
                <a:srgbClr val="5B9BD5"/>
              </a:solidFill>
              <a:prstDash val="solid"/>
              <a:round/>
              <a:headEnd type="none" w="sm" len="sm"/>
              <a:tailEnd type="none" w="sm" len="sm"/>
            </a:ln>
          </a:bottom>
        </a:tcBdr>
        <a:fill>
          <a:solidFill>
            <a:srgbClr val="FFFFFF">
              <a:alpha val="0"/>
            </a:srgbClr>
          </a:solidFill>
        </a:fill>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5340"/>
  </p:normalViewPr>
  <p:slideViewPr>
    <p:cSldViewPr snapToGrid="0">
      <p:cViewPr varScale="1">
        <p:scale>
          <a:sx n="129" d="100"/>
          <a:sy n="129" d="100"/>
        </p:scale>
        <p:origin x="216" y="712"/>
      </p:cViewPr>
      <p:guideLst>
        <p:guide orient="horz" pos="1620"/>
        <p:guide pos="288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3.xml"/><Relationship Id="rId21" Type="http://schemas.openxmlformats.org/officeDocument/2006/relationships/slide" Target="slides/slide18.xml"/><Relationship Id="rId42" Type="http://schemas.openxmlformats.org/officeDocument/2006/relationships/slide" Target="slides/slide39.xml"/><Relationship Id="rId47" Type="http://schemas.openxmlformats.org/officeDocument/2006/relationships/font" Target="fonts/font3.fntdata"/><Relationship Id="rId63" Type="http://schemas.openxmlformats.org/officeDocument/2006/relationships/font" Target="fonts/font19.fntdata"/><Relationship Id="rId68" Type="http://schemas.openxmlformats.org/officeDocument/2006/relationships/presProps" Target="presProps.xml"/><Relationship Id="rId7" Type="http://schemas.openxmlformats.org/officeDocument/2006/relationships/slide" Target="slides/slide4.xml"/><Relationship Id="rId71"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font" Target="fonts/font1.fntdata"/><Relationship Id="rId53" Type="http://schemas.openxmlformats.org/officeDocument/2006/relationships/font" Target="fonts/font9.fntdata"/><Relationship Id="rId58" Type="http://schemas.openxmlformats.org/officeDocument/2006/relationships/font" Target="fonts/font14.fntdata"/><Relationship Id="rId66" Type="http://schemas.openxmlformats.org/officeDocument/2006/relationships/font" Target="fonts/font22.fntdata"/><Relationship Id="rId5" Type="http://schemas.openxmlformats.org/officeDocument/2006/relationships/slide" Target="slides/slide2.xml"/><Relationship Id="rId61" Type="http://schemas.openxmlformats.org/officeDocument/2006/relationships/font" Target="fonts/font17.fntdata"/><Relationship Id="rId19" Type="http://schemas.openxmlformats.org/officeDocument/2006/relationships/slide" Target="slides/slide1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font" Target="fonts/font4.fntdata"/><Relationship Id="rId56" Type="http://schemas.openxmlformats.org/officeDocument/2006/relationships/font" Target="fonts/font12.fntdata"/><Relationship Id="rId64" Type="http://schemas.openxmlformats.org/officeDocument/2006/relationships/font" Target="fonts/font20.fntdata"/><Relationship Id="rId69" Type="http://schemas.openxmlformats.org/officeDocument/2006/relationships/viewProps" Target="viewProps.xml"/><Relationship Id="rId8" Type="http://schemas.openxmlformats.org/officeDocument/2006/relationships/slide" Target="slides/slide5.xml"/><Relationship Id="rId51" Type="http://schemas.openxmlformats.org/officeDocument/2006/relationships/font" Target="fonts/font7.fntdata"/><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font" Target="fonts/font2.fntdata"/><Relationship Id="rId59" Type="http://schemas.openxmlformats.org/officeDocument/2006/relationships/font" Target="fonts/font15.fntdata"/><Relationship Id="rId67" Type="http://schemas.openxmlformats.org/officeDocument/2006/relationships/font" Target="fonts/font23.fntdata"/><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font" Target="fonts/font10.fntdata"/><Relationship Id="rId62" Type="http://schemas.openxmlformats.org/officeDocument/2006/relationships/font" Target="fonts/font18.fntdata"/><Relationship Id="rId7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font" Target="fonts/font5.fntdata"/><Relationship Id="rId57" Type="http://schemas.openxmlformats.org/officeDocument/2006/relationships/font" Target="fonts/font13.fntdata"/><Relationship Id="rId10" Type="http://schemas.openxmlformats.org/officeDocument/2006/relationships/slide" Target="slides/slide7.xml"/><Relationship Id="rId31" Type="http://schemas.openxmlformats.org/officeDocument/2006/relationships/slide" Target="slides/slide28.xml"/><Relationship Id="rId44" Type="http://schemas.openxmlformats.org/officeDocument/2006/relationships/notesMaster" Target="notesMasters/notesMaster1.xml"/><Relationship Id="rId52" Type="http://schemas.openxmlformats.org/officeDocument/2006/relationships/font" Target="fonts/font8.fntdata"/><Relationship Id="rId60" Type="http://schemas.openxmlformats.org/officeDocument/2006/relationships/font" Target="fonts/font16.fntdata"/><Relationship Id="rId65" Type="http://schemas.openxmlformats.org/officeDocument/2006/relationships/font" Target="fonts/font21.fntdata"/><Relationship Id="rId4" Type="http://schemas.openxmlformats.org/officeDocument/2006/relationships/slide" Target="slides/slide1.xml"/><Relationship Id="rId9" Type="http://schemas.openxmlformats.org/officeDocument/2006/relationships/slide" Target="slides/slide6.xml"/><Relationship Id="rId13" Type="http://schemas.openxmlformats.org/officeDocument/2006/relationships/slide" Target="slides/slide10.xml"/><Relationship Id="rId18" Type="http://schemas.openxmlformats.org/officeDocument/2006/relationships/slide" Target="slides/slide15.xml"/><Relationship Id="rId39" Type="http://schemas.openxmlformats.org/officeDocument/2006/relationships/slide" Target="slides/slide36.xml"/><Relationship Id="rId34" Type="http://schemas.openxmlformats.org/officeDocument/2006/relationships/slide" Target="slides/slide31.xml"/><Relationship Id="rId50" Type="http://schemas.openxmlformats.org/officeDocument/2006/relationships/font" Target="fonts/font6.fntdata"/><Relationship Id="rId55" Type="http://schemas.openxmlformats.org/officeDocument/2006/relationships/font" Target="fonts/font11.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07"/>
        <p:cNvGrpSpPr/>
        <p:nvPr/>
      </p:nvGrpSpPr>
      <p:grpSpPr>
        <a:xfrm>
          <a:off x="0" y="0"/>
          <a:ext cx="0" cy="0"/>
          <a:chOff x="0" y="0"/>
          <a:chExt cx="0" cy="0"/>
        </a:xfrm>
      </p:grpSpPr>
      <p:sp>
        <p:nvSpPr>
          <p:cNvPr id="208" name="Google Shape;208;g36c0d1679b4_2_10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09" name="Google Shape;209;g36c0d1679b4_2_10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g36c0d1679b4_2_116: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16" name="Google Shape;216;g36c0d1679b4_2_11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29"/>
        <p:cNvGrpSpPr/>
        <p:nvPr/>
      </p:nvGrpSpPr>
      <p:grpSpPr>
        <a:xfrm>
          <a:off x="0" y="0"/>
          <a:ext cx="0" cy="0"/>
          <a:chOff x="0" y="0"/>
          <a:chExt cx="0" cy="0"/>
        </a:xfrm>
      </p:grpSpPr>
      <p:sp>
        <p:nvSpPr>
          <p:cNvPr id="230" name="Google Shape;230;g36d9b317133_0_114: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1" name="Google Shape;231;g36d9b317133_0_11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6"/>
        <p:cNvGrpSpPr/>
        <p:nvPr/>
      </p:nvGrpSpPr>
      <p:grpSpPr>
        <a:xfrm>
          <a:off x="0" y="0"/>
          <a:ext cx="0" cy="0"/>
          <a:chOff x="0" y="0"/>
          <a:chExt cx="0" cy="0"/>
        </a:xfrm>
      </p:grpSpPr>
      <p:sp>
        <p:nvSpPr>
          <p:cNvPr id="237" name="Google Shape;237;g36d9b317133_0_128: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38" name="Google Shape;238;g36d9b317133_0_1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p:cNvGrpSpPr/>
        <p:nvPr/>
      </p:nvGrpSpPr>
      <p:grpSpPr>
        <a:xfrm>
          <a:off x="0" y="0"/>
          <a:ext cx="0" cy="0"/>
          <a:chOff x="0" y="0"/>
          <a:chExt cx="0" cy="0"/>
        </a:xfrm>
      </p:grpSpPr>
      <p:sp>
        <p:nvSpPr>
          <p:cNvPr id="246" name="Google Shape;246;g36c0d1679b4_2_20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F3A659EA-E42E-F350-5E92-52DF0B4FDF15}"/>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B351E226-CE06-3258-6F7C-E0EA85CA351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3C9EB881-138C-28CD-7180-1531BD6A5DF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3382385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AB91BE9A-1C6C-C98E-E5C6-80DF81E5E82C}"/>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4B6A9354-B5B7-3016-28E2-D18D9717318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A61117A4-1DF5-0786-6B0A-0C855CD12BC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9113536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701BA10F-F134-22AC-E479-47CD560BCCE8}"/>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77DEBF1C-FC41-1083-9A24-AC2AFD8DEB6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211EF028-709F-A9F3-7170-C766C73B3DA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4031806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55C29EBE-0F45-84FC-66EA-18BE2A6F62B2}"/>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87058C2A-F3E5-59A4-EC8A-D2472790E96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BD8C4E70-803E-73B8-2DFB-0428DF52781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07207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7218A479-68EC-B15D-EFB3-480560350DFA}"/>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9C8EF3F2-F519-8E31-04B2-49E8DB858C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971EFB8D-096B-6872-171E-9A71EB724F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29878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45">
          <a:extLst>
            <a:ext uri="{FF2B5EF4-FFF2-40B4-BE49-F238E27FC236}">
              <a16:creationId xmlns:a16="http://schemas.microsoft.com/office/drawing/2014/main" id="{7218A479-68EC-B15D-EFB3-480560350DFA}"/>
            </a:ext>
          </a:extLst>
        </p:cNvPr>
        <p:cNvGrpSpPr/>
        <p:nvPr/>
      </p:nvGrpSpPr>
      <p:grpSpPr>
        <a:xfrm>
          <a:off x="0" y="0"/>
          <a:ext cx="0" cy="0"/>
          <a:chOff x="0" y="0"/>
          <a:chExt cx="0" cy="0"/>
        </a:xfrm>
      </p:grpSpPr>
      <p:sp>
        <p:nvSpPr>
          <p:cNvPr id="246" name="Google Shape;246;g36c0d1679b4_2_205:notes">
            <a:extLst>
              <a:ext uri="{FF2B5EF4-FFF2-40B4-BE49-F238E27FC236}">
                <a16:creationId xmlns:a16="http://schemas.microsoft.com/office/drawing/2014/main" id="{9C8EF3F2-F519-8E31-04B2-49E8DB858CB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47" name="Google Shape;247;g36c0d1679b4_2_205:notes">
            <a:extLst>
              <a:ext uri="{FF2B5EF4-FFF2-40B4-BE49-F238E27FC236}">
                <a16:creationId xmlns:a16="http://schemas.microsoft.com/office/drawing/2014/main" id="{971EFB8D-096B-6872-171E-9A71EB724FC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429878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p:cNvGrpSpPr/>
        <p:nvPr/>
      </p:nvGrpSpPr>
      <p:grpSpPr>
        <a:xfrm>
          <a:off x="0" y="0"/>
          <a:ext cx="0" cy="0"/>
          <a:chOff x="0" y="0"/>
          <a:chExt cx="0" cy="0"/>
        </a:xfrm>
      </p:grpSpPr>
      <p:sp>
        <p:nvSpPr>
          <p:cNvPr id="258" name="Google Shape;258;g36c0d1679b4_2_21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6c0d1679b4_2_21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492BDDE0-46AE-A66F-1EBD-1E0DBFED7DAC}"/>
            </a:ext>
          </a:extLst>
        </p:cNvPr>
        <p:cNvGrpSpPr/>
        <p:nvPr/>
      </p:nvGrpSpPr>
      <p:grpSpPr>
        <a:xfrm>
          <a:off x="0" y="0"/>
          <a:ext cx="0" cy="0"/>
          <a:chOff x="0" y="0"/>
          <a:chExt cx="0" cy="0"/>
        </a:xfrm>
      </p:grpSpPr>
      <p:sp>
        <p:nvSpPr>
          <p:cNvPr id="258" name="Google Shape;258;g36c0d1679b4_2_212:notes">
            <a:extLst>
              <a:ext uri="{FF2B5EF4-FFF2-40B4-BE49-F238E27FC236}">
                <a16:creationId xmlns:a16="http://schemas.microsoft.com/office/drawing/2014/main" id="{F8951BE5-198E-EF14-D3CB-7295A720C3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6c0d1679b4_2_212:notes">
            <a:extLst>
              <a:ext uri="{FF2B5EF4-FFF2-40B4-BE49-F238E27FC236}">
                <a16:creationId xmlns:a16="http://schemas.microsoft.com/office/drawing/2014/main" id="{D70261C6-B7E3-F1DC-AE98-A600C1D014E6}"/>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305954384"/>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8371ABD1-4F02-7F22-F999-9525B33B5CE0}"/>
            </a:ext>
          </a:extLst>
        </p:cNvPr>
        <p:cNvGrpSpPr/>
        <p:nvPr/>
      </p:nvGrpSpPr>
      <p:grpSpPr>
        <a:xfrm>
          <a:off x="0" y="0"/>
          <a:ext cx="0" cy="0"/>
          <a:chOff x="0" y="0"/>
          <a:chExt cx="0" cy="0"/>
        </a:xfrm>
      </p:grpSpPr>
      <p:sp>
        <p:nvSpPr>
          <p:cNvPr id="258" name="Google Shape;258;g36c0d1679b4_2_212:notes">
            <a:extLst>
              <a:ext uri="{FF2B5EF4-FFF2-40B4-BE49-F238E27FC236}">
                <a16:creationId xmlns:a16="http://schemas.microsoft.com/office/drawing/2014/main" id="{D65D63B9-BA99-20B0-AB0C-A45EDC2D84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6c0d1679b4_2_212:notes">
            <a:extLst>
              <a:ext uri="{FF2B5EF4-FFF2-40B4-BE49-F238E27FC236}">
                <a16:creationId xmlns:a16="http://schemas.microsoft.com/office/drawing/2014/main" id="{32D40614-C9CF-C550-5883-B0FC5740C2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3012207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8371ABD1-4F02-7F22-F999-9525B33B5CE0}"/>
            </a:ext>
          </a:extLst>
        </p:cNvPr>
        <p:cNvGrpSpPr/>
        <p:nvPr/>
      </p:nvGrpSpPr>
      <p:grpSpPr>
        <a:xfrm>
          <a:off x="0" y="0"/>
          <a:ext cx="0" cy="0"/>
          <a:chOff x="0" y="0"/>
          <a:chExt cx="0" cy="0"/>
        </a:xfrm>
      </p:grpSpPr>
      <p:sp>
        <p:nvSpPr>
          <p:cNvPr id="258" name="Google Shape;258;g36c0d1679b4_2_212:notes">
            <a:extLst>
              <a:ext uri="{FF2B5EF4-FFF2-40B4-BE49-F238E27FC236}">
                <a16:creationId xmlns:a16="http://schemas.microsoft.com/office/drawing/2014/main" id="{D65D63B9-BA99-20B0-AB0C-A45EDC2D84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6c0d1679b4_2_212:notes">
            <a:extLst>
              <a:ext uri="{FF2B5EF4-FFF2-40B4-BE49-F238E27FC236}">
                <a16:creationId xmlns:a16="http://schemas.microsoft.com/office/drawing/2014/main" id="{32D40614-C9CF-C550-5883-B0FC5740C2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3012207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8371ABD1-4F02-7F22-F999-9525B33B5CE0}"/>
            </a:ext>
          </a:extLst>
        </p:cNvPr>
        <p:cNvGrpSpPr/>
        <p:nvPr/>
      </p:nvGrpSpPr>
      <p:grpSpPr>
        <a:xfrm>
          <a:off x="0" y="0"/>
          <a:ext cx="0" cy="0"/>
          <a:chOff x="0" y="0"/>
          <a:chExt cx="0" cy="0"/>
        </a:xfrm>
      </p:grpSpPr>
      <p:sp>
        <p:nvSpPr>
          <p:cNvPr id="258" name="Google Shape;258;g36c0d1679b4_2_212:notes">
            <a:extLst>
              <a:ext uri="{FF2B5EF4-FFF2-40B4-BE49-F238E27FC236}">
                <a16:creationId xmlns:a16="http://schemas.microsoft.com/office/drawing/2014/main" id="{D65D63B9-BA99-20B0-AB0C-A45EDC2D84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6c0d1679b4_2_212:notes">
            <a:extLst>
              <a:ext uri="{FF2B5EF4-FFF2-40B4-BE49-F238E27FC236}">
                <a16:creationId xmlns:a16="http://schemas.microsoft.com/office/drawing/2014/main" id="{32D40614-C9CF-C550-5883-B0FC5740C2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301220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8371ABD1-4F02-7F22-F999-9525B33B5CE0}"/>
            </a:ext>
          </a:extLst>
        </p:cNvPr>
        <p:cNvGrpSpPr/>
        <p:nvPr/>
      </p:nvGrpSpPr>
      <p:grpSpPr>
        <a:xfrm>
          <a:off x="0" y="0"/>
          <a:ext cx="0" cy="0"/>
          <a:chOff x="0" y="0"/>
          <a:chExt cx="0" cy="0"/>
        </a:xfrm>
      </p:grpSpPr>
      <p:sp>
        <p:nvSpPr>
          <p:cNvPr id="258" name="Google Shape;258;g36c0d1679b4_2_212:notes">
            <a:extLst>
              <a:ext uri="{FF2B5EF4-FFF2-40B4-BE49-F238E27FC236}">
                <a16:creationId xmlns:a16="http://schemas.microsoft.com/office/drawing/2014/main" id="{D65D63B9-BA99-20B0-AB0C-A45EDC2D84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6c0d1679b4_2_212:notes">
            <a:extLst>
              <a:ext uri="{FF2B5EF4-FFF2-40B4-BE49-F238E27FC236}">
                <a16:creationId xmlns:a16="http://schemas.microsoft.com/office/drawing/2014/main" id="{32D40614-C9CF-C550-5883-B0FC5740C2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30122078"/>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57">
          <a:extLst>
            <a:ext uri="{FF2B5EF4-FFF2-40B4-BE49-F238E27FC236}">
              <a16:creationId xmlns:a16="http://schemas.microsoft.com/office/drawing/2014/main" id="{8371ABD1-4F02-7F22-F999-9525B33B5CE0}"/>
            </a:ext>
          </a:extLst>
        </p:cNvPr>
        <p:cNvGrpSpPr/>
        <p:nvPr/>
      </p:nvGrpSpPr>
      <p:grpSpPr>
        <a:xfrm>
          <a:off x="0" y="0"/>
          <a:ext cx="0" cy="0"/>
          <a:chOff x="0" y="0"/>
          <a:chExt cx="0" cy="0"/>
        </a:xfrm>
      </p:grpSpPr>
      <p:sp>
        <p:nvSpPr>
          <p:cNvPr id="258" name="Google Shape;258;g36c0d1679b4_2_212:notes">
            <a:extLst>
              <a:ext uri="{FF2B5EF4-FFF2-40B4-BE49-F238E27FC236}">
                <a16:creationId xmlns:a16="http://schemas.microsoft.com/office/drawing/2014/main" id="{D65D63B9-BA99-20B0-AB0C-A45EDC2D847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59" name="Google Shape;259;g36c0d1679b4_2_212:notes">
            <a:extLst>
              <a:ext uri="{FF2B5EF4-FFF2-40B4-BE49-F238E27FC236}">
                <a16:creationId xmlns:a16="http://schemas.microsoft.com/office/drawing/2014/main" id="{32D40614-C9CF-C550-5883-B0FC5740C2C8}"/>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2630122078"/>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p:cNvGrpSpPr/>
        <p:nvPr/>
      </p:nvGrpSpPr>
      <p:grpSpPr>
        <a:xfrm>
          <a:off x="0" y="0"/>
          <a:ext cx="0" cy="0"/>
          <a:chOff x="0" y="0"/>
          <a:chExt cx="0" cy="0"/>
        </a:xfrm>
      </p:grpSpPr>
      <p:sp>
        <p:nvSpPr>
          <p:cNvPr id="272" name="Google Shape;272;g36c0d1679b4_2_223: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73" name="Google Shape;273;g36c0d1679b4_2_22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6c0d1679b4_2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p:cNvGrpSpPr/>
        <p:nvPr/>
      </p:nvGrpSpPr>
      <p:grpSpPr>
        <a:xfrm>
          <a:off x="0" y="0"/>
          <a:ext cx="0" cy="0"/>
          <a:chOff x="0" y="0"/>
          <a:chExt cx="0" cy="0"/>
        </a:xfrm>
      </p:grpSpPr>
      <p:sp>
        <p:nvSpPr>
          <p:cNvPr id="286" name="Google Shape;286;g36c0d1679b4_2_23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47F855E5-1497-EBDD-C61A-1FF7B711B475}"/>
            </a:ext>
          </a:extLst>
        </p:cNvPr>
        <p:cNvGrpSpPr/>
        <p:nvPr/>
      </p:nvGrpSpPr>
      <p:grpSpPr>
        <a:xfrm>
          <a:off x="0" y="0"/>
          <a:ext cx="0" cy="0"/>
          <a:chOff x="0" y="0"/>
          <a:chExt cx="0" cy="0"/>
        </a:xfrm>
      </p:grpSpPr>
      <p:sp>
        <p:nvSpPr>
          <p:cNvPr id="286" name="Google Shape;286;g36c0d1679b4_2_230:notes">
            <a:extLst>
              <a:ext uri="{FF2B5EF4-FFF2-40B4-BE49-F238E27FC236}">
                <a16:creationId xmlns:a16="http://schemas.microsoft.com/office/drawing/2014/main" id="{E8B95406-507D-DC05-8480-024D7CDC48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a:extLst>
              <a:ext uri="{FF2B5EF4-FFF2-40B4-BE49-F238E27FC236}">
                <a16:creationId xmlns:a16="http://schemas.microsoft.com/office/drawing/2014/main" id="{BCE5C7D4-113D-720C-E518-40471CEBAA4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001470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47F855E5-1497-EBDD-C61A-1FF7B711B475}"/>
            </a:ext>
          </a:extLst>
        </p:cNvPr>
        <p:cNvGrpSpPr/>
        <p:nvPr/>
      </p:nvGrpSpPr>
      <p:grpSpPr>
        <a:xfrm>
          <a:off x="0" y="0"/>
          <a:ext cx="0" cy="0"/>
          <a:chOff x="0" y="0"/>
          <a:chExt cx="0" cy="0"/>
        </a:xfrm>
      </p:grpSpPr>
      <p:sp>
        <p:nvSpPr>
          <p:cNvPr id="286" name="Google Shape;286;g36c0d1679b4_2_230:notes">
            <a:extLst>
              <a:ext uri="{FF2B5EF4-FFF2-40B4-BE49-F238E27FC236}">
                <a16:creationId xmlns:a16="http://schemas.microsoft.com/office/drawing/2014/main" id="{E8B95406-507D-DC05-8480-024D7CDC48F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a:extLst>
              <a:ext uri="{FF2B5EF4-FFF2-40B4-BE49-F238E27FC236}">
                <a16:creationId xmlns:a16="http://schemas.microsoft.com/office/drawing/2014/main" id="{BCE5C7D4-113D-720C-E518-40471CEBAA4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190014702"/>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02A218A6-2692-7364-3E8C-29AE048A8256}"/>
            </a:ext>
          </a:extLst>
        </p:cNvPr>
        <p:cNvGrpSpPr/>
        <p:nvPr/>
      </p:nvGrpSpPr>
      <p:grpSpPr>
        <a:xfrm>
          <a:off x="0" y="0"/>
          <a:ext cx="0" cy="0"/>
          <a:chOff x="0" y="0"/>
          <a:chExt cx="0" cy="0"/>
        </a:xfrm>
      </p:grpSpPr>
      <p:sp>
        <p:nvSpPr>
          <p:cNvPr id="286" name="Google Shape;286;g36c0d1679b4_2_230:notes">
            <a:extLst>
              <a:ext uri="{FF2B5EF4-FFF2-40B4-BE49-F238E27FC236}">
                <a16:creationId xmlns:a16="http://schemas.microsoft.com/office/drawing/2014/main" id="{1756A340-3F22-3860-B8C7-D2073EB794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a:extLst>
              <a:ext uri="{FF2B5EF4-FFF2-40B4-BE49-F238E27FC236}">
                <a16:creationId xmlns:a16="http://schemas.microsoft.com/office/drawing/2014/main" id="{AD4307D9-C3D7-A170-95ED-38E2513652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2834080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02A218A6-2692-7364-3E8C-29AE048A8256}"/>
            </a:ext>
          </a:extLst>
        </p:cNvPr>
        <p:cNvGrpSpPr/>
        <p:nvPr/>
      </p:nvGrpSpPr>
      <p:grpSpPr>
        <a:xfrm>
          <a:off x="0" y="0"/>
          <a:ext cx="0" cy="0"/>
          <a:chOff x="0" y="0"/>
          <a:chExt cx="0" cy="0"/>
        </a:xfrm>
      </p:grpSpPr>
      <p:sp>
        <p:nvSpPr>
          <p:cNvPr id="286" name="Google Shape;286;g36c0d1679b4_2_230:notes">
            <a:extLst>
              <a:ext uri="{FF2B5EF4-FFF2-40B4-BE49-F238E27FC236}">
                <a16:creationId xmlns:a16="http://schemas.microsoft.com/office/drawing/2014/main" id="{1756A340-3F22-3860-B8C7-D2073EB794DA}"/>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a:extLst>
              <a:ext uri="{FF2B5EF4-FFF2-40B4-BE49-F238E27FC236}">
                <a16:creationId xmlns:a16="http://schemas.microsoft.com/office/drawing/2014/main" id="{AD4307D9-C3D7-A170-95ED-38E25136522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928340802"/>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76F83738-A82A-61AF-52CA-89E9907DC1AF}"/>
            </a:ext>
          </a:extLst>
        </p:cNvPr>
        <p:cNvGrpSpPr/>
        <p:nvPr/>
      </p:nvGrpSpPr>
      <p:grpSpPr>
        <a:xfrm>
          <a:off x="0" y="0"/>
          <a:ext cx="0" cy="0"/>
          <a:chOff x="0" y="0"/>
          <a:chExt cx="0" cy="0"/>
        </a:xfrm>
      </p:grpSpPr>
      <p:sp>
        <p:nvSpPr>
          <p:cNvPr id="286" name="Google Shape;286;g36c0d1679b4_2_230:notes">
            <a:extLst>
              <a:ext uri="{FF2B5EF4-FFF2-40B4-BE49-F238E27FC236}">
                <a16:creationId xmlns:a16="http://schemas.microsoft.com/office/drawing/2014/main" id="{06C7BBA0-6F13-FDE7-4344-EF432B98CA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a:extLst>
              <a:ext uri="{FF2B5EF4-FFF2-40B4-BE49-F238E27FC236}">
                <a16:creationId xmlns:a16="http://schemas.microsoft.com/office/drawing/2014/main" id="{A4775ADB-8585-AD67-B3F6-C850A680D5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47718356"/>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76F83738-A82A-61AF-52CA-89E9907DC1AF}"/>
            </a:ext>
          </a:extLst>
        </p:cNvPr>
        <p:cNvGrpSpPr/>
        <p:nvPr/>
      </p:nvGrpSpPr>
      <p:grpSpPr>
        <a:xfrm>
          <a:off x="0" y="0"/>
          <a:ext cx="0" cy="0"/>
          <a:chOff x="0" y="0"/>
          <a:chExt cx="0" cy="0"/>
        </a:xfrm>
      </p:grpSpPr>
      <p:sp>
        <p:nvSpPr>
          <p:cNvPr id="286" name="Google Shape;286;g36c0d1679b4_2_230:notes">
            <a:extLst>
              <a:ext uri="{FF2B5EF4-FFF2-40B4-BE49-F238E27FC236}">
                <a16:creationId xmlns:a16="http://schemas.microsoft.com/office/drawing/2014/main" id="{06C7BBA0-6F13-FDE7-4344-EF432B98CAD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a:extLst>
              <a:ext uri="{FF2B5EF4-FFF2-40B4-BE49-F238E27FC236}">
                <a16:creationId xmlns:a16="http://schemas.microsoft.com/office/drawing/2014/main" id="{A4775ADB-8585-AD67-B3F6-C850A680D551}"/>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47718356"/>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DAF88983-1F41-E9FF-6F7D-8025BEE26CC6}"/>
            </a:ext>
          </a:extLst>
        </p:cNvPr>
        <p:cNvGrpSpPr/>
        <p:nvPr/>
      </p:nvGrpSpPr>
      <p:grpSpPr>
        <a:xfrm>
          <a:off x="0" y="0"/>
          <a:ext cx="0" cy="0"/>
          <a:chOff x="0" y="0"/>
          <a:chExt cx="0" cy="0"/>
        </a:xfrm>
      </p:grpSpPr>
      <p:sp>
        <p:nvSpPr>
          <p:cNvPr id="286" name="Google Shape;286;g36c0d1679b4_2_230:notes">
            <a:extLst>
              <a:ext uri="{FF2B5EF4-FFF2-40B4-BE49-F238E27FC236}">
                <a16:creationId xmlns:a16="http://schemas.microsoft.com/office/drawing/2014/main" id="{1A00A99D-E39D-C033-D5CA-278A2CDF4F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a:extLst>
              <a:ext uri="{FF2B5EF4-FFF2-40B4-BE49-F238E27FC236}">
                <a16:creationId xmlns:a16="http://schemas.microsoft.com/office/drawing/2014/main" id="{17C4DA9E-BC20-99A2-E2B8-46581224E2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57560612"/>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85">
          <a:extLst>
            <a:ext uri="{FF2B5EF4-FFF2-40B4-BE49-F238E27FC236}">
              <a16:creationId xmlns:a16="http://schemas.microsoft.com/office/drawing/2014/main" id="{DAF88983-1F41-E9FF-6F7D-8025BEE26CC6}"/>
            </a:ext>
          </a:extLst>
        </p:cNvPr>
        <p:cNvGrpSpPr/>
        <p:nvPr/>
      </p:nvGrpSpPr>
      <p:grpSpPr>
        <a:xfrm>
          <a:off x="0" y="0"/>
          <a:ext cx="0" cy="0"/>
          <a:chOff x="0" y="0"/>
          <a:chExt cx="0" cy="0"/>
        </a:xfrm>
      </p:grpSpPr>
      <p:sp>
        <p:nvSpPr>
          <p:cNvPr id="286" name="Google Shape;286;g36c0d1679b4_2_230:notes">
            <a:extLst>
              <a:ext uri="{FF2B5EF4-FFF2-40B4-BE49-F238E27FC236}">
                <a16:creationId xmlns:a16="http://schemas.microsoft.com/office/drawing/2014/main" id="{1A00A99D-E39D-C033-D5CA-278A2CDF4F4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287" name="Google Shape;287;g36c0d1679b4_2_230:notes">
            <a:extLst>
              <a:ext uri="{FF2B5EF4-FFF2-40B4-BE49-F238E27FC236}">
                <a16:creationId xmlns:a16="http://schemas.microsoft.com/office/drawing/2014/main" id="{17C4DA9E-BC20-99A2-E2B8-46581224E2A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657560612"/>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p:cNvGrpSpPr/>
        <p:nvPr/>
      </p:nvGrpSpPr>
      <p:grpSpPr>
        <a:xfrm>
          <a:off x="0" y="0"/>
          <a:ext cx="0" cy="0"/>
          <a:chOff x="0" y="0"/>
          <a:chExt cx="0" cy="0"/>
        </a:xfrm>
      </p:grpSpPr>
      <p:sp>
        <p:nvSpPr>
          <p:cNvPr id="302" name="Google Shape;302;g36c0d1679b4_2_241: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36c0d1679b4_2_24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2A424D51-82A6-BD2A-A364-959C4FE793EF}"/>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5017DE87-6E5D-475B-7BA4-D049C40AE2F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36c0d1679b4_2_241:notes">
            <a:extLst>
              <a:ext uri="{FF2B5EF4-FFF2-40B4-BE49-F238E27FC236}">
                <a16:creationId xmlns:a16="http://schemas.microsoft.com/office/drawing/2014/main" id="{69419884-239A-08AD-DB46-70689B314DCE}"/>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35700676"/>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C1412055-B72C-70A3-4A6A-D6EA55C27A52}"/>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6A84ED34-08F6-E044-1DCE-B3D8F4457C4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36c0d1679b4_2_241:notes">
            <a:extLst>
              <a:ext uri="{FF2B5EF4-FFF2-40B4-BE49-F238E27FC236}">
                <a16:creationId xmlns:a16="http://schemas.microsoft.com/office/drawing/2014/main" id="{FA873700-9CAE-E45D-A0E3-FE010739097D}"/>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05106182"/>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8E8EE041-42B3-F031-F48B-B8D156A82080}"/>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8FF28689-7EA2-178E-2BC9-DBA079CC2819}"/>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36c0d1679b4_2_241:notes">
            <a:extLst>
              <a:ext uri="{FF2B5EF4-FFF2-40B4-BE49-F238E27FC236}">
                <a16:creationId xmlns:a16="http://schemas.microsoft.com/office/drawing/2014/main" id="{BA98916F-77B6-781C-F079-23EF96B0A045}"/>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410651866"/>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1">
          <a:extLst>
            <a:ext uri="{FF2B5EF4-FFF2-40B4-BE49-F238E27FC236}">
              <a16:creationId xmlns:a16="http://schemas.microsoft.com/office/drawing/2014/main" id="{54C2E9FB-D698-8745-0004-B99410BBDEAC}"/>
            </a:ext>
          </a:extLst>
        </p:cNvPr>
        <p:cNvGrpSpPr/>
        <p:nvPr/>
      </p:nvGrpSpPr>
      <p:grpSpPr>
        <a:xfrm>
          <a:off x="0" y="0"/>
          <a:ext cx="0" cy="0"/>
          <a:chOff x="0" y="0"/>
          <a:chExt cx="0" cy="0"/>
        </a:xfrm>
      </p:grpSpPr>
      <p:sp>
        <p:nvSpPr>
          <p:cNvPr id="302" name="Google Shape;302;g36c0d1679b4_2_241:notes">
            <a:extLst>
              <a:ext uri="{FF2B5EF4-FFF2-40B4-BE49-F238E27FC236}">
                <a16:creationId xmlns:a16="http://schemas.microsoft.com/office/drawing/2014/main" id="{27E4A371-30A8-C0F5-26B9-18636A2C4FF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03" name="Google Shape;303;g36c0d1679b4_2_241:notes">
            <a:extLst>
              <a:ext uri="{FF2B5EF4-FFF2-40B4-BE49-F238E27FC236}">
                <a16:creationId xmlns:a16="http://schemas.microsoft.com/office/drawing/2014/main" id="{9EE25D90-F066-855E-34E9-8298EE877A1B}"/>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699012908"/>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92638163-40B6-E851-ADBC-7D180DCE01E0}"/>
            </a:ext>
          </a:extLst>
        </p:cNvPr>
        <p:cNvGrpSpPr/>
        <p:nvPr/>
      </p:nvGrpSpPr>
      <p:grpSpPr>
        <a:xfrm>
          <a:off x="0" y="0"/>
          <a:ext cx="0" cy="0"/>
          <a:chOff x="0" y="0"/>
          <a:chExt cx="0" cy="0"/>
        </a:xfrm>
      </p:grpSpPr>
      <p:sp>
        <p:nvSpPr>
          <p:cNvPr id="331" name="Google Shape;331;g36c0d1679b4_0_34:notes">
            <a:extLst>
              <a:ext uri="{FF2B5EF4-FFF2-40B4-BE49-F238E27FC236}">
                <a16:creationId xmlns:a16="http://schemas.microsoft.com/office/drawing/2014/main" id="{2EB89168-3AFD-EA72-9821-BAFFC7B6168E}"/>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g36c0d1679b4_0_34:notes">
            <a:extLst>
              <a:ext uri="{FF2B5EF4-FFF2-40B4-BE49-F238E27FC236}">
                <a16:creationId xmlns:a16="http://schemas.microsoft.com/office/drawing/2014/main" id="{929BA656-C1BB-E2BD-FD8F-680B5E03D48C}"/>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077457246"/>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E66066CF-D169-AE1E-C0B7-D947DEE492A0}"/>
            </a:ext>
          </a:extLst>
        </p:cNvPr>
        <p:cNvGrpSpPr/>
        <p:nvPr/>
      </p:nvGrpSpPr>
      <p:grpSpPr>
        <a:xfrm>
          <a:off x="0" y="0"/>
          <a:ext cx="0" cy="0"/>
          <a:chOff x="0" y="0"/>
          <a:chExt cx="0" cy="0"/>
        </a:xfrm>
      </p:grpSpPr>
      <p:sp>
        <p:nvSpPr>
          <p:cNvPr id="331" name="Google Shape;331;g36c0d1679b4_0_34:notes">
            <a:extLst>
              <a:ext uri="{FF2B5EF4-FFF2-40B4-BE49-F238E27FC236}">
                <a16:creationId xmlns:a16="http://schemas.microsoft.com/office/drawing/2014/main" id="{D742F643-3FEC-A731-B6CA-CA18C042455B}"/>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g36c0d1679b4_0_34:notes">
            <a:extLst>
              <a:ext uri="{FF2B5EF4-FFF2-40B4-BE49-F238E27FC236}">
                <a16:creationId xmlns:a16="http://schemas.microsoft.com/office/drawing/2014/main" id="{66B5C1F3-8101-4F46-DD60-AFD9CBBA872A}"/>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3844183494"/>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a:extLst>
            <a:ext uri="{FF2B5EF4-FFF2-40B4-BE49-F238E27FC236}">
              <a16:creationId xmlns:a16="http://schemas.microsoft.com/office/drawing/2014/main" id="{3693CD0E-A576-045E-2E30-AADF4AD6CA5E}"/>
            </a:ext>
          </a:extLst>
        </p:cNvPr>
        <p:cNvGrpSpPr/>
        <p:nvPr/>
      </p:nvGrpSpPr>
      <p:grpSpPr>
        <a:xfrm>
          <a:off x="0" y="0"/>
          <a:ext cx="0" cy="0"/>
          <a:chOff x="0" y="0"/>
          <a:chExt cx="0" cy="0"/>
        </a:xfrm>
      </p:grpSpPr>
      <p:sp>
        <p:nvSpPr>
          <p:cNvPr id="331" name="Google Shape;331;g36c0d1679b4_0_34:notes">
            <a:extLst>
              <a:ext uri="{FF2B5EF4-FFF2-40B4-BE49-F238E27FC236}">
                <a16:creationId xmlns:a16="http://schemas.microsoft.com/office/drawing/2014/main" id="{A42DC71D-8DD4-78AC-1DBD-965BCB976003}"/>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32" name="Google Shape;332;g36c0d1679b4_0_34:notes">
            <a:extLst>
              <a:ext uri="{FF2B5EF4-FFF2-40B4-BE49-F238E27FC236}">
                <a16:creationId xmlns:a16="http://schemas.microsoft.com/office/drawing/2014/main" id="{5AB7ED45-3C68-E7B8-FEA4-755B70636289}"/>
              </a:ext>
            </a:extLst>
          </p:cNvPr>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extLst>
      <p:ext uri="{BB962C8B-B14F-4D97-AF65-F5344CB8AC3E}">
        <p14:creationId xmlns:p14="http://schemas.microsoft.com/office/powerpoint/2010/main" val="105635756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7"/>
        <p:cNvGrpSpPr/>
        <p:nvPr/>
      </p:nvGrpSpPr>
      <p:grpSpPr>
        <a:xfrm>
          <a:off x="0" y="0"/>
          <a:ext cx="0" cy="0"/>
          <a:chOff x="0" y="0"/>
          <a:chExt cx="0" cy="0"/>
        </a:xfrm>
      </p:grpSpPr>
      <p:sp>
        <p:nvSpPr>
          <p:cNvPr id="318" name="Google Shape;318;g36d9b317133_0_0: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19" name="Google Shape;319;g36d9b317133_0_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3"/>
        <p:cNvGrpSpPr/>
        <p:nvPr/>
      </p:nvGrpSpPr>
      <p:grpSpPr>
        <a:xfrm>
          <a:off x="0" y="0"/>
          <a:ext cx="0" cy="0"/>
          <a:chOff x="0" y="0"/>
          <a:chExt cx="0" cy="0"/>
        </a:xfrm>
      </p:grpSpPr>
      <p:sp>
        <p:nvSpPr>
          <p:cNvPr id="324" name="Google Shape;324;g36c0d1679b4_2_25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325" name="Google Shape;325;g36c0d1679b4_2_25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dirty="0"/>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7"/>
        <p:cNvGrpSpPr/>
        <p:nvPr/>
      </p:nvGrpSpPr>
      <p:grpSpPr>
        <a:xfrm>
          <a:off x="0" y="0"/>
          <a:ext cx="0" cy="0"/>
          <a:chOff x="0" y="0"/>
          <a:chExt cx="0" cy="0"/>
        </a:xfrm>
      </p:grpSpPr>
      <p:sp>
        <p:nvSpPr>
          <p:cNvPr id="338" name="Google Shape;338;g36c0d1679b4_2_184:notes"/>
          <p:cNvSpPr txBox="1">
            <a:spLocks noGrp="1"/>
          </p:cNvSpPr>
          <p:nvPr>
            <p:ph type="body" idx="1"/>
          </p:nvPr>
        </p:nvSpPr>
        <p:spPr>
          <a:xfrm>
            <a:off x="685800" y="4400550"/>
            <a:ext cx="5486400" cy="3600600"/>
          </a:xfrm>
          <a:prstGeom prst="rect">
            <a:avLst/>
          </a:prstGeom>
          <a:noFill/>
          <a:ln>
            <a:noFill/>
          </a:ln>
        </p:spPr>
        <p:txBody>
          <a:bodyPr spcFirstLastPara="1" wrap="square" lIns="91425" tIns="45700" rIns="91425" bIns="45700" anchor="t" anchorCtr="0">
            <a:noAutofit/>
          </a:bodyPr>
          <a:lstStyle/>
          <a:p>
            <a:pPr marL="0" lvl="0" indent="0" algn="l" rtl="0">
              <a:lnSpc>
                <a:spcPct val="100000"/>
              </a:lnSpc>
              <a:spcBef>
                <a:spcPts val="0"/>
              </a:spcBef>
              <a:spcAft>
                <a:spcPts val="0"/>
              </a:spcAft>
              <a:buSzPts val="1400"/>
              <a:buNone/>
            </a:pPr>
            <a:endParaRPr/>
          </a:p>
        </p:txBody>
      </p:sp>
      <p:sp>
        <p:nvSpPr>
          <p:cNvPr id="339" name="Google Shape;339;g36c0d1679b4_2_184:notes"/>
          <p:cNvSpPr>
            <a:spLocks noGrp="1" noRot="1" noChangeAspect="1"/>
          </p:cNvSpPr>
          <p:nvPr>
            <p:ph type="sldImg" idx="2"/>
          </p:nvPr>
        </p:nvSpPr>
        <p:spPr>
          <a:xfrm>
            <a:off x="685800" y="1143000"/>
            <a:ext cx="5486400" cy="3086100"/>
          </a:xfrm>
          <a:custGeom>
            <a:avLst/>
            <a:gdLst/>
            <a:ahLst/>
            <a:cxnLst/>
            <a:rect l="l" t="t" r="r" b="b"/>
            <a:pathLst>
              <a:path w="120000" h="120000" extrusionOk="0">
                <a:moveTo>
                  <a:pt x="0" y="0"/>
                </a:moveTo>
                <a:lnTo>
                  <a:pt x="120000" y="0"/>
                </a:lnTo>
                <a:lnTo>
                  <a:pt x="120000" y="120000"/>
                </a:lnTo>
                <a:lnTo>
                  <a:pt x="0" y="120000"/>
                </a:lnTo>
                <a:close/>
              </a:path>
            </a:pathLst>
          </a:custGeom>
          <a:noFill/>
          <a:ln w="12700" cap="flat" cmpd="sng">
            <a:solidFill>
              <a:srgbClr val="000000"/>
            </a:solidFill>
            <a:prstDash val="solid"/>
            <a:round/>
            <a:headEnd type="none" w="sm" len="sm"/>
            <a:tailEnd type="none" w="sm" len="sm"/>
          </a:ln>
        </p:spPr>
      </p:sp>
      <p:sp>
        <p:nvSpPr>
          <p:cNvPr id="340" name="Google Shape;340;g36c0d1679b4_2_184:notes"/>
          <p:cNvSpPr txBox="1">
            <a:spLocks noGrp="1"/>
          </p:cNvSpPr>
          <p:nvPr>
            <p:ph type="sldNum" idx="12"/>
          </p:nvPr>
        </p:nvSpPr>
        <p:spPr>
          <a:xfrm>
            <a:off x="3884613" y="8685213"/>
            <a:ext cx="2971800" cy="458700"/>
          </a:xfrm>
          <a:prstGeom prst="rect">
            <a:avLst/>
          </a:prstGeom>
          <a:noFill/>
          <a:ln>
            <a:noFill/>
          </a:ln>
        </p:spPr>
        <p:txBody>
          <a:bodyPr spcFirstLastPara="1" wrap="square" lIns="91425" tIns="45700" rIns="91425" bIns="45700" anchor="b" anchorCtr="0">
            <a:noAutofit/>
          </a:bodyPr>
          <a:lstStyle/>
          <a:p>
            <a:pPr marL="0" marR="0" lvl="0" indent="0" algn="r" rtl="0">
              <a:lnSpc>
                <a:spcPct val="100000"/>
              </a:lnSpc>
              <a:spcBef>
                <a:spcPts val="0"/>
              </a:spcBef>
              <a:spcAft>
                <a:spcPts val="0"/>
              </a:spcAft>
              <a:buClr>
                <a:srgbClr val="000000"/>
              </a:buClr>
              <a:buSzPts val="1200"/>
              <a:buFont typeface="Arial"/>
              <a:buNone/>
            </a:pPr>
            <a:fld id="{00000000-1234-1234-1234-123412341234}" type="slidenum">
              <a:rPr lang="en" sz="1200" b="0" i="0" u="none" strike="noStrike" cap="none">
                <a:solidFill>
                  <a:schemeClr val="dk1"/>
                </a:solidFill>
                <a:latin typeface="Calibri"/>
                <a:ea typeface="Calibri"/>
                <a:cs typeface="Calibri"/>
                <a:sym typeface="Calibri"/>
              </a:rPr>
              <a:t>40</a:t>
            </a:fld>
            <a:endParaRPr sz="1200" b="0" i="0" u="none" strike="noStrike" cap="none">
              <a:solidFill>
                <a:schemeClr val="dk1"/>
              </a:solidFill>
              <a:latin typeface="Calibri"/>
              <a:ea typeface="Calibri"/>
              <a:cs typeface="Calibri"/>
              <a:sym typeface="Calibri"/>
            </a:endParaRPr>
          </a:p>
        </p:txBody>
      </p:sp>
      <p:sp>
        <p:nvSpPr>
          <p:cNvPr id="341" name="Google Shape;341;g36c0d1679b4_2_184:notes"/>
          <p:cNvSpPr txBox="1">
            <a:spLocks noGrp="1"/>
          </p:cNvSpPr>
          <p:nvPr>
            <p:ph type="ftr" idx="11"/>
          </p:nvPr>
        </p:nvSpPr>
        <p:spPr>
          <a:xfrm>
            <a:off x="0" y="8685213"/>
            <a:ext cx="2971800" cy="458700"/>
          </a:xfrm>
          <a:prstGeom prst="rect">
            <a:avLst/>
          </a:prstGeom>
          <a:noFill/>
          <a:ln>
            <a:noFill/>
          </a:ln>
        </p:spPr>
        <p:txBody>
          <a:bodyPr spcFirstLastPara="1" wrap="square" lIns="91425" tIns="45700" rIns="91425" bIns="45700" anchor="b" anchorCtr="0">
            <a:noAutofit/>
          </a:bodyPr>
          <a:lstStyle/>
          <a:p>
            <a:pPr marL="0" marR="0" lvl="0" indent="0" algn="l" rtl="0">
              <a:lnSpc>
                <a:spcPct val="100000"/>
              </a:lnSpc>
              <a:spcBef>
                <a:spcPts val="0"/>
              </a:spcBef>
              <a:spcAft>
                <a:spcPts val="0"/>
              </a:spcAft>
              <a:buClr>
                <a:srgbClr val="000000"/>
              </a:buClr>
              <a:buSzPts val="1400"/>
              <a:buFont typeface="Arial"/>
              <a:buNone/>
            </a:pPr>
            <a:r>
              <a:rPr lang="en" sz="1400" b="0" i="0" u="none" strike="noStrike" cap="none">
                <a:solidFill>
                  <a:srgbClr val="000000"/>
                </a:solidFill>
                <a:latin typeface="Arial"/>
                <a:ea typeface="Arial"/>
                <a:cs typeface="Arial"/>
                <a:sym typeface="Arial"/>
              </a:rPr>
              <a:t>| Proprietary content. ©Great Learning. All Rights Reserved. Unauthorized use or distribution prohibited</a:t>
            </a:r>
            <a:endParaRPr sz="1400" b="0" i="0" u="none" strike="noStrike" cap="none">
              <a:solidFill>
                <a:srgbClr val="000000"/>
              </a:solidFill>
              <a:latin typeface="Arial"/>
              <a:ea typeface="Arial"/>
              <a:cs typeface="Arial"/>
              <a:sym typeface="Arial"/>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2.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9"/>
        <p:cNvGrpSpPr/>
        <p:nvPr/>
      </p:nvGrpSpPr>
      <p:grpSpPr>
        <a:xfrm>
          <a:off x="0" y="0"/>
          <a:ext cx="0" cy="0"/>
          <a:chOff x="0" y="0"/>
          <a:chExt cx="0" cy="0"/>
        </a:xfrm>
      </p:grpSpPr>
      <p:sp>
        <p:nvSpPr>
          <p:cNvPr id="10" name="Google Shape;10;p2"/>
          <p:cNvSpPr txBox="1">
            <a:spLocks noGrp="1"/>
          </p:cNvSpPr>
          <p:nvPr>
            <p:ph type="ctrTitle"/>
          </p:nvPr>
        </p:nvSpPr>
        <p:spPr>
          <a:xfrm>
            <a:off x="311708" y="744575"/>
            <a:ext cx="8520600" cy="2052600"/>
          </a:xfrm>
          <a:prstGeom prst="rect">
            <a:avLst/>
          </a:prstGeom>
        </p:spPr>
        <p:txBody>
          <a:bodyPr spcFirstLastPara="1" wrap="square" lIns="91425" tIns="91425" rIns="91425" bIns="91425" anchor="b" anchorCtr="0">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a:endParaRPr/>
          </a:p>
        </p:txBody>
      </p:sp>
      <p:sp>
        <p:nvSpPr>
          <p:cNvPr id="11" name="Google Shape;11;p2"/>
          <p:cNvSpPr txBox="1">
            <a:spLocks noGrp="1"/>
          </p:cNvSpPr>
          <p:nvPr>
            <p:ph type="subTitle" idx="1"/>
          </p:nvPr>
        </p:nvSpPr>
        <p:spPr>
          <a:xfrm>
            <a:off x="311700" y="2834125"/>
            <a:ext cx="8520600" cy="7926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a:endParaRPr/>
          </a:p>
        </p:txBody>
      </p:sp>
      <p:sp>
        <p:nvSpPr>
          <p:cNvPr id="12" name="Google Shape;12;p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3"/>
        <p:cNvGrpSpPr/>
        <p:nvPr/>
      </p:nvGrpSpPr>
      <p:grpSpPr>
        <a:xfrm>
          <a:off x="0" y="0"/>
          <a:ext cx="0" cy="0"/>
          <a:chOff x="0" y="0"/>
          <a:chExt cx="0" cy="0"/>
        </a:xfrm>
      </p:grpSpPr>
      <p:sp>
        <p:nvSpPr>
          <p:cNvPr id="14" name="Google Shape;14;p3"/>
          <p:cNvSpPr txBox="1">
            <a:spLocks noGrp="1"/>
          </p:cNvSpPr>
          <p:nvPr>
            <p:ph type="title"/>
          </p:nvPr>
        </p:nvSpPr>
        <p:spPr>
          <a:xfrm>
            <a:off x="311700" y="2150850"/>
            <a:ext cx="8520600" cy="841800"/>
          </a:xfrm>
          <a:prstGeom prst="rect">
            <a:avLst/>
          </a:prstGeom>
        </p:spPr>
        <p:txBody>
          <a:bodyPr spcFirstLastPara="1" wrap="square" lIns="91425" tIns="91425" rIns="91425" bIns="91425" anchor="ctr" anchorCtr="0">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a:endParaRPr/>
          </a:p>
        </p:txBody>
      </p:sp>
      <p:sp>
        <p:nvSpPr>
          <p:cNvPr id="15" name="Google Shape;15;p3"/>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6"/>
        <p:cNvGrpSpPr/>
        <p:nvPr/>
      </p:nvGrpSpPr>
      <p:grpSpPr>
        <a:xfrm>
          <a:off x="0" y="0"/>
          <a:ext cx="0" cy="0"/>
          <a:chOff x="0" y="0"/>
          <a:chExt cx="0" cy="0"/>
        </a:xfrm>
      </p:grpSpPr>
      <p:sp>
        <p:nvSpPr>
          <p:cNvPr id="17" name="Google Shape;17;p4"/>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18" name="Google Shape;18;p4"/>
          <p:cNvSpPr txBox="1">
            <a:spLocks noGrp="1"/>
          </p:cNvSpPr>
          <p:nvPr>
            <p:ph type="body" idx="1"/>
          </p:nvPr>
        </p:nvSpPr>
        <p:spPr>
          <a:xfrm>
            <a:off x="311700" y="1152475"/>
            <a:ext cx="8520600" cy="3416400"/>
          </a:xfrm>
          <a:prstGeom prst="rect">
            <a:avLst/>
          </a:prstGeom>
        </p:spPr>
        <p:txBody>
          <a:bodyPr spcFirstLastPara="1" wrap="square" lIns="91425" tIns="91425" rIns="91425" bIns="91425" anchor="t"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19" name="Google Shape;19;p4"/>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0"/>
        <p:cNvGrpSpPr/>
        <p:nvPr/>
      </p:nvGrpSpPr>
      <p:grpSpPr>
        <a:xfrm>
          <a:off x="0" y="0"/>
          <a:ext cx="0" cy="0"/>
          <a:chOff x="0" y="0"/>
          <a:chExt cx="0" cy="0"/>
        </a:xfrm>
      </p:grpSpPr>
      <p:sp>
        <p:nvSpPr>
          <p:cNvPr id="21" name="Google Shape;21;p5"/>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2" name="Google Shape;22;p5"/>
          <p:cNvSpPr txBox="1">
            <a:spLocks noGrp="1"/>
          </p:cNvSpPr>
          <p:nvPr>
            <p:ph type="body" idx="1"/>
          </p:nvPr>
        </p:nvSpPr>
        <p:spPr>
          <a:xfrm>
            <a:off x="3117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3" name="Google Shape;23;p5"/>
          <p:cNvSpPr txBox="1">
            <a:spLocks noGrp="1"/>
          </p:cNvSpPr>
          <p:nvPr>
            <p:ph type="body" idx="2"/>
          </p:nvPr>
        </p:nvSpPr>
        <p:spPr>
          <a:xfrm>
            <a:off x="4832400" y="1152475"/>
            <a:ext cx="3999900" cy="3416400"/>
          </a:xfrm>
          <a:prstGeom prst="rect">
            <a:avLst/>
          </a:prstGeom>
        </p:spPr>
        <p:txBody>
          <a:bodyPr spcFirstLastPara="1" wrap="square" lIns="91425" tIns="91425" rIns="91425" bIns="91425" anchor="t" anchorCtr="0">
            <a:normAutofit/>
          </a:bodyPr>
          <a:lstStyle>
            <a:lvl1pPr marL="457200" lvl="0" indent="-317500">
              <a:spcBef>
                <a:spcPts val="0"/>
              </a:spcBef>
              <a:spcAft>
                <a:spcPts val="0"/>
              </a:spcAft>
              <a:buSzPts val="1400"/>
              <a:buChar char="●"/>
              <a:defRPr sz="14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24" name="Google Shape;24;p5"/>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5"/>
        <p:cNvGrpSpPr/>
        <p:nvPr/>
      </p:nvGrpSpPr>
      <p:grpSpPr>
        <a:xfrm>
          <a:off x="0" y="0"/>
          <a:ext cx="0" cy="0"/>
          <a:chOff x="0" y="0"/>
          <a:chExt cx="0" cy="0"/>
        </a:xfrm>
      </p:grpSpPr>
      <p:sp>
        <p:nvSpPr>
          <p:cNvPr id="26" name="Google Shape;26;p6"/>
          <p:cNvSpPr txBox="1">
            <a:spLocks noGrp="1"/>
          </p:cNvSpPr>
          <p:nvPr>
            <p:ph type="title"/>
          </p:nvPr>
        </p:nvSpPr>
        <p:spPr>
          <a:xfrm>
            <a:off x="311700" y="445025"/>
            <a:ext cx="8520600" cy="572700"/>
          </a:xfrm>
          <a:prstGeom prst="rect">
            <a:avLst/>
          </a:prstGeom>
        </p:spPr>
        <p:txBody>
          <a:bodyPr spcFirstLastPara="1" wrap="square" lIns="91425" tIns="91425" rIns="91425" bIns="91425" anchor="t" anchorCtr="0">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a:endParaRPr/>
          </a:p>
        </p:txBody>
      </p:sp>
      <p:sp>
        <p:nvSpPr>
          <p:cNvPr id="27" name="Google Shape;27;p6"/>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8"/>
        <p:cNvGrpSpPr/>
        <p:nvPr/>
      </p:nvGrpSpPr>
      <p:grpSpPr>
        <a:xfrm>
          <a:off x="0" y="0"/>
          <a:ext cx="0" cy="0"/>
          <a:chOff x="0" y="0"/>
          <a:chExt cx="0" cy="0"/>
        </a:xfrm>
      </p:grpSpPr>
      <p:sp>
        <p:nvSpPr>
          <p:cNvPr id="29" name="Google Shape;29;p7"/>
          <p:cNvSpPr txBox="1">
            <a:spLocks noGrp="1"/>
          </p:cNvSpPr>
          <p:nvPr>
            <p:ph type="title"/>
          </p:nvPr>
        </p:nvSpPr>
        <p:spPr>
          <a:xfrm>
            <a:off x="311700" y="555600"/>
            <a:ext cx="2808000" cy="755700"/>
          </a:xfrm>
          <a:prstGeom prst="rect">
            <a:avLst/>
          </a:prstGeom>
        </p:spPr>
        <p:txBody>
          <a:bodyPr spcFirstLastPara="1" wrap="square" lIns="91425" tIns="91425" rIns="91425" bIns="91425" anchor="b" anchorCtr="0">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a:endParaRPr/>
          </a:p>
        </p:txBody>
      </p:sp>
      <p:sp>
        <p:nvSpPr>
          <p:cNvPr id="30" name="Google Shape;30;p7"/>
          <p:cNvSpPr txBox="1">
            <a:spLocks noGrp="1"/>
          </p:cNvSpPr>
          <p:nvPr>
            <p:ph type="body" idx="1"/>
          </p:nvPr>
        </p:nvSpPr>
        <p:spPr>
          <a:xfrm>
            <a:off x="311700" y="1389600"/>
            <a:ext cx="2808000" cy="3179400"/>
          </a:xfrm>
          <a:prstGeom prst="rect">
            <a:avLst/>
          </a:prstGeom>
        </p:spPr>
        <p:txBody>
          <a:bodyPr spcFirstLastPara="1" wrap="square" lIns="91425" tIns="91425" rIns="91425" bIns="91425" anchor="t" anchorCtr="0">
            <a:normAutofit/>
          </a:bodyPr>
          <a:lstStyle>
            <a:lvl1pPr marL="457200" lvl="0" indent="-304800">
              <a:spcBef>
                <a:spcPts val="0"/>
              </a:spcBef>
              <a:spcAft>
                <a:spcPts val="0"/>
              </a:spcAft>
              <a:buSzPts val="1200"/>
              <a:buChar char="●"/>
              <a:defRPr sz="1200"/>
            </a:lvl1pPr>
            <a:lvl2pPr marL="914400" lvl="1" indent="-304800">
              <a:spcBef>
                <a:spcPts val="0"/>
              </a:spcBef>
              <a:spcAft>
                <a:spcPts val="0"/>
              </a:spcAft>
              <a:buSzPts val="1200"/>
              <a:buChar char="○"/>
              <a:defRPr sz="1200"/>
            </a:lvl2pPr>
            <a:lvl3pPr marL="1371600" lvl="2" indent="-304800">
              <a:spcBef>
                <a:spcPts val="0"/>
              </a:spcBef>
              <a:spcAft>
                <a:spcPts val="0"/>
              </a:spcAft>
              <a:buSzPts val="1200"/>
              <a:buChar char="■"/>
              <a:defRPr sz="1200"/>
            </a:lvl3pPr>
            <a:lvl4pPr marL="1828800" lvl="3" indent="-304800">
              <a:spcBef>
                <a:spcPts val="0"/>
              </a:spcBef>
              <a:spcAft>
                <a:spcPts val="0"/>
              </a:spcAft>
              <a:buSzPts val="1200"/>
              <a:buChar char="●"/>
              <a:defRPr sz="1200"/>
            </a:lvl4pPr>
            <a:lvl5pPr marL="2286000" lvl="4" indent="-304800">
              <a:spcBef>
                <a:spcPts val="0"/>
              </a:spcBef>
              <a:spcAft>
                <a:spcPts val="0"/>
              </a:spcAft>
              <a:buSzPts val="1200"/>
              <a:buChar char="○"/>
              <a:defRPr sz="1200"/>
            </a:lvl5pPr>
            <a:lvl6pPr marL="2743200" lvl="5" indent="-304800">
              <a:spcBef>
                <a:spcPts val="0"/>
              </a:spcBef>
              <a:spcAft>
                <a:spcPts val="0"/>
              </a:spcAft>
              <a:buSzPts val="1200"/>
              <a:buChar char="■"/>
              <a:defRPr sz="1200"/>
            </a:lvl6pPr>
            <a:lvl7pPr marL="3200400" lvl="6" indent="-304800">
              <a:spcBef>
                <a:spcPts val="0"/>
              </a:spcBef>
              <a:spcAft>
                <a:spcPts val="0"/>
              </a:spcAft>
              <a:buSzPts val="1200"/>
              <a:buChar char="●"/>
              <a:defRPr sz="1200"/>
            </a:lvl7pPr>
            <a:lvl8pPr marL="3657600" lvl="7" indent="-304800">
              <a:spcBef>
                <a:spcPts val="0"/>
              </a:spcBef>
              <a:spcAft>
                <a:spcPts val="0"/>
              </a:spcAft>
              <a:buSzPts val="1200"/>
              <a:buChar char="○"/>
              <a:defRPr sz="1200"/>
            </a:lvl8pPr>
            <a:lvl9pPr marL="4114800" lvl="8" indent="-304800">
              <a:spcBef>
                <a:spcPts val="0"/>
              </a:spcBef>
              <a:spcAft>
                <a:spcPts val="0"/>
              </a:spcAft>
              <a:buSzPts val="1200"/>
              <a:buChar char="■"/>
              <a:defRPr sz="1200"/>
            </a:lvl9pPr>
          </a:lstStyle>
          <a:p>
            <a:endParaRPr/>
          </a:p>
        </p:txBody>
      </p:sp>
      <p:sp>
        <p:nvSpPr>
          <p:cNvPr id="31" name="Google Shape;31;p7"/>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8"/>
          <p:cNvSpPr txBox="1">
            <a:spLocks noGrp="1"/>
          </p:cNvSpPr>
          <p:nvPr>
            <p:ph type="title"/>
          </p:nvPr>
        </p:nvSpPr>
        <p:spPr>
          <a:xfrm>
            <a:off x="490250" y="450150"/>
            <a:ext cx="6367800" cy="4090800"/>
          </a:xfrm>
          <a:prstGeom prst="rect">
            <a:avLst/>
          </a:prstGeom>
        </p:spPr>
        <p:txBody>
          <a:bodyPr spcFirstLastPara="1" wrap="square" lIns="91425" tIns="91425" rIns="91425" bIns="91425" anchor="ctr" anchorCtr="0">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a:endParaRPr/>
          </a:p>
        </p:txBody>
      </p:sp>
      <p:sp>
        <p:nvSpPr>
          <p:cNvPr id="34" name="Google Shape;34;p8"/>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lvl="0" indent="0" algn="l" rtl="0">
              <a:spcBef>
                <a:spcPts val="0"/>
              </a:spcBef>
              <a:spcAft>
                <a:spcPts val="0"/>
              </a:spcAft>
              <a:buNone/>
            </a:pPr>
            <a:endParaRPr/>
          </a:p>
        </p:txBody>
      </p:sp>
      <p:sp>
        <p:nvSpPr>
          <p:cNvPr id="37" name="Google Shape;37;p9"/>
          <p:cNvSpPr txBox="1">
            <a:spLocks noGrp="1"/>
          </p:cNvSpPr>
          <p:nvPr>
            <p:ph type="title"/>
          </p:nvPr>
        </p:nvSpPr>
        <p:spPr>
          <a:xfrm>
            <a:off x="265500" y="1233175"/>
            <a:ext cx="4045200" cy="1482300"/>
          </a:xfrm>
          <a:prstGeom prst="rect">
            <a:avLst/>
          </a:prstGeom>
        </p:spPr>
        <p:txBody>
          <a:bodyPr spcFirstLastPara="1" wrap="square" lIns="91425" tIns="91425" rIns="91425" bIns="91425" anchor="b" anchorCtr="0">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a:endParaRPr/>
          </a:p>
        </p:txBody>
      </p:sp>
      <p:sp>
        <p:nvSpPr>
          <p:cNvPr id="38" name="Google Shape;38;p9"/>
          <p:cNvSpPr txBox="1">
            <a:spLocks noGrp="1"/>
          </p:cNvSpPr>
          <p:nvPr>
            <p:ph type="subTitle" idx="1"/>
          </p:nvPr>
        </p:nvSpPr>
        <p:spPr>
          <a:xfrm>
            <a:off x="265500" y="2803075"/>
            <a:ext cx="4045200" cy="1235100"/>
          </a:xfrm>
          <a:prstGeom prst="rect">
            <a:avLst/>
          </a:prstGeom>
        </p:spPr>
        <p:txBody>
          <a:bodyPr spcFirstLastPara="1" wrap="square" lIns="91425" tIns="91425" rIns="91425" bIns="91425" anchor="t" anchorCtr="0">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39" name="Google Shape;39;p9"/>
          <p:cNvSpPr txBox="1">
            <a:spLocks noGrp="1"/>
          </p:cNvSpPr>
          <p:nvPr>
            <p:ph type="body" idx="2"/>
          </p:nvPr>
        </p:nvSpPr>
        <p:spPr>
          <a:xfrm>
            <a:off x="4939500" y="724075"/>
            <a:ext cx="3837000" cy="3695100"/>
          </a:xfrm>
          <a:prstGeom prst="rect">
            <a:avLst/>
          </a:prstGeom>
        </p:spPr>
        <p:txBody>
          <a:bodyPr spcFirstLastPara="1" wrap="square" lIns="91425" tIns="91425" rIns="91425" bIns="91425" anchor="ctr" anchorCtr="0">
            <a:normAutofit/>
          </a:bodyPr>
          <a:lstStyle>
            <a:lvl1pPr marL="457200" lvl="0" indent="-342900">
              <a:spcBef>
                <a:spcPts val="0"/>
              </a:spcBef>
              <a:spcAft>
                <a:spcPts val="0"/>
              </a:spcAft>
              <a:buSzPts val="1800"/>
              <a:buChar char="●"/>
              <a:defRPr/>
            </a:lvl1pPr>
            <a:lvl2pPr marL="914400" lvl="1" indent="-317500">
              <a:spcBef>
                <a:spcPts val="0"/>
              </a:spcBef>
              <a:spcAft>
                <a:spcPts val="0"/>
              </a:spcAft>
              <a:buSzPts val="1400"/>
              <a:buChar char="○"/>
              <a:defRPr/>
            </a:lvl2pPr>
            <a:lvl3pPr marL="1371600" lvl="2" indent="-317500">
              <a:spcBef>
                <a:spcPts val="0"/>
              </a:spcBef>
              <a:spcAft>
                <a:spcPts val="0"/>
              </a:spcAft>
              <a:buSzPts val="1400"/>
              <a:buChar char="■"/>
              <a:defRPr/>
            </a:lvl3pPr>
            <a:lvl4pPr marL="1828800" lvl="3" indent="-317500">
              <a:spcBef>
                <a:spcPts val="0"/>
              </a:spcBef>
              <a:spcAft>
                <a:spcPts val="0"/>
              </a:spcAft>
              <a:buSzPts val="1400"/>
              <a:buChar char="●"/>
              <a:defRPr/>
            </a:lvl4pPr>
            <a:lvl5pPr marL="2286000" lvl="4" indent="-317500">
              <a:spcBef>
                <a:spcPts val="0"/>
              </a:spcBef>
              <a:spcAft>
                <a:spcPts val="0"/>
              </a:spcAft>
              <a:buSzPts val="1400"/>
              <a:buChar char="○"/>
              <a:defRPr/>
            </a:lvl5pPr>
            <a:lvl6pPr marL="2743200" lvl="5" indent="-317500">
              <a:spcBef>
                <a:spcPts val="0"/>
              </a:spcBef>
              <a:spcAft>
                <a:spcPts val="0"/>
              </a:spcAft>
              <a:buSzPts val="1400"/>
              <a:buChar char="■"/>
              <a:defRPr/>
            </a:lvl6pPr>
            <a:lvl7pPr marL="3200400" lvl="6" indent="-317500">
              <a:spcBef>
                <a:spcPts val="0"/>
              </a:spcBef>
              <a:spcAft>
                <a:spcPts val="0"/>
              </a:spcAft>
              <a:buSzPts val="1400"/>
              <a:buChar char="●"/>
              <a:defRPr/>
            </a:lvl7pPr>
            <a:lvl8pPr marL="3657600" lvl="7" indent="-317500">
              <a:spcBef>
                <a:spcPts val="0"/>
              </a:spcBef>
              <a:spcAft>
                <a:spcPts val="0"/>
              </a:spcAft>
              <a:buSzPts val="1400"/>
              <a:buChar char="○"/>
              <a:defRPr/>
            </a:lvl8pPr>
            <a:lvl9pPr marL="4114800" lvl="8" indent="-317500">
              <a:spcBef>
                <a:spcPts val="0"/>
              </a:spcBef>
              <a:spcAft>
                <a:spcPts val="0"/>
              </a:spcAft>
              <a:buSzPts val="1400"/>
              <a:buChar char="■"/>
              <a:defRPr/>
            </a:lvl9pPr>
          </a:lstStyle>
          <a:p>
            <a:endParaRPr/>
          </a:p>
        </p:txBody>
      </p:sp>
      <p:sp>
        <p:nvSpPr>
          <p:cNvPr id="40" name="Google Shape;40;p9"/>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41"/>
        <p:cNvGrpSpPr/>
        <p:nvPr/>
      </p:nvGrpSpPr>
      <p:grpSpPr>
        <a:xfrm>
          <a:off x="0" y="0"/>
          <a:ext cx="0" cy="0"/>
          <a:chOff x="0" y="0"/>
          <a:chExt cx="0" cy="0"/>
        </a:xfrm>
      </p:grpSpPr>
      <p:sp>
        <p:nvSpPr>
          <p:cNvPr id="42" name="Google Shape;42;p10"/>
          <p:cNvSpPr txBox="1">
            <a:spLocks noGrp="1"/>
          </p:cNvSpPr>
          <p:nvPr>
            <p:ph type="body" idx="1"/>
          </p:nvPr>
        </p:nvSpPr>
        <p:spPr>
          <a:xfrm>
            <a:off x="311700" y="4230575"/>
            <a:ext cx="5998800" cy="605100"/>
          </a:xfrm>
          <a:prstGeom prst="rect">
            <a:avLst/>
          </a:prstGeom>
        </p:spPr>
        <p:txBody>
          <a:bodyPr spcFirstLastPara="1" wrap="square" lIns="91425" tIns="91425" rIns="91425" bIns="91425" anchor="ctr" anchorCtr="0">
            <a:normAutofit/>
          </a:bodyPr>
          <a:lstStyle>
            <a:lvl1pPr marL="457200" lvl="0" indent="-228600">
              <a:lnSpc>
                <a:spcPct val="100000"/>
              </a:lnSpc>
              <a:spcBef>
                <a:spcPts val="0"/>
              </a:spcBef>
              <a:spcAft>
                <a:spcPts val="0"/>
              </a:spcAft>
              <a:buSzPts val="1800"/>
              <a:buNone/>
              <a:defRPr/>
            </a:lvl1pPr>
          </a:lstStyle>
          <a:p>
            <a:endParaRPr/>
          </a:p>
        </p:txBody>
      </p:sp>
      <p:sp>
        <p:nvSpPr>
          <p:cNvPr id="43" name="Google Shape;43;p10"/>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44"/>
        <p:cNvGrpSpPr/>
        <p:nvPr/>
      </p:nvGrpSpPr>
      <p:grpSpPr>
        <a:xfrm>
          <a:off x="0" y="0"/>
          <a:ext cx="0" cy="0"/>
          <a:chOff x="0" y="0"/>
          <a:chExt cx="0" cy="0"/>
        </a:xfrm>
      </p:grpSpPr>
      <p:sp>
        <p:nvSpPr>
          <p:cNvPr id="45" name="Google Shape;45;p11"/>
          <p:cNvSpPr txBox="1">
            <a:spLocks noGrp="1"/>
          </p:cNvSpPr>
          <p:nvPr>
            <p:ph type="title" hasCustomPrompt="1"/>
          </p:nvPr>
        </p:nvSpPr>
        <p:spPr>
          <a:xfrm>
            <a:off x="311700" y="1106125"/>
            <a:ext cx="8520600" cy="1963500"/>
          </a:xfrm>
          <a:prstGeom prst="rect">
            <a:avLst/>
          </a:prstGeom>
        </p:spPr>
        <p:txBody>
          <a:bodyPr spcFirstLastPara="1" wrap="square" lIns="91425" tIns="91425" rIns="91425" bIns="91425" anchor="b" anchorCtr="0">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a:spLocks noGrp="1"/>
          </p:cNvSpPr>
          <p:nvPr>
            <p:ph type="body" idx="1"/>
          </p:nvPr>
        </p:nvSpPr>
        <p:spPr>
          <a:xfrm>
            <a:off x="311700" y="3152225"/>
            <a:ext cx="8520600" cy="1300800"/>
          </a:xfrm>
          <a:prstGeom prst="rect">
            <a:avLst/>
          </a:prstGeom>
        </p:spPr>
        <p:txBody>
          <a:bodyPr spcFirstLastPara="1" wrap="square" lIns="91425" tIns="91425" rIns="91425" bIns="91425" anchor="t" anchorCtr="0">
            <a:normAutofit/>
          </a:bodyPr>
          <a:lstStyle>
            <a:lvl1pPr marL="457200" lvl="0" indent="-342900" algn="ctr">
              <a:spcBef>
                <a:spcPts val="0"/>
              </a:spcBef>
              <a:spcAft>
                <a:spcPts val="0"/>
              </a:spcAft>
              <a:buSzPts val="1800"/>
              <a:buChar char="●"/>
              <a:defRPr/>
            </a:lvl1pPr>
            <a:lvl2pPr marL="914400" lvl="1" indent="-317500" algn="ctr">
              <a:spcBef>
                <a:spcPts val="0"/>
              </a:spcBef>
              <a:spcAft>
                <a:spcPts val="0"/>
              </a:spcAft>
              <a:buSzPts val="1400"/>
              <a:buChar char="○"/>
              <a:defRPr/>
            </a:lvl2pPr>
            <a:lvl3pPr marL="1371600" lvl="2" indent="-317500" algn="ctr">
              <a:spcBef>
                <a:spcPts val="0"/>
              </a:spcBef>
              <a:spcAft>
                <a:spcPts val="0"/>
              </a:spcAft>
              <a:buSzPts val="1400"/>
              <a:buChar char="■"/>
              <a:defRPr/>
            </a:lvl3pPr>
            <a:lvl4pPr marL="1828800" lvl="3" indent="-317500" algn="ctr">
              <a:spcBef>
                <a:spcPts val="0"/>
              </a:spcBef>
              <a:spcAft>
                <a:spcPts val="0"/>
              </a:spcAft>
              <a:buSzPts val="1400"/>
              <a:buChar char="●"/>
              <a:defRPr/>
            </a:lvl4pPr>
            <a:lvl5pPr marL="2286000" lvl="4" indent="-317500" algn="ctr">
              <a:spcBef>
                <a:spcPts val="0"/>
              </a:spcBef>
              <a:spcAft>
                <a:spcPts val="0"/>
              </a:spcAft>
              <a:buSzPts val="1400"/>
              <a:buChar char="○"/>
              <a:defRPr/>
            </a:lvl5pPr>
            <a:lvl6pPr marL="2743200" lvl="5" indent="-317500" algn="ctr">
              <a:spcBef>
                <a:spcPts val="0"/>
              </a:spcBef>
              <a:spcAft>
                <a:spcPts val="0"/>
              </a:spcAft>
              <a:buSzPts val="1400"/>
              <a:buChar char="■"/>
              <a:defRPr/>
            </a:lvl6pPr>
            <a:lvl7pPr marL="3200400" lvl="6" indent="-317500" algn="ctr">
              <a:spcBef>
                <a:spcPts val="0"/>
              </a:spcBef>
              <a:spcAft>
                <a:spcPts val="0"/>
              </a:spcAft>
              <a:buSzPts val="1400"/>
              <a:buChar char="●"/>
              <a:defRPr/>
            </a:lvl7pPr>
            <a:lvl8pPr marL="3657600" lvl="7" indent="-317500" algn="ctr">
              <a:spcBef>
                <a:spcPts val="0"/>
              </a:spcBef>
              <a:spcAft>
                <a:spcPts val="0"/>
              </a:spcAft>
              <a:buSzPts val="1400"/>
              <a:buChar char="○"/>
              <a:defRPr/>
            </a:lvl8pPr>
            <a:lvl9pPr marL="4114800" lvl="8" indent="-317500" algn="ctr">
              <a:spcBef>
                <a:spcPts val="0"/>
              </a:spcBef>
              <a:spcAft>
                <a:spcPts val="0"/>
              </a:spcAft>
              <a:buSzPts val="1400"/>
              <a:buChar char="■"/>
              <a:defRPr/>
            </a:lvl9pPr>
          </a:lstStyle>
          <a:p>
            <a:endParaRPr/>
          </a:p>
        </p:txBody>
      </p:sp>
      <p:sp>
        <p:nvSpPr>
          <p:cNvPr id="47" name="Google Shape;47;p11"/>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48"/>
        <p:cNvGrpSpPr/>
        <p:nvPr/>
      </p:nvGrpSpPr>
      <p:grpSpPr>
        <a:xfrm>
          <a:off x="0" y="0"/>
          <a:ext cx="0" cy="0"/>
          <a:chOff x="0" y="0"/>
          <a:chExt cx="0" cy="0"/>
        </a:xfrm>
      </p:grpSpPr>
      <p:sp>
        <p:nvSpPr>
          <p:cNvPr id="49" name="Google Shape;49;p12"/>
          <p:cNvSpPr txBox="1">
            <a:spLocks noGrp="1"/>
          </p:cNvSpPr>
          <p:nvPr>
            <p:ph type="sldNum" idx="12"/>
          </p:nvPr>
        </p:nvSpPr>
        <p:spPr>
          <a:xfrm>
            <a:off x="8472458" y="4663217"/>
            <a:ext cx="548700"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marL="0" lvl="0" indent="0" algn="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59"/>
        <p:cNvGrpSpPr/>
        <p:nvPr/>
      </p:nvGrpSpPr>
      <p:grpSpPr>
        <a:xfrm>
          <a:off x="0" y="0"/>
          <a:ext cx="0" cy="0"/>
          <a:chOff x="0" y="0"/>
          <a:chExt cx="0" cy="0"/>
        </a:xfrm>
      </p:grpSpPr>
      <p:sp>
        <p:nvSpPr>
          <p:cNvPr id="60" name="Google Shape;60;p1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61" name="Google Shape;61;p14"/>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62" name="Google Shape;62;p1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63"/>
        <p:cNvGrpSpPr/>
        <p:nvPr/>
      </p:nvGrpSpPr>
      <p:grpSpPr>
        <a:xfrm>
          <a:off x="0" y="0"/>
          <a:ext cx="0" cy="0"/>
          <a:chOff x="0" y="0"/>
          <a:chExt cx="0" cy="0"/>
        </a:xfrm>
      </p:grpSpPr>
      <p:sp>
        <p:nvSpPr>
          <p:cNvPr id="64" name="Google Shape;64;p15"/>
          <p:cNvSpPr txBox="1">
            <a:spLocks noGrp="1"/>
          </p:cNvSpPr>
          <p:nvPr>
            <p:ph type="ctrTitle"/>
          </p:nvPr>
        </p:nvSpPr>
        <p:spPr>
          <a:xfrm>
            <a:off x="2210208" y="744575"/>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65" name="Google Shape;65;p15"/>
          <p:cNvSpPr txBox="1">
            <a:spLocks noGrp="1"/>
          </p:cNvSpPr>
          <p:nvPr>
            <p:ph type="subTitle" idx="1"/>
          </p:nvPr>
        </p:nvSpPr>
        <p:spPr>
          <a:xfrm>
            <a:off x="2210202" y="2834125"/>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66"/>
        <p:cNvGrpSpPr/>
        <p:nvPr/>
      </p:nvGrpSpPr>
      <p:grpSpPr>
        <a:xfrm>
          <a:off x="0" y="0"/>
          <a:ext cx="0" cy="0"/>
          <a:chOff x="0" y="0"/>
          <a:chExt cx="0" cy="0"/>
        </a:xfrm>
      </p:grpSpPr>
      <p:sp>
        <p:nvSpPr>
          <p:cNvPr id="67" name="Google Shape;67;p16"/>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68" name="Google Shape;68;p1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69"/>
        <p:cNvGrpSpPr/>
        <p:nvPr/>
      </p:nvGrpSpPr>
      <p:grpSpPr>
        <a:xfrm>
          <a:off x="0" y="0"/>
          <a:ext cx="0" cy="0"/>
          <a:chOff x="0" y="0"/>
          <a:chExt cx="0" cy="0"/>
        </a:xfrm>
      </p:grpSpPr>
      <p:sp>
        <p:nvSpPr>
          <p:cNvPr id="70" name="Google Shape;70;p1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71" name="Google Shape;71;p17"/>
          <p:cNvGraphicFramePr/>
          <p:nvPr/>
        </p:nvGraphicFramePr>
        <p:xfrm>
          <a:off x="201942" y="833662"/>
          <a:ext cx="3000000" cy="3000000"/>
        </p:xfrm>
        <a:graphic>
          <a:graphicData uri="http://schemas.openxmlformats.org/drawingml/2006/table">
            <a:tbl>
              <a:tblPr firstRow="1" bandRow="1">
                <a:noFill/>
                <a:tableStyleId>{11B3D4AF-D05D-46CC-AD48-3D6A0D768892}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72" name="Google Shape;72;p1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73"/>
        <p:cNvGrpSpPr/>
        <p:nvPr/>
      </p:nvGrpSpPr>
      <p:grpSpPr>
        <a:xfrm>
          <a:off x="0" y="0"/>
          <a:ext cx="0" cy="0"/>
          <a:chOff x="0" y="0"/>
          <a:chExt cx="0" cy="0"/>
        </a:xfrm>
      </p:grpSpPr>
      <p:sp>
        <p:nvSpPr>
          <p:cNvPr id="74" name="Google Shape;74;p18"/>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75" name="Google Shape;75;p18"/>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6" name="Google Shape;76;p18"/>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77" name="Google Shape;77;p18"/>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8"/>
        <p:cNvGrpSpPr/>
        <p:nvPr/>
      </p:nvGrpSpPr>
      <p:grpSpPr>
        <a:xfrm>
          <a:off x="0" y="0"/>
          <a:ext cx="0" cy="0"/>
          <a:chOff x="0" y="0"/>
          <a:chExt cx="0" cy="0"/>
        </a:xfrm>
      </p:grpSpPr>
      <p:sp>
        <p:nvSpPr>
          <p:cNvPr id="79" name="Google Shape;79;p19"/>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80" name="Google Shape;80;p19"/>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81"/>
        <p:cNvGrpSpPr/>
        <p:nvPr/>
      </p:nvGrpSpPr>
      <p:grpSpPr>
        <a:xfrm>
          <a:off x="0" y="0"/>
          <a:ext cx="0" cy="0"/>
          <a:chOff x="0" y="0"/>
          <a:chExt cx="0" cy="0"/>
        </a:xfrm>
      </p:grpSpPr>
      <p:sp>
        <p:nvSpPr>
          <p:cNvPr id="82" name="Google Shape;82;p20"/>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83" name="Google Shape;83;p2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84"/>
        <p:cNvGrpSpPr/>
        <p:nvPr/>
      </p:nvGrpSpPr>
      <p:grpSpPr>
        <a:xfrm>
          <a:off x="0" y="0"/>
          <a:ext cx="0" cy="0"/>
          <a:chOff x="0" y="0"/>
          <a:chExt cx="0" cy="0"/>
        </a:xfrm>
      </p:grpSpPr>
      <p:sp>
        <p:nvSpPr>
          <p:cNvPr id="85" name="Google Shape;85;p21"/>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86" name="Google Shape;86;p21"/>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87" name="Google Shape;87;p21"/>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88" name="Google Shape;88;p21"/>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89" name="Google Shape;89;p2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90"/>
        <p:cNvGrpSpPr/>
        <p:nvPr/>
      </p:nvGrpSpPr>
      <p:grpSpPr>
        <a:xfrm>
          <a:off x="0" y="0"/>
          <a:ext cx="0" cy="0"/>
          <a:chOff x="0" y="0"/>
          <a:chExt cx="0" cy="0"/>
        </a:xfrm>
      </p:grpSpPr>
      <p:sp>
        <p:nvSpPr>
          <p:cNvPr id="91" name="Google Shape;91;p2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92"/>
        <p:cNvGrpSpPr/>
        <p:nvPr/>
      </p:nvGrpSpPr>
      <p:grpSpPr>
        <a:xfrm>
          <a:off x="0" y="0"/>
          <a:ext cx="0" cy="0"/>
          <a:chOff x="0" y="0"/>
          <a:chExt cx="0" cy="0"/>
        </a:xfrm>
      </p:grpSpPr>
      <p:sp>
        <p:nvSpPr>
          <p:cNvPr id="93" name="Google Shape;93;p23"/>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94" name="Google Shape;94;p23" descr="A close up of a logo&#10;&#10;Description automatically generated"/>
          <p:cNvPicPr preferRelativeResize="0"/>
          <p:nvPr/>
        </p:nvPicPr>
        <p:blipFill rotWithShape="1">
          <a:blip r:embed="rId2">
            <a:alphaModFix/>
          </a:blip>
          <a:srcRect l="42816" t="18358" r="37295" b="19150"/>
          <a:stretch/>
        </p:blipFill>
        <p:spPr>
          <a:xfrm>
            <a:off x="6052536" y="514443"/>
            <a:ext cx="2095112" cy="3703320"/>
          </a:xfrm>
          <a:prstGeom prst="rect">
            <a:avLst/>
          </a:prstGeom>
          <a:noFill/>
          <a:ln>
            <a:noFill/>
          </a:ln>
        </p:spPr>
      </p:pic>
      <p:sp>
        <p:nvSpPr>
          <p:cNvPr id="95" name="Google Shape;95;p23"/>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96" name="Google Shape;96;p23"/>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Happy Learning !</a:t>
            </a:r>
            <a:endParaRPr sz="3300" b="0" i="0" u="none" strike="noStrike" cap="none">
              <a:solidFill>
                <a:schemeClr val="lt1"/>
              </a:solidFill>
              <a:latin typeface="Nunito ExtraBold"/>
              <a:ea typeface="Nunito ExtraBold"/>
              <a:cs typeface="Nunito ExtraBold"/>
              <a:sym typeface="Nunito ExtraBold"/>
            </a:endParaRPr>
          </a:p>
        </p:txBody>
      </p:sp>
      <p:pic>
        <p:nvPicPr>
          <p:cNvPr id="97" name="Google Shape;97;p23"/>
          <p:cNvPicPr preferRelativeResize="0"/>
          <p:nvPr/>
        </p:nvPicPr>
        <p:blipFill rotWithShape="1">
          <a:blip r:embed="rId3">
            <a:alphaModFix/>
          </a:blip>
          <a:srcRect/>
          <a:stretch/>
        </p:blipFill>
        <p:spPr>
          <a:xfrm>
            <a:off x="295874" y="683275"/>
            <a:ext cx="3757725" cy="825875"/>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98"/>
        <p:cNvGrpSpPr/>
        <p:nvPr/>
      </p:nvGrpSpPr>
      <p:grpSpPr>
        <a:xfrm>
          <a:off x="0" y="0"/>
          <a:ext cx="0" cy="0"/>
          <a:chOff x="0" y="0"/>
          <a:chExt cx="0" cy="0"/>
        </a:xfrm>
      </p:grpSpPr>
      <p:sp>
        <p:nvSpPr>
          <p:cNvPr id="99" name="Google Shape;99;p24"/>
          <p:cNvSpPr txBox="1">
            <a:spLocks noGrp="1"/>
          </p:cNvSpPr>
          <p:nvPr>
            <p:ph type="title"/>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a:lnSpc>
                <a:spcPct val="100000"/>
              </a:lnSpc>
              <a:spcBef>
                <a:spcPts val="0"/>
              </a:spcBef>
              <a:spcAft>
                <a:spcPts val="0"/>
              </a:spcAft>
              <a:buClr>
                <a:schemeClr val="dk1"/>
              </a:buClr>
              <a:buSzPts val="3000"/>
              <a:buFont typeface="Arial"/>
              <a:buNone/>
              <a:defRPr sz="3000" b="1" i="0" u="none" strike="noStrike" cap="none">
                <a:solidFill>
                  <a:schemeClr val="dk1"/>
                </a:solidFill>
                <a:latin typeface="Arial"/>
                <a:ea typeface="Arial"/>
                <a:cs typeface="Arial"/>
                <a:sym typeface="Arial"/>
              </a:defRPr>
            </a:lvl1pPr>
            <a:lvl2pPr lvl="1" algn="l">
              <a:lnSpc>
                <a:spcPct val="100000"/>
              </a:lnSpc>
              <a:spcBef>
                <a:spcPts val="0"/>
              </a:spcBef>
              <a:spcAft>
                <a:spcPts val="0"/>
              </a:spcAft>
              <a:buSzPts val="2500"/>
              <a:buNone/>
              <a:defRPr sz="1800"/>
            </a:lvl2pPr>
            <a:lvl3pPr lvl="2" algn="l">
              <a:lnSpc>
                <a:spcPct val="100000"/>
              </a:lnSpc>
              <a:spcBef>
                <a:spcPts val="0"/>
              </a:spcBef>
              <a:spcAft>
                <a:spcPts val="0"/>
              </a:spcAft>
              <a:buSzPts val="2500"/>
              <a:buNone/>
              <a:defRPr sz="1800"/>
            </a:lvl3pPr>
            <a:lvl4pPr lvl="3" algn="l">
              <a:lnSpc>
                <a:spcPct val="100000"/>
              </a:lnSpc>
              <a:spcBef>
                <a:spcPts val="0"/>
              </a:spcBef>
              <a:spcAft>
                <a:spcPts val="0"/>
              </a:spcAft>
              <a:buSzPts val="2500"/>
              <a:buNone/>
              <a:defRPr sz="1800"/>
            </a:lvl4pPr>
            <a:lvl5pPr lvl="4" algn="l">
              <a:lnSpc>
                <a:spcPct val="100000"/>
              </a:lnSpc>
              <a:spcBef>
                <a:spcPts val="0"/>
              </a:spcBef>
              <a:spcAft>
                <a:spcPts val="0"/>
              </a:spcAft>
              <a:buSzPts val="2500"/>
              <a:buNone/>
              <a:defRPr sz="1800"/>
            </a:lvl5pPr>
            <a:lvl6pPr lvl="5" algn="l">
              <a:lnSpc>
                <a:spcPct val="100000"/>
              </a:lnSpc>
              <a:spcBef>
                <a:spcPts val="0"/>
              </a:spcBef>
              <a:spcAft>
                <a:spcPts val="0"/>
              </a:spcAft>
              <a:buSzPts val="2500"/>
              <a:buNone/>
              <a:defRPr sz="1800"/>
            </a:lvl6pPr>
            <a:lvl7pPr lvl="6" algn="l">
              <a:lnSpc>
                <a:spcPct val="100000"/>
              </a:lnSpc>
              <a:spcBef>
                <a:spcPts val="0"/>
              </a:spcBef>
              <a:spcAft>
                <a:spcPts val="0"/>
              </a:spcAft>
              <a:buSzPts val="2500"/>
              <a:buNone/>
              <a:defRPr sz="1800"/>
            </a:lvl7pPr>
            <a:lvl8pPr lvl="7" algn="l">
              <a:lnSpc>
                <a:spcPct val="100000"/>
              </a:lnSpc>
              <a:spcBef>
                <a:spcPts val="0"/>
              </a:spcBef>
              <a:spcAft>
                <a:spcPts val="0"/>
              </a:spcAft>
              <a:buSzPts val="2500"/>
              <a:buNone/>
              <a:defRPr sz="1800"/>
            </a:lvl8pPr>
            <a:lvl9pPr lvl="8" algn="l">
              <a:lnSpc>
                <a:spcPct val="100000"/>
              </a:lnSpc>
              <a:spcBef>
                <a:spcPts val="0"/>
              </a:spcBef>
              <a:spcAft>
                <a:spcPts val="0"/>
              </a:spcAft>
              <a:buSzPts val="2500"/>
              <a:buNone/>
              <a:defRPr sz="1800"/>
            </a:lvl9pPr>
          </a:lstStyle>
          <a:p>
            <a:endParaRPr/>
          </a:p>
        </p:txBody>
      </p:sp>
      <p:sp>
        <p:nvSpPr>
          <p:cNvPr id="100" name="Google Shape;100;p24"/>
          <p:cNvSpPr txBox="1">
            <a:spLocks noGrp="1"/>
          </p:cNvSpPr>
          <p:nvPr>
            <p:ph type="body" idx="1"/>
          </p:nvPr>
        </p:nvSpPr>
        <p:spPr>
          <a:xfrm>
            <a:off x="457200" y="1021842"/>
            <a:ext cx="8229600" cy="3394500"/>
          </a:xfrm>
          <a:prstGeom prst="rect">
            <a:avLst/>
          </a:prstGeom>
          <a:noFill/>
          <a:ln>
            <a:noFill/>
          </a:ln>
        </p:spPr>
        <p:txBody>
          <a:bodyPr spcFirstLastPara="1" wrap="square" lIns="91425" tIns="45700" rIns="91425" bIns="45700" anchor="t" anchorCtr="0">
            <a:normAutofit/>
          </a:bodyPr>
          <a:lstStyle>
            <a:lvl1pPr marL="457200" lvl="0" indent="-342900" algn="l">
              <a:lnSpc>
                <a:spcPct val="115000"/>
              </a:lnSpc>
              <a:spcBef>
                <a:spcPts val="360"/>
              </a:spcBef>
              <a:spcAft>
                <a:spcPts val="0"/>
              </a:spcAft>
              <a:buClr>
                <a:schemeClr val="dk1"/>
              </a:buClr>
              <a:buSzPts val="1800"/>
              <a:buChar char="●"/>
              <a:defRPr/>
            </a:lvl1pPr>
            <a:lvl2pPr marL="914400" lvl="1" indent="-342900" algn="l">
              <a:lnSpc>
                <a:spcPct val="115000"/>
              </a:lnSpc>
              <a:spcBef>
                <a:spcPts val="1600"/>
              </a:spcBef>
              <a:spcAft>
                <a:spcPts val="0"/>
              </a:spcAft>
              <a:buClr>
                <a:schemeClr val="dk1"/>
              </a:buClr>
              <a:buSzPts val="1800"/>
              <a:buChar char="○"/>
              <a:defRPr/>
            </a:lvl2pPr>
            <a:lvl3pPr marL="1371600" lvl="2" indent="-342900" algn="l">
              <a:lnSpc>
                <a:spcPct val="115000"/>
              </a:lnSpc>
              <a:spcBef>
                <a:spcPts val="1600"/>
              </a:spcBef>
              <a:spcAft>
                <a:spcPts val="0"/>
              </a:spcAft>
              <a:buClr>
                <a:schemeClr val="dk1"/>
              </a:buClr>
              <a:buSzPts val="1800"/>
              <a:buChar char="■"/>
              <a:defRPr/>
            </a:lvl3pPr>
            <a:lvl4pPr marL="1828800" lvl="3" indent="-342900" algn="l">
              <a:lnSpc>
                <a:spcPct val="115000"/>
              </a:lnSpc>
              <a:spcBef>
                <a:spcPts val="1600"/>
              </a:spcBef>
              <a:spcAft>
                <a:spcPts val="0"/>
              </a:spcAft>
              <a:buClr>
                <a:schemeClr val="dk1"/>
              </a:buClr>
              <a:buSzPts val="1800"/>
              <a:buChar char="●"/>
              <a:defRPr/>
            </a:lvl4pPr>
            <a:lvl5pPr marL="2286000" lvl="4" indent="-342900" algn="l">
              <a:lnSpc>
                <a:spcPct val="115000"/>
              </a:lnSpc>
              <a:spcBef>
                <a:spcPts val="1600"/>
              </a:spcBef>
              <a:spcAft>
                <a:spcPts val="0"/>
              </a:spcAft>
              <a:buClr>
                <a:schemeClr val="dk1"/>
              </a:buClr>
              <a:buSzPts val="1800"/>
              <a:buChar char="○"/>
              <a:defRPr/>
            </a:lvl5pPr>
            <a:lvl6pPr marL="2743200" lvl="5" indent="-342900" algn="l">
              <a:lnSpc>
                <a:spcPct val="115000"/>
              </a:lnSpc>
              <a:spcBef>
                <a:spcPts val="1600"/>
              </a:spcBef>
              <a:spcAft>
                <a:spcPts val="0"/>
              </a:spcAft>
              <a:buClr>
                <a:schemeClr val="dk1"/>
              </a:buClr>
              <a:buSzPts val="1800"/>
              <a:buChar char="■"/>
              <a:defRPr/>
            </a:lvl6pPr>
            <a:lvl7pPr marL="3200400" lvl="6" indent="-342900" algn="l">
              <a:lnSpc>
                <a:spcPct val="115000"/>
              </a:lnSpc>
              <a:spcBef>
                <a:spcPts val="1600"/>
              </a:spcBef>
              <a:spcAft>
                <a:spcPts val="0"/>
              </a:spcAft>
              <a:buClr>
                <a:schemeClr val="dk1"/>
              </a:buClr>
              <a:buSzPts val="1800"/>
              <a:buChar char="●"/>
              <a:defRPr/>
            </a:lvl7pPr>
            <a:lvl8pPr marL="3657600" lvl="7" indent="-342900" algn="l">
              <a:lnSpc>
                <a:spcPct val="115000"/>
              </a:lnSpc>
              <a:spcBef>
                <a:spcPts val="1600"/>
              </a:spcBef>
              <a:spcAft>
                <a:spcPts val="0"/>
              </a:spcAft>
              <a:buClr>
                <a:schemeClr val="dk1"/>
              </a:buClr>
              <a:buSzPts val="1800"/>
              <a:buChar char="○"/>
              <a:defRPr/>
            </a:lvl8pPr>
            <a:lvl9pPr marL="4114800" lvl="8" indent="-342900" algn="l">
              <a:lnSpc>
                <a:spcPct val="115000"/>
              </a:lnSpc>
              <a:spcBef>
                <a:spcPts val="1600"/>
              </a:spcBef>
              <a:spcAft>
                <a:spcPts val="1600"/>
              </a:spcAft>
              <a:buClr>
                <a:schemeClr val="dk1"/>
              </a:buClr>
              <a:buSzPts val="1800"/>
              <a:buChar char="■"/>
              <a:defRPr/>
            </a:lvl9pPr>
          </a:lstStyle>
          <a:p>
            <a:endParaRPr/>
          </a:p>
        </p:txBody>
      </p:sp>
      <p:sp>
        <p:nvSpPr>
          <p:cNvPr id="101" name="Google Shape;101;p24"/>
          <p:cNvSpPr txBox="1">
            <a:spLocks noGrp="1"/>
          </p:cNvSpPr>
          <p:nvPr>
            <p:ph type="dt" idx="10"/>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2" name="Google Shape;102;p24"/>
          <p:cNvSpPr txBox="1">
            <a:spLocks noGrp="1"/>
          </p:cNvSpPr>
          <p:nvPr>
            <p:ph type="ftr" idx="11"/>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3" name="Google Shape;103;p24"/>
          <p:cNvSpPr txBox="1">
            <a:spLocks noGrp="1"/>
          </p:cNvSpPr>
          <p:nvPr>
            <p:ph type="sldNum" idx="12"/>
          </p:nvPr>
        </p:nvSpPr>
        <p:spPr>
          <a:xfrm>
            <a:off x="0" y="0"/>
            <a:ext cx="3000000" cy="22500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itle Only">
  <p:cSld name="Title Only">
    <p:spTree>
      <p:nvGrpSpPr>
        <p:cNvPr id="1" name="Shape 104"/>
        <p:cNvGrpSpPr/>
        <p:nvPr/>
      </p:nvGrpSpPr>
      <p:grpSpPr>
        <a:xfrm>
          <a:off x="0" y="0"/>
          <a:ext cx="0" cy="0"/>
          <a:chOff x="0" y="0"/>
          <a:chExt cx="0" cy="0"/>
        </a:xfrm>
      </p:grpSpPr>
      <p:sp>
        <p:nvSpPr>
          <p:cNvPr id="105" name="Google Shape;105;p25"/>
          <p:cNvSpPr txBox="1">
            <a:spLocks noGrp="1"/>
          </p:cNvSpPr>
          <p:nvPr>
            <p:ph type="dt" idx="10"/>
          </p:nvPr>
        </p:nvSpPr>
        <p:spPr>
          <a:xfrm>
            <a:off x="457200" y="4857749"/>
            <a:ext cx="2133600" cy="20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6" name="Google Shape;106;p25"/>
          <p:cNvSpPr txBox="1">
            <a:spLocks noGrp="1"/>
          </p:cNvSpPr>
          <p:nvPr>
            <p:ph type="ftr" idx="11"/>
          </p:nvPr>
        </p:nvSpPr>
        <p:spPr>
          <a:xfrm>
            <a:off x="2640596" y="4857749"/>
            <a:ext cx="5507700" cy="205800"/>
          </a:xfrm>
          <a:prstGeom prst="rect">
            <a:avLst/>
          </a:prstGeom>
          <a:noFill/>
          <a:ln>
            <a:noFill/>
          </a:ln>
        </p:spPr>
        <p:txBody>
          <a:bodyPr spcFirstLastPara="1" wrap="square" lIns="91425" tIns="45700" rIns="91425" bIns="45700" anchor="t" anchorCtr="0">
            <a:noAutofit/>
          </a:bodyPr>
          <a:lstStyle>
            <a:lvl1pPr marR="0" lvl="0"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800" b="0" i="0" u="none" strike="noStrike" cap="none">
                <a:solidFill>
                  <a:schemeClr val="dk1"/>
                </a:solidFill>
                <a:latin typeface="Arial"/>
                <a:ea typeface="Arial"/>
                <a:cs typeface="Arial"/>
                <a:sym typeface="Arial"/>
              </a:defRPr>
            </a:lvl9pPr>
          </a:lstStyle>
          <a:p>
            <a:endParaRPr/>
          </a:p>
        </p:txBody>
      </p:sp>
      <p:sp>
        <p:nvSpPr>
          <p:cNvPr id="107" name="Google Shape;107;p25"/>
          <p:cNvSpPr txBox="1">
            <a:spLocks noGrp="1"/>
          </p:cNvSpPr>
          <p:nvPr>
            <p:ph type="sldNum" idx="12"/>
          </p:nvPr>
        </p:nvSpPr>
        <p:spPr>
          <a:xfrm>
            <a:off x="8204396" y="4857749"/>
            <a:ext cx="733800" cy="205800"/>
          </a:xfrm>
          <a:prstGeom prst="rect">
            <a:avLst/>
          </a:prstGeom>
          <a:noFill/>
          <a:ln>
            <a:noFill/>
          </a:ln>
        </p:spPr>
        <p:txBody>
          <a:bodyPr spcFirstLastPara="1" wrap="square" lIns="91425" tIns="45700" rIns="91425" bIns="45700" anchor="t" anchorCtr="0">
            <a:noAutofit/>
          </a:bodyPr>
          <a:lstStyle>
            <a:lvl1pPr marL="0" marR="0" lvl="0"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1pPr>
            <a:lvl2pPr marL="0" marR="0" lvl="1"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2pPr>
            <a:lvl3pPr marL="0" marR="0" lvl="2"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3pPr>
            <a:lvl4pPr marL="0" marR="0" lvl="3"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4pPr>
            <a:lvl5pPr marL="0" marR="0" lvl="4"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5pPr>
            <a:lvl6pPr marL="0" marR="0" lvl="5"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6pPr>
            <a:lvl7pPr marL="0" marR="0" lvl="6"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7pPr>
            <a:lvl8pPr marL="0" marR="0" lvl="7"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8pPr>
            <a:lvl9pPr marL="0" marR="0" lvl="8" indent="0" algn="l">
              <a:lnSpc>
                <a:spcPct val="100000"/>
              </a:lnSpc>
              <a:spcBef>
                <a:spcPts val="0"/>
              </a:spcBef>
              <a:spcAft>
                <a:spcPts val="0"/>
              </a:spcAft>
              <a:buClr>
                <a:srgbClr val="000000"/>
              </a:buClr>
              <a:buSzPts val="1800"/>
              <a:buFont typeface="Arial"/>
              <a:buNone/>
              <a:defRPr sz="1800" b="1" i="0" u="none" strike="noStrike" cap="none">
                <a:solidFill>
                  <a:schemeClr val="dk1"/>
                </a:solidFill>
                <a:latin typeface="Arial"/>
                <a:ea typeface="Arial"/>
                <a:cs typeface="Arial"/>
                <a:sym typeface="Arial"/>
              </a:defRPr>
            </a:lvl9pPr>
          </a:lstStyle>
          <a:p>
            <a:pPr marL="0" lvl="0" indent="0" algn="l" rtl="0">
              <a:spcBef>
                <a:spcPts val="0"/>
              </a:spcBef>
              <a:spcAft>
                <a:spcPts val="0"/>
              </a:spcAft>
              <a:buNone/>
            </a:pPr>
            <a:fld id="{00000000-1234-1234-1234-123412341234}" type="slidenum">
              <a:rPr lang="en"/>
              <a:t>‹#›</a:t>
            </a:fld>
            <a:endParaRPr/>
          </a:p>
        </p:txBody>
      </p:sp>
    </p:spTree>
  </p:cSld>
  <p:clrMapOvr>
    <a:masterClrMapping/>
  </p:clrMapOvr>
  <p:transition spd="med">
    <p:fade thruBlk="1"/>
  </p:transition>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Title and Content 1">
  <p:cSld name="Title and Content">
    <p:spTree>
      <p:nvGrpSpPr>
        <p:cNvPr id="1" name="Shape 108"/>
        <p:cNvGrpSpPr/>
        <p:nvPr/>
      </p:nvGrpSpPr>
      <p:grpSpPr>
        <a:xfrm>
          <a:off x="0" y="0"/>
          <a:ext cx="0" cy="0"/>
          <a:chOff x="0" y="0"/>
          <a:chExt cx="0" cy="0"/>
        </a:xfrm>
      </p:grpSpPr>
      <p:sp>
        <p:nvSpPr>
          <p:cNvPr id="109" name="Google Shape;109;p26"/>
          <p:cNvSpPr txBox="1">
            <a:spLocks noGrp="1"/>
          </p:cNvSpPr>
          <p:nvPr>
            <p:ph type="title"/>
          </p:nvPr>
        </p:nvSpPr>
        <p:spPr>
          <a:xfrm>
            <a:off x="569519" y="142741"/>
            <a:ext cx="8004900" cy="9348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0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10" name="Google Shape;110;p26"/>
          <p:cNvSpPr txBox="1">
            <a:spLocks noGrp="1"/>
          </p:cNvSpPr>
          <p:nvPr>
            <p:ph type="body" idx="1"/>
          </p:nvPr>
        </p:nvSpPr>
        <p:spPr>
          <a:xfrm>
            <a:off x="1412081" y="930269"/>
            <a:ext cx="6319800" cy="23631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sz="1900" b="0" i="0">
                <a:solidFill>
                  <a:schemeClr val="dk1"/>
                </a:solidFill>
                <a:latin typeface="Calibri"/>
                <a:ea typeface="Calibri"/>
                <a:cs typeface="Calibri"/>
                <a:sym typeface="Calibri"/>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11" name="Google Shape;111;p26"/>
          <p:cNvSpPr txBox="1">
            <a:spLocks noGrp="1"/>
          </p:cNvSpPr>
          <p:nvPr>
            <p:ph type="ftr" idx="11"/>
          </p:nvPr>
        </p:nvSpPr>
        <p:spPr>
          <a:xfrm>
            <a:off x="1574006" y="4988871"/>
            <a:ext cx="55650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2" name="Google Shape;112;p26"/>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3" name="Google Shape;113;p26"/>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Title Only 1">
  <p:cSld name="Title Only_1">
    <p:spTree>
      <p:nvGrpSpPr>
        <p:cNvPr id="1" name="Shape 114"/>
        <p:cNvGrpSpPr/>
        <p:nvPr/>
      </p:nvGrpSpPr>
      <p:grpSpPr>
        <a:xfrm>
          <a:off x="0" y="0"/>
          <a:ext cx="0" cy="0"/>
          <a:chOff x="0" y="0"/>
          <a:chExt cx="0" cy="0"/>
        </a:xfrm>
      </p:grpSpPr>
      <p:sp>
        <p:nvSpPr>
          <p:cNvPr id="115" name="Google Shape;115;p27"/>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16" name="Google Shape;116;p27"/>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7" name="Google Shape;117;p27"/>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18" name="Google Shape;118;p27"/>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2">
  <p:cSld name="Title Only_2">
    <p:spTree>
      <p:nvGrpSpPr>
        <p:cNvPr id="1" name="Shape 119"/>
        <p:cNvGrpSpPr/>
        <p:nvPr/>
      </p:nvGrpSpPr>
      <p:grpSpPr>
        <a:xfrm>
          <a:off x="0" y="0"/>
          <a:ext cx="0" cy="0"/>
          <a:chOff x="0" y="0"/>
          <a:chExt cx="0" cy="0"/>
        </a:xfrm>
      </p:grpSpPr>
      <p:sp>
        <p:nvSpPr>
          <p:cNvPr id="120" name="Google Shape;120;p28"/>
          <p:cNvSpPr txBox="1">
            <a:spLocks noGrp="1"/>
          </p:cNvSpPr>
          <p:nvPr>
            <p:ph type="title"/>
          </p:nvPr>
        </p:nvSpPr>
        <p:spPr>
          <a:xfrm>
            <a:off x="3932967" y="348900"/>
            <a:ext cx="1278000" cy="521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3300" b="0" i="0">
                <a:solidFill>
                  <a:schemeClr val="dk1"/>
                </a:solidFill>
                <a:latin typeface="Calibri"/>
                <a:ea typeface="Calibri"/>
                <a:cs typeface="Calibri"/>
                <a:sym typeface="Calibri"/>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1" name="Google Shape;121;p28"/>
          <p:cNvSpPr txBox="1">
            <a:spLocks noGrp="1"/>
          </p:cNvSpPr>
          <p:nvPr>
            <p:ph type="ftr" idx="11"/>
          </p:nvPr>
        </p:nvSpPr>
        <p:spPr>
          <a:xfrm>
            <a:off x="1712499" y="5010073"/>
            <a:ext cx="5564400" cy="151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rgbClr val="7E7E7E"/>
                </a:solidFill>
                <a:latin typeface="Calibri"/>
                <a:ea typeface="Calibri"/>
                <a:cs typeface="Calibri"/>
                <a:sym typeface="Calibri"/>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2" name="Google Shape;122;p28"/>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3" name="Google Shape;123;p28"/>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Title Only 3">
  <p:cSld name="Title Only_3">
    <p:spTree>
      <p:nvGrpSpPr>
        <p:cNvPr id="1" name="Shape 124"/>
        <p:cNvGrpSpPr/>
        <p:nvPr/>
      </p:nvGrpSpPr>
      <p:grpSpPr>
        <a:xfrm>
          <a:off x="0" y="0"/>
          <a:ext cx="0" cy="0"/>
          <a:chOff x="0" y="0"/>
          <a:chExt cx="0" cy="0"/>
        </a:xfrm>
      </p:grpSpPr>
      <p:sp>
        <p:nvSpPr>
          <p:cNvPr id="125" name="Google Shape;125;p29"/>
          <p:cNvSpPr txBox="1">
            <a:spLocks noGrp="1"/>
          </p:cNvSpPr>
          <p:nvPr>
            <p:ph type="title"/>
          </p:nvPr>
        </p:nvSpPr>
        <p:spPr>
          <a:xfrm>
            <a:off x="390424" y="497078"/>
            <a:ext cx="8363100" cy="452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2800" b="0"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26" name="Google Shape;126;p29"/>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7" name="Google Shape;127;p29"/>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28" name="Google Shape;128;p29"/>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Title Slide">
  <p:cSld name="OBJECT_1">
    <p:spTree>
      <p:nvGrpSpPr>
        <p:cNvPr id="1" name="Shape 129"/>
        <p:cNvGrpSpPr/>
        <p:nvPr/>
      </p:nvGrpSpPr>
      <p:grpSpPr>
        <a:xfrm>
          <a:off x="0" y="0"/>
          <a:ext cx="0" cy="0"/>
          <a:chOff x="0" y="0"/>
          <a:chExt cx="0" cy="0"/>
        </a:xfrm>
      </p:grpSpPr>
      <p:sp>
        <p:nvSpPr>
          <p:cNvPr id="130" name="Google Shape;130;p30"/>
          <p:cNvSpPr txBox="1">
            <a:spLocks noGrp="1"/>
          </p:cNvSpPr>
          <p:nvPr>
            <p:ph type="ctrTitle"/>
          </p:nvPr>
        </p:nvSpPr>
        <p:spPr>
          <a:xfrm>
            <a:off x="2938259" y="1851799"/>
            <a:ext cx="3267600" cy="8184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5200" b="0" i="0">
                <a:solidFill>
                  <a:srgbClr val="365F9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1" name="Google Shape;131;p30"/>
          <p:cNvSpPr txBox="1">
            <a:spLocks noGrp="1"/>
          </p:cNvSpPr>
          <p:nvPr>
            <p:ph type="subTitle" idx="1"/>
          </p:nvPr>
        </p:nvSpPr>
        <p:spPr>
          <a:xfrm>
            <a:off x="1371600" y="2880360"/>
            <a:ext cx="6400800" cy="1285800"/>
          </a:xfrm>
          <a:prstGeom prst="rect">
            <a:avLst/>
          </a:prstGeom>
          <a:noFill/>
          <a:ln>
            <a:noFill/>
          </a:ln>
        </p:spPr>
        <p:txBody>
          <a:bodyPr spcFirstLastPara="1" wrap="square" lIns="0" tIns="0" rIns="0" bIns="0" anchor="t" anchorCtr="0">
            <a:spAutoFit/>
          </a:bodyPr>
          <a:lstStyle>
            <a:lvl1pPr lvl="0" algn="l">
              <a:lnSpc>
                <a:spcPct val="115000"/>
              </a:lnSpc>
              <a:spcBef>
                <a:spcPts val="0"/>
              </a:spcBef>
              <a:spcAft>
                <a:spcPts val="0"/>
              </a:spcAft>
              <a:buSzPts val="1500"/>
              <a:buNone/>
              <a:defRPr/>
            </a:lvl1pPr>
            <a:lvl2pPr lvl="1" algn="l">
              <a:lnSpc>
                <a:spcPct val="115000"/>
              </a:lnSpc>
              <a:spcBef>
                <a:spcPts val="1600"/>
              </a:spcBef>
              <a:spcAft>
                <a:spcPts val="0"/>
              </a:spcAft>
              <a:buSzPts val="1300"/>
              <a:buNone/>
              <a:defRPr/>
            </a:lvl2pPr>
            <a:lvl3pPr lvl="2" algn="l">
              <a:lnSpc>
                <a:spcPct val="115000"/>
              </a:lnSpc>
              <a:spcBef>
                <a:spcPts val="1600"/>
              </a:spcBef>
              <a:spcAft>
                <a:spcPts val="0"/>
              </a:spcAft>
              <a:buSzPts val="1200"/>
              <a:buNone/>
              <a:defRPr/>
            </a:lvl3pPr>
            <a:lvl4pPr lvl="3" algn="l">
              <a:lnSpc>
                <a:spcPct val="115000"/>
              </a:lnSpc>
              <a:spcBef>
                <a:spcPts val="1600"/>
              </a:spcBef>
              <a:spcAft>
                <a:spcPts val="0"/>
              </a:spcAft>
              <a:buSzPts val="1100"/>
              <a:buNone/>
              <a:defRPr/>
            </a:lvl4pPr>
            <a:lvl5pPr lvl="4" algn="l">
              <a:lnSpc>
                <a:spcPct val="115000"/>
              </a:lnSpc>
              <a:spcBef>
                <a:spcPts val="1600"/>
              </a:spcBef>
              <a:spcAft>
                <a:spcPts val="0"/>
              </a:spcAft>
              <a:buSzPts val="1000"/>
              <a:buNone/>
              <a:defRPr/>
            </a:lvl5pPr>
            <a:lvl6pPr lvl="5" algn="l">
              <a:lnSpc>
                <a:spcPct val="115000"/>
              </a:lnSpc>
              <a:spcBef>
                <a:spcPts val="1600"/>
              </a:spcBef>
              <a:spcAft>
                <a:spcPts val="0"/>
              </a:spcAft>
              <a:buSzPts val="900"/>
              <a:buNone/>
              <a:defRPr/>
            </a:lvl6pPr>
            <a:lvl7pPr lvl="6" algn="l">
              <a:lnSpc>
                <a:spcPct val="115000"/>
              </a:lnSpc>
              <a:spcBef>
                <a:spcPts val="1600"/>
              </a:spcBef>
              <a:spcAft>
                <a:spcPts val="0"/>
              </a:spcAft>
              <a:buSzPts val="800"/>
              <a:buNone/>
              <a:defRPr/>
            </a:lvl7pPr>
            <a:lvl8pPr lvl="7" algn="l">
              <a:lnSpc>
                <a:spcPct val="115000"/>
              </a:lnSpc>
              <a:spcBef>
                <a:spcPts val="1600"/>
              </a:spcBef>
              <a:spcAft>
                <a:spcPts val="0"/>
              </a:spcAft>
              <a:buSzPts val="700"/>
              <a:buNone/>
              <a:defRPr/>
            </a:lvl8pPr>
            <a:lvl9pPr lvl="8" algn="l">
              <a:lnSpc>
                <a:spcPct val="115000"/>
              </a:lnSpc>
              <a:spcBef>
                <a:spcPts val="1600"/>
              </a:spcBef>
              <a:spcAft>
                <a:spcPts val="1600"/>
              </a:spcAft>
              <a:buSzPts val="600"/>
              <a:buNone/>
              <a:defRPr/>
            </a:lvl9pPr>
          </a:lstStyle>
          <a:p>
            <a:endParaRPr/>
          </a:p>
        </p:txBody>
      </p:sp>
      <p:sp>
        <p:nvSpPr>
          <p:cNvPr id="132" name="Google Shape;132;p30"/>
          <p:cNvSpPr txBox="1">
            <a:spLocks noGrp="1"/>
          </p:cNvSpPr>
          <p:nvPr>
            <p:ph type="ftr" idx="11"/>
          </p:nvPr>
        </p:nvSpPr>
        <p:spPr>
          <a:xfrm>
            <a:off x="2879178" y="4948409"/>
            <a:ext cx="3503400" cy="1110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600" b="0" i="0" u="none" strike="noStrike" cap="none">
                <a:solidFill>
                  <a:srgbClr val="7D7D7D"/>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3" name="Google Shape;133;p30"/>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4" name="Google Shape;134;p30"/>
          <p:cNvSpPr txBox="1">
            <a:spLocks noGrp="1"/>
          </p:cNvSpPr>
          <p:nvPr>
            <p:ph type="sldNum" idx="12"/>
          </p:nvPr>
        </p:nvSpPr>
        <p:spPr>
          <a:xfrm>
            <a:off x="6583680" y="4783455"/>
            <a:ext cx="2103000" cy="123000"/>
          </a:xfrm>
          <a:prstGeom prst="rect">
            <a:avLst/>
          </a:prstGeom>
          <a:noFill/>
          <a:ln>
            <a:noFill/>
          </a:ln>
        </p:spPr>
        <p:txBody>
          <a:bodyPr spcFirstLastPara="1" wrap="square" lIns="0" tIns="0" rIns="0" bIns="0" anchor="t" anchorCtr="0">
            <a:spAutoFit/>
          </a:bodyPr>
          <a:lstStyle>
            <a:lvl1pPr marL="0" marR="0" lvl="0"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1pPr>
            <a:lvl2pPr marL="0" marR="0" lvl="1"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2pPr>
            <a:lvl3pPr marL="0" marR="0" lvl="2"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3pPr>
            <a:lvl4pPr marL="0" marR="0" lvl="3"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4pPr>
            <a:lvl5pPr marL="0" marR="0" lvl="4"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5pPr>
            <a:lvl6pPr marL="0" marR="0" lvl="5"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6pPr>
            <a:lvl7pPr marL="0" marR="0" lvl="6"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7pPr>
            <a:lvl8pPr marL="0" marR="0" lvl="7"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8pPr>
            <a:lvl9pPr marL="0" marR="0" lvl="8" indent="0" algn="r">
              <a:lnSpc>
                <a:spcPct val="100000"/>
              </a:lnSpc>
              <a:spcBef>
                <a:spcPts val="0"/>
              </a:spcBef>
              <a:spcAft>
                <a:spcPts val="0"/>
              </a:spcAft>
              <a:buClr>
                <a:srgbClr val="000000"/>
              </a:buClr>
              <a:buSzPts val="800"/>
              <a:buFont typeface="Arial"/>
              <a:buNone/>
              <a:defRPr sz="800" b="1" i="0" u="none" strike="noStrike" cap="none">
                <a:solidFill>
                  <a:srgbClr val="888888"/>
                </a:solidFill>
                <a:latin typeface="Nunito"/>
                <a:ea typeface="Nunito"/>
                <a:cs typeface="Nunito"/>
                <a:sym typeface="Nunito"/>
              </a:defRPr>
            </a:lvl9pPr>
          </a:lstStyle>
          <a:p>
            <a:pPr marL="0" lvl="0" indent="0" algn="r" rtl="0">
              <a:spcBef>
                <a:spcPts val="0"/>
              </a:spcBef>
              <a:spcAft>
                <a:spcPts val="0"/>
              </a:spcAft>
              <a:buNone/>
            </a:pPr>
            <a:fld id="{00000000-1234-1234-1234-123412341234}" type="slidenum">
              <a:rPr lang="en"/>
              <a:t>‹#›</a:t>
            </a:fld>
            <a:endParaRPr>
              <a:solidFill>
                <a:srgbClr val="434343"/>
              </a:solidFil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Only 4">
  <p:cSld name="OBJECT_2">
    <p:spTree>
      <p:nvGrpSpPr>
        <p:cNvPr id="1" name="Shape 135"/>
        <p:cNvGrpSpPr/>
        <p:nvPr/>
      </p:nvGrpSpPr>
      <p:grpSpPr>
        <a:xfrm>
          <a:off x="0" y="0"/>
          <a:ext cx="0" cy="0"/>
          <a:chOff x="0" y="0"/>
          <a:chExt cx="0" cy="0"/>
        </a:xfrm>
      </p:grpSpPr>
      <p:sp>
        <p:nvSpPr>
          <p:cNvPr id="136" name="Google Shape;136;p31"/>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37" name="Google Shape;137;p31"/>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8" name="Google Shape;138;p31"/>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39" name="Google Shape;139;p31"/>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Blank 2">
  <p:cSld name="Blank">
    <p:spTree>
      <p:nvGrpSpPr>
        <p:cNvPr id="1" name="Shape 140"/>
        <p:cNvGrpSpPr/>
        <p:nvPr/>
      </p:nvGrpSpPr>
      <p:grpSpPr>
        <a:xfrm>
          <a:off x="0" y="0"/>
          <a:ext cx="0" cy="0"/>
          <a:chOff x="0" y="0"/>
          <a:chExt cx="0" cy="0"/>
        </a:xfrm>
      </p:grpSpPr>
      <p:sp>
        <p:nvSpPr>
          <p:cNvPr id="141" name="Google Shape;141;p32"/>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2" name="Google Shape;142;p32"/>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3" name="Google Shape;143;p32"/>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144"/>
        <p:cNvGrpSpPr/>
        <p:nvPr/>
      </p:nvGrpSpPr>
      <p:grpSpPr>
        <a:xfrm>
          <a:off x="0" y="0"/>
          <a:ext cx="0" cy="0"/>
          <a:chOff x="0" y="0"/>
          <a:chExt cx="0" cy="0"/>
        </a:xfrm>
      </p:grpSpPr>
      <p:sp>
        <p:nvSpPr>
          <p:cNvPr id="145" name="Google Shape;145;p33"/>
          <p:cNvSpPr txBox="1">
            <a:spLocks noGrp="1"/>
          </p:cNvSpPr>
          <p:nvPr>
            <p:ph type="title"/>
          </p:nvPr>
        </p:nvSpPr>
        <p:spPr>
          <a:xfrm>
            <a:off x="3368992" y="2453440"/>
            <a:ext cx="2406000" cy="2247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1400" b="1" i="0">
                <a:solidFill>
                  <a:schemeClr val="dk1"/>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46" name="Google Shape;146;p33"/>
          <p:cNvSpPr txBox="1">
            <a:spLocks noGrp="1"/>
          </p:cNvSpPr>
          <p:nvPr>
            <p:ph type="body" idx="1"/>
          </p:nvPr>
        </p:nvSpPr>
        <p:spPr>
          <a:xfrm>
            <a:off x="45720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47" name="Google Shape;147;p33"/>
          <p:cNvSpPr txBox="1">
            <a:spLocks noGrp="1"/>
          </p:cNvSpPr>
          <p:nvPr>
            <p:ph type="body" idx="2"/>
          </p:nvPr>
        </p:nvSpPr>
        <p:spPr>
          <a:xfrm>
            <a:off x="4709160" y="1183005"/>
            <a:ext cx="3977700" cy="3394800"/>
          </a:xfrm>
          <a:prstGeom prst="rect">
            <a:avLst/>
          </a:prstGeom>
          <a:noFill/>
          <a:ln>
            <a:noFill/>
          </a:ln>
        </p:spPr>
        <p:txBody>
          <a:bodyPr spcFirstLastPara="1" wrap="square" lIns="0" tIns="0" rIns="0" bIns="0" anchor="t" anchorCtr="0">
            <a:spAutoFit/>
          </a:bodyPr>
          <a:lstStyle>
            <a:lvl1pPr marL="457200" lvl="0" indent="-228600" algn="l">
              <a:lnSpc>
                <a:spcPct val="115000"/>
              </a:lnSpc>
              <a:spcBef>
                <a:spcPts val="0"/>
              </a:spcBef>
              <a:spcAft>
                <a:spcPts val="0"/>
              </a:spcAft>
              <a:buSzPts val="1500"/>
              <a:buNone/>
              <a:defRPr/>
            </a:lvl1pPr>
            <a:lvl2pPr marL="914400" lvl="1" indent="-228600" algn="l">
              <a:lnSpc>
                <a:spcPct val="115000"/>
              </a:lnSpc>
              <a:spcBef>
                <a:spcPts val="1600"/>
              </a:spcBef>
              <a:spcAft>
                <a:spcPts val="0"/>
              </a:spcAft>
              <a:buSzPts val="1300"/>
              <a:buNone/>
              <a:defRPr/>
            </a:lvl2pPr>
            <a:lvl3pPr marL="1371600" lvl="2" indent="-228600" algn="l">
              <a:lnSpc>
                <a:spcPct val="115000"/>
              </a:lnSpc>
              <a:spcBef>
                <a:spcPts val="1600"/>
              </a:spcBef>
              <a:spcAft>
                <a:spcPts val="0"/>
              </a:spcAft>
              <a:buSzPts val="1200"/>
              <a:buNone/>
              <a:defRPr/>
            </a:lvl3pPr>
            <a:lvl4pPr marL="1828800" lvl="3" indent="-228600" algn="l">
              <a:lnSpc>
                <a:spcPct val="115000"/>
              </a:lnSpc>
              <a:spcBef>
                <a:spcPts val="1600"/>
              </a:spcBef>
              <a:spcAft>
                <a:spcPts val="0"/>
              </a:spcAft>
              <a:buSzPts val="1100"/>
              <a:buNone/>
              <a:defRPr/>
            </a:lvl4pPr>
            <a:lvl5pPr marL="2286000" lvl="4" indent="-228600" algn="l">
              <a:lnSpc>
                <a:spcPct val="115000"/>
              </a:lnSpc>
              <a:spcBef>
                <a:spcPts val="1600"/>
              </a:spcBef>
              <a:spcAft>
                <a:spcPts val="0"/>
              </a:spcAft>
              <a:buSzPts val="1000"/>
              <a:buNone/>
              <a:defRPr/>
            </a:lvl5pPr>
            <a:lvl6pPr marL="2743200" lvl="5" indent="-228600" algn="l">
              <a:lnSpc>
                <a:spcPct val="115000"/>
              </a:lnSpc>
              <a:spcBef>
                <a:spcPts val="1600"/>
              </a:spcBef>
              <a:spcAft>
                <a:spcPts val="0"/>
              </a:spcAft>
              <a:buSzPts val="900"/>
              <a:buNone/>
              <a:defRPr/>
            </a:lvl6pPr>
            <a:lvl7pPr marL="3200400" lvl="6" indent="-228600" algn="l">
              <a:lnSpc>
                <a:spcPct val="115000"/>
              </a:lnSpc>
              <a:spcBef>
                <a:spcPts val="1600"/>
              </a:spcBef>
              <a:spcAft>
                <a:spcPts val="0"/>
              </a:spcAft>
              <a:buSzPts val="800"/>
              <a:buNone/>
              <a:defRPr/>
            </a:lvl7pPr>
            <a:lvl8pPr marL="3657600" lvl="7" indent="-228600" algn="l">
              <a:lnSpc>
                <a:spcPct val="115000"/>
              </a:lnSpc>
              <a:spcBef>
                <a:spcPts val="1600"/>
              </a:spcBef>
              <a:spcAft>
                <a:spcPts val="0"/>
              </a:spcAft>
              <a:buSzPts val="700"/>
              <a:buNone/>
              <a:defRPr/>
            </a:lvl8pPr>
            <a:lvl9pPr marL="4114800" lvl="8" indent="-228600" algn="l">
              <a:lnSpc>
                <a:spcPct val="115000"/>
              </a:lnSpc>
              <a:spcBef>
                <a:spcPts val="1600"/>
              </a:spcBef>
              <a:spcAft>
                <a:spcPts val="1600"/>
              </a:spcAft>
              <a:buSzPts val="600"/>
              <a:buNone/>
              <a:defRPr/>
            </a:lvl9pPr>
          </a:lstStyle>
          <a:p>
            <a:endParaRPr/>
          </a:p>
        </p:txBody>
      </p:sp>
      <p:sp>
        <p:nvSpPr>
          <p:cNvPr id="148" name="Google Shape;148;p33"/>
          <p:cNvSpPr txBox="1">
            <a:spLocks noGrp="1"/>
          </p:cNvSpPr>
          <p:nvPr>
            <p:ph type="ftr" idx="11"/>
          </p:nvPr>
        </p:nvSpPr>
        <p:spPr>
          <a:xfrm>
            <a:off x="3108960" y="4783455"/>
            <a:ext cx="2926200" cy="257100"/>
          </a:xfrm>
          <a:prstGeom prst="rect">
            <a:avLst/>
          </a:prstGeom>
          <a:noFill/>
          <a:ln>
            <a:noFill/>
          </a:ln>
        </p:spPr>
        <p:txBody>
          <a:bodyPr spcFirstLastPara="1" wrap="square" lIns="0" tIns="0" rIns="0" bIns="0" anchor="t" anchorCtr="0">
            <a:spAutoFit/>
          </a:bodyPr>
          <a:lstStyle>
            <a:lvl1pPr marR="0" lvl="0" algn="ctr"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49" name="Google Shape;149;p33"/>
          <p:cNvSpPr txBox="1">
            <a:spLocks noGrp="1"/>
          </p:cNvSpPr>
          <p:nvPr>
            <p:ph type="dt" idx="10"/>
          </p:nvPr>
        </p:nvSpPr>
        <p:spPr>
          <a:xfrm>
            <a:off x="457200" y="4783455"/>
            <a:ext cx="21030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0" name="Google Shape;150;p33"/>
          <p:cNvSpPr txBox="1">
            <a:spLocks noGrp="1"/>
          </p:cNvSpPr>
          <p:nvPr>
            <p:ph type="sldNum" idx="12"/>
          </p:nvPr>
        </p:nvSpPr>
        <p:spPr>
          <a:xfrm>
            <a:off x="50889" y="4980883"/>
            <a:ext cx="216600" cy="1230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800"/>
              <a:buFont typeface="Arial"/>
              <a:buNone/>
              <a:defRPr sz="800" b="0" i="0" u="none" strike="noStrike" cap="none">
                <a:solidFill>
                  <a:srgbClr val="7E7E7E"/>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b="1">
              <a:solidFill>
                <a:srgbClr val="434343"/>
              </a:solidFill>
              <a:latin typeface="Nunito"/>
              <a:ea typeface="Nunito"/>
              <a:cs typeface="Nunito"/>
              <a:sym typeface="Nunito"/>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Only 1 1">
  <p:cSld name="OBJECT_1_1">
    <p:spTree>
      <p:nvGrpSpPr>
        <p:cNvPr id="1" name="Shape 151"/>
        <p:cNvGrpSpPr/>
        <p:nvPr/>
      </p:nvGrpSpPr>
      <p:grpSpPr>
        <a:xfrm>
          <a:off x="0" y="0"/>
          <a:ext cx="0" cy="0"/>
          <a:chOff x="0" y="0"/>
          <a:chExt cx="0" cy="0"/>
        </a:xfrm>
      </p:grpSpPr>
      <p:sp>
        <p:nvSpPr>
          <p:cNvPr id="152" name="Google Shape;152;p34"/>
          <p:cNvSpPr txBox="1">
            <a:spLocks noGrp="1"/>
          </p:cNvSpPr>
          <p:nvPr>
            <p:ph type="title"/>
          </p:nvPr>
        </p:nvSpPr>
        <p:spPr>
          <a:xfrm>
            <a:off x="2936867" y="2199322"/>
            <a:ext cx="3275400" cy="673500"/>
          </a:xfrm>
          <a:prstGeom prst="rect">
            <a:avLst/>
          </a:prstGeom>
          <a:noFill/>
          <a:ln>
            <a:noFill/>
          </a:ln>
        </p:spPr>
        <p:txBody>
          <a:bodyPr spcFirstLastPara="1" wrap="square" lIns="0" tIns="0" rIns="0" bIns="0" anchor="t" anchorCtr="0">
            <a:spAutoFit/>
          </a:bodyPr>
          <a:lstStyle>
            <a:lvl1pPr lvl="0" algn="l">
              <a:lnSpc>
                <a:spcPct val="100000"/>
              </a:lnSpc>
              <a:spcBef>
                <a:spcPts val="0"/>
              </a:spcBef>
              <a:spcAft>
                <a:spcPts val="0"/>
              </a:spcAft>
              <a:buSzPts val="2200"/>
              <a:buNone/>
              <a:defRPr sz="4300" b="1" i="0">
                <a:solidFill>
                  <a:schemeClr val="accent2"/>
                </a:solidFill>
                <a:latin typeface="Arial"/>
                <a:ea typeface="Arial"/>
                <a:cs typeface="Arial"/>
                <a:sym typeface="Arial"/>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53" name="Google Shape;153;p34"/>
          <p:cNvSpPr txBox="1">
            <a:spLocks noGrp="1"/>
          </p:cNvSpPr>
          <p:nvPr>
            <p:ph type="ftr" idx="11"/>
          </p:nvPr>
        </p:nvSpPr>
        <p:spPr>
          <a:xfrm>
            <a:off x="708292" y="4920311"/>
            <a:ext cx="6447300" cy="1788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100" b="0" i="0" u="none" strike="noStrike" cap="none">
                <a:solidFill>
                  <a:schemeClr val="dk1"/>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4" name="Google Shape;154;p34"/>
          <p:cNvSpPr txBox="1">
            <a:spLocks noGrp="1"/>
          </p:cNvSpPr>
          <p:nvPr>
            <p:ph type="dt" idx="10"/>
          </p:nvPr>
        </p:nvSpPr>
        <p:spPr>
          <a:xfrm>
            <a:off x="457452" y="4783454"/>
            <a:ext cx="2104200" cy="257100"/>
          </a:xfrm>
          <a:prstGeom prst="rect">
            <a:avLst/>
          </a:prstGeom>
          <a:noFill/>
          <a:ln>
            <a:noFill/>
          </a:ln>
        </p:spPr>
        <p:txBody>
          <a:bodyPr spcFirstLastPara="1" wrap="square" lIns="0" tIns="0" rIns="0" bIns="0" anchor="t" anchorCtr="0">
            <a:spAutoFit/>
          </a:bodyPr>
          <a:lstStyle>
            <a:lvl1pPr marR="0" lvl="0" algn="l" rtl="0">
              <a:lnSpc>
                <a:spcPct val="100000"/>
              </a:lnSpc>
              <a:spcBef>
                <a:spcPts val="0"/>
              </a:spcBef>
              <a:spcAft>
                <a:spcPts val="0"/>
              </a:spcAft>
              <a:buClr>
                <a:srgbClr val="000000"/>
              </a:buClr>
              <a:buSzPts val="1400"/>
              <a:buFont typeface="Arial"/>
              <a:buNone/>
              <a:defRPr sz="1400" b="0" i="0" u="none" strike="noStrike" cap="none">
                <a:solidFill>
                  <a:srgbClr val="888888"/>
                </a:solidFill>
                <a:latin typeface="Arial"/>
                <a:ea typeface="Arial"/>
                <a:cs typeface="Arial"/>
                <a:sym typeface="Arial"/>
              </a:defRPr>
            </a:lvl1pPr>
            <a:lvl2pPr marR="0" lvl="1"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SzPts val="1400"/>
              <a:buFont typeface="Arial"/>
              <a:buNone/>
              <a:defRPr sz="1400" b="0" i="0" u="none" strike="noStrike" cap="none">
                <a:solidFill>
                  <a:srgbClr val="000000"/>
                </a:solidFill>
                <a:latin typeface="Arial"/>
                <a:ea typeface="Arial"/>
                <a:cs typeface="Arial"/>
                <a:sym typeface="Arial"/>
              </a:defRPr>
            </a:lvl9pPr>
          </a:lstStyle>
          <a:p>
            <a:endParaRPr/>
          </a:p>
        </p:txBody>
      </p:sp>
      <p:sp>
        <p:nvSpPr>
          <p:cNvPr id="155" name="Google Shape;155;p34"/>
          <p:cNvSpPr txBox="1">
            <a:spLocks noGrp="1"/>
          </p:cNvSpPr>
          <p:nvPr>
            <p:ph type="sldNum" idx="12"/>
          </p:nvPr>
        </p:nvSpPr>
        <p:spPr>
          <a:xfrm>
            <a:off x="7529030" y="4838548"/>
            <a:ext cx="188400" cy="169200"/>
          </a:xfrm>
          <a:prstGeom prst="rect">
            <a:avLst/>
          </a:prstGeom>
          <a:noFill/>
          <a:ln>
            <a:noFill/>
          </a:ln>
        </p:spPr>
        <p:txBody>
          <a:bodyPr spcFirstLastPara="1" wrap="square" lIns="0" tIns="0" rIns="0" bIns="0" anchor="t" anchorCtr="0">
            <a:spAutoFit/>
          </a:bodyPr>
          <a:lstStyle>
            <a:lvl1pPr marL="25400" marR="0" lvl="0"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1pPr>
            <a:lvl2pPr marL="25400" marR="0" lvl="1"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2pPr>
            <a:lvl3pPr marL="25400" marR="0" lvl="2"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3pPr>
            <a:lvl4pPr marL="25400" marR="0" lvl="3"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4pPr>
            <a:lvl5pPr marL="25400" marR="0" lvl="4"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5pPr>
            <a:lvl6pPr marL="25400" marR="0" lvl="5"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6pPr>
            <a:lvl7pPr marL="25400" marR="0" lvl="6"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7pPr>
            <a:lvl8pPr marL="25400" marR="0" lvl="7"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8pPr>
            <a:lvl9pPr marL="25400" marR="0" lvl="8" indent="0" algn="l">
              <a:lnSpc>
                <a:spcPct val="100000"/>
              </a:lnSpc>
              <a:spcBef>
                <a:spcPts val="0"/>
              </a:spcBef>
              <a:spcAft>
                <a:spcPts val="0"/>
              </a:spcAft>
              <a:buClr>
                <a:srgbClr val="000000"/>
              </a:buClr>
              <a:buSzPts val="1100"/>
              <a:buFont typeface="Arial"/>
              <a:buNone/>
              <a:defRPr sz="1100" b="0" i="0" u="none" strike="noStrike" cap="none">
                <a:solidFill>
                  <a:srgbClr val="585858"/>
                </a:solidFill>
                <a:latin typeface="Arial"/>
                <a:ea typeface="Arial"/>
                <a:cs typeface="Arial"/>
                <a:sym typeface="Arial"/>
              </a:defRPr>
            </a:lvl9pPr>
          </a:lstStyle>
          <a:p>
            <a:pPr marL="25400" lvl="0" indent="0" algn="l" rtl="0">
              <a:spcBef>
                <a:spcPts val="0"/>
              </a:spcBef>
              <a:spcAft>
                <a:spcPts val="0"/>
              </a:spcAft>
              <a:buNone/>
            </a:pPr>
            <a:fld id="{00000000-1234-1234-1234-123412341234}" type="slidenum">
              <a:rPr lang="en"/>
              <a:t>‹#›</a:t>
            </a:fld>
            <a:endParaRPr sz="800" b="1">
              <a:solidFill>
                <a:srgbClr val="434343"/>
              </a:solidFill>
              <a:latin typeface="Nunito"/>
              <a:ea typeface="Nunito"/>
              <a:cs typeface="Nunito"/>
              <a:sym typeface="Nunito"/>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Blank Slide ">
  <p:cSld name="TITLE_AND_BODY_1">
    <p:spTree>
      <p:nvGrpSpPr>
        <p:cNvPr id="1" name="Shape 156"/>
        <p:cNvGrpSpPr/>
        <p:nvPr/>
      </p:nvGrpSpPr>
      <p:grpSpPr>
        <a:xfrm>
          <a:off x="0" y="0"/>
          <a:ext cx="0" cy="0"/>
          <a:chOff x="0" y="0"/>
          <a:chExt cx="0" cy="0"/>
        </a:xfrm>
      </p:grpSpPr>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Blank 2 1">
  <p:cSld name="Blank 2">
    <p:spTree>
      <p:nvGrpSpPr>
        <p:cNvPr id="1" name="Shape 157"/>
        <p:cNvGrpSpPr/>
        <p:nvPr/>
      </p:nvGrpSpPr>
      <p:grpSpPr>
        <a:xfrm>
          <a:off x="0" y="0"/>
          <a:ext cx="0" cy="0"/>
          <a:chOff x="0" y="0"/>
          <a:chExt cx="0" cy="0"/>
        </a:xfrm>
      </p:grpSpPr>
      <p:sp>
        <p:nvSpPr>
          <p:cNvPr id="158" name="Google Shape;158;p36"/>
          <p:cNvSpPr/>
          <p:nvPr/>
        </p:nvSpPr>
        <p:spPr>
          <a:xfrm>
            <a:off x="0" y="0"/>
            <a:ext cx="9144000" cy="5143500"/>
          </a:xfrm>
          <a:prstGeom prst="rect">
            <a:avLst/>
          </a:prstGeom>
          <a:solidFill>
            <a:schemeClr val="lt1"/>
          </a:solidFill>
          <a:ln w="12700" cap="flat" cmpd="sng">
            <a:solidFill>
              <a:schemeClr val="lt1"/>
            </a:solidFill>
            <a:prstDash val="solid"/>
            <a:miter lim="800000"/>
            <a:headEnd type="none" w="sm" len="sm"/>
            <a:tailEnd type="none" w="sm" len="sm"/>
          </a:ln>
        </p:spPr>
        <p:txBody>
          <a:bodyPr spcFirstLastPara="1" wrap="square" lIns="68575" tIns="34275" rIns="68575" bIns="3427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Century Gothic"/>
              <a:ea typeface="Century Gothic"/>
              <a:cs typeface="Century Gothic"/>
              <a:sym typeface="Century Gothic"/>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Blank 1">
  <p:cSld name="BLANK_1">
    <p:spTree>
      <p:nvGrpSpPr>
        <p:cNvPr id="1" name="Shape 168"/>
        <p:cNvGrpSpPr/>
        <p:nvPr/>
      </p:nvGrpSpPr>
      <p:grpSpPr>
        <a:xfrm>
          <a:off x="0" y="0"/>
          <a:ext cx="0" cy="0"/>
          <a:chOff x="0" y="0"/>
          <a:chExt cx="0" cy="0"/>
        </a:xfrm>
      </p:grpSpPr>
      <p:sp>
        <p:nvSpPr>
          <p:cNvPr id="169" name="Google Shape;169;p38"/>
          <p:cNvSpPr/>
          <p:nvPr/>
        </p:nvSpPr>
        <p:spPr>
          <a:xfrm>
            <a:off x="1" y="-335"/>
            <a:ext cx="9144600" cy="5143800"/>
          </a:xfrm>
          <a:prstGeom prst="rect">
            <a:avLst/>
          </a:prstGeom>
          <a:solidFill>
            <a:srgbClr val="0E39A9"/>
          </a:solidFill>
          <a:ln>
            <a:noFill/>
          </a:ln>
        </p:spPr>
        <p:txBody>
          <a:bodyPr spcFirstLastPara="1" wrap="square" lIns="0" tIns="0" rIns="0" bIns="0" anchor="t"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chemeClr val="dk1"/>
              </a:solidFill>
              <a:latin typeface="Calibri"/>
              <a:ea typeface="Calibri"/>
              <a:cs typeface="Calibri"/>
              <a:sym typeface="Calibri"/>
            </a:endParaRPr>
          </a:p>
        </p:txBody>
      </p:sp>
      <p:pic>
        <p:nvPicPr>
          <p:cNvPr id="170" name="Google Shape;170;p38" descr="A close up of a logo&#10;&#10;Description automatically generated"/>
          <p:cNvPicPr preferRelativeResize="0"/>
          <p:nvPr/>
        </p:nvPicPr>
        <p:blipFill rotWithShape="1">
          <a:blip r:embed="rId2">
            <a:alphaModFix/>
          </a:blip>
          <a:srcRect l="42816" t="18360" r="37295" b="19147"/>
          <a:stretch/>
        </p:blipFill>
        <p:spPr>
          <a:xfrm>
            <a:off x="6052536" y="514443"/>
            <a:ext cx="2095112" cy="3703320"/>
          </a:xfrm>
          <a:prstGeom prst="rect">
            <a:avLst/>
          </a:prstGeom>
          <a:noFill/>
          <a:ln>
            <a:noFill/>
          </a:ln>
        </p:spPr>
      </p:pic>
      <p:sp>
        <p:nvSpPr>
          <p:cNvPr id="171" name="Google Shape;171;p38"/>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lvl1pPr marR="0" lvl="0" algn="l">
              <a:lnSpc>
                <a:spcPct val="100000"/>
              </a:lnSpc>
              <a:spcBef>
                <a:spcPts val="0"/>
              </a:spcBef>
              <a:spcAft>
                <a:spcPts val="0"/>
              </a:spcAft>
              <a:buSzPts val="2200"/>
              <a:buNone/>
              <a:defRPr sz="2400" b="0" i="0" u="none" strike="noStrike" cap="none">
                <a:solidFill>
                  <a:srgbClr val="000000"/>
                </a:solidFill>
                <a:latin typeface="Arial"/>
                <a:ea typeface="Arial"/>
                <a:cs typeface="Arial"/>
                <a:sym typeface="Arial"/>
              </a:defRPr>
            </a:lvl1pPr>
            <a:lvl2pPr marR="0" lvl="1"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2pPr>
            <a:lvl3pPr marR="0" lvl="2"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3pPr>
            <a:lvl4pPr marR="0" lvl="3"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4pPr>
            <a:lvl5pPr marR="0" lvl="4"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5pPr>
            <a:lvl6pPr marR="0" lvl="5"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6pPr>
            <a:lvl7pPr marR="0" lvl="6"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7pPr>
            <a:lvl8pPr marR="0" lvl="7"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8pPr>
            <a:lvl9pPr marR="0" lvl="8" algn="l">
              <a:lnSpc>
                <a:spcPct val="100000"/>
              </a:lnSpc>
              <a:spcBef>
                <a:spcPts val="0"/>
              </a:spcBef>
              <a:spcAft>
                <a:spcPts val="0"/>
              </a:spcAft>
              <a:buSzPts val="2500"/>
              <a:buNone/>
              <a:defRPr sz="1100" b="0" i="0" u="none" strike="noStrike" cap="none">
                <a:solidFill>
                  <a:srgbClr val="000000"/>
                </a:solidFill>
                <a:latin typeface="Arial"/>
                <a:ea typeface="Arial"/>
                <a:cs typeface="Arial"/>
                <a:sym typeface="Arial"/>
              </a:defRPr>
            </a:lvl9pPr>
          </a:lstStyle>
          <a:p>
            <a:endParaRPr/>
          </a:p>
        </p:txBody>
      </p:sp>
      <p:sp>
        <p:nvSpPr>
          <p:cNvPr id="172" name="Google Shape;172;p38"/>
          <p:cNvSpPr txBox="1"/>
          <p:nvPr/>
        </p:nvSpPr>
        <p:spPr>
          <a:xfrm>
            <a:off x="334565" y="1676232"/>
            <a:ext cx="4372800" cy="1790700"/>
          </a:xfrm>
          <a:prstGeom prst="rect">
            <a:avLst/>
          </a:prstGeom>
          <a:noFill/>
          <a:ln>
            <a:noFill/>
          </a:ln>
        </p:spPr>
        <p:txBody>
          <a:bodyPr spcFirstLastPara="1" wrap="square" lIns="68575" tIns="34275" rIns="68575" bIns="34275" anchor="ctr" anchorCtr="0">
            <a:noAutofit/>
          </a:bodyPr>
          <a:lstStyle/>
          <a:p>
            <a:pPr marL="0" marR="0" lvl="0" indent="0" algn="l" rtl="0">
              <a:lnSpc>
                <a:spcPct val="90000"/>
              </a:lnSpc>
              <a:spcBef>
                <a:spcPts val="0"/>
              </a:spcBef>
              <a:spcAft>
                <a:spcPts val="0"/>
              </a:spcAft>
              <a:buClr>
                <a:schemeClr val="dk1"/>
              </a:buClr>
              <a:buSzPts val="4500"/>
              <a:buFont typeface="Calibri"/>
              <a:buNone/>
            </a:pPr>
            <a:r>
              <a:rPr lang="en" sz="3300" b="0" i="0" u="none" strike="noStrike" cap="none">
                <a:solidFill>
                  <a:schemeClr val="lt1"/>
                </a:solidFill>
                <a:latin typeface="Nunito ExtraBold"/>
                <a:ea typeface="Nunito ExtraBold"/>
                <a:cs typeface="Nunito ExtraBold"/>
                <a:sym typeface="Nunito ExtraBold"/>
              </a:rPr>
              <a:t>Power Ahead!</a:t>
            </a:r>
            <a:endParaRPr sz="3300" b="0" i="0" u="none" strike="noStrike" cap="none">
              <a:solidFill>
                <a:schemeClr val="lt1"/>
              </a:solidFill>
              <a:latin typeface="Nunito ExtraBold"/>
              <a:ea typeface="Nunito ExtraBold"/>
              <a:cs typeface="Nunito ExtraBold"/>
              <a:sym typeface="Nunito ExtraBold"/>
            </a:endParaRPr>
          </a:p>
        </p:txBody>
      </p:sp>
      <p:pic>
        <p:nvPicPr>
          <p:cNvPr id="173" name="Google Shape;173;p38"/>
          <p:cNvPicPr preferRelativeResize="0"/>
          <p:nvPr/>
        </p:nvPicPr>
        <p:blipFill rotWithShape="1">
          <a:blip r:embed="rId3">
            <a:alphaModFix/>
          </a:blip>
          <a:srcRect/>
          <a:stretch/>
        </p:blipFill>
        <p:spPr>
          <a:xfrm>
            <a:off x="421875" y="769949"/>
            <a:ext cx="3071452" cy="1261275"/>
          </a:xfrm>
          <a:prstGeom prst="rect">
            <a:avLst/>
          </a:prstGeom>
          <a:noFill/>
          <a:ln>
            <a:noFill/>
          </a:ln>
        </p:spPr>
      </p:pic>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74"/>
        <p:cNvGrpSpPr/>
        <p:nvPr/>
      </p:nvGrpSpPr>
      <p:grpSpPr>
        <a:xfrm>
          <a:off x="0" y="0"/>
          <a:ext cx="0" cy="0"/>
          <a:chOff x="0" y="0"/>
          <a:chExt cx="0" cy="0"/>
        </a:xfrm>
      </p:grpSpPr>
      <p:sp>
        <p:nvSpPr>
          <p:cNvPr id="175" name="Google Shape;175;p39"/>
          <p:cNvSpPr txBox="1">
            <a:spLocks noGrp="1"/>
          </p:cNvSpPr>
          <p:nvPr>
            <p:ph type="ctrTitle"/>
          </p:nvPr>
        </p:nvSpPr>
        <p:spPr>
          <a:xfrm>
            <a:off x="1260908" y="717750"/>
            <a:ext cx="6622200" cy="2052600"/>
          </a:xfrm>
          <a:prstGeom prst="rect">
            <a:avLst/>
          </a:prstGeom>
          <a:noFill/>
          <a:ln>
            <a:noFill/>
          </a:ln>
        </p:spPr>
        <p:txBody>
          <a:bodyPr spcFirstLastPara="1" wrap="square" lIns="91425" tIns="91425" rIns="91425" bIns="91425" anchor="b" anchorCtr="0">
            <a:noAutofit/>
          </a:bodyPr>
          <a:lstStyle>
            <a:lvl1pPr lvl="0"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1pPr>
            <a:lvl2pPr lvl="1"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2pPr>
            <a:lvl3pPr lvl="2"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3pPr>
            <a:lvl4pPr lvl="3"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4pPr>
            <a:lvl5pPr lvl="4"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5pPr>
            <a:lvl6pPr lvl="5"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6pPr>
            <a:lvl7pPr lvl="6"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7pPr>
            <a:lvl8pPr lvl="7"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8pPr>
            <a:lvl9pPr lvl="8" algn="l">
              <a:lnSpc>
                <a:spcPct val="100000"/>
              </a:lnSpc>
              <a:spcBef>
                <a:spcPts val="0"/>
              </a:spcBef>
              <a:spcAft>
                <a:spcPts val="0"/>
              </a:spcAft>
              <a:buClr>
                <a:srgbClr val="0E39A9"/>
              </a:buClr>
              <a:buSzPts val="4800"/>
              <a:buFont typeface="Nunito"/>
              <a:buNone/>
              <a:defRPr sz="4800">
                <a:solidFill>
                  <a:srgbClr val="0E39A9"/>
                </a:solidFill>
                <a:latin typeface="Nunito"/>
                <a:ea typeface="Nunito"/>
                <a:cs typeface="Nunito"/>
                <a:sym typeface="Nunito"/>
              </a:defRPr>
            </a:lvl9pPr>
          </a:lstStyle>
          <a:p>
            <a:endParaRPr/>
          </a:p>
        </p:txBody>
      </p:sp>
      <p:sp>
        <p:nvSpPr>
          <p:cNvPr id="176" name="Google Shape;176;p39"/>
          <p:cNvSpPr txBox="1">
            <a:spLocks noGrp="1"/>
          </p:cNvSpPr>
          <p:nvPr>
            <p:ph type="subTitle" idx="1"/>
          </p:nvPr>
        </p:nvSpPr>
        <p:spPr>
          <a:xfrm>
            <a:off x="1260902" y="2770350"/>
            <a:ext cx="6622200" cy="7926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1pPr>
            <a:lvl2pPr lvl="1"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2pPr>
            <a:lvl3pPr lvl="2"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3pPr>
            <a:lvl4pPr lvl="3"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4pPr>
            <a:lvl5pPr lvl="4"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5pPr>
            <a:lvl6pPr lvl="5"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6pPr>
            <a:lvl7pPr lvl="6"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7pPr>
            <a:lvl8pPr lvl="7"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8pPr>
            <a:lvl9pPr lvl="8" algn="l">
              <a:lnSpc>
                <a:spcPct val="100000"/>
              </a:lnSpc>
              <a:spcBef>
                <a:spcPts val="0"/>
              </a:spcBef>
              <a:spcAft>
                <a:spcPts val="0"/>
              </a:spcAft>
              <a:buClr>
                <a:srgbClr val="434343"/>
              </a:buClr>
              <a:buSzPts val="2600"/>
              <a:buFont typeface="Nunito SemiBold"/>
              <a:buNone/>
              <a:defRPr sz="2600" b="1">
                <a:solidFill>
                  <a:srgbClr val="434343"/>
                </a:solidFill>
                <a:latin typeface="Nunito SemiBold"/>
                <a:ea typeface="Nunito SemiBold"/>
                <a:cs typeface="Nunito SemiBold"/>
                <a:sym typeface="Nunito SemiBold"/>
              </a:defRPr>
            </a:lvl9pPr>
          </a:lstStyle>
          <a:p>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77"/>
        <p:cNvGrpSpPr/>
        <p:nvPr/>
      </p:nvGrpSpPr>
      <p:grpSpPr>
        <a:xfrm>
          <a:off x="0" y="0"/>
          <a:ext cx="0" cy="0"/>
          <a:chOff x="0" y="0"/>
          <a:chExt cx="0" cy="0"/>
        </a:xfrm>
      </p:grpSpPr>
      <p:sp>
        <p:nvSpPr>
          <p:cNvPr id="178" name="Google Shape;178;p40"/>
          <p:cNvSpPr txBox="1">
            <a:spLocks noGrp="1"/>
          </p:cNvSpPr>
          <p:nvPr>
            <p:ph type="title"/>
          </p:nvPr>
        </p:nvSpPr>
        <p:spPr>
          <a:xfrm>
            <a:off x="311700" y="2150850"/>
            <a:ext cx="8520600" cy="841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Clr>
                <a:srgbClr val="0E39A9"/>
              </a:buClr>
              <a:buSzPts val="3600"/>
              <a:buNone/>
              <a:defRPr sz="3600">
                <a:solidFill>
                  <a:srgbClr val="0E39A9"/>
                </a:solidFill>
              </a:defRPr>
            </a:lvl1pPr>
            <a:lvl2pPr lvl="1" algn="l">
              <a:lnSpc>
                <a:spcPct val="100000"/>
              </a:lnSpc>
              <a:spcBef>
                <a:spcPts val="0"/>
              </a:spcBef>
              <a:spcAft>
                <a:spcPts val="0"/>
              </a:spcAft>
              <a:buClr>
                <a:srgbClr val="0E39A9"/>
              </a:buClr>
              <a:buSzPts val="3600"/>
              <a:buNone/>
              <a:defRPr sz="3600">
                <a:solidFill>
                  <a:srgbClr val="0E39A9"/>
                </a:solidFill>
              </a:defRPr>
            </a:lvl2pPr>
            <a:lvl3pPr lvl="2" algn="l">
              <a:lnSpc>
                <a:spcPct val="100000"/>
              </a:lnSpc>
              <a:spcBef>
                <a:spcPts val="0"/>
              </a:spcBef>
              <a:spcAft>
                <a:spcPts val="0"/>
              </a:spcAft>
              <a:buClr>
                <a:srgbClr val="0E39A9"/>
              </a:buClr>
              <a:buSzPts val="3600"/>
              <a:buNone/>
              <a:defRPr sz="3600">
                <a:solidFill>
                  <a:srgbClr val="0E39A9"/>
                </a:solidFill>
              </a:defRPr>
            </a:lvl3pPr>
            <a:lvl4pPr lvl="3" algn="l">
              <a:lnSpc>
                <a:spcPct val="100000"/>
              </a:lnSpc>
              <a:spcBef>
                <a:spcPts val="0"/>
              </a:spcBef>
              <a:spcAft>
                <a:spcPts val="0"/>
              </a:spcAft>
              <a:buClr>
                <a:srgbClr val="0E39A9"/>
              </a:buClr>
              <a:buSzPts val="3600"/>
              <a:buNone/>
              <a:defRPr sz="3600">
                <a:solidFill>
                  <a:srgbClr val="0E39A9"/>
                </a:solidFill>
              </a:defRPr>
            </a:lvl4pPr>
            <a:lvl5pPr lvl="4" algn="l">
              <a:lnSpc>
                <a:spcPct val="100000"/>
              </a:lnSpc>
              <a:spcBef>
                <a:spcPts val="0"/>
              </a:spcBef>
              <a:spcAft>
                <a:spcPts val="0"/>
              </a:spcAft>
              <a:buClr>
                <a:srgbClr val="0E39A9"/>
              </a:buClr>
              <a:buSzPts val="3600"/>
              <a:buNone/>
              <a:defRPr sz="3600">
                <a:solidFill>
                  <a:srgbClr val="0E39A9"/>
                </a:solidFill>
              </a:defRPr>
            </a:lvl5pPr>
            <a:lvl6pPr lvl="5" algn="l">
              <a:lnSpc>
                <a:spcPct val="100000"/>
              </a:lnSpc>
              <a:spcBef>
                <a:spcPts val="0"/>
              </a:spcBef>
              <a:spcAft>
                <a:spcPts val="0"/>
              </a:spcAft>
              <a:buClr>
                <a:srgbClr val="0E39A9"/>
              </a:buClr>
              <a:buSzPts val="3600"/>
              <a:buNone/>
              <a:defRPr sz="3600">
                <a:solidFill>
                  <a:srgbClr val="0E39A9"/>
                </a:solidFill>
              </a:defRPr>
            </a:lvl6pPr>
            <a:lvl7pPr lvl="6" algn="l">
              <a:lnSpc>
                <a:spcPct val="100000"/>
              </a:lnSpc>
              <a:spcBef>
                <a:spcPts val="0"/>
              </a:spcBef>
              <a:spcAft>
                <a:spcPts val="0"/>
              </a:spcAft>
              <a:buClr>
                <a:srgbClr val="0E39A9"/>
              </a:buClr>
              <a:buSzPts val="3600"/>
              <a:buNone/>
              <a:defRPr sz="3600">
                <a:solidFill>
                  <a:srgbClr val="0E39A9"/>
                </a:solidFill>
              </a:defRPr>
            </a:lvl7pPr>
            <a:lvl8pPr lvl="7" algn="l">
              <a:lnSpc>
                <a:spcPct val="100000"/>
              </a:lnSpc>
              <a:spcBef>
                <a:spcPts val="0"/>
              </a:spcBef>
              <a:spcAft>
                <a:spcPts val="0"/>
              </a:spcAft>
              <a:buClr>
                <a:srgbClr val="0E39A9"/>
              </a:buClr>
              <a:buSzPts val="3600"/>
              <a:buNone/>
              <a:defRPr sz="3600">
                <a:solidFill>
                  <a:srgbClr val="0E39A9"/>
                </a:solidFill>
              </a:defRPr>
            </a:lvl8pPr>
            <a:lvl9pPr lvl="8" algn="l">
              <a:lnSpc>
                <a:spcPct val="100000"/>
              </a:lnSpc>
              <a:spcBef>
                <a:spcPts val="0"/>
              </a:spcBef>
              <a:spcAft>
                <a:spcPts val="0"/>
              </a:spcAft>
              <a:buClr>
                <a:srgbClr val="0E39A9"/>
              </a:buClr>
              <a:buSzPts val="3600"/>
              <a:buNone/>
              <a:defRPr sz="3600">
                <a:solidFill>
                  <a:srgbClr val="0E39A9"/>
                </a:solidFill>
              </a:defRPr>
            </a:lvl9pPr>
          </a:lstStyle>
          <a:p>
            <a:endParaRPr/>
          </a:p>
        </p:txBody>
      </p:sp>
      <p:sp>
        <p:nvSpPr>
          <p:cNvPr id="179" name="Google Shape;179;p40"/>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180"/>
        <p:cNvGrpSpPr/>
        <p:nvPr/>
      </p:nvGrpSpPr>
      <p:grpSpPr>
        <a:xfrm>
          <a:off x="0" y="0"/>
          <a:ext cx="0" cy="0"/>
          <a:chOff x="0" y="0"/>
          <a:chExt cx="0" cy="0"/>
        </a:xfrm>
      </p:grpSpPr>
      <p:sp>
        <p:nvSpPr>
          <p:cNvPr id="181" name="Google Shape;181;p4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82" name="Google Shape;182;p41"/>
          <p:cNvSpPr txBox="1">
            <a:spLocks noGrp="1"/>
          </p:cNvSpPr>
          <p:nvPr>
            <p:ph type="body" idx="1"/>
          </p:nvPr>
        </p:nvSpPr>
        <p:spPr>
          <a:xfrm>
            <a:off x="202550" y="861975"/>
            <a:ext cx="8629800" cy="3706800"/>
          </a:xfrm>
          <a:prstGeom prst="rect">
            <a:avLst/>
          </a:prstGeom>
          <a:noFill/>
          <a:ln>
            <a:noFill/>
          </a:ln>
        </p:spPr>
        <p:txBody>
          <a:bodyPr spcFirstLastPara="1" wrap="square" lIns="91425" tIns="91425" rIns="91425" bIns="91425" anchor="t" anchorCtr="0">
            <a:noAutofit/>
          </a:bodyPr>
          <a:lstStyle>
            <a:lvl1pPr marL="457200" lvl="0" indent="-323850" algn="l">
              <a:lnSpc>
                <a:spcPct val="115000"/>
              </a:lnSpc>
              <a:spcBef>
                <a:spcPts val="0"/>
              </a:spcBef>
              <a:spcAft>
                <a:spcPts val="0"/>
              </a:spcAft>
              <a:buSzPts val="1500"/>
              <a:buFont typeface="Nunito"/>
              <a:buChar char="●"/>
              <a:defRPr>
                <a:latin typeface="Nunito"/>
                <a:ea typeface="Nunito"/>
                <a:cs typeface="Nunito"/>
                <a:sym typeface="Nunito"/>
              </a:defRPr>
            </a:lvl1pPr>
            <a:lvl2pPr marL="914400" lvl="1" indent="-311150" algn="l">
              <a:lnSpc>
                <a:spcPct val="115000"/>
              </a:lnSpc>
              <a:spcBef>
                <a:spcPts val="1600"/>
              </a:spcBef>
              <a:spcAft>
                <a:spcPts val="0"/>
              </a:spcAft>
              <a:buSzPts val="1300"/>
              <a:buFont typeface="Nunito"/>
              <a:buChar char="○"/>
              <a:defRPr>
                <a:latin typeface="Nunito"/>
                <a:ea typeface="Nunito"/>
                <a:cs typeface="Nunito"/>
                <a:sym typeface="Nunito"/>
              </a:defRPr>
            </a:lvl2pPr>
            <a:lvl3pPr marL="1371600" lvl="2" indent="-304800" algn="l">
              <a:lnSpc>
                <a:spcPct val="115000"/>
              </a:lnSpc>
              <a:spcBef>
                <a:spcPts val="1600"/>
              </a:spcBef>
              <a:spcAft>
                <a:spcPts val="0"/>
              </a:spcAft>
              <a:buSzPts val="1200"/>
              <a:buFont typeface="Nunito"/>
              <a:buChar char="■"/>
              <a:defRPr>
                <a:latin typeface="Nunito"/>
                <a:ea typeface="Nunito"/>
                <a:cs typeface="Nunito"/>
                <a:sym typeface="Nunito"/>
              </a:defRPr>
            </a:lvl3pPr>
            <a:lvl4pPr marL="1828800" lvl="3" indent="-298450" algn="l">
              <a:lnSpc>
                <a:spcPct val="115000"/>
              </a:lnSpc>
              <a:spcBef>
                <a:spcPts val="1600"/>
              </a:spcBef>
              <a:spcAft>
                <a:spcPts val="0"/>
              </a:spcAft>
              <a:buSzPts val="1100"/>
              <a:buFont typeface="Nunito"/>
              <a:buChar char="●"/>
              <a:defRPr>
                <a:latin typeface="Nunito"/>
                <a:ea typeface="Nunito"/>
                <a:cs typeface="Nunito"/>
                <a:sym typeface="Nunito"/>
              </a:defRPr>
            </a:lvl4pPr>
            <a:lvl5pPr marL="2286000" lvl="4" indent="-292100" algn="l">
              <a:lnSpc>
                <a:spcPct val="115000"/>
              </a:lnSpc>
              <a:spcBef>
                <a:spcPts val="1600"/>
              </a:spcBef>
              <a:spcAft>
                <a:spcPts val="0"/>
              </a:spcAft>
              <a:buSzPts val="1000"/>
              <a:buFont typeface="Nunito"/>
              <a:buChar char="○"/>
              <a:defRPr>
                <a:latin typeface="Nunito"/>
                <a:ea typeface="Nunito"/>
                <a:cs typeface="Nunito"/>
                <a:sym typeface="Nunito"/>
              </a:defRPr>
            </a:lvl5pPr>
            <a:lvl6pPr marL="2743200" lvl="5" indent="-285750" algn="l">
              <a:lnSpc>
                <a:spcPct val="115000"/>
              </a:lnSpc>
              <a:spcBef>
                <a:spcPts val="1600"/>
              </a:spcBef>
              <a:spcAft>
                <a:spcPts val="0"/>
              </a:spcAft>
              <a:buSzPts val="900"/>
              <a:buFont typeface="Nunito"/>
              <a:buChar char="■"/>
              <a:defRPr>
                <a:latin typeface="Nunito"/>
                <a:ea typeface="Nunito"/>
                <a:cs typeface="Nunito"/>
                <a:sym typeface="Nunito"/>
              </a:defRPr>
            </a:lvl6pPr>
            <a:lvl7pPr marL="3200400" lvl="6" indent="-279400" algn="l">
              <a:lnSpc>
                <a:spcPct val="115000"/>
              </a:lnSpc>
              <a:spcBef>
                <a:spcPts val="1600"/>
              </a:spcBef>
              <a:spcAft>
                <a:spcPts val="0"/>
              </a:spcAft>
              <a:buSzPts val="800"/>
              <a:buFont typeface="Nunito"/>
              <a:buChar char="●"/>
              <a:defRPr>
                <a:latin typeface="Nunito"/>
                <a:ea typeface="Nunito"/>
                <a:cs typeface="Nunito"/>
                <a:sym typeface="Nunito"/>
              </a:defRPr>
            </a:lvl7pPr>
            <a:lvl8pPr marL="3657600" lvl="7" indent="-273050" algn="l">
              <a:lnSpc>
                <a:spcPct val="115000"/>
              </a:lnSpc>
              <a:spcBef>
                <a:spcPts val="1600"/>
              </a:spcBef>
              <a:spcAft>
                <a:spcPts val="0"/>
              </a:spcAft>
              <a:buSzPts val="700"/>
              <a:buFont typeface="Nunito"/>
              <a:buChar char="○"/>
              <a:defRPr>
                <a:latin typeface="Nunito"/>
                <a:ea typeface="Nunito"/>
                <a:cs typeface="Nunito"/>
                <a:sym typeface="Nunito"/>
              </a:defRPr>
            </a:lvl8pPr>
            <a:lvl9pPr marL="4114800" lvl="8" indent="-266700" algn="l">
              <a:lnSpc>
                <a:spcPct val="115000"/>
              </a:lnSpc>
              <a:spcBef>
                <a:spcPts val="1600"/>
              </a:spcBef>
              <a:spcAft>
                <a:spcPts val="1600"/>
              </a:spcAft>
              <a:buSzPts val="600"/>
              <a:buFont typeface="Nunito"/>
              <a:buChar char="■"/>
              <a:defRPr>
                <a:latin typeface="Nunito"/>
                <a:ea typeface="Nunito"/>
                <a:cs typeface="Nunito"/>
                <a:sym typeface="Nunito"/>
              </a:defRPr>
            </a:lvl9pPr>
          </a:lstStyle>
          <a:p>
            <a:endParaRPr/>
          </a:p>
        </p:txBody>
      </p:sp>
      <p:sp>
        <p:nvSpPr>
          <p:cNvPr id="183" name="Google Shape;183;p41"/>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Title and Table">
  <p:cSld name="CUSTOM">
    <p:spTree>
      <p:nvGrpSpPr>
        <p:cNvPr id="1" name="Shape 184"/>
        <p:cNvGrpSpPr/>
        <p:nvPr/>
      </p:nvGrpSpPr>
      <p:grpSpPr>
        <a:xfrm>
          <a:off x="0" y="0"/>
          <a:ext cx="0" cy="0"/>
          <a:chOff x="0" y="0"/>
          <a:chExt cx="0" cy="0"/>
        </a:xfrm>
      </p:grpSpPr>
      <p:sp>
        <p:nvSpPr>
          <p:cNvPr id="185" name="Google Shape;185;p42"/>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graphicFrame>
        <p:nvGraphicFramePr>
          <p:cNvPr id="186" name="Google Shape;186;p42"/>
          <p:cNvGraphicFramePr/>
          <p:nvPr/>
        </p:nvGraphicFramePr>
        <p:xfrm>
          <a:off x="201942" y="833662"/>
          <a:ext cx="3000000" cy="3000000"/>
        </p:xfrm>
        <a:graphic>
          <a:graphicData uri="http://schemas.openxmlformats.org/drawingml/2006/table">
            <a:tbl>
              <a:tblPr firstRow="1" bandRow="1">
                <a:noFill/>
                <a:tableStyleId>{11B3D4AF-D05D-46CC-AD48-3D6A0D768892}</a:tableStyleId>
              </a:tblPr>
              <a:tblGrid>
                <a:gridCol w="883125">
                  <a:extLst>
                    <a:ext uri="{9D8B030D-6E8A-4147-A177-3AD203B41FA5}">
                      <a16:colId xmlns:a16="http://schemas.microsoft.com/office/drawing/2014/main" val="20000"/>
                    </a:ext>
                  </a:extLst>
                </a:gridCol>
                <a:gridCol w="3886050">
                  <a:extLst>
                    <a:ext uri="{9D8B030D-6E8A-4147-A177-3AD203B41FA5}">
                      <a16:colId xmlns:a16="http://schemas.microsoft.com/office/drawing/2014/main" val="20001"/>
                    </a:ext>
                  </a:extLst>
                </a:gridCol>
                <a:gridCol w="3886050">
                  <a:extLst>
                    <a:ext uri="{9D8B030D-6E8A-4147-A177-3AD203B41FA5}">
                      <a16:colId xmlns:a16="http://schemas.microsoft.com/office/drawing/2014/main" val="20002"/>
                    </a:ext>
                  </a:extLst>
                </a:gridCol>
              </a:tblGrid>
              <a:tr h="673575">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a:t>
                      </a:r>
                      <a:endParaRPr sz="14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Cluster Profile </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400"/>
                        <a:buFont typeface="Arial"/>
                        <a:buNone/>
                      </a:pPr>
                      <a:r>
                        <a:rPr lang="en" sz="1400" u="none" strike="noStrike" cap="none">
                          <a:latin typeface="Nunito"/>
                          <a:ea typeface="Nunito"/>
                          <a:cs typeface="Nunito"/>
                          <a:sym typeface="Nunito"/>
                        </a:rPr>
                        <a:t>Business Insights for Marketing Team</a:t>
                      </a:r>
                      <a:endParaRPr sz="14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0"/>
                  </a:ext>
                </a:extLst>
              </a:tr>
              <a:tr h="7533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1</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High value customers who have many credit cards and prefer to engage online</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Engage Online – Set up priority calling in lines – Upsell and Cross sell premium products</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1"/>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2</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baseline="30000">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2"/>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3</a:t>
                      </a: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r>
                        <a:rPr lang="en" sz="1200" u="none" strike="noStrike" cap="none">
                          <a:latin typeface="Nunito"/>
                          <a:ea typeface="Nunito"/>
                          <a:cs typeface="Nunito"/>
                          <a:sym typeface="Nunito"/>
                        </a:rPr>
                        <a:t>…</a:t>
                      </a: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3"/>
                  </a:ext>
                </a:extLst>
              </a:tr>
              <a:tr h="669525">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tc>
                  <a:txBody>
                    <a:bodyPr/>
                    <a:lstStyle/>
                    <a:p>
                      <a:pPr marL="0" marR="0" lvl="0" indent="0" algn="l" rtl="0">
                        <a:lnSpc>
                          <a:spcPct val="100000"/>
                        </a:lnSpc>
                        <a:spcBef>
                          <a:spcPts val="0"/>
                        </a:spcBef>
                        <a:spcAft>
                          <a:spcPts val="0"/>
                        </a:spcAft>
                        <a:buClr>
                          <a:srgbClr val="000000"/>
                        </a:buClr>
                        <a:buSzPts val="1200"/>
                        <a:buFont typeface="Arial"/>
                        <a:buNone/>
                      </a:pPr>
                      <a:endParaRPr sz="1200" u="none" strike="noStrike" cap="none">
                        <a:latin typeface="Nunito"/>
                        <a:ea typeface="Nunito"/>
                        <a:cs typeface="Nunito"/>
                        <a:sym typeface="Nunito"/>
                      </a:endParaRPr>
                    </a:p>
                  </a:txBody>
                  <a:tcPr marL="91450" marR="91450" marT="45725" marB="45725" anchor="ctr">
                    <a:lnL w="12700" cap="flat" cmpd="sng">
                      <a:solidFill>
                        <a:srgbClr val="7F7F7F"/>
                      </a:solidFill>
                      <a:prstDash val="solid"/>
                      <a:round/>
                      <a:headEnd type="none" w="sm" len="sm"/>
                      <a:tailEnd type="none" w="sm" len="sm"/>
                    </a:lnL>
                    <a:lnR w="12700" cap="flat" cmpd="sng">
                      <a:solidFill>
                        <a:srgbClr val="7F7F7F"/>
                      </a:solidFill>
                      <a:prstDash val="solid"/>
                      <a:round/>
                      <a:headEnd type="none" w="sm" len="sm"/>
                      <a:tailEnd type="none" w="sm" len="sm"/>
                    </a:lnR>
                  </a:tcPr>
                </a:tc>
                <a:extLst>
                  <a:ext uri="{0D108BD9-81ED-4DB2-BD59-A6C34878D82A}">
                    <a16:rowId xmlns:a16="http://schemas.microsoft.com/office/drawing/2014/main" val="10004"/>
                  </a:ext>
                </a:extLst>
              </a:tr>
            </a:tbl>
          </a:graphicData>
        </a:graphic>
      </p:graphicFrame>
      <p:sp>
        <p:nvSpPr>
          <p:cNvPr id="187" name="Google Shape;187;p42"/>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188"/>
        <p:cNvGrpSpPr/>
        <p:nvPr/>
      </p:nvGrpSpPr>
      <p:grpSpPr>
        <a:xfrm>
          <a:off x="0" y="0"/>
          <a:ext cx="0" cy="0"/>
          <a:chOff x="0" y="0"/>
          <a:chExt cx="0" cy="0"/>
        </a:xfrm>
      </p:grpSpPr>
      <p:sp>
        <p:nvSpPr>
          <p:cNvPr id="189" name="Google Shape;189;p4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0" name="Google Shape;190;p43"/>
          <p:cNvSpPr txBox="1">
            <a:spLocks noGrp="1"/>
          </p:cNvSpPr>
          <p:nvPr>
            <p:ph type="body" idx="1"/>
          </p:nvPr>
        </p:nvSpPr>
        <p:spPr>
          <a:xfrm>
            <a:off x="3117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1" name="Google Shape;191;p43"/>
          <p:cNvSpPr txBox="1">
            <a:spLocks noGrp="1"/>
          </p:cNvSpPr>
          <p:nvPr>
            <p:ph type="body" idx="2"/>
          </p:nvPr>
        </p:nvSpPr>
        <p:spPr>
          <a:xfrm>
            <a:off x="4832400" y="1152475"/>
            <a:ext cx="39999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1600"/>
              </a:spcBef>
              <a:spcAft>
                <a:spcPts val="0"/>
              </a:spcAft>
              <a:buSzPts val="1200"/>
              <a:buChar char="○"/>
              <a:defRPr sz="1200"/>
            </a:lvl2pPr>
            <a:lvl3pPr marL="1371600" lvl="2" indent="-304800" algn="l">
              <a:lnSpc>
                <a:spcPct val="115000"/>
              </a:lnSpc>
              <a:spcBef>
                <a:spcPts val="1600"/>
              </a:spcBef>
              <a:spcAft>
                <a:spcPts val="0"/>
              </a:spcAft>
              <a:buSzPts val="1200"/>
              <a:buChar char="■"/>
              <a:defRPr sz="1200"/>
            </a:lvl3pPr>
            <a:lvl4pPr marL="1828800" lvl="3" indent="-304800" algn="l">
              <a:lnSpc>
                <a:spcPct val="115000"/>
              </a:lnSpc>
              <a:spcBef>
                <a:spcPts val="1600"/>
              </a:spcBef>
              <a:spcAft>
                <a:spcPts val="0"/>
              </a:spcAft>
              <a:buSzPts val="1200"/>
              <a:buChar char="●"/>
              <a:defRPr sz="1200"/>
            </a:lvl4pPr>
            <a:lvl5pPr marL="2286000" lvl="4" indent="-304800" algn="l">
              <a:lnSpc>
                <a:spcPct val="115000"/>
              </a:lnSpc>
              <a:spcBef>
                <a:spcPts val="1600"/>
              </a:spcBef>
              <a:spcAft>
                <a:spcPts val="0"/>
              </a:spcAft>
              <a:buSzPts val="1200"/>
              <a:buChar char="○"/>
              <a:defRPr sz="1200"/>
            </a:lvl5pPr>
            <a:lvl6pPr marL="2743200" lvl="5" indent="-304800" algn="l">
              <a:lnSpc>
                <a:spcPct val="115000"/>
              </a:lnSpc>
              <a:spcBef>
                <a:spcPts val="1600"/>
              </a:spcBef>
              <a:spcAft>
                <a:spcPts val="0"/>
              </a:spcAft>
              <a:buSzPts val="1200"/>
              <a:buChar char="■"/>
              <a:defRPr sz="1200"/>
            </a:lvl6pPr>
            <a:lvl7pPr marL="3200400" lvl="6" indent="-304800" algn="l">
              <a:lnSpc>
                <a:spcPct val="115000"/>
              </a:lnSpc>
              <a:spcBef>
                <a:spcPts val="1600"/>
              </a:spcBef>
              <a:spcAft>
                <a:spcPts val="0"/>
              </a:spcAft>
              <a:buSzPts val="1200"/>
              <a:buChar char="●"/>
              <a:defRPr sz="1200"/>
            </a:lvl7pPr>
            <a:lvl8pPr marL="3657600" lvl="7" indent="-304800" algn="l">
              <a:lnSpc>
                <a:spcPct val="115000"/>
              </a:lnSpc>
              <a:spcBef>
                <a:spcPts val="1600"/>
              </a:spcBef>
              <a:spcAft>
                <a:spcPts val="0"/>
              </a:spcAft>
              <a:buSzPts val="1200"/>
              <a:buChar char="○"/>
              <a:defRPr sz="1200"/>
            </a:lvl8pPr>
            <a:lvl9pPr marL="4114800" lvl="8" indent="-304800" algn="l">
              <a:lnSpc>
                <a:spcPct val="115000"/>
              </a:lnSpc>
              <a:spcBef>
                <a:spcPts val="1600"/>
              </a:spcBef>
              <a:spcAft>
                <a:spcPts val="1600"/>
              </a:spcAft>
              <a:buSzPts val="1200"/>
              <a:buChar char="■"/>
              <a:defRPr sz="1200"/>
            </a:lvl9pPr>
          </a:lstStyle>
          <a:p>
            <a:endParaRPr/>
          </a:p>
        </p:txBody>
      </p:sp>
      <p:sp>
        <p:nvSpPr>
          <p:cNvPr id="192" name="Google Shape;192;p4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193"/>
        <p:cNvGrpSpPr/>
        <p:nvPr/>
      </p:nvGrpSpPr>
      <p:grpSpPr>
        <a:xfrm>
          <a:off x="0" y="0"/>
          <a:ext cx="0" cy="0"/>
          <a:chOff x="0" y="0"/>
          <a:chExt cx="0" cy="0"/>
        </a:xfrm>
      </p:grpSpPr>
      <p:sp>
        <p:nvSpPr>
          <p:cNvPr id="194" name="Google Shape;194;p44"/>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2200"/>
              <a:buNone/>
              <a:defRPr/>
            </a:lvl1pPr>
            <a:lvl2pPr lvl="1" algn="l">
              <a:lnSpc>
                <a:spcPct val="100000"/>
              </a:lnSpc>
              <a:spcBef>
                <a:spcPts val="0"/>
              </a:spcBef>
              <a:spcAft>
                <a:spcPts val="0"/>
              </a:spcAft>
              <a:buSzPts val="2500"/>
              <a:buNone/>
              <a:defRPr/>
            </a:lvl2pPr>
            <a:lvl3pPr lvl="2" algn="l">
              <a:lnSpc>
                <a:spcPct val="100000"/>
              </a:lnSpc>
              <a:spcBef>
                <a:spcPts val="0"/>
              </a:spcBef>
              <a:spcAft>
                <a:spcPts val="0"/>
              </a:spcAft>
              <a:buSzPts val="2500"/>
              <a:buNone/>
              <a:defRPr/>
            </a:lvl3pPr>
            <a:lvl4pPr lvl="3" algn="l">
              <a:lnSpc>
                <a:spcPct val="100000"/>
              </a:lnSpc>
              <a:spcBef>
                <a:spcPts val="0"/>
              </a:spcBef>
              <a:spcAft>
                <a:spcPts val="0"/>
              </a:spcAft>
              <a:buSzPts val="2500"/>
              <a:buNone/>
              <a:defRPr/>
            </a:lvl4pPr>
            <a:lvl5pPr lvl="4" algn="l">
              <a:lnSpc>
                <a:spcPct val="100000"/>
              </a:lnSpc>
              <a:spcBef>
                <a:spcPts val="0"/>
              </a:spcBef>
              <a:spcAft>
                <a:spcPts val="0"/>
              </a:spcAft>
              <a:buSzPts val="2500"/>
              <a:buNone/>
              <a:defRPr/>
            </a:lvl5pPr>
            <a:lvl6pPr lvl="5" algn="l">
              <a:lnSpc>
                <a:spcPct val="100000"/>
              </a:lnSpc>
              <a:spcBef>
                <a:spcPts val="0"/>
              </a:spcBef>
              <a:spcAft>
                <a:spcPts val="0"/>
              </a:spcAft>
              <a:buSzPts val="2500"/>
              <a:buNone/>
              <a:defRPr/>
            </a:lvl6pPr>
            <a:lvl7pPr lvl="6" algn="l">
              <a:lnSpc>
                <a:spcPct val="100000"/>
              </a:lnSpc>
              <a:spcBef>
                <a:spcPts val="0"/>
              </a:spcBef>
              <a:spcAft>
                <a:spcPts val="0"/>
              </a:spcAft>
              <a:buSzPts val="2500"/>
              <a:buNone/>
              <a:defRPr/>
            </a:lvl7pPr>
            <a:lvl8pPr lvl="7" algn="l">
              <a:lnSpc>
                <a:spcPct val="100000"/>
              </a:lnSpc>
              <a:spcBef>
                <a:spcPts val="0"/>
              </a:spcBef>
              <a:spcAft>
                <a:spcPts val="0"/>
              </a:spcAft>
              <a:buSzPts val="2500"/>
              <a:buNone/>
              <a:defRPr/>
            </a:lvl8pPr>
            <a:lvl9pPr lvl="8" algn="l">
              <a:lnSpc>
                <a:spcPct val="100000"/>
              </a:lnSpc>
              <a:spcBef>
                <a:spcPts val="0"/>
              </a:spcBef>
              <a:spcAft>
                <a:spcPts val="0"/>
              </a:spcAft>
              <a:buSzPts val="2500"/>
              <a:buNone/>
              <a:defRPr/>
            </a:lvl9pPr>
          </a:lstStyle>
          <a:p>
            <a:endParaRPr/>
          </a:p>
        </p:txBody>
      </p:sp>
      <p:sp>
        <p:nvSpPr>
          <p:cNvPr id="195" name="Google Shape;195;p44"/>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196"/>
        <p:cNvGrpSpPr/>
        <p:nvPr/>
      </p:nvGrpSpPr>
      <p:grpSpPr>
        <a:xfrm>
          <a:off x="0" y="0"/>
          <a:ext cx="0" cy="0"/>
          <a:chOff x="0" y="0"/>
          <a:chExt cx="0" cy="0"/>
        </a:xfrm>
      </p:grpSpPr>
      <p:sp>
        <p:nvSpPr>
          <p:cNvPr id="197" name="Google Shape;197;p45"/>
          <p:cNvSpPr txBox="1">
            <a:spLocks noGrp="1"/>
          </p:cNvSpPr>
          <p:nvPr>
            <p:ph type="title"/>
          </p:nvPr>
        </p:nvSpPr>
        <p:spPr>
          <a:xfrm>
            <a:off x="490250" y="450150"/>
            <a:ext cx="6367800" cy="4090800"/>
          </a:xfrm>
          <a:prstGeom prst="rect">
            <a:avLst/>
          </a:prstGeom>
          <a:noFill/>
          <a:ln>
            <a:noFill/>
          </a:ln>
        </p:spPr>
        <p:txBody>
          <a:bodyPr spcFirstLastPara="1" wrap="square" lIns="91425" tIns="91425" rIns="91425" bIns="91425" anchor="ctr" anchorCtr="0">
            <a:noAutofit/>
          </a:bodyPr>
          <a:lstStyle>
            <a:lvl1pPr lvl="0" algn="l">
              <a:lnSpc>
                <a:spcPct val="100000"/>
              </a:lnSpc>
              <a:spcBef>
                <a:spcPts val="0"/>
              </a:spcBef>
              <a:spcAft>
                <a:spcPts val="0"/>
              </a:spcAft>
              <a:buSzPts val="4800"/>
              <a:buNone/>
              <a:defRPr sz="4800"/>
            </a:lvl1pPr>
            <a:lvl2pPr lvl="1" algn="l">
              <a:lnSpc>
                <a:spcPct val="100000"/>
              </a:lnSpc>
              <a:spcBef>
                <a:spcPts val="0"/>
              </a:spcBef>
              <a:spcAft>
                <a:spcPts val="0"/>
              </a:spcAft>
              <a:buSzPts val="4800"/>
              <a:buNone/>
              <a:defRPr sz="4800"/>
            </a:lvl2pPr>
            <a:lvl3pPr lvl="2" algn="l">
              <a:lnSpc>
                <a:spcPct val="100000"/>
              </a:lnSpc>
              <a:spcBef>
                <a:spcPts val="0"/>
              </a:spcBef>
              <a:spcAft>
                <a:spcPts val="0"/>
              </a:spcAft>
              <a:buSzPts val="4800"/>
              <a:buNone/>
              <a:defRPr sz="4800"/>
            </a:lvl3pPr>
            <a:lvl4pPr lvl="3" algn="l">
              <a:lnSpc>
                <a:spcPct val="100000"/>
              </a:lnSpc>
              <a:spcBef>
                <a:spcPts val="0"/>
              </a:spcBef>
              <a:spcAft>
                <a:spcPts val="0"/>
              </a:spcAft>
              <a:buSzPts val="4800"/>
              <a:buNone/>
              <a:defRPr sz="4800"/>
            </a:lvl4pPr>
            <a:lvl5pPr lvl="4" algn="l">
              <a:lnSpc>
                <a:spcPct val="100000"/>
              </a:lnSpc>
              <a:spcBef>
                <a:spcPts val="0"/>
              </a:spcBef>
              <a:spcAft>
                <a:spcPts val="0"/>
              </a:spcAft>
              <a:buSzPts val="4800"/>
              <a:buNone/>
              <a:defRPr sz="4800"/>
            </a:lvl5pPr>
            <a:lvl6pPr lvl="5" algn="l">
              <a:lnSpc>
                <a:spcPct val="100000"/>
              </a:lnSpc>
              <a:spcBef>
                <a:spcPts val="0"/>
              </a:spcBef>
              <a:spcAft>
                <a:spcPts val="0"/>
              </a:spcAft>
              <a:buSzPts val="4800"/>
              <a:buNone/>
              <a:defRPr sz="4800"/>
            </a:lvl6pPr>
            <a:lvl7pPr lvl="6" algn="l">
              <a:lnSpc>
                <a:spcPct val="100000"/>
              </a:lnSpc>
              <a:spcBef>
                <a:spcPts val="0"/>
              </a:spcBef>
              <a:spcAft>
                <a:spcPts val="0"/>
              </a:spcAft>
              <a:buSzPts val="4800"/>
              <a:buNone/>
              <a:defRPr sz="4800"/>
            </a:lvl7pPr>
            <a:lvl8pPr lvl="7" algn="l">
              <a:lnSpc>
                <a:spcPct val="100000"/>
              </a:lnSpc>
              <a:spcBef>
                <a:spcPts val="0"/>
              </a:spcBef>
              <a:spcAft>
                <a:spcPts val="0"/>
              </a:spcAft>
              <a:buSzPts val="4800"/>
              <a:buNone/>
              <a:defRPr sz="4800"/>
            </a:lvl8pPr>
            <a:lvl9pPr lvl="8" algn="l">
              <a:lnSpc>
                <a:spcPct val="100000"/>
              </a:lnSpc>
              <a:spcBef>
                <a:spcPts val="0"/>
              </a:spcBef>
              <a:spcAft>
                <a:spcPts val="0"/>
              </a:spcAft>
              <a:buSzPts val="4800"/>
              <a:buNone/>
              <a:defRPr sz="4800"/>
            </a:lvl9pPr>
          </a:lstStyle>
          <a:p>
            <a:endParaRPr/>
          </a:p>
        </p:txBody>
      </p:sp>
      <p:sp>
        <p:nvSpPr>
          <p:cNvPr id="198" name="Google Shape;198;p45"/>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199"/>
        <p:cNvGrpSpPr/>
        <p:nvPr/>
      </p:nvGrpSpPr>
      <p:grpSpPr>
        <a:xfrm>
          <a:off x="0" y="0"/>
          <a:ext cx="0" cy="0"/>
          <a:chOff x="0" y="0"/>
          <a:chExt cx="0" cy="0"/>
        </a:xfrm>
      </p:grpSpPr>
      <p:sp>
        <p:nvSpPr>
          <p:cNvPr id="200" name="Google Shape;200;p46"/>
          <p:cNvSpPr/>
          <p:nvPr/>
        </p:nvSpPr>
        <p:spPr>
          <a:xfrm>
            <a:off x="4572000" y="-125"/>
            <a:ext cx="4572000" cy="5143500"/>
          </a:xfrm>
          <a:prstGeom prst="rect">
            <a:avLst/>
          </a:prstGeom>
          <a:solidFill>
            <a:schemeClr val="lt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201" name="Google Shape;201;p46"/>
          <p:cNvSpPr txBox="1">
            <a:spLocks noGrp="1"/>
          </p:cNvSpPr>
          <p:nvPr>
            <p:ph type="title"/>
          </p:nvPr>
        </p:nvSpPr>
        <p:spPr>
          <a:xfrm>
            <a:off x="265500" y="1233175"/>
            <a:ext cx="4045200" cy="14823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4200"/>
              <a:buNone/>
              <a:defRPr sz="4200"/>
            </a:lvl1pPr>
            <a:lvl2pPr lvl="1" algn="ctr">
              <a:lnSpc>
                <a:spcPct val="100000"/>
              </a:lnSpc>
              <a:spcBef>
                <a:spcPts val="0"/>
              </a:spcBef>
              <a:spcAft>
                <a:spcPts val="0"/>
              </a:spcAft>
              <a:buSzPts val="4200"/>
              <a:buNone/>
              <a:defRPr sz="4200"/>
            </a:lvl2pPr>
            <a:lvl3pPr lvl="2" algn="ctr">
              <a:lnSpc>
                <a:spcPct val="100000"/>
              </a:lnSpc>
              <a:spcBef>
                <a:spcPts val="0"/>
              </a:spcBef>
              <a:spcAft>
                <a:spcPts val="0"/>
              </a:spcAft>
              <a:buSzPts val="4200"/>
              <a:buNone/>
              <a:defRPr sz="4200"/>
            </a:lvl3pPr>
            <a:lvl4pPr lvl="3" algn="ctr">
              <a:lnSpc>
                <a:spcPct val="100000"/>
              </a:lnSpc>
              <a:spcBef>
                <a:spcPts val="0"/>
              </a:spcBef>
              <a:spcAft>
                <a:spcPts val="0"/>
              </a:spcAft>
              <a:buSzPts val="4200"/>
              <a:buNone/>
              <a:defRPr sz="4200"/>
            </a:lvl4pPr>
            <a:lvl5pPr lvl="4" algn="ctr">
              <a:lnSpc>
                <a:spcPct val="100000"/>
              </a:lnSpc>
              <a:spcBef>
                <a:spcPts val="0"/>
              </a:spcBef>
              <a:spcAft>
                <a:spcPts val="0"/>
              </a:spcAft>
              <a:buSzPts val="4200"/>
              <a:buNone/>
              <a:defRPr sz="4200"/>
            </a:lvl5pPr>
            <a:lvl6pPr lvl="5" algn="ctr">
              <a:lnSpc>
                <a:spcPct val="100000"/>
              </a:lnSpc>
              <a:spcBef>
                <a:spcPts val="0"/>
              </a:spcBef>
              <a:spcAft>
                <a:spcPts val="0"/>
              </a:spcAft>
              <a:buSzPts val="4200"/>
              <a:buNone/>
              <a:defRPr sz="4200"/>
            </a:lvl6pPr>
            <a:lvl7pPr lvl="6" algn="ctr">
              <a:lnSpc>
                <a:spcPct val="100000"/>
              </a:lnSpc>
              <a:spcBef>
                <a:spcPts val="0"/>
              </a:spcBef>
              <a:spcAft>
                <a:spcPts val="0"/>
              </a:spcAft>
              <a:buSzPts val="4200"/>
              <a:buNone/>
              <a:defRPr sz="4200"/>
            </a:lvl7pPr>
            <a:lvl8pPr lvl="7" algn="ctr">
              <a:lnSpc>
                <a:spcPct val="100000"/>
              </a:lnSpc>
              <a:spcBef>
                <a:spcPts val="0"/>
              </a:spcBef>
              <a:spcAft>
                <a:spcPts val="0"/>
              </a:spcAft>
              <a:buSzPts val="4200"/>
              <a:buNone/>
              <a:defRPr sz="4200"/>
            </a:lvl8pPr>
            <a:lvl9pPr lvl="8" algn="ctr">
              <a:lnSpc>
                <a:spcPct val="100000"/>
              </a:lnSpc>
              <a:spcBef>
                <a:spcPts val="0"/>
              </a:spcBef>
              <a:spcAft>
                <a:spcPts val="0"/>
              </a:spcAft>
              <a:buSzPts val="4200"/>
              <a:buNone/>
              <a:defRPr sz="4200"/>
            </a:lvl9pPr>
          </a:lstStyle>
          <a:p>
            <a:endParaRPr/>
          </a:p>
        </p:txBody>
      </p:sp>
      <p:sp>
        <p:nvSpPr>
          <p:cNvPr id="202" name="Google Shape;202;p46"/>
          <p:cNvSpPr txBox="1">
            <a:spLocks noGrp="1"/>
          </p:cNvSpPr>
          <p:nvPr>
            <p:ph type="subTitle" idx="1"/>
          </p:nvPr>
        </p:nvSpPr>
        <p:spPr>
          <a:xfrm>
            <a:off x="265500" y="2803075"/>
            <a:ext cx="4045200" cy="12351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a:endParaRPr/>
          </a:p>
        </p:txBody>
      </p:sp>
      <p:sp>
        <p:nvSpPr>
          <p:cNvPr id="203" name="Google Shape;203;p46"/>
          <p:cNvSpPr txBox="1">
            <a:spLocks noGrp="1"/>
          </p:cNvSpPr>
          <p:nvPr>
            <p:ph type="body" idx="2"/>
          </p:nvPr>
        </p:nvSpPr>
        <p:spPr>
          <a:xfrm>
            <a:off x="4939500" y="724075"/>
            <a:ext cx="3837000" cy="3695100"/>
          </a:xfrm>
          <a:prstGeom prst="rect">
            <a:avLst/>
          </a:prstGeom>
          <a:noFill/>
          <a:ln>
            <a:noFill/>
          </a:ln>
        </p:spPr>
        <p:txBody>
          <a:bodyPr spcFirstLastPara="1" wrap="square" lIns="91425" tIns="91425" rIns="91425" bIns="91425" anchor="ctr" anchorCtr="0">
            <a:noAutofit/>
          </a:bodyPr>
          <a:lstStyle>
            <a:lvl1pPr marL="457200" lvl="0" indent="-323850" algn="l">
              <a:lnSpc>
                <a:spcPct val="115000"/>
              </a:lnSpc>
              <a:spcBef>
                <a:spcPts val="0"/>
              </a:spcBef>
              <a:spcAft>
                <a:spcPts val="0"/>
              </a:spcAft>
              <a:buSzPts val="1500"/>
              <a:buChar char="●"/>
              <a:defRPr/>
            </a:lvl1pPr>
            <a:lvl2pPr marL="914400" lvl="1" indent="-311150" algn="l">
              <a:lnSpc>
                <a:spcPct val="115000"/>
              </a:lnSpc>
              <a:spcBef>
                <a:spcPts val="1600"/>
              </a:spcBef>
              <a:spcAft>
                <a:spcPts val="0"/>
              </a:spcAft>
              <a:buSzPts val="1300"/>
              <a:buChar char="○"/>
              <a:defRPr/>
            </a:lvl2pPr>
            <a:lvl3pPr marL="1371600" lvl="2" indent="-304800" algn="l">
              <a:lnSpc>
                <a:spcPct val="115000"/>
              </a:lnSpc>
              <a:spcBef>
                <a:spcPts val="1600"/>
              </a:spcBef>
              <a:spcAft>
                <a:spcPts val="0"/>
              </a:spcAft>
              <a:buSzPts val="1200"/>
              <a:buChar char="■"/>
              <a:defRPr/>
            </a:lvl3pPr>
            <a:lvl4pPr marL="1828800" lvl="3" indent="-298450" algn="l">
              <a:lnSpc>
                <a:spcPct val="115000"/>
              </a:lnSpc>
              <a:spcBef>
                <a:spcPts val="1600"/>
              </a:spcBef>
              <a:spcAft>
                <a:spcPts val="0"/>
              </a:spcAft>
              <a:buSzPts val="1100"/>
              <a:buChar char="●"/>
              <a:defRPr/>
            </a:lvl4pPr>
            <a:lvl5pPr marL="2286000" lvl="4" indent="-292100" algn="l">
              <a:lnSpc>
                <a:spcPct val="115000"/>
              </a:lnSpc>
              <a:spcBef>
                <a:spcPts val="1600"/>
              </a:spcBef>
              <a:spcAft>
                <a:spcPts val="0"/>
              </a:spcAft>
              <a:buSzPts val="1000"/>
              <a:buChar char="○"/>
              <a:defRPr/>
            </a:lvl5pPr>
            <a:lvl6pPr marL="2743200" lvl="5" indent="-285750" algn="l">
              <a:lnSpc>
                <a:spcPct val="115000"/>
              </a:lnSpc>
              <a:spcBef>
                <a:spcPts val="1600"/>
              </a:spcBef>
              <a:spcAft>
                <a:spcPts val="0"/>
              </a:spcAft>
              <a:buSzPts val="900"/>
              <a:buChar char="■"/>
              <a:defRPr/>
            </a:lvl6pPr>
            <a:lvl7pPr marL="3200400" lvl="6" indent="-279400" algn="l">
              <a:lnSpc>
                <a:spcPct val="115000"/>
              </a:lnSpc>
              <a:spcBef>
                <a:spcPts val="1600"/>
              </a:spcBef>
              <a:spcAft>
                <a:spcPts val="0"/>
              </a:spcAft>
              <a:buSzPts val="800"/>
              <a:buChar char="●"/>
              <a:defRPr/>
            </a:lvl7pPr>
            <a:lvl8pPr marL="3657600" lvl="7" indent="-273050" algn="l">
              <a:lnSpc>
                <a:spcPct val="115000"/>
              </a:lnSpc>
              <a:spcBef>
                <a:spcPts val="1600"/>
              </a:spcBef>
              <a:spcAft>
                <a:spcPts val="0"/>
              </a:spcAft>
              <a:buSzPts val="700"/>
              <a:buChar char="○"/>
              <a:defRPr/>
            </a:lvl8pPr>
            <a:lvl9pPr marL="4114800" lvl="8" indent="-266700" algn="l">
              <a:lnSpc>
                <a:spcPct val="115000"/>
              </a:lnSpc>
              <a:spcBef>
                <a:spcPts val="1600"/>
              </a:spcBef>
              <a:spcAft>
                <a:spcPts val="1600"/>
              </a:spcAft>
              <a:buSzPts val="600"/>
              <a:buChar char="■"/>
              <a:defRPr/>
            </a:lvl9pPr>
          </a:lstStyle>
          <a:p>
            <a:endParaRPr/>
          </a:p>
        </p:txBody>
      </p:sp>
      <p:sp>
        <p:nvSpPr>
          <p:cNvPr id="204" name="Google Shape;204;p46"/>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05"/>
        <p:cNvGrpSpPr/>
        <p:nvPr/>
      </p:nvGrpSpPr>
      <p:grpSpPr>
        <a:xfrm>
          <a:off x="0" y="0"/>
          <a:ext cx="0" cy="0"/>
          <a:chOff x="0" y="0"/>
          <a:chExt cx="0" cy="0"/>
        </a:xfrm>
      </p:grpSpPr>
      <p:sp>
        <p:nvSpPr>
          <p:cNvPr id="206" name="Google Shape;206;p4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13" Type="http://schemas.openxmlformats.org/officeDocument/2006/relationships/slideLayout" Target="../slideLayouts/slideLayout24.xml"/><Relationship Id="rId18" Type="http://schemas.openxmlformats.org/officeDocument/2006/relationships/slideLayout" Target="../slideLayouts/slideLayout29.xml"/><Relationship Id="rId3" Type="http://schemas.openxmlformats.org/officeDocument/2006/relationships/slideLayout" Target="../slideLayouts/slideLayout14.xml"/><Relationship Id="rId21" Type="http://schemas.openxmlformats.org/officeDocument/2006/relationships/slideLayout" Target="../slideLayouts/slideLayout32.xml"/><Relationship Id="rId7" Type="http://schemas.openxmlformats.org/officeDocument/2006/relationships/slideLayout" Target="../slideLayouts/slideLayout18.xml"/><Relationship Id="rId12" Type="http://schemas.openxmlformats.org/officeDocument/2006/relationships/slideLayout" Target="../slideLayouts/slideLayout23.xml"/><Relationship Id="rId17" Type="http://schemas.openxmlformats.org/officeDocument/2006/relationships/slideLayout" Target="../slideLayouts/slideLayout28.xml"/><Relationship Id="rId25" Type="http://schemas.openxmlformats.org/officeDocument/2006/relationships/image" Target="../media/image1.png"/><Relationship Id="rId2" Type="http://schemas.openxmlformats.org/officeDocument/2006/relationships/slideLayout" Target="../slideLayouts/slideLayout13.xml"/><Relationship Id="rId16" Type="http://schemas.openxmlformats.org/officeDocument/2006/relationships/slideLayout" Target="../slideLayouts/slideLayout27.xml"/><Relationship Id="rId20" Type="http://schemas.openxmlformats.org/officeDocument/2006/relationships/slideLayout" Target="../slideLayouts/slideLayout31.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24" Type="http://schemas.openxmlformats.org/officeDocument/2006/relationships/theme" Target="../theme/theme2.xml"/><Relationship Id="rId5" Type="http://schemas.openxmlformats.org/officeDocument/2006/relationships/slideLayout" Target="../slideLayouts/slideLayout16.xml"/><Relationship Id="rId15" Type="http://schemas.openxmlformats.org/officeDocument/2006/relationships/slideLayout" Target="../slideLayouts/slideLayout26.xml"/><Relationship Id="rId23" Type="http://schemas.openxmlformats.org/officeDocument/2006/relationships/slideLayout" Target="../slideLayouts/slideLayout34.xml"/><Relationship Id="rId10" Type="http://schemas.openxmlformats.org/officeDocument/2006/relationships/slideLayout" Target="../slideLayouts/slideLayout21.xml"/><Relationship Id="rId19" Type="http://schemas.openxmlformats.org/officeDocument/2006/relationships/slideLayout" Target="../slideLayouts/slideLayout30.xml"/><Relationship Id="rId4" Type="http://schemas.openxmlformats.org/officeDocument/2006/relationships/slideLayout" Target="../slideLayouts/slideLayout15.xml"/><Relationship Id="rId9" Type="http://schemas.openxmlformats.org/officeDocument/2006/relationships/slideLayout" Target="../slideLayouts/slideLayout20.xml"/><Relationship Id="rId14" Type="http://schemas.openxmlformats.org/officeDocument/2006/relationships/slideLayout" Target="../slideLayouts/slideLayout25.xml"/><Relationship Id="rId22" Type="http://schemas.openxmlformats.org/officeDocument/2006/relationships/slideLayout" Target="../slideLayouts/slideLayout3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42.xml"/><Relationship Id="rId3" Type="http://schemas.openxmlformats.org/officeDocument/2006/relationships/slideLayout" Target="../slideLayouts/slideLayout37.xml"/><Relationship Id="rId7" Type="http://schemas.openxmlformats.org/officeDocument/2006/relationships/slideLayout" Target="../slideLayouts/slideLayout41.xml"/><Relationship Id="rId12" Type="http://schemas.openxmlformats.org/officeDocument/2006/relationships/image" Target="../media/image1.png"/><Relationship Id="rId2" Type="http://schemas.openxmlformats.org/officeDocument/2006/relationships/slideLayout" Target="../slideLayouts/slideLayout36.xml"/><Relationship Id="rId1" Type="http://schemas.openxmlformats.org/officeDocument/2006/relationships/slideLayout" Target="../slideLayouts/slideLayout35.xml"/><Relationship Id="rId6" Type="http://schemas.openxmlformats.org/officeDocument/2006/relationships/slideLayout" Target="../slideLayouts/slideLayout40.xml"/><Relationship Id="rId11" Type="http://schemas.openxmlformats.org/officeDocument/2006/relationships/theme" Target="../theme/theme3.xml"/><Relationship Id="rId5" Type="http://schemas.openxmlformats.org/officeDocument/2006/relationships/slideLayout" Target="../slideLayouts/slideLayout39.xml"/><Relationship Id="rId10" Type="http://schemas.openxmlformats.org/officeDocument/2006/relationships/slideLayout" Target="../slideLayouts/slideLayout44.xml"/><Relationship Id="rId4" Type="http://schemas.openxmlformats.org/officeDocument/2006/relationships/slideLayout" Target="../slideLayouts/slideLayout38.xml"/><Relationship Id="rId9" Type="http://schemas.openxmlformats.org/officeDocument/2006/relationships/slideLayout" Target="../slideLayouts/slideLayout4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11700" y="445025"/>
            <a:ext cx="8520600" cy="572700"/>
          </a:xfrm>
          <a:prstGeom prst="rect">
            <a:avLst/>
          </a:prstGeom>
          <a:noFill/>
          <a:ln>
            <a:noFill/>
          </a:ln>
        </p:spPr>
        <p:txBody>
          <a:bodyPr spcFirstLastPara="1" wrap="square" lIns="91425" tIns="91425" rIns="91425" bIns="91425" anchor="t" anchorCtr="0">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a:endParaRPr/>
          </a:p>
        </p:txBody>
      </p:sp>
      <p:sp>
        <p:nvSpPr>
          <p:cNvPr id="7" name="Google Shape;7;p1"/>
          <p:cNvSpPr txBox="1">
            <a:spLocks noGrp="1"/>
          </p:cNvSpPr>
          <p:nvPr>
            <p:ph type="body" idx="1"/>
          </p:nvPr>
        </p:nvSpPr>
        <p:spPr>
          <a:xfrm>
            <a:off x="311700" y="1152475"/>
            <a:ext cx="8520600" cy="3416400"/>
          </a:xfrm>
          <a:prstGeom prst="rect">
            <a:avLst/>
          </a:prstGeom>
          <a:noFill/>
          <a:ln>
            <a:noFill/>
          </a:ln>
        </p:spPr>
        <p:txBody>
          <a:bodyPr spcFirstLastPara="1" wrap="square" lIns="91425" tIns="91425" rIns="91425" bIns="91425" anchor="t" anchorCtr="0">
            <a:normAutofit/>
          </a:bodyPr>
          <a:lstStyle>
            <a:lvl1pPr marL="457200" lvl="0" indent="-342900">
              <a:lnSpc>
                <a:spcPct val="115000"/>
              </a:lnSpc>
              <a:spcBef>
                <a:spcPts val="0"/>
              </a:spcBef>
              <a:spcAft>
                <a:spcPts val="0"/>
              </a:spcAft>
              <a:buClr>
                <a:schemeClr val="dk2"/>
              </a:buClr>
              <a:buSzPts val="1800"/>
              <a:buChar char="●"/>
              <a:defRPr sz="1800">
                <a:solidFill>
                  <a:schemeClr val="dk2"/>
                </a:solidFill>
              </a:defRPr>
            </a:lvl1pPr>
            <a:lvl2pPr marL="914400" lvl="1" indent="-317500">
              <a:lnSpc>
                <a:spcPct val="115000"/>
              </a:lnSpc>
              <a:spcBef>
                <a:spcPts val="0"/>
              </a:spcBef>
              <a:spcAft>
                <a:spcPts val="0"/>
              </a:spcAft>
              <a:buClr>
                <a:schemeClr val="dk2"/>
              </a:buClr>
              <a:buSzPts val="1400"/>
              <a:buChar char="○"/>
              <a:defRPr>
                <a:solidFill>
                  <a:schemeClr val="dk2"/>
                </a:solidFill>
              </a:defRPr>
            </a:lvl2pPr>
            <a:lvl3pPr marL="1371600" lvl="2" indent="-317500">
              <a:lnSpc>
                <a:spcPct val="115000"/>
              </a:lnSpc>
              <a:spcBef>
                <a:spcPts val="0"/>
              </a:spcBef>
              <a:spcAft>
                <a:spcPts val="0"/>
              </a:spcAft>
              <a:buClr>
                <a:schemeClr val="dk2"/>
              </a:buClr>
              <a:buSzPts val="1400"/>
              <a:buChar char="■"/>
              <a:defRPr>
                <a:solidFill>
                  <a:schemeClr val="dk2"/>
                </a:solidFill>
              </a:defRPr>
            </a:lvl3pPr>
            <a:lvl4pPr marL="1828800" lvl="3" indent="-317500">
              <a:lnSpc>
                <a:spcPct val="115000"/>
              </a:lnSpc>
              <a:spcBef>
                <a:spcPts val="0"/>
              </a:spcBef>
              <a:spcAft>
                <a:spcPts val="0"/>
              </a:spcAft>
              <a:buClr>
                <a:schemeClr val="dk2"/>
              </a:buClr>
              <a:buSzPts val="1400"/>
              <a:buChar char="●"/>
              <a:defRPr>
                <a:solidFill>
                  <a:schemeClr val="dk2"/>
                </a:solidFill>
              </a:defRPr>
            </a:lvl4pPr>
            <a:lvl5pPr marL="2286000" lvl="4" indent="-317500">
              <a:lnSpc>
                <a:spcPct val="115000"/>
              </a:lnSpc>
              <a:spcBef>
                <a:spcPts val="0"/>
              </a:spcBef>
              <a:spcAft>
                <a:spcPts val="0"/>
              </a:spcAft>
              <a:buClr>
                <a:schemeClr val="dk2"/>
              </a:buClr>
              <a:buSzPts val="1400"/>
              <a:buChar char="○"/>
              <a:defRPr>
                <a:solidFill>
                  <a:schemeClr val="dk2"/>
                </a:solidFill>
              </a:defRPr>
            </a:lvl5pPr>
            <a:lvl6pPr marL="2743200" lvl="5" indent="-317500">
              <a:lnSpc>
                <a:spcPct val="115000"/>
              </a:lnSpc>
              <a:spcBef>
                <a:spcPts val="0"/>
              </a:spcBef>
              <a:spcAft>
                <a:spcPts val="0"/>
              </a:spcAft>
              <a:buClr>
                <a:schemeClr val="dk2"/>
              </a:buClr>
              <a:buSzPts val="1400"/>
              <a:buChar char="■"/>
              <a:defRPr>
                <a:solidFill>
                  <a:schemeClr val="dk2"/>
                </a:solidFill>
              </a:defRPr>
            </a:lvl6pPr>
            <a:lvl7pPr marL="3200400" lvl="6" indent="-317500">
              <a:lnSpc>
                <a:spcPct val="115000"/>
              </a:lnSpc>
              <a:spcBef>
                <a:spcPts val="0"/>
              </a:spcBef>
              <a:spcAft>
                <a:spcPts val="0"/>
              </a:spcAft>
              <a:buClr>
                <a:schemeClr val="dk2"/>
              </a:buClr>
              <a:buSzPts val="1400"/>
              <a:buChar char="●"/>
              <a:defRPr>
                <a:solidFill>
                  <a:schemeClr val="dk2"/>
                </a:solidFill>
              </a:defRPr>
            </a:lvl7pPr>
            <a:lvl8pPr marL="3657600" lvl="7" indent="-317500">
              <a:lnSpc>
                <a:spcPct val="115000"/>
              </a:lnSpc>
              <a:spcBef>
                <a:spcPts val="0"/>
              </a:spcBef>
              <a:spcAft>
                <a:spcPts val="0"/>
              </a:spcAft>
              <a:buClr>
                <a:schemeClr val="dk2"/>
              </a:buClr>
              <a:buSzPts val="1400"/>
              <a:buChar char="○"/>
              <a:defRPr>
                <a:solidFill>
                  <a:schemeClr val="dk2"/>
                </a:solidFill>
              </a:defRPr>
            </a:lvl8pPr>
            <a:lvl9pPr marL="4114800" lvl="8" indent="-317500">
              <a:lnSpc>
                <a:spcPct val="115000"/>
              </a:lnSpc>
              <a:spcBef>
                <a:spcPts val="0"/>
              </a:spcBef>
              <a:spcAft>
                <a:spcPts val="0"/>
              </a:spcAft>
              <a:buClr>
                <a:schemeClr val="dk2"/>
              </a:buClr>
              <a:buSzPts val="1400"/>
              <a:buChar char="■"/>
              <a:defRPr>
                <a:solidFill>
                  <a:schemeClr val="dk2"/>
                </a:solidFill>
              </a:defRPr>
            </a:lvl9pPr>
          </a:lstStyle>
          <a:p>
            <a:endParaRPr/>
          </a:p>
        </p:txBody>
      </p:sp>
      <p:sp>
        <p:nvSpPr>
          <p:cNvPr id="8" name="Google Shape;8;p1"/>
          <p:cNvSpPr txBox="1">
            <a:spLocks noGrp="1"/>
          </p:cNvSpPr>
          <p:nvPr>
            <p:ph type="sldNum" idx="12"/>
          </p:nvPr>
        </p:nvSpPr>
        <p:spPr>
          <a:xfrm>
            <a:off x="8472458" y="4663217"/>
            <a:ext cx="548700" cy="393600"/>
          </a:xfrm>
          <a:prstGeom prst="rect">
            <a:avLst/>
          </a:prstGeom>
          <a:noFill/>
          <a:ln>
            <a:noFill/>
          </a:ln>
        </p:spPr>
        <p:txBody>
          <a:bodyPr spcFirstLastPara="1" wrap="square" lIns="91425" tIns="91425" rIns="91425" bIns="91425" anchor="ctr" anchorCtr="0">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marL="0" lvl="0" indent="0" algn="r" rtl="0">
              <a:spcBef>
                <a:spcPts val="0"/>
              </a:spcBef>
              <a:spcAft>
                <a:spcPts val="0"/>
              </a:spcAft>
              <a:buNone/>
            </a:pPr>
            <a:fld id="{00000000-1234-1234-1234-123412341234}" type="slidenum">
              <a:rPr lang="en"/>
              <a:t>‹#›</a:t>
            </a:fld>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0"/>
        <p:cNvGrpSpPr/>
        <p:nvPr/>
      </p:nvGrpSpPr>
      <p:grpSpPr>
        <a:xfrm>
          <a:off x="0" y="0"/>
          <a:ext cx="0" cy="0"/>
          <a:chOff x="0" y="0"/>
          <a:chExt cx="0" cy="0"/>
        </a:xfrm>
      </p:grpSpPr>
      <p:sp>
        <p:nvSpPr>
          <p:cNvPr id="51" name="Google Shape;51;p13"/>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52" name="Google Shape;52;p13"/>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rtl="0">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rtl="0">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rtl="0">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rtl="0">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rtl="0">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rtl="0">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rtl="0">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rtl="0">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rtl="0">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53" name="Google Shape;53;p13"/>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54" name="Google Shape;54;p13"/>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rtl="0">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55" name="Google Shape;55;p13"/>
          <p:cNvPicPr preferRelativeResize="0"/>
          <p:nvPr/>
        </p:nvPicPr>
        <p:blipFill rotWithShape="1">
          <a:blip r:embed="rId25">
            <a:alphaModFix/>
          </a:blip>
          <a:srcRect/>
          <a:stretch/>
        </p:blipFill>
        <p:spPr>
          <a:xfrm>
            <a:off x="7669500" y="68264"/>
            <a:ext cx="1395476" cy="572701"/>
          </a:xfrm>
          <a:prstGeom prst="rect">
            <a:avLst/>
          </a:prstGeom>
          <a:noFill/>
          <a:ln>
            <a:noFill/>
          </a:ln>
        </p:spPr>
      </p:pic>
      <p:grpSp>
        <p:nvGrpSpPr>
          <p:cNvPr id="56" name="Google Shape;56;p13"/>
          <p:cNvGrpSpPr/>
          <p:nvPr/>
        </p:nvGrpSpPr>
        <p:grpSpPr>
          <a:xfrm>
            <a:off x="6593" y="10"/>
            <a:ext cx="175500" cy="709221"/>
            <a:chOff x="6593" y="10"/>
            <a:chExt cx="175500" cy="709221"/>
          </a:xfrm>
        </p:grpSpPr>
        <p:sp>
          <p:nvSpPr>
            <p:cNvPr id="57" name="Google Shape;57;p13"/>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58" name="Google Shape;58;p13"/>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59" r:id="rId1"/>
    <p:sldLayoutId id="2147483660" r:id="rId2"/>
    <p:sldLayoutId id="2147483661" r:id="rId3"/>
    <p:sldLayoutId id="2147483662" r:id="rId4"/>
    <p:sldLayoutId id="2147483663" r:id="rId5"/>
    <p:sldLayoutId id="2147483664" r:id="rId6"/>
    <p:sldLayoutId id="2147483665" r:id="rId7"/>
    <p:sldLayoutId id="2147483666" r:id="rId8"/>
    <p:sldLayoutId id="2147483667" r:id="rId9"/>
    <p:sldLayoutId id="2147483668" r:id="rId10"/>
    <p:sldLayoutId id="2147483669" r:id="rId11"/>
    <p:sldLayoutId id="2147483670" r:id="rId12"/>
    <p:sldLayoutId id="2147483671" r:id="rId13"/>
    <p:sldLayoutId id="2147483672" r:id="rId14"/>
    <p:sldLayoutId id="2147483673" r:id="rId15"/>
    <p:sldLayoutId id="2147483674" r:id="rId16"/>
    <p:sldLayoutId id="2147483675" r:id="rId17"/>
    <p:sldLayoutId id="2147483676" r:id="rId18"/>
    <p:sldLayoutId id="2147483677" r:id="rId19"/>
    <p:sldLayoutId id="2147483678" r:id="rId20"/>
    <p:sldLayoutId id="2147483679" r:id="rId21"/>
    <p:sldLayoutId id="2147483680" r:id="rId22"/>
    <p:sldLayoutId id="2147483681" r:id="rId23"/>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159"/>
        <p:cNvGrpSpPr/>
        <p:nvPr/>
      </p:nvGrpSpPr>
      <p:grpSpPr>
        <a:xfrm>
          <a:off x="0" y="0"/>
          <a:ext cx="0" cy="0"/>
          <a:chOff x="0" y="0"/>
          <a:chExt cx="0" cy="0"/>
        </a:xfrm>
      </p:grpSpPr>
      <p:sp>
        <p:nvSpPr>
          <p:cNvPr id="160" name="Google Shape;160;p37"/>
          <p:cNvSpPr txBox="1">
            <a:spLocks noGrp="1"/>
          </p:cNvSpPr>
          <p:nvPr>
            <p:ph type="title"/>
          </p:nvPr>
        </p:nvSpPr>
        <p:spPr>
          <a:xfrm>
            <a:off x="201972" y="288368"/>
            <a:ext cx="8520600" cy="572700"/>
          </a:xfrm>
          <a:prstGeom prst="rect">
            <a:avLst/>
          </a:prstGeom>
          <a:noFill/>
          <a:ln>
            <a:noFill/>
          </a:ln>
        </p:spPr>
        <p:txBody>
          <a:bodyPr spcFirstLastPara="1" wrap="square" lIns="91425" tIns="91425" rIns="91425" bIns="91425" anchor="t" anchorCtr="0">
            <a:noAutofit/>
          </a:bodyPr>
          <a:lstStyle>
            <a:lvl1pPr marR="0" lvl="0" algn="l">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endParaRPr/>
          </a:p>
        </p:txBody>
      </p:sp>
      <p:sp>
        <p:nvSpPr>
          <p:cNvPr id="161" name="Google Shape;161;p37"/>
          <p:cNvSpPr txBox="1">
            <a:spLocks noGrp="1"/>
          </p:cNvSpPr>
          <p:nvPr>
            <p:ph type="body" idx="1"/>
          </p:nvPr>
        </p:nvSpPr>
        <p:spPr>
          <a:xfrm>
            <a:off x="311700" y="861075"/>
            <a:ext cx="8520600" cy="3416400"/>
          </a:xfrm>
          <a:prstGeom prst="rect">
            <a:avLst/>
          </a:prstGeom>
          <a:noFill/>
          <a:ln>
            <a:noFill/>
          </a:ln>
        </p:spPr>
        <p:txBody>
          <a:bodyPr spcFirstLastPara="1" wrap="square" lIns="91425" tIns="91425" rIns="91425" bIns="91425" anchor="t" anchorCtr="0">
            <a:noAutofit/>
          </a:bodyPr>
          <a:lstStyle>
            <a:lvl1pPr marL="457200" marR="0" lvl="0" indent="-323850" algn="l">
              <a:lnSpc>
                <a:spcPct val="115000"/>
              </a:lnSpc>
              <a:spcBef>
                <a:spcPts val="0"/>
              </a:spcBef>
              <a:spcAft>
                <a:spcPts val="0"/>
              </a:spcAft>
              <a:buClr>
                <a:schemeClr val="dk2"/>
              </a:buClr>
              <a:buSzPts val="1500"/>
              <a:buFont typeface="Nunito"/>
              <a:buChar char="●"/>
              <a:defRPr sz="1500" b="0" i="0" u="none" strike="noStrike" cap="none">
                <a:solidFill>
                  <a:schemeClr val="dk2"/>
                </a:solidFill>
                <a:latin typeface="Nunito"/>
                <a:ea typeface="Nunito"/>
                <a:cs typeface="Nunito"/>
                <a:sym typeface="Nunito"/>
              </a:defRPr>
            </a:lvl1pPr>
            <a:lvl2pPr marL="914400" marR="0" lvl="1" indent="-311150" algn="l">
              <a:lnSpc>
                <a:spcPct val="115000"/>
              </a:lnSpc>
              <a:spcBef>
                <a:spcPts val="1600"/>
              </a:spcBef>
              <a:spcAft>
                <a:spcPts val="0"/>
              </a:spcAft>
              <a:buClr>
                <a:schemeClr val="dk2"/>
              </a:buClr>
              <a:buSzPts val="1300"/>
              <a:buFont typeface="Nunito"/>
              <a:buChar char="○"/>
              <a:defRPr sz="1300" b="0" i="0" u="none" strike="noStrike" cap="none">
                <a:solidFill>
                  <a:schemeClr val="dk2"/>
                </a:solidFill>
                <a:latin typeface="Nunito"/>
                <a:ea typeface="Nunito"/>
                <a:cs typeface="Nunito"/>
                <a:sym typeface="Nunito"/>
              </a:defRPr>
            </a:lvl2pPr>
            <a:lvl3pPr marL="1371600" marR="0" lvl="2" indent="-304800" algn="l">
              <a:lnSpc>
                <a:spcPct val="115000"/>
              </a:lnSpc>
              <a:spcBef>
                <a:spcPts val="1600"/>
              </a:spcBef>
              <a:spcAft>
                <a:spcPts val="0"/>
              </a:spcAft>
              <a:buClr>
                <a:schemeClr val="dk2"/>
              </a:buClr>
              <a:buSzPts val="1200"/>
              <a:buFont typeface="Nunito"/>
              <a:buChar char="■"/>
              <a:defRPr sz="1200" b="0" i="0" u="none" strike="noStrike" cap="none">
                <a:solidFill>
                  <a:schemeClr val="dk2"/>
                </a:solidFill>
                <a:latin typeface="Nunito"/>
                <a:ea typeface="Nunito"/>
                <a:cs typeface="Nunito"/>
                <a:sym typeface="Nunito"/>
              </a:defRPr>
            </a:lvl3pPr>
            <a:lvl4pPr marL="1828800" marR="0" lvl="3" indent="-298450" algn="l">
              <a:lnSpc>
                <a:spcPct val="115000"/>
              </a:lnSpc>
              <a:spcBef>
                <a:spcPts val="1600"/>
              </a:spcBef>
              <a:spcAft>
                <a:spcPts val="0"/>
              </a:spcAft>
              <a:buClr>
                <a:schemeClr val="dk2"/>
              </a:buClr>
              <a:buSzPts val="1100"/>
              <a:buFont typeface="Nunito"/>
              <a:buChar char="●"/>
              <a:defRPr sz="1100" b="0" i="0" u="none" strike="noStrike" cap="none">
                <a:solidFill>
                  <a:schemeClr val="dk2"/>
                </a:solidFill>
                <a:latin typeface="Nunito"/>
                <a:ea typeface="Nunito"/>
                <a:cs typeface="Nunito"/>
                <a:sym typeface="Nunito"/>
              </a:defRPr>
            </a:lvl4pPr>
            <a:lvl5pPr marL="2286000" marR="0" lvl="4" indent="-292100" algn="l">
              <a:lnSpc>
                <a:spcPct val="115000"/>
              </a:lnSpc>
              <a:spcBef>
                <a:spcPts val="1600"/>
              </a:spcBef>
              <a:spcAft>
                <a:spcPts val="0"/>
              </a:spcAft>
              <a:buClr>
                <a:schemeClr val="dk2"/>
              </a:buClr>
              <a:buSzPts val="1000"/>
              <a:buFont typeface="Nunito"/>
              <a:buChar char="○"/>
              <a:defRPr sz="1000" b="0" i="0" u="none" strike="noStrike" cap="none">
                <a:solidFill>
                  <a:schemeClr val="dk2"/>
                </a:solidFill>
                <a:latin typeface="Nunito"/>
                <a:ea typeface="Nunito"/>
                <a:cs typeface="Nunito"/>
                <a:sym typeface="Nunito"/>
              </a:defRPr>
            </a:lvl5pPr>
            <a:lvl6pPr marL="2743200" marR="0" lvl="5" indent="-285750" algn="l">
              <a:lnSpc>
                <a:spcPct val="115000"/>
              </a:lnSpc>
              <a:spcBef>
                <a:spcPts val="1600"/>
              </a:spcBef>
              <a:spcAft>
                <a:spcPts val="0"/>
              </a:spcAft>
              <a:buClr>
                <a:schemeClr val="dk2"/>
              </a:buClr>
              <a:buSzPts val="900"/>
              <a:buFont typeface="Nunito"/>
              <a:buChar char="■"/>
              <a:defRPr sz="900" b="0" i="0" u="none" strike="noStrike" cap="none">
                <a:solidFill>
                  <a:schemeClr val="dk2"/>
                </a:solidFill>
                <a:latin typeface="Nunito"/>
                <a:ea typeface="Nunito"/>
                <a:cs typeface="Nunito"/>
                <a:sym typeface="Nunito"/>
              </a:defRPr>
            </a:lvl6pPr>
            <a:lvl7pPr marL="3200400" marR="0" lvl="6" indent="-279400" algn="l">
              <a:lnSpc>
                <a:spcPct val="115000"/>
              </a:lnSpc>
              <a:spcBef>
                <a:spcPts val="1600"/>
              </a:spcBef>
              <a:spcAft>
                <a:spcPts val="0"/>
              </a:spcAft>
              <a:buClr>
                <a:schemeClr val="dk2"/>
              </a:buClr>
              <a:buSzPts val="800"/>
              <a:buFont typeface="Nunito"/>
              <a:buChar char="●"/>
              <a:defRPr sz="800" b="0" i="0" u="none" strike="noStrike" cap="none">
                <a:solidFill>
                  <a:schemeClr val="dk2"/>
                </a:solidFill>
                <a:latin typeface="Nunito"/>
                <a:ea typeface="Nunito"/>
                <a:cs typeface="Nunito"/>
                <a:sym typeface="Nunito"/>
              </a:defRPr>
            </a:lvl7pPr>
            <a:lvl8pPr marL="3657600" marR="0" lvl="7" indent="-273050" algn="l">
              <a:lnSpc>
                <a:spcPct val="115000"/>
              </a:lnSpc>
              <a:spcBef>
                <a:spcPts val="1600"/>
              </a:spcBef>
              <a:spcAft>
                <a:spcPts val="0"/>
              </a:spcAft>
              <a:buClr>
                <a:schemeClr val="dk2"/>
              </a:buClr>
              <a:buSzPts val="700"/>
              <a:buFont typeface="Nunito"/>
              <a:buChar char="○"/>
              <a:defRPr sz="700" b="0" i="0" u="none" strike="noStrike" cap="none">
                <a:solidFill>
                  <a:schemeClr val="dk2"/>
                </a:solidFill>
                <a:latin typeface="Nunito"/>
                <a:ea typeface="Nunito"/>
                <a:cs typeface="Nunito"/>
                <a:sym typeface="Nunito"/>
              </a:defRPr>
            </a:lvl8pPr>
            <a:lvl9pPr marL="4114800" marR="0" lvl="8" indent="-266700" algn="l">
              <a:lnSpc>
                <a:spcPct val="115000"/>
              </a:lnSpc>
              <a:spcBef>
                <a:spcPts val="1600"/>
              </a:spcBef>
              <a:spcAft>
                <a:spcPts val="1600"/>
              </a:spcAft>
              <a:buClr>
                <a:schemeClr val="dk2"/>
              </a:buClr>
              <a:buSzPts val="600"/>
              <a:buFont typeface="Nunito"/>
              <a:buChar char="■"/>
              <a:defRPr sz="600" b="0" i="0" u="none" strike="noStrike" cap="none">
                <a:solidFill>
                  <a:schemeClr val="dk2"/>
                </a:solidFill>
                <a:latin typeface="Nunito"/>
                <a:ea typeface="Nunito"/>
                <a:cs typeface="Nunito"/>
                <a:sym typeface="Nunito"/>
              </a:defRPr>
            </a:lvl9pPr>
          </a:lstStyle>
          <a:p>
            <a:endParaRPr/>
          </a:p>
        </p:txBody>
      </p:sp>
      <p:sp>
        <p:nvSpPr>
          <p:cNvPr id="162" name="Google Shape;162;p37"/>
          <p:cNvSpPr txBox="1"/>
          <p:nvPr/>
        </p:nvSpPr>
        <p:spPr>
          <a:xfrm>
            <a:off x="2234400" y="4917657"/>
            <a:ext cx="4675200" cy="275700"/>
          </a:xfrm>
          <a:prstGeom prst="rect">
            <a:avLst/>
          </a:prstGeom>
          <a:noFill/>
          <a:ln>
            <a:noFill/>
          </a:ln>
        </p:spPr>
        <p:txBody>
          <a:bodyPr spcFirstLastPara="1" wrap="square" lIns="91425" tIns="91425" rIns="91425" bIns="91425" anchor="t" anchorCtr="0">
            <a:noAutofit/>
          </a:bodyPr>
          <a:lstStyle/>
          <a:p>
            <a:pPr marL="12700" marR="0" lvl="0" indent="0" algn="ctr" rtl="0">
              <a:lnSpc>
                <a:spcPct val="102500"/>
              </a:lnSpc>
              <a:spcBef>
                <a:spcPts val="0"/>
              </a:spcBef>
              <a:spcAft>
                <a:spcPts val="0"/>
              </a:spcAft>
              <a:buClr>
                <a:srgbClr val="000000"/>
              </a:buClr>
              <a:buSzPts val="700"/>
              <a:buFont typeface="Arial"/>
              <a:buNone/>
            </a:pPr>
            <a:r>
              <a:rPr lang="en" sz="700" b="1" i="0" u="none" strike="noStrike" cap="none">
                <a:solidFill>
                  <a:srgbClr val="434343"/>
                </a:solidFill>
                <a:latin typeface="Nunito"/>
                <a:ea typeface="Nunito"/>
                <a:cs typeface="Nunito"/>
                <a:sym typeface="Nunito"/>
              </a:rPr>
              <a:t>Proprietary content. © Great Learning. All Rights Reserved. Unauthorized use or distribution prohibited.</a:t>
            </a:r>
            <a:endParaRPr sz="700" b="1" i="0" u="none" strike="noStrike" cap="none">
              <a:solidFill>
                <a:srgbClr val="434343"/>
              </a:solidFill>
              <a:latin typeface="Nunito"/>
              <a:ea typeface="Nunito"/>
              <a:cs typeface="Nunito"/>
              <a:sym typeface="Nunito"/>
            </a:endParaRPr>
          </a:p>
        </p:txBody>
      </p:sp>
      <p:sp>
        <p:nvSpPr>
          <p:cNvPr id="163" name="Google Shape;163;p37"/>
          <p:cNvSpPr txBox="1">
            <a:spLocks noGrp="1"/>
          </p:cNvSpPr>
          <p:nvPr>
            <p:ph type="sldNum" idx="12"/>
          </p:nvPr>
        </p:nvSpPr>
        <p:spPr>
          <a:xfrm>
            <a:off x="8832299" y="4946907"/>
            <a:ext cx="365400" cy="217200"/>
          </a:xfrm>
          <a:prstGeom prst="rect">
            <a:avLst/>
          </a:prstGeom>
          <a:noFill/>
          <a:ln>
            <a:noFill/>
          </a:ln>
        </p:spPr>
        <p:txBody>
          <a:bodyPr spcFirstLastPara="1" wrap="square" lIns="91425" tIns="91425" rIns="91425" bIns="91425" anchor="ctr" anchorCtr="0">
            <a:noAutofit/>
          </a:bodyPr>
          <a:lstStyle>
            <a:lvl1pPr marL="0" marR="0" lvl="0"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1pPr>
            <a:lvl2pPr marL="0" marR="0" lvl="1"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2pPr>
            <a:lvl3pPr marL="0" marR="0" lvl="2"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3pPr>
            <a:lvl4pPr marL="0" marR="0" lvl="3"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4pPr>
            <a:lvl5pPr marL="0" marR="0" lvl="4"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5pPr>
            <a:lvl6pPr marL="0" marR="0" lvl="5"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6pPr>
            <a:lvl7pPr marL="0" marR="0" lvl="6"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7pPr>
            <a:lvl8pPr marL="0" marR="0" lvl="7"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8pPr>
            <a:lvl9pPr marL="0" marR="0" lvl="8" indent="0" algn="ctr">
              <a:lnSpc>
                <a:spcPct val="100000"/>
              </a:lnSpc>
              <a:spcBef>
                <a:spcPts val="0"/>
              </a:spcBef>
              <a:spcAft>
                <a:spcPts val="0"/>
              </a:spcAft>
              <a:buClr>
                <a:srgbClr val="000000"/>
              </a:buClr>
              <a:buSzPts val="800"/>
              <a:buFont typeface="Arial"/>
              <a:buNone/>
              <a:defRPr sz="800" b="1" i="0" u="none" strike="noStrike" cap="none">
                <a:solidFill>
                  <a:srgbClr val="434343"/>
                </a:solidFill>
                <a:latin typeface="Nunito"/>
                <a:ea typeface="Nunito"/>
                <a:cs typeface="Nunito"/>
                <a:sym typeface="Nunito"/>
              </a:defRPr>
            </a:lvl9pPr>
          </a:lstStyle>
          <a:p>
            <a:pPr marL="0" lvl="0" indent="0" algn="ctr" rtl="0">
              <a:spcBef>
                <a:spcPts val="0"/>
              </a:spcBef>
              <a:spcAft>
                <a:spcPts val="0"/>
              </a:spcAft>
              <a:buNone/>
            </a:pPr>
            <a:fld id="{00000000-1234-1234-1234-123412341234}" type="slidenum">
              <a:rPr lang="en"/>
              <a:t>‹#›</a:t>
            </a:fld>
            <a:endParaRPr/>
          </a:p>
        </p:txBody>
      </p:sp>
      <p:pic>
        <p:nvPicPr>
          <p:cNvPr id="164" name="Google Shape;164;p37"/>
          <p:cNvPicPr preferRelativeResize="0"/>
          <p:nvPr/>
        </p:nvPicPr>
        <p:blipFill rotWithShape="1">
          <a:blip r:embed="rId12">
            <a:alphaModFix/>
          </a:blip>
          <a:srcRect/>
          <a:stretch/>
        </p:blipFill>
        <p:spPr>
          <a:xfrm>
            <a:off x="7669500" y="68264"/>
            <a:ext cx="1395475" cy="572700"/>
          </a:xfrm>
          <a:prstGeom prst="rect">
            <a:avLst/>
          </a:prstGeom>
          <a:noFill/>
          <a:ln>
            <a:noFill/>
          </a:ln>
        </p:spPr>
      </p:pic>
      <p:grpSp>
        <p:nvGrpSpPr>
          <p:cNvPr id="165" name="Google Shape;165;p37"/>
          <p:cNvGrpSpPr/>
          <p:nvPr/>
        </p:nvGrpSpPr>
        <p:grpSpPr>
          <a:xfrm>
            <a:off x="6593" y="10"/>
            <a:ext cx="175500" cy="709221"/>
            <a:chOff x="6593" y="10"/>
            <a:chExt cx="175500" cy="709221"/>
          </a:xfrm>
        </p:grpSpPr>
        <p:sp>
          <p:nvSpPr>
            <p:cNvPr id="166" name="Google Shape;166;p37"/>
            <p:cNvSpPr/>
            <p:nvPr/>
          </p:nvSpPr>
          <p:spPr>
            <a:xfrm>
              <a:off x="6593" y="10"/>
              <a:ext cx="175500" cy="355500"/>
            </a:xfrm>
            <a:prstGeom prst="rect">
              <a:avLst/>
            </a:prstGeom>
            <a:solidFill>
              <a:srgbClr val="0E39A9"/>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167" name="Google Shape;167;p37"/>
            <p:cNvSpPr/>
            <p:nvPr/>
          </p:nvSpPr>
          <p:spPr>
            <a:xfrm>
              <a:off x="6593" y="353731"/>
              <a:ext cx="175500" cy="355500"/>
            </a:xfrm>
            <a:prstGeom prst="rect">
              <a:avLst/>
            </a:prstGeom>
            <a:solidFill>
              <a:srgbClr val="1974D2"/>
            </a:solidFill>
            <a:ln>
              <a:noFill/>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grpSp>
    </p:spTree>
  </p:cSld>
  <p:clrMap bg1="lt1" tx1="dk1" bg2="dk2" tx2="lt2" accent1="accent1" accent2="accent2" accent3="accent3" accent4="accent4" accent5="accent5" accent6="accent6" hlink="hlink" folHlink="folHlink"/>
  <p:sldLayoutIdLst>
    <p:sldLayoutId id="2147483682" r:id="rId1"/>
    <p:sldLayoutId id="2147483683" r:id="rId2"/>
    <p:sldLayoutId id="2147483684" r:id="rId3"/>
    <p:sldLayoutId id="2147483685" r:id="rId4"/>
    <p:sldLayoutId id="2147483686" r:id="rId5"/>
    <p:sldLayoutId id="2147483687" r:id="rId6"/>
    <p:sldLayoutId id="2147483688" r:id="rId7"/>
    <p:sldLayoutId id="2147483689" r:id="rId8"/>
    <p:sldLayoutId id="2147483690" r:id="rId9"/>
    <p:sldLayoutId id="2147483691"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2.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2.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2.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2.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2.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2.xml"/></Relationships>
</file>

<file path=ppt/slides/_rels/slide11.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1.xml"/><Relationship Id="rId1" Type="http://schemas.openxmlformats.org/officeDocument/2006/relationships/slideLayout" Target="../slideLayouts/slideLayout12.xml"/></Relationships>
</file>

<file path=ppt/slides/_rels/slide1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2.xml"/><Relationship Id="rId1" Type="http://schemas.openxmlformats.org/officeDocument/2006/relationships/slideLayout" Target="../slideLayouts/slideLayout12.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2.xml"/></Relationships>
</file>

<file path=ppt/slides/_rels/slide1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4.xml"/><Relationship Id="rId1" Type="http://schemas.openxmlformats.org/officeDocument/2006/relationships/slideLayout" Target="../slideLayouts/slideLayout12.xml"/></Relationships>
</file>

<file path=ppt/slides/_rels/slide15.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5.xml"/><Relationship Id="rId1" Type="http://schemas.openxmlformats.org/officeDocument/2006/relationships/slideLayout" Target="../slideLayouts/slideLayout12.xml"/></Relationships>
</file>

<file path=ppt/slides/_rels/slide16.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6.xml"/><Relationship Id="rId1" Type="http://schemas.openxmlformats.org/officeDocument/2006/relationships/slideLayout" Target="../slideLayouts/slideLayout1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1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1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2.xml"/></Relationships>
</file>

<file path=ppt/slides/_rels/slide20.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20.xml"/><Relationship Id="rId1" Type="http://schemas.openxmlformats.org/officeDocument/2006/relationships/slideLayout" Target="../slideLayouts/slideLayout12.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21.xml"/><Relationship Id="rId1" Type="http://schemas.openxmlformats.org/officeDocument/2006/relationships/slideLayout" Target="../slideLayouts/slideLayout12.xml"/></Relationships>
</file>

<file path=ppt/slides/_rels/slide22.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22.xml"/><Relationship Id="rId1" Type="http://schemas.openxmlformats.org/officeDocument/2006/relationships/slideLayout" Target="../slideLayouts/slideLayout12.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23.xml"/><Relationship Id="rId1" Type="http://schemas.openxmlformats.org/officeDocument/2006/relationships/slideLayout" Target="../slideLayouts/slideLayout12.xml"/></Relationships>
</file>

<file path=ppt/slides/_rels/slide2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24.xml"/><Relationship Id="rId1" Type="http://schemas.openxmlformats.org/officeDocument/2006/relationships/slideLayout" Target="../slideLayouts/slideLayout12.xml"/></Relationships>
</file>

<file path=ppt/slides/_rels/slide25.xml.rels><?xml version="1.0" encoding="UTF-8" standalone="yes"?>
<Relationships xmlns="http://schemas.openxmlformats.org/package/2006/relationships"><Relationship Id="rId3" Type="http://schemas.openxmlformats.org/officeDocument/2006/relationships/image" Target="../media/image22.png"/><Relationship Id="rId2" Type="http://schemas.openxmlformats.org/officeDocument/2006/relationships/notesSlide" Target="../notesSlides/notesSlide25.xml"/><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26.xml"/><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7.xml"/><Relationship Id="rId1" Type="http://schemas.openxmlformats.org/officeDocument/2006/relationships/slideLayout" Target="../slideLayouts/slideLayout12.xml"/></Relationships>
</file>

<file path=ppt/slides/_rels/slide28.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28.xml"/><Relationship Id="rId1" Type="http://schemas.openxmlformats.org/officeDocument/2006/relationships/slideLayout" Target="../slideLayouts/slideLayout12.xml"/></Relationships>
</file>

<file path=ppt/slides/_rels/slide29.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notesSlide" Target="../notesSlides/notesSlide29.xml"/><Relationship Id="rId1" Type="http://schemas.openxmlformats.org/officeDocument/2006/relationships/slideLayout" Target="../slideLayouts/slideLayout12.xml"/></Relationships>
</file>

<file path=ppt/slides/_rels/slide30.xml.rels><?xml version="1.0" encoding="UTF-8" standalone="yes"?>
<Relationships xmlns="http://schemas.openxmlformats.org/package/2006/relationships"><Relationship Id="rId3" Type="http://schemas.openxmlformats.org/officeDocument/2006/relationships/image" Target="../media/image27.png"/><Relationship Id="rId2" Type="http://schemas.openxmlformats.org/officeDocument/2006/relationships/notesSlide" Target="../notesSlides/notesSlide30.xml"/><Relationship Id="rId1" Type="http://schemas.openxmlformats.org/officeDocument/2006/relationships/slideLayout" Target="../slideLayouts/slideLayout12.xml"/></Relationships>
</file>

<file path=ppt/slides/_rels/slide3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31.xml"/><Relationship Id="rId1" Type="http://schemas.openxmlformats.org/officeDocument/2006/relationships/slideLayout" Target="../slideLayouts/slideLayout12.xml"/></Relationships>
</file>

<file path=ppt/slides/_rels/slide32.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32.xml"/><Relationship Id="rId1" Type="http://schemas.openxmlformats.org/officeDocument/2006/relationships/slideLayout" Target="../slideLayouts/slideLayout12.xml"/></Relationships>
</file>

<file path=ppt/slides/_rels/slide33.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3.xml"/><Relationship Id="rId1" Type="http://schemas.openxmlformats.org/officeDocument/2006/relationships/slideLayout" Target="../slideLayouts/slideLayout12.xml"/></Relationships>
</file>

<file path=ppt/slides/_rels/slide34.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34.xml"/><Relationship Id="rId1" Type="http://schemas.openxmlformats.org/officeDocument/2006/relationships/slideLayout" Target="../slideLayouts/slideLayout1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1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12.xml"/></Relationships>
</file>

<file path=ppt/slides/_rels/slide37.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1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12.xml"/></Relationships>
</file>

<file path=ppt/slides/_rels/slide39.xml.rels><?xml version="1.0" encoding="UTF-8" standalone="yes"?>
<Relationships xmlns="http://schemas.openxmlformats.org/package/2006/relationships"><Relationship Id="rId2" Type="http://schemas.openxmlformats.org/officeDocument/2006/relationships/notesSlide" Target="../notesSlides/notesSlide39.xml"/><Relationship Id="rId1" Type="http://schemas.openxmlformats.org/officeDocument/2006/relationships/slideLayout" Target="../slideLayouts/slideLayout1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3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210"/>
        <p:cNvGrpSpPr/>
        <p:nvPr/>
      </p:nvGrpSpPr>
      <p:grpSpPr>
        <a:xfrm>
          <a:off x="0" y="0"/>
          <a:ext cx="0" cy="0"/>
          <a:chOff x="0" y="0"/>
          <a:chExt cx="0" cy="0"/>
        </a:xfrm>
      </p:grpSpPr>
      <p:sp>
        <p:nvSpPr>
          <p:cNvPr id="211" name="Google Shape;211;p48"/>
          <p:cNvSpPr txBox="1"/>
          <p:nvPr/>
        </p:nvSpPr>
        <p:spPr>
          <a:xfrm>
            <a:off x="615855" y="154551"/>
            <a:ext cx="7116787" cy="1477297"/>
          </a:xfrm>
          <a:prstGeom prst="rect">
            <a:avLst/>
          </a:prstGeom>
          <a:noFill/>
          <a:ln>
            <a:noFill/>
          </a:ln>
        </p:spPr>
        <p:txBody>
          <a:bodyPr spcFirstLastPara="1" wrap="square" lIns="91425" tIns="91425" rIns="91425" bIns="91425" anchor="t" anchorCtr="0">
            <a:spAutoFit/>
          </a:bodyPr>
          <a:lstStyle/>
          <a:p>
            <a:pPr lvl="0">
              <a:buSzPts val="4100"/>
            </a:pPr>
            <a:r>
              <a:rPr lang="en-US" sz="2800" b="1" dirty="0">
                <a:solidFill>
                  <a:schemeClr val="accent6">
                    <a:lumMod val="75000"/>
                  </a:schemeClr>
                </a:solidFill>
              </a:rPr>
              <a:t>Building a RAG-Based Medical Knowledge Assistant for Clinical Decision Support</a:t>
            </a:r>
            <a:endParaRPr sz="2800" b="1" i="0" u="none" strike="noStrike" cap="none" dirty="0">
              <a:solidFill>
                <a:schemeClr val="accent6">
                  <a:lumMod val="75000"/>
                </a:schemeClr>
              </a:solidFill>
              <a:latin typeface="Nunito"/>
              <a:ea typeface="Nunito"/>
              <a:cs typeface="Nunito"/>
              <a:sym typeface="Nunito"/>
            </a:endParaRPr>
          </a:p>
        </p:txBody>
      </p:sp>
      <p:sp>
        <p:nvSpPr>
          <p:cNvPr id="212" name="Google Shape;212;p48"/>
          <p:cNvSpPr txBox="1"/>
          <p:nvPr/>
        </p:nvSpPr>
        <p:spPr>
          <a:xfrm>
            <a:off x="615854" y="1762644"/>
            <a:ext cx="7494475" cy="2646848"/>
          </a:xfrm>
          <a:prstGeom prst="rect">
            <a:avLst/>
          </a:prstGeom>
          <a:noFill/>
          <a:ln>
            <a:noFill/>
          </a:ln>
        </p:spPr>
        <p:txBody>
          <a:bodyPr spcFirstLastPara="1" wrap="square" lIns="91425" tIns="91425" rIns="91425" bIns="91425" anchor="t" anchorCtr="0">
            <a:spAutoFit/>
          </a:bodyPr>
          <a:lstStyle/>
          <a:p>
            <a:pPr lvl="0">
              <a:buSzPts val="2900"/>
            </a:pPr>
            <a:r>
              <a:rPr lang="en-US" sz="2000" b="1" dirty="0">
                <a:solidFill>
                  <a:schemeClr val="accent6">
                    <a:lumMod val="75000"/>
                  </a:schemeClr>
                </a:solidFill>
              </a:rPr>
              <a:t>Medical Diagnosis Assistant Using Retrieval-Augmented Generation</a:t>
            </a:r>
          </a:p>
          <a:p>
            <a:pPr lvl="0">
              <a:buSzPts val="2900"/>
            </a:pPr>
            <a:endParaRPr lang="en-US" sz="2000" b="1" dirty="0">
              <a:solidFill>
                <a:schemeClr val="accent6">
                  <a:lumMod val="75000"/>
                </a:schemeClr>
              </a:solidFill>
            </a:endParaRPr>
          </a:p>
          <a:p>
            <a:pPr>
              <a:buSzPts val="2900"/>
            </a:pPr>
            <a:r>
              <a:rPr lang="en-US" sz="2000" b="1" dirty="0">
                <a:solidFill>
                  <a:schemeClr val="accent6">
                    <a:lumMod val="75000"/>
                  </a:schemeClr>
                </a:solidFill>
              </a:rPr>
              <a:t>Course: Natural Language Processing / Generative AI and RAG Project</a:t>
            </a:r>
          </a:p>
          <a:p>
            <a:pPr>
              <a:buSzPts val="2900"/>
            </a:pPr>
            <a:endParaRPr lang="en-US" sz="2000" b="1" dirty="0">
              <a:solidFill>
                <a:schemeClr val="accent6">
                  <a:lumMod val="75000"/>
                </a:schemeClr>
              </a:solidFill>
            </a:endParaRPr>
          </a:p>
          <a:p>
            <a:pPr>
              <a:buSzPts val="2900"/>
            </a:pPr>
            <a:r>
              <a:rPr lang="en-US" sz="2000" b="1" dirty="0">
                <a:solidFill>
                  <a:schemeClr val="accent6">
                    <a:lumMod val="75000"/>
                  </a:schemeClr>
                </a:solidFill>
              </a:rPr>
              <a:t>By Sarah Wolberg</a:t>
            </a:r>
          </a:p>
          <a:p>
            <a:pPr lvl="0">
              <a:buSzPts val="2900"/>
            </a:pPr>
            <a:endParaRPr sz="2000" b="1" i="0" u="none" strike="noStrike" cap="none" dirty="0">
              <a:solidFill>
                <a:schemeClr val="accent6">
                  <a:lumMod val="75000"/>
                </a:schemeClr>
              </a:solidFill>
              <a:latin typeface="Nunito"/>
              <a:ea typeface="Nunito"/>
              <a:cs typeface="Nunito"/>
              <a:sym typeface="Nunito"/>
            </a:endParaRPr>
          </a:p>
        </p:txBody>
      </p:sp>
      <p:sp>
        <p:nvSpPr>
          <p:cNvPr id="213" name="Google Shape;213;p48"/>
          <p:cNvSpPr txBox="1"/>
          <p:nvPr/>
        </p:nvSpPr>
        <p:spPr>
          <a:xfrm>
            <a:off x="615854" y="4109431"/>
            <a:ext cx="2054692" cy="430857"/>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200"/>
              <a:buFont typeface="Arial"/>
              <a:buNone/>
            </a:pPr>
            <a:r>
              <a:rPr lang="en" sz="1600" b="1" i="0" u="none" strike="noStrike" cap="none" dirty="0">
                <a:solidFill>
                  <a:schemeClr val="accent6">
                    <a:lumMod val="75000"/>
                  </a:schemeClr>
                </a:solidFill>
                <a:latin typeface="Nunito"/>
                <a:ea typeface="Nunito"/>
                <a:cs typeface="Nunito"/>
                <a:sym typeface="Nunito"/>
              </a:rPr>
              <a:t>28 June 2026</a:t>
            </a:r>
            <a:endParaRPr sz="1600" b="1" i="0" u="none" strike="noStrike" cap="none" dirty="0">
              <a:solidFill>
                <a:schemeClr val="accent6">
                  <a:lumMod val="75000"/>
                </a:schemeClr>
              </a:solidFill>
              <a:latin typeface="Nunito"/>
              <a:ea typeface="Nunito"/>
              <a:cs typeface="Nunito"/>
              <a:sym typeface="Nuni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218" name="Google Shape;218;p49"/>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Contents / Agenda</a:t>
            </a:r>
            <a:endParaRPr sz="2400">
              <a:solidFill>
                <a:srgbClr val="0E39A9"/>
              </a:solidFill>
            </a:endParaRPr>
          </a:p>
        </p:txBody>
      </p:sp>
      <p:sp>
        <p:nvSpPr>
          <p:cNvPr id="219" name="Google Shape;219;p49"/>
          <p:cNvSpPr/>
          <p:nvPr/>
        </p:nvSpPr>
        <p:spPr>
          <a:xfrm>
            <a:off x="202550" y="161271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200" b="0" i="0" u="none" strike="noStrike" cap="none">
              <a:solidFill>
                <a:srgbClr val="000000"/>
              </a:solidFill>
              <a:latin typeface="Nunito"/>
              <a:ea typeface="Nunito"/>
              <a:cs typeface="Nunito"/>
              <a:sym typeface="Nunito"/>
            </a:endParaRPr>
          </a:p>
        </p:txBody>
      </p:sp>
      <p:sp>
        <p:nvSpPr>
          <p:cNvPr id="220" name="Google Shape;220;p49"/>
          <p:cNvSpPr txBox="1"/>
          <p:nvPr/>
        </p:nvSpPr>
        <p:spPr>
          <a:xfrm>
            <a:off x="490928" y="1488705"/>
            <a:ext cx="56328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200" b="0" i="0" u="none" strike="noStrike" cap="none" dirty="0">
                <a:solidFill>
                  <a:srgbClr val="000000"/>
                </a:solidFill>
                <a:latin typeface="Montserrat"/>
                <a:ea typeface="Montserrat"/>
                <a:cs typeface="Montserrat"/>
                <a:sym typeface="Montserrat"/>
              </a:rPr>
              <a:t>Question Answering using LLM</a:t>
            </a:r>
            <a:endParaRPr sz="1200" b="0" i="0" u="none" strike="noStrike" cap="none" dirty="0">
              <a:solidFill>
                <a:srgbClr val="000000"/>
              </a:solidFill>
              <a:latin typeface="Montserrat"/>
              <a:ea typeface="Montserrat"/>
              <a:cs typeface="Montserrat"/>
              <a:sym typeface="Montserrat"/>
            </a:endParaRPr>
          </a:p>
        </p:txBody>
      </p:sp>
      <p:sp>
        <p:nvSpPr>
          <p:cNvPr id="221" name="Google Shape;221;p49"/>
          <p:cNvSpPr/>
          <p:nvPr/>
        </p:nvSpPr>
        <p:spPr>
          <a:xfrm>
            <a:off x="202550" y="201276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200" b="0" i="0" u="none" strike="noStrike" cap="none">
              <a:solidFill>
                <a:srgbClr val="000000"/>
              </a:solidFill>
              <a:latin typeface="Nunito"/>
              <a:ea typeface="Nunito"/>
              <a:cs typeface="Nunito"/>
              <a:sym typeface="Nunito"/>
            </a:endParaRPr>
          </a:p>
        </p:txBody>
      </p:sp>
      <p:sp>
        <p:nvSpPr>
          <p:cNvPr id="222" name="Google Shape;222;p49"/>
          <p:cNvSpPr txBox="1"/>
          <p:nvPr/>
        </p:nvSpPr>
        <p:spPr>
          <a:xfrm>
            <a:off x="490928" y="1909243"/>
            <a:ext cx="56328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200" b="0" i="0" u="none" strike="noStrike" cap="none">
                <a:solidFill>
                  <a:srgbClr val="000000"/>
                </a:solidFill>
                <a:latin typeface="Montserrat"/>
                <a:ea typeface="Montserrat"/>
                <a:cs typeface="Montserrat"/>
                <a:sym typeface="Montserrat"/>
              </a:rPr>
              <a:t>Question Answering using LLM with Prompt Engineering</a:t>
            </a:r>
            <a:endParaRPr sz="1200" b="0" i="0" u="none" strike="noStrike" cap="none">
              <a:solidFill>
                <a:srgbClr val="000000"/>
              </a:solidFill>
              <a:latin typeface="Montserrat"/>
              <a:ea typeface="Montserrat"/>
              <a:cs typeface="Montserrat"/>
              <a:sym typeface="Montserrat"/>
            </a:endParaRPr>
          </a:p>
        </p:txBody>
      </p:sp>
      <p:sp>
        <p:nvSpPr>
          <p:cNvPr id="223" name="Google Shape;223;p49"/>
          <p:cNvSpPr/>
          <p:nvPr/>
        </p:nvSpPr>
        <p:spPr>
          <a:xfrm>
            <a:off x="202550" y="248901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200" b="0" i="0" u="none" strike="noStrike" cap="none">
              <a:solidFill>
                <a:srgbClr val="000000"/>
              </a:solidFill>
              <a:latin typeface="Nunito"/>
              <a:ea typeface="Nunito"/>
              <a:cs typeface="Nunito"/>
              <a:sym typeface="Nunito"/>
            </a:endParaRPr>
          </a:p>
        </p:txBody>
      </p:sp>
      <p:sp>
        <p:nvSpPr>
          <p:cNvPr id="224" name="Google Shape;224;p49"/>
          <p:cNvSpPr txBox="1"/>
          <p:nvPr/>
        </p:nvSpPr>
        <p:spPr>
          <a:xfrm>
            <a:off x="490928" y="2380380"/>
            <a:ext cx="56328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200" b="0" i="0" u="none" strike="noStrike" cap="none">
                <a:solidFill>
                  <a:srgbClr val="000000"/>
                </a:solidFill>
                <a:latin typeface="Montserrat"/>
                <a:ea typeface="Montserrat"/>
                <a:cs typeface="Montserrat"/>
                <a:sym typeface="Montserrat"/>
              </a:rPr>
              <a:t>Data Preparation for RAG</a:t>
            </a:r>
            <a:endParaRPr sz="1200" b="0" i="0" u="none" strike="noStrike" cap="none">
              <a:solidFill>
                <a:srgbClr val="000000"/>
              </a:solidFill>
              <a:latin typeface="Montserrat"/>
              <a:ea typeface="Montserrat"/>
              <a:cs typeface="Montserrat"/>
              <a:sym typeface="Montserrat"/>
            </a:endParaRPr>
          </a:p>
        </p:txBody>
      </p:sp>
      <p:sp>
        <p:nvSpPr>
          <p:cNvPr id="225" name="Google Shape;225;p49"/>
          <p:cNvSpPr/>
          <p:nvPr/>
        </p:nvSpPr>
        <p:spPr>
          <a:xfrm>
            <a:off x="202550" y="294621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200" b="0" i="0" u="none" strike="noStrike" cap="none">
              <a:solidFill>
                <a:srgbClr val="000000"/>
              </a:solidFill>
              <a:latin typeface="Nunito"/>
              <a:ea typeface="Nunito"/>
              <a:cs typeface="Nunito"/>
              <a:sym typeface="Nunito"/>
            </a:endParaRPr>
          </a:p>
        </p:txBody>
      </p:sp>
      <p:sp>
        <p:nvSpPr>
          <p:cNvPr id="226" name="Google Shape;226;p49"/>
          <p:cNvSpPr txBox="1"/>
          <p:nvPr/>
        </p:nvSpPr>
        <p:spPr>
          <a:xfrm>
            <a:off x="490928" y="2837580"/>
            <a:ext cx="56328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200" b="0" i="0" u="none" strike="noStrike" cap="none">
                <a:solidFill>
                  <a:srgbClr val="000000"/>
                </a:solidFill>
                <a:latin typeface="Montserrat"/>
                <a:ea typeface="Montserrat"/>
                <a:cs typeface="Montserrat"/>
                <a:sym typeface="Montserrat"/>
              </a:rPr>
              <a:t>Question Answering using RAG</a:t>
            </a:r>
            <a:endParaRPr sz="1200" b="0" i="0" u="none" strike="noStrike" cap="none">
              <a:solidFill>
                <a:srgbClr val="000000"/>
              </a:solidFill>
              <a:latin typeface="Montserrat"/>
              <a:ea typeface="Montserrat"/>
              <a:cs typeface="Montserrat"/>
              <a:sym typeface="Montserrat"/>
            </a:endParaRPr>
          </a:p>
        </p:txBody>
      </p:sp>
      <p:sp>
        <p:nvSpPr>
          <p:cNvPr id="227" name="Google Shape;227;p49"/>
          <p:cNvSpPr/>
          <p:nvPr/>
        </p:nvSpPr>
        <p:spPr>
          <a:xfrm>
            <a:off x="202550" y="340341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200" b="0" i="0" u="none" strike="noStrike" cap="none">
              <a:solidFill>
                <a:srgbClr val="000000"/>
              </a:solidFill>
              <a:latin typeface="Nunito"/>
              <a:ea typeface="Nunito"/>
              <a:cs typeface="Nunito"/>
              <a:sym typeface="Nunito"/>
            </a:endParaRPr>
          </a:p>
        </p:txBody>
      </p:sp>
      <p:sp>
        <p:nvSpPr>
          <p:cNvPr id="228" name="Google Shape;228;p49"/>
          <p:cNvSpPr txBox="1"/>
          <p:nvPr/>
        </p:nvSpPr>
        <p:spPr>
          <a:xfrm>
            <a:off x="490928" y="3294780"/>
            <a:ext cx="56328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200" b="0" i="0" u="none" strike="noStrike" cap="none" dirty="0">
                <a:solidFill>
                  <a:srgbClr val="000000"/>
                </a:solidFill>
                <a:latin typeface="Montserrat"/>
                <a:ea typeface="Montserrat"/>
                <a:cs typeface="Montserrat"/>
                <a:sym typeface="Montserrat"/>
              </a:rPr>
              <a:t>Output Evaluation</a:t>
            </a:r>
            <a:endParaRPr sz="1200" b="0" i="0" u="none" strike="noStrike" cap="none" dirty="0">
              <a:solidFill>
                <a:srgbClr val="000000"/>
              </a:solidFill>
              <a:latin typeface="Montserrat"/>
              <a:ea typeface="Montserrat"/>
              <a:cs typeface="Montserrat"/>
              <a:sym typeface="Montserrat"/>
            </a:endParaRPr>
          </a:p>
        </p:txBody>
      </p:sp>
      <p:sp>
        <p:nvSpPr>
          <p:cNvPr id="4" name="Google Shape;228;p49">
            <a:extLst>
              <a:ext uri="{FF2B5EF4-FFF2-40B4-BE49-F238E27FC236}">
                <a16:creationId xmlns:a16="http://schemas.microsoft.com/office/drawing/2014/main" id="{9C238CAC-304A-73A9-2AAE-E3B1EF39E868}"/>
              </a:ext>
            </a:extLst>
          </p:cNvPr>
          <p:cNvSpPr txBox="1"/>
          <p:nvPr/>
        </p:nvSpPr>
        <p:spPr>
          <a:xfrm>
            <a:off x="490928" y="3694980"/>
            <a:ext cx="56328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200" b="0" i="0" u="none" strike="noStrike" cap="none" dirty="0">
                <a:solidFill>
                  <a:srgbClr val="000000"/>
                </a:solidFill>
                <a:latin typeface="Montserrat"/>
                <a:ea typeface="Montserrat"/>
                <a:cs typeface="Montserrat"/>
                <a:sym typeface="Montserrat"/>
              </a:rPr>
              <a:t>Actionable Business Insights</a:t>
            </a:r>
            <a:endParaRPr sz="1200" b="0" i="0" u="none" strike="noStrike" cap="none" dirty="0">
              <a:solidFill>
                <a:srgbClr val="000000"/>
              </a:solidFill>
              <a:latin typeface="Montserrat"/>
              <a:ea typeface="Montserrat"/>
              <a:cs typeface="Montserrat"/>
              <a:sym typeface="Montserrat"/>
            </a:endParaRPr>
          </a:p>
        </p:txBody>
      </p:sp>
      <p:sp>
        <p:nvSpPr>
          <p:cNvPr id="5" name="Google Shape;228;p49">
            <a:extLst>
              <a:ext uri="{FF2B5EF4-FFF2-40B4-BE49-F238E27FC236}">
                <a16:creationId xmlns:a16="http://schemas.microsoft.com/office/drawing/2014/main" id="{68D6529E-B91A-D8A9-FA57-21AB5BC3A5B8}"/>
              </a:ext>
            </a:extLst>
          </p:cNvPr>
          <p:cNvSpPr txBox="1"/>
          <p:nvPr/>
        </p:nvSpPr>
        <p:spPr>
          <a:xfrm>
            <a:off x="490928" y="4095180"/>
            <a:ext cx="56328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200" b="0" i="0" u="none" strike="noStrike" cap="none" dirty="0">
                <a:solidFill>
                  <a:srgbClr val="000000"/>
                </a:solidFill>
                <a:latin typeface="Montserrat"/>
                <a:ea typeface="Montserrat"/>
                <a:cs typeface="Montserrat"/>
                <a:sym typeface="Montserrat"/>
              </a:rPr>
              <a:t>Actionable Business Recommendations</a:t>
            </a:r>
            <a:endParaRPr sz="1200" b="0" i="0" u="none" strike="noStrike" cap="none" dirty="0">
              <a:solidFill>
                <a:srgbClr val="000000"/>
              </a:solidFill>
              <a:latin typeface="Montserrat"/>
              <a:ea typeface="Montserrat"/>
              <a:cs typeface="Montserrat"/>
              <a:sym typeface="Montserrat"/>
            </a:endParaRPr>
          </a:p>
        </p:txBody>
      </p:sp>
      <p:sp>
        <p:nvSpPr>
          <p:cNvPr id="6" name="Google Shape;228;p49">
            <a:extLst>
              <a:ext uri="{FF2B5EF4-FFF2-40B4-BE49-F238E27FC236}">
                <a16:creationId xmlns:a16="http://schemas.microsoft.com/office/drawing/2014/main" id="{B0A295EF-4D2C-86BF-47F7-BFFFBB24C6F2}"/>
              </a:ext>
            </a:extLst>
          </p:cNvPr>
          <p:cNvSpPr txBox="1"/>
          <p:nvPr/>
        </p:nvSpPr>
        <p:spPr>
          <a:xfrm>
            <a:off x="490928" y="4495380"/>
            <a:ext cx="56328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200" b="0" i="0" u="none" strike="noStrike" cap="none" dirty="0">
                <a:solidFill>
                  <a:srgbClr val="000000"/>
                </a:solidFill>
                <a:latin typeface="Montserrat"/>
                <a:ea typeface="Montserrat"/>
                <a:cs typeface="Montserrat"/>
                <a:sym typeface="Montserrat"/>
              </a:rPr>
              <a:t>Conclusion</a:t>
            </a:r>
            <a:endParaRPr sz="1200" b="0" i="0" u="none" strike="noStrike" cap="none" dirty="0">
              <a:solidFill>
                <a:srgbClr val="000000"/>
              </a:solidFill>
              <a:latin typeface="Montserrat"/>
              <a:ea typeface="Montserrat"/>
              <a:cs typeface="Montserrat"/>
              <a:sym typeface="Montserrat"/>
            </a:endParaRPr>
          </a:p>
        </p:txBody>
      </p:sp>
      <p:sp>
        <p:nvSpPr>
          <p:cNvPr id="7" name="Google Shape;220;p49">
            <a:extLst>
              <a:ext uri="{FF2B5EF4-FFF2-40B4-BE49-F238E27FC236}">
                <a16:creationId xmlns:a16="http://schemas.microsoft.com/office/drawing/2014/main" id="{AC9AC462-1C39-DD25-6FC1-3C4672705241}"/>
              </a:ext>
            </a:extLst>
          </p:cNvPr>
          <p:cNvSpPr txBox="1"/>
          <p:nvPr/>
        </p:nvSpPr>
        <p:spPr>
          <a:xfrm>
            <a:off x="490928" y="713706"/>
            <a:ext cx="56328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200" b="0" i="0" u="none" strike="noStrike" cap="none" dirty="0">
                <a:solidFill>
                  <a:srgbClr val="000000"/>
                </a:solidFill>
                <a:latin typeface="Montserrat"/>
                <a:ea typeface="Montserrat"/>
                <a:cs typeface="Montserrat"/>
                <a:sym typeface="Montserrat"/>
              </a:rPr>
              <a:t>Executive Summary</a:t>
            </a:r>
            <a:endParaRPr sz="1200" b="0" i="0" u="none" strike="noStrike" cap="none" dirty="0">
              <a:solidFill>
                <a:srgbClr val="000000"/>
              </a:solidFill>
              <a:latin typeface="Montserrat"/>
              <a:ea typeface="Montserrat"/>
              <a:cs typeface="Montserrat"/>
              <a:sym typeface="Montserrat"/>
            </a:endParaRPr>
          </a:p>
        </p:txBody>
      </p:sp>
      <p:sp>
        <p:nvSpPr>
          <p:cNvPr id="8" name="Google Shape;220;p49">
            <a:extLst>
              <a:ext uri="{FF2B5EF4-FFF2-40B4-BE49-F238E27FC236}">
                <a16:creationId xmlns:a16="http://schemas.microsoft.com/office/drawing/2014/main" id="{3676B441-6CA0-9E27-B04C-E0B704102353}"/>
              </a:ext>
            </a:extLst>
          </p:cNvPr>
          <p:cNvSpPr txBox="1"/>
          <p:nvPr/>
        </p:nvSpPr>
        <p:spPr>
          <a:xfrm>
            <a:off x="490928" y="1027070"/>
            <a:ext cx="5632800" cy="461635"/>
          </a:xfrm>
          <a:prstGeom prst="rect">
            <a:avLst/>
          </a:prstGeom>
          <a:noFill/>
          <a:ln>
            <a:noFill/>
          </a:ln>
        </p:spPr>
        <p:txBody>
          <a:bodyPr spcFirstLastPara="1" wrap="square" lIns="91425" tIns="91425" rIns="91425" bIns="91425" anchor="t" anchorCtr="0">
            <a:spAutoFit/>
          </a:bodyPr>
          <a:lstStyle/>
          <a:p>
            <a:pPr marL="0" marR="0" lvl="0" indent="0" algn="l" rtl="0">
              <a:lnSpc>
                <a:spcPct val="150000"/>
              </a:lnSpc>
              <a:spcBef>
                <a:spcPts val="0"/>
              </a:spcBef>
              <a:spcAft>
                <a:spcPts val="0"/>
              </a:spcAft>
              <a:buClr>
                <a:srgbClr val="000000"/>
              </a:buClr>
              <a:buSzPts val="1400"/>
              <a:buFont typeface="Arial"/>
              <a:buNone/>
            </a:pPr>
            <a:r>
              <a:rPr lang="en" sz="1200" b="0" i="0" u="none" strike="noStrike" cap="none" dirty="0">
                <a:solidFill>
                  <a:srgbClr val="000000"/>
                </a:solidFill>
                <a:latin typeface="Montserrat"/>
                <a:ea typeface="Montserrat"/>
                <a:cs typeface="Montserrat"/>
                <a:sym typeface="Montserrat"/>
              </a:rPr>
              <a:t>Business Problem Overview and Solution Approach</a:t>
            </a:r>
            <a:endParaRPr sz="1200" b="0" i="0" u="none" strike="noStrike" cap="none" dirty="0">
              <a:solidFill>
                <a:srgbClr val="000000"/>
              </a:solidFill>
              <a:latin typeface="Montserrat"/>
              <a:ea typeface="Montserrat"/>
              <a:cs typeface="Montserrat"/>
              <a:sym typeface="Montserrat"/>
            </a:endParaRPr>
          </a:p>
        </p:txBody>
      </p:sp>
      <p:sp>
        <p:nvSpPr>
          <p:cNvPr id="9" name="Google Shape;219;p49">
            <a:extLst>
              <a:ext uri="{FF2B5EF4-FFF2-40B4-BE49-F238E27FC236}">
                <a16:creationId xmlns:a16="http://schemas.microsoft.com/office/drawing/2014/main" id="{B89BC7AA-11F8-2ED1-21C1-E280E8B35DAA}"/>
              </a:ext>
            </a:extLst>
          </p:cNvPr>
          <p:cNvSpPr/>
          <p:nvPr/>
        </p:nvSpPr>
        <p:spPr>
          <a:xfrm>
            <a:off x="202550" y="90690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200" b="0" i="0" u="none" strike="noStrike" cap="none">
              <a:solidFill>
                <a:srgbClr val="000000"/>
              </a:solidFill>
              <a:latin typeface="Nunito"/>
              <a:ea typeface="Nunito"/>
              <a:cs typeface="Nunito"/>
              <a:sym typeface="Nunito"/>
            </a:endParaRPr>
          </a:p>
        </p:txBody>
      </p:sp>
      <p:sp>
        <p:nvSpPr>
          <p:cNvPr id="10" name="Google Shape;219;p49">
            <a:extLst>
              <a:ext uri="{FF2B5EF4-FFF2-40B4-BE49-F238E27FC236}">
                <a16:creationId xmlns:a16="http://schemas.microsoft.com/office/drawing/2014/main" id="{D89CBC6C-25A1-161D-B887-CB1E3FF9CE97}"/>
              </a:ext>
            </a:extLst>
          </p:cNvPr>
          <p:cNvSpPr/>
          <p:nvPr/>
        </p:nvSpPr>
        <p:spPr>
          <a:xfrm>
            <a:off x="202550" y="1210354"/>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200" b="0" i="0" u="none" strike="noStrike" cap="none">
              <a:solidFill>
                <a:srgbClr val="000000"/>
              </a:solidFill>
              <a:latin typeface="Nunito"/>
              <a:ea typeface="Nunito"/>
              <a:cs typeface="Nunito"/>
              <a:sym typeface="Nunito"/>
            </a:endParaRPr>
          </a:p>
        </p:txBody>
      </p:sp>
      <p:sp>
        <p:nvSpPr>
          <p:cNvPr id="11" name="Google Shape;227;p49">
            <a:extLst>
              <a:ext uri="{FF2B5EF4-FFF2-40B4-BE49-F238E27FC236}">
                <a16:creationId xmlns:a16="http://schemas.microsoft.com/office/drawing/2014/main" id="{3A08BC5D-6675-67B4-36D7-8743CD582968}"/>
              </a:ext>
            </a:extLst>
          </p:cNvPr>
          <p:cNvSpPr/>
          <p:nvPr/>
        </p:nvSpPr>
        <p:spPr>
          <a:xfrm>
            <a:off x="202550" y="3829197"/>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200" b="0" i="0" u="none" strike="noStrike" cap="none">
              <a:solidFill>
                <a:srgbClr val="000000"/>
              </a:solidFill>
              <a:latin typeface="Nunito"/>
              <a:ea typeface="Nunito"/>
              <a:cs typeface="Nunito"/>
              <a:sym typeface="Nunito"/>
            </a:endParaRPr>
          </a:p>
        </p:txBody>
      </p:sp>
      <p:sp>
        <p:nvSpPr>
          <p:cNvPr id="12" name="Google Shape;227;p49">
            <a:extLst>
              <a:ext uri="{FF2B5EF4-FFF2-40B4-BE49-F238E27FC236}">
                <a16:creationId xmlns:a16="http://schemas.microsoft.com/office/drawing/2014/main" id="{7434AC98-1595-9EFD-FA67-1BE394D73F64}"/>
              </a:ext>
            </a:extLst>
          </p:cNvPr>
          <p:cNvSpPr/>
          <p:nvPr/>
        </p:nvSpPr>
        <p:spPr>
          <a:xfrm>
            <a:off x="202550" y="4236596"/>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200" b="0" i="0" u="none" strike="noStrike" cap="none">
              <a:solidFill>
                <a:srgbClr val="000000"/>
              </a:solidFill>
              <a:latin typeface="Nunito"/>
              <a:ea typeface="Nunito"/>
              <a:cs typeface="Nunito"/>
              <a:sym typeface="Nunito"/>
            </a:endParaRPr>
          </a:p>
        </p:txBody>
      </p:sp>
      <p:sp>
        <p:nvSpPr>
          <p:cNvPr id="13" name="Google Shape;227;p49">
            <a:extLst>
              <a:ext uri="{FF2B5EF4-FFF2-40B4-BE49-F238E27FC236}">
                <a16:creationId xmlns:a16="http://schemas.microsoft.com/office/drawing/2014/main" id="{81647CB0-AC15-D50E-39C8-4724D62C5460}"/>
              </a:ext>
            </a:extLst>
          </p:cNvPr>
          <p:cNvSpPr/>
          <p:nvPr/>
        </p:nvSpPr>
        <p:spPr>
          <a:xfrm>
            <a:off x="202550" y="4629597"/>
            <a:ext cx="193200" cy="1932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200" b="0" i="0" u="none" strike="noStrike" cap="none">
              <a:solidFill>
                <a:srgbClr val="000000"/>
              </a:solidFill>
              <a:latin typeface="Nunito"/>
              <a:ea typeface="Nunito"/>
              <a:cs typeface="Nunito"/>
              <a:sym typeface="Nuni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232"/>
        <p:cNvGrpSpPr/>
        <p:nvPr/>
      </p:nvGrpSpPr>
      <p:grpSpPr>
        <a:xfrm>
          <a:off x="0" y="0"/>
          <a:ext cx="0" cy="0"/>
          <a:chOff x="0" y="0"/>
          <a:chExt cx="0" cy="0"/>
        </a:xfrm>
      </p:grpSpPr>
      <p:sp>
        <p:nvSpPr>
          <p:cNvPr id="233" name="Google Shape;233;p50"/>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Executive Summary</a:t>
            </a:r>
            <a:endParaRPr sz="2400" dirty="0">
              <a:solidFill>
                <a:srgbClr val="0E39A9"/>
              </a:solidFill>
            </a:endParaRPr>
          </a:p>
        </p:txBody>
      </p:sp>
      <p:sp>
        <p:nvSpPr>
          <p:cNvPr id="235" name="Google Shape;235;p50"/>
          <p:cNvSpPr txBox="1"/>
          <p:nvPr/>
        </p:nvSpPr>
        <p:spPr>
          <a:xfrm>
            <a:off x="202550" y="861979"/>
            <a:ext cx="8738900" cy="4247286"/>
          </a:xfrm>
          <a:prstGeom prst="rect">
            <a:avLst/>
          </a:prstGeom>
          <a:noFill/>
          <a:ln>
            <a:noFill/>
          </a:ln>
        </p:spPr>
        <p:txBody>
          <a:bodyPr spcFirstLastPara="1" wrap="square" lIns="91425" tIns="91425" rIns="91425" bIns="91425" anchor="t" anchorCtr="0">
            <a:spAutoFit/>
          </a:bodyPr>
          <a:lstStyle/>
          <a:p>
            <a:r>
              <a:rPr lang="en-US" sz="1100" dirty="0">
                <a:latin typeface="Nunito" pitchFamily="2" charset="77"/>
              </a:rPr>
              <a:t>Healthcare professionals must rapidly access accurate and trustworthy medical information while managing an ever-growing volume of clinical knowledge. Traditional search methods can be time-consuming, and general-purpose Large Language Models (LLMs) may generate responses that are incomplete or unsupported by authoritative medical sources.</a:t>
            </a:r>
          </a:p>
          <a:p>
            <a:r>
              <a:rPr lang="en-US" sz="1100" dirty="0">
                <a:latin typeface="Nunito" pitchFamily="2" charset="77"/>
              </a:rPr>
              <a:t>This project develops and evaluates a Retrieval-Augmented Generation (RAG) medical assistant using </a:t>
            </a:r>
            <a:r>
              <a:rPr lang="en-US" sz="1100" i="1" dirty="0">
                <a:latin typeface="Nunito" pitchFamily="2" charset="77"/>
              </a:rPr>
              <a:t>The Merck Manual of Diagnosis &amp; Therapy</a:t>
            </a:r>
            <a:r>
              <a:rPr lang="en-US" sz="1100" dirty="0">
                <a:latin typeface="Nunito" pitchFamily="2" charset="77"/>
              </a:rPr>
              <a:t> as the primary knowledge base. The solution compares standard LLM responses, prompt-engineered responses, and RAG-enhanced responses to determine which approach provides the most accurate, relevant, and grounded answers to common clinical questions.</a:t>
            </a:r>
          </a:p>
          <a:p>
            <a:endParaRPr lang="en-US" sz="1100" dirty="0">
              <a:latin typeface="Nunito" pitchFamily="2" charset="77"/>
            </a:endParaRPr>
          </a:p>
          <a:p>
            <a:r>
              <a:rPr lang="en-US" sz="1100" dirty="0">
                <a:latin typeface="Nunito" pitchFamily="2" charset="77"/>
              </a:rPr>
              <a:t>The RAG pipeline combines document retrieval, semantic search, and LLM reasoning to produce responses supported by authoritative medical literature. Multiple chunking strategies, retrieval parameters, prompt designs, and model settings are evaluated using </a:t>
            </a:r>
            <a:r>
              <a:rPr lang="en-US" sz="1100" dirty="0" err="1">
                <a:latin typeface="Nunito" pitchFamily="2" charset="77"/>
              </a:rPr>
              <a:t>groundedness</a:t>
            </a:r>
            <a:r>
              <a:rPr lang="en-US" sz="1100" dirty="0">
                <a:latin typeface="Nunito" pitchFamily="2" charset="77"/>
              </a:rPr>
              <a:t> and relevance metrics.</a:t>
            </a:r>
          </a:p>
          <a:p>
            <a:endParaRPr lang="en-US" sz="1100" dirty="0">
              <a:latin typeface="Nunito" pitchFamily="2" charset="77"/>
            </a:endParaRPr>
          </a:p>
          <a:p>
            <a:r>
              <a:rPr lang="en-US" sz="1100" b="1" dirty="0">
                <a:latin typeface="Nunito" pitchFamily="2" charset="77"/>
              </a:rPr>
              <a:t>Actionable Insights</a:t>
            </a:r>
          </a:p>
          <a:p>
            <a:pPr marL="171450" indent="-171450">
              <a:buFont typeface="Arial" panose="020B0604020202020204" pitchFamily="34" charset="0"/>
              <a:buChar char="•"/>
            </a:pPr>
            <a:r>
              <a:rPr lang="en-US" sz="1100" dirty="0">
                <a:latin typeface="Nunito" pitchFamily="2" charset="77"/>
              </a:rPr>
              <a:t>RAG significantly improves factual accuracy by grounding responses in trusted medical literature.</a:t>
            </a:r>
          </a:p>
          <a:p>
            <a:pPr marL="171450" indent="-171450">
              <a:buFont typeface="Arial" panose="020B0604020202020204" pitchFamily="34" charset="0"/>
              <a:buChar char="•"/>
            </a:pPr>
            <a:r>
              <a:rPr lang="en-US" sz="1100" dirty="0">
                <a:latin typeface="Nunito" pitchFamily="2" charset="77"/>
              </a:rPr>
              <a:t>Prompt engineering enhances answer quality but cannot fully eliminate hallucinations.</a:t>
            </a:r>
          </a:p>
          <a:p>
            <a:pPr marL="171450" indent="-171450">
              <a:buFont typeface="Arial" panose="020B0604020202020204" pitchFamily="34" charset="0"/>
              <a:buChar char="•"/>
            </a:pPr>
            <a:r>
              <a:rPr lang="en-US" sz="1100" dirty="0">
                <a:latin typeface="Nunito" pitchFamily="2" charset="77"/>
              </a:rPr>
              <a:t>Retrieval quality (chunk size, overlap, embedding model, and </a:t>
            </a:r>
            <a:r>
              <a:rPr lang="en-US" sz="1100" i="1" dirty="0">
                <a:latin typeface="Nunito" pitchFamily="2" charset="77"/>
              </a:rPr>
              <a:t>k</a:t>
            </a:r>
            <a:r>
              <a:rPr lang="en-US" sz="1100" dirty="0">
                <a:latin typeface="Nunito" pitchFamily="2" charset="77"/>
              </a:rPr>
              <a:t> value) directly impacts response accuracy.</a:t>
            </a:r>
          </a:p>
          <a:p>
            <a:pPr marL="171450" indent="-171450">
              <a:buFont typeface="Arial" panose="020B0604020202020204" pitchFamily="34" charset="0"/>
              <a:buChar char="•"/>
            </a:pPr>
            <a:r>
              <a:rPr lang="en-US" sz="1100" dirty="0" err="1">
                <a:latin typeface="Nunito" pitchFamily="2" charset="77"/>
              </a:rPr>
              <a:t>Groundedness</a:t>
            </a:r>
            <a:r>
              <a:rPr lang="en-US" sz="1100" dirty="0">
                <a:latin typeface="Nunito" pitchFamily="2" charset="77"/>
              </a:rPr>
              <a:t> and relevance evaluations provide an objective method for validating AI-generated medical responses.</a:t>
            </a:r>
          </a:p>
          <a:p>
            <a:pPr marL="171450" indent="-171450">
              <a:buFont typeface="Arial" panose="020B0604020202020204" pitchFamily="34" charset="0"/>
              <a:buChar char="•"/>
            </a:pPr>
            <a:r>
              <a:rPr lang="en-US" sz="1100" dirty="0">
                <a:latin typeface="Nunito" pitchFamily="2" charset="77"/>
              </a:rPr>
              <a:t>RAG-based assistants should serve as clinical decision-support tools while maintaining physician oversight for patient care decisions.</a:t>
            </a:r>
          </a:p>
          <a:p>
            <a:endParaRPr lang="en-US" sz="1100" b="1" dirty="0">
              <a:latin typeface="Nunito" pitchFamily="2" charset="77"/>
            </a:endParaRPr>
          </a:p>
          <a:p>
            <a:r>
              <a:rPr lang="en-US" sz="1100" b="1" dirty="0">
                <a:latin typeface="Nunito" pitchFamily="2" charset="77"/>
              </a:rPr>
              <a:t>Recommendations</a:t>
            </a:r>
          </a:p>
          <a:p>
            <a:pPr marL="171450" indent="-171450">
              <a:buFont typeface="Arial" panose="020B0604020202020204" pitchFamily="34" charset="0"/>
              <a:buChar char="•"/>
            </a:pPr>
            <a:r>
              <a:rPr lang="en-US" sz="1100" dirty="0">
                <a:latin typeface="Nunito" pitchFamily="2" charset="77"/>
              </a:rPr>
              <a:t>Deploy RAG-based knowledge assistants to improve clinician efficiency and reduce information retrieval time.</a:t>
            </a:r>
          </a:p>
          <a:p>
            <a:pPr marL="171450" indent="-171450">
              <a:buFont typeface="Arial" panose="020B0604020202020204" pitchFamily="34" charset="0"/>
              <a:buChar char="•"/>
            </a:pPr>
            <a:r>
              <a:rPr lang="en-US" sz="1100" dirty="0">
                <a:latin typeface="Nunito" pitchFamily="2" charset="77"/>
              </a:rPr>
              <a:t>Use authoritative medical references such as the Merck Manual to minimize unsupported responses.</a:t>
            </a:r>
          </a:p>
          <a:p>
            <a:pPr marL="171450" indent="-171450">
              <a:buFont typeface="Arial" panose="020B0604020202020204" pitchFamily="34" charset="0"/>
              <a:buChar char="•"/>
            </a:pPr>
            <a:r>
              <a:rPr lang="en-US" sz="1100" dirty="0">
                <a:latin typeface="Nunito" pitchFamily="2" charset="77"/>
              </a:rPr>
              <a:t>Continuously update the knowledge base with current clinical guidelines and medical literature.</a:t>
            </a:r>
          </a:p>
          <a:p>
            <a:pPr marL="171450" indent="-171450">
              <a:buFont typeface="Arial" panose="020B0604020202020204" pitchFamily="34" charset="0"/>
              <a:buChar char="•"/>
            </a:pPr>
            <a:r>
              <a:rPr lang="en-US" sz="1100" dirty="0">
                <a:latin typeface="Nunito" pitchFamily="2" charset="77"/>
              </a:rPr>
              <a:t>Incorporate automated evaluation metrics and human clinical review before deployment in healthcare settings.</a:t>
            </a: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239"/>
        <p:cNvGrpSpPr/>
        <p:nvPr/>
      </p:nvGrpSpPr>
      <p:grpSpPr>
        <a:xfrm>
          <a:off x="0" y="0"/>
          <a:ext cx="0" cy="0"/>
          <a:chOff x="0" y="0"/>
          <a:chExt cx="0" cy="0"/>
        </a:xfrm>
      </p:grpSpPr>
      <p:sp>
        <p:nvSpPr>
          <p:cNvPr id="240" name="Google Shape;240;p51"/>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Business Problem Overview and Solution Approach</a:t>
            </a:r>
            <a:endParaRPr sz="2400" dirty="0">
              <a:solidFill>
                <a:srgbClr val="0E39A9"/>
              </a:solidFill>
            </a:endParaRPr>
          </a:p>
        </p:txBody>
      </p:sp>
      <p:sp>
        <p:nvSpPr>
          <p:cNvPr id="3" name="TextBox 2">
            <a:extLst>
              <a:ext uri="{FF2B5EF4-FFF2-40B4-BE49-F238E27FC236}">
                <a16:creationId xmlns:a16="http://schemas.microsoft.com/office/drawing/2014/main" id="{DD0A0460-8FFD-A85C-AE39-CC1DC44845A5}"/>
              </a:ext>
            </a:extLst>
          </p:cNvPr>
          <p:cNvSpPr txBox="1"/>
          <p:nvPr/>
        </p:nvSpPr>
        <p:spPr>
          <a:xfrm>
            <a:off x="202550" y="946295"/>
            <a:ext cx="8302300" cy="3477875"/>
          </a:xfrm>
          <a:prstGeom prst="rect">
            <a:avLst/>
          </a:prstGeom>
          <a:noFill/>
        </p:spPr>
        <p:txBody>
          <a:bodyPr wrap="square">
            <a:spAutoFit/>
          </a:bodyPr>
          <a:lstStyle/>
          <a:p>
            <a:r>
              <a:rPr lang="en-US" sz="1000" b="1" dirty="0">
                <a:latin typeface="Nunito" pitchFamily="2" charset="77"/>
              </a:rPr>
              <a:t>Business Problem</a:t>
            </a:r>
          </a:p>
          <a:p>
            <a:r>
              <a:rPr lang="en-US" sz="1000" dirty="0">
                <a:latin typeface="Nunito" pitchFamily="2" charset="77"/>
              </a:rPr>
              <a:t>Healthcare professionals must make timely, evidence-based decisions while navigating thousands of pages of medical literature, treatment guidelines, and diagnostic references. During emergencies and complex clinical cases, locating accurate information quickly is essential for improving patient outcomes.</a:t>
            </a:r>
          </a:p>
          <a:p>
            <a:endParaRPr lang="en-US" sz="1000" dirty="0">
              <a:latin typeface="Nunito" pitchFamily="2" charset="77"/>
            </a:endParaRPr>
          </a:p>
          <a:p>
            <a:r>
              <a:rPr lang="en-US" sz="1000" dirty="0">
                <a:latin typeface="Nunito" pitchFamily="2" charset="77"/>
              </a:rPr>
              <a:t>Although Large Language Models (LLMs) can answer medical questions, they may produce hallucinations or rely on outdated knowledge because their responses are generated from learned patterns rather than directly from trusted medical references. This creates challenges in healthcare, where accuracy and traceability are critical.</a:t>
            </a:r>
          </a:p>
          <a:p>
            <a:endParaRPr lang="en-US" sz="1000" b="1" dirty="0">
              <a:latin typeface="Nunito" pitchFamily="2" charset="77"/>
            </a:endParaRPr>
          </a:p>
          <a:p>
            <a:r>
              <a:rPr lang="en-US" sz="1000" b="1" dirty="0">
                <a:latin typeface="Nunito" pitchFamily="2" charset="77"/>
              </a:rPr>
              <a:t>Solution Approach</a:t>
            </a:r>
          </a:p>
          <a:p>
            <a:r>
              <a:rPr lang="en-US" sz="1000" dirty="0">
                <a:latin typeface="Nunito" pitchFamily="2" charset="77"/>
              </a:rPr>
              <a:t>To address this challenge, this project builds a Retrieval-Augmented Generation (RAG) medical assistant using </a:t>
            </a:r>
            <a:r>
              <a:rPr lang="en-US" sz="1000" i="1" dirty="0">
                <a:latin typeface="Nunito" pitchFamily="2" charset="77"/>
              </a:rPr>
              <a:t>The Merck Manual of Diagnosis &amp; Therapy</a:t>
            </a:r>
            <a:r>
              <a:rPr lang="en-US" sz="1000" dirty="0">
                <a:latin typeface="Nunito" pitchFamily="2" charset="77"/>
              </a:rPr>
              <a:t> as the knowledge source.</a:t>
            </a:r>
          </a:p>
          <a:p>
            <a:endParaRPr lang="en-US" sz="1000" dirty="0">
              <a:latin typeface="Nunito" pitchFamily="2" charset="77"/>
            </a:endParaRPr>
          </a:p>
          <a:p>
            <a:r>
              <a:rPr lang="en-US" sz="1000" dirty="0">
                <a:latin typeface="Nunito" pitchFamily="2" charset="77"/>
              </a:rPr>
              <a:t>The solution consists of five stages:</a:t>
            </a:r>
          </a:p>
          <a:p>
            <a:pPr marL="228600" indent="-228600">
              <a:buFont typeface="+mj-lt"/>
              <a:buAutoNum type="arabicPeriod"/>
            </a:pPr>
            <a:r>
              <a:rPr lang="en-US" sz="1000" dirty="0">
                <a:latin typeface="Nunito" pitchFamily="2" charset="77"/>
              </a:rPr>
              <a:t>Generate baseline answers using an LLM.</a:t>
            </a:r>
          </a:p>
          <a:p>
            <a:pPr marL="228600" indent="-228600">
              <a:buFont typeface="+mj-lt"/>
              <a:buAutoNum type="arabicPeriod"/>
            </a:pPr>
            <a:r>
              <a:rPr lang="en-US" sz="1000" dirty="0">
                <a:latin typeface="Nunito" pitchFamily="2" charset="77"/>
              </a:rPr>
              <a:t>Improve responses through prompt engineering and parameter tuning.</a:t>
            </a:r>
          </a:p>
          <a:p>
            <a:pPr marL="228600" indent="-228600">
              <a:buFont typeface="+mj-lt"/>
              <a:buAutoNum type="arabicPeriod"/>
            </a:pPr>
            <a:r>
              <a:rPr lang="en-US" sz="1000" dirty="0">
                <a:latin typeface="Nunito" pitchFamily="2" charset="77"/>
              </a:rPr>
              <a:t>Build a RAG pipeline by chunking the Merck Manual, generating embeddings, storing them in a vector database, and retrieving relevant passages.</a:t>
            </a:r>
          </a:p>
          <a:p>
            <a:pPr marL="228600" indent="-228600">
              <a:buFont typeface="+mj-lt"/>
              <a:buAutoNum type="arabicPeriod"/>
            </a:pPr>
            <a:r>
              <a:rPr lang="en-US" sz="1000" dirty="0">
                <a:latin typeface="Nunito" pitchFamily="2" charset="77"/>
              </a:rPr>
              <a:t>Compare multiple RAG configurations by tuning chunk size, chunk overlap, retrieval (</a:t>
            </a:r>
            <a:r>
              <a:rPr lang="en-US" sz="1000" i="1" dirty="0">
                <a:latin typeface="Nunito" pitchFamily="2" charset="77"/>
              </a:rPr>
              <a:t>k</a:t>
            </a:r>
            <a:r>
              <a:rPr lang="en-US" sz="1000" dirty="0">
                <a:latin typeface="Nunito" pitchFamily="2" charset="77"/>
              </a:rPr>
              <a:t>), temperature, and maximum token settings.</a:t>
            </a:r>
          </a:p>
          <a:p>
            <a:pPr marL="228600" indent="-228600">
              <a:buFont typeface="+mj-lt"/>
              <a:buAutoNum type="arabicPeriod"/>
            </a:pPr>
            <a:r>
              <a:rPr lang="en-US" sz="1000" dirty="0">
                <a:latin typeface="Nunito" pitchFamily="2" charset="77"/>
              </a:rPr>
              <a:t>Evaluate all responses using </a:t>
            </a:r>
            <a:r>
              <a:rPr lang="en-US" sz="1000" dirty="0" err="1">
                <a:latin typeface="Nunito" pitchFamily="2" charset="77"/>
              </a:rPr>
              <a:t>groundedness</a:t>
            </a:r>
            <a:r>
              <a:rPr lang="en-US" sz="1000" dirty="0">
                <a:latin typeface="Nunito" pitchFamily="2" charset="77"/>
              </a:rPr>
              <a:t> and relevance metrics to determine the most accurate and reliable configuration.</a:t>
            </a:r>
          </a:p>
          <a:p>
            <a:r>
              <a:rPr lang="en-US" sz="1000" dirty="0">
                <a:latin typeface="Nunito" pitchFamily="2" charset="77"/>
              </a:rPr>
              <a:t>The final prototype demonstrates how RAG can improve clinical decision support by providing faster, more accurate, and evidence-based responses while reducing the likelihood of hallucinations.</a:t>
            </a: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248"/>
        <p:cNvGrpSpPr/>
        <p:nvPr/>
      </p:nvGrpSpPr>
      <p:grpSpPr>
        <a:xfrm>
          <a:off x="0" y="0"/>
          <a:ext cx="0" cy="0"/>
          <a:chOff x="0" y="0"/>
          <a:chExt cx="0" cy="0"/>
        </a:xfrm>
      </p:grpSpPr>
      <p:sp>
        <p:nvSpPr>
          <p:cNvPr id="250" name="Google Shape;250;p52"/>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pic>
        <p:nvPicPr>
          <p:cNvPr id="5" name="Picture 4">
            <a:extLst>
              <a:ext uri="{FF2B5EF4-FFF2-40B4-BE49-F238E27FC236}">
                <a16:creationId xmlns:a16="http://schemas.microsoft.com/office/drawing/2014/main" id="{A54BABB9-9DFD-2659-96C4-128A66E6CA71}"/>
              </a:ext>
            </a:extLst>
          </p:cNvPr>
          <p:cNvPicPr>
            <a:picLocks noChangeAspect="1"/>
          </p:cNvPicPr>
          <p:nvPr/>
        </p:nvPicPr>
        <p:blipFill>
          <a:blip r:embed="rId3"/>
          <a:stretch>
            <a:fillRect/>
          </a:stretch>
        </p:blipFill>
        <p:spPr>
          <a:xfrm>
            <a:off x="1270153" y="2006600"/>
            <a:ext cx="5333847" cy="1166779"/>
          </a:xfrm>
          <a:prstGeom prst="rect">
            <a:avLst/>
          </a:prstGeom>
        </p:spPr>
      </p:pic>
      <p:sp>
        <p:nvSpPr>
          <p:cNvPr id="6" name="ModelCard">
            <a:extLst>
              <a:ext uri="{FF2B5EF4-FFF2-40B4-BE49-F238E27FC236}">
                <a16:creationId xmlns:a16="http://schemas.microsoft.com/office/drawing/2014/main" id="{551FD403-D9EB-1242-9D36-A373D2F6D2C1}"/>
              </a:ext>
            </a:extLst>
          </p:cNvPr>
          <p:cNvSpPr/>
          <p:nvPr/>
        </p:nvSpPr>
        <p:spPr>
          <a:xfrm>
            <a:off x="203200" y="990600"/>
            <a:ext cx="8737600" cy="457200"/>
          </a:xfrm>
          <a:prstGeom prst="roundRect">
            <a:avLst/>
          </a:prstGeom>
          <a:solidFill>
            <a:srgbClr val="F1F3FB"/>
          </a:solidFill>
          <a:ln w="12700" cap="flat" cmpd="sng" algn="ctr">
            <a:solidFill>
              <a:srgbClr val="0E39A9"/>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lstStyle/>
          <a:p>
            <a:pPr algn="ctr">
              <a:buNone/>
            </a:pPr>
            <a:r>
              <a:rPr lang="en-US" sz="1200" b="1" dirty="0">
                <a:solidFill>
                  <a:srgbClr val="0E39A9"/>
                </a:solidFill>
              </a:rPr>
              <a:t>Model:  </a:t>
            </a:r>
            <a:r>
              <a:rPr lang="en-US" sz="1200" dirty="0">
                <a:solidFill>
                  <a:srgbClr val="222222"/>
                </a:solidFill>
              </a:rPr>
              <a:t>Mistral-7B-Instruct-v0.2 (GGUF Q6_K)        </a:t>
            </a:r>
            <a:r>
              <a:rPr lang="en-US" sz="1200" b="1" dirty="0">
                <a:solidFill>
                  <a:srgbClr val="0E39A9"/>
                </a:solidFill>
              </a:rPr>
              <a:t>Source:  </a:t>
            </a:r>
            <a:r>
              <a:rPr lang="en-US" sz="1200" dirty="0">
                <a:solidFill>
                  <a:srgbClr val="222222"/>
                </a:solidFill>
              </a:rPr>
              <a:t>Hugging Face – TheBloke</a:t>
            </a:r>
          </a:p>
        </p:txBody>
      </p:sp>
      <p:sp>
        <p:nvSpPr>
          <p:cNvPr id="7" name="QAContent">
            <a:extLst>
              <a:ext uri="{FF2B5EF4-FFF2-40B4-BE49-F238E27FC236}">
                <a16:creationId xmlns:a16="http://schemas.microsoft.com/office/drawing/2014/main" id="{3994A3EE-C114-964B-A7EA-D2319AAA1967}"/>
              </a:ext>
            </a:extLst>
          </p:cNvPr>
          <p:cNvSpPr txBox="1"/>
          <p:nvPr/>
        </p:nvSpPr>
        <p:spPr>
          <a:xfrm>
            <a:off x="203200" y="2971800"/>
            <a:ext cx="8737600" cy="2057400"/>
          </a:xfrm>
          <a:prstGeom prst="rect">
            <a:avLst/>
          </a:prstGeom>
          <a:noFill/>
        </p:spPr>
        <p:txBody>
          <a:bodyPr vertOverflow="overflow" vert="horz" wrap="square" rtlCol="0" anchor="t">
            <a:spAutoFit/>
          </a:bodyPr>
          <a:lstStyle/>
          <a:p>
            <a:pPr>
              <a:spcAft>
                <a:spcPts val="200"/>
              </a:spcAft>
              <a:buNone/>
            </a:pPr>
            <a:r>
              <a:rPr lang="en-US" sz="1100" b="1" dirty="0">
                <a:solidFill>
                  <a:srgbClr val="0E39A9"/>
                </a:solidFill>
              </a:rPr>
              <a:t>RESPONSE</a:t>
            </a:r>
          </a:p>
          <a:p>
            <a:pPr>
              <a:spcAft>
                <a:spcPts val="500"/>
              </a:spcAft>
              <a:buNone/>
            </a:pPr>
            <a:r>
              <a:rPr lang="en-US" sz="1100" dirty="0">
                <a:solidFill>
                  <a:srgbClr val="222222"/>
                </a:solidFill>
              </a:rPr>
              <a:t>Hypertension, or high blood pressure, is a common condition that can increase the risk of health problems such as heart disease, stroke, and kidney damage. There are several effective treatment options to help manage it and reduce complications. The most commonly used include: 1. Lifestyle modifications — often the first line of defense: eating a healthy diet rich in fruits, vegetables, whole grains, and lean proteins; limiting sodium intake; getting regular physical activity…</a:t>
            </a:r>
          </a:p>
          <a:p>
            <a:pPr>
              <a:spcAft>
                <a:spcPts val="200"/>
              </a:spcAft>
              <a:buNone/>
            </a:pPr>
            <a:r>
              <a:rPr lang="en-US" sz="1100" b="1" dirty="0">
                <a:solidFill>
                  <a:srgbClr val="C77700"/>
                </a:solidFill>
              </a:rPr>
              <a:t>COMMENTS / OBSERVATIONS</a:t>
            </a:r>
          </a:p>
          <a:p>
            <a:pPr>
              <a:buNone/>
            </a:pPr>
            <a:r>
              <a:rPr lang="en-US" sz="1100" i="1" dirty="0">
                <a:solidFill>
                  <a:srgbClr val="222222"/>
                </a:solidFill>
              </a:rPr>
              <a:t>Accurate, well-structured, and patient-friendly — opens with risk context before listing treatments. Limitation: the response is truncated mid-sentence and never reaches medication options (diuretics, ACE inhibitors, etc.). Raising the max output-token limit would produce a complete answer.</a:t>
            </a:r>
          </a:p>
        </p:txBody>
      </p:sp>
      <p:sp>
        <p:nvSpPr>
          <p:cNvPr id="2" name="QuestionBox">
            <a:extLst>
              <a:ext uri="{FF2B5EF4-FFF2-40B4-BE49-F238E27FC236}">
                <a16:creationId xmlns:a16="http://schemas.microsoft.com/office/drawing/2014/main" id="{781CFEF3-70B8-F24C-A61A-F30FDDE3C0AB}"/>
              </a:ext>
            </a:extLst>
          </p:cNvPr>
          <p:cNvSpPr txBox="1"/>
          <p:nvPr/>
        </p:nvSpPr>
        <p:spPr>
          <a:xfrm>
            <a:off x="203200" y="1473200"/>
            <a:ext cx="8737600" cy="292388"/>
          </a:xfrm>
          <a:prstGeom prst="rect">
            <a:avLst/>
          </a:prstGeom>
          <a:noFill/>
        </p:spPr>
        <p:txBody>
          <a:bodyPr vertOverflow="overflow" vert="horz" wrap="square" rtlCol="0" anchor="t">
            <a:spAutoFit/>
          </a:bodyPr>
          <a:lstStyle/>
          <a:p>
            <a:pPr>
              <a:buNone/>
            </a:pPr>
            <a:r>
              <a:rPr lang="en-US" sz="1100" b="1" dirty="0">
                <a:solidFill>
                  <a:srgbClr val="6F4294"/>
                </a:solidFill>
              </a:rPr>
              <a:t>QUESTION  </a:t>
            </a:r>
            <a:r>
              <a:rPr lang="en-US" sz="1300" b="1" dirty="0">
                <a:solidFill>
                  <a:srgbClr val="222222"/>
                </a:solidFill>
              </a:rPr>
              <a:t>What treatment options are available for managing hypertension?</a:t>
            </a:r>
          </a:p>
        </p:txBody>
      </p:sp>
    </p:spTree>
    <p:extLst>
      <p:ext uri="{BB962C8B-B14F-4D97-AF65-F5344CB8AC3E}">
        <p14:creationId xmlns:p14="http://schemas.microsoft.com/office/powerpoint/2010/main" val="95999749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8B86FA78-8FF2-6530-90E9-62D7919BFA85}"/>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FB08FAAF-2A52-9E23-9322-D039A8ACB7DB}"/>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sp>
        <p:nvSpPr>
          <p:cNvPr id="6" name="ModelCard">
            <a:extLst>
              <a:ext uri="{FF2B5EF4-FFF2-40B4-BE49-F238E27FC236}">
                <a16:creationId xmlns:a16="http://schemas.microsoft.com/office/drawing/2014/main" id="{63603BAC-33E9-03DE-825F-C2874B05CCD5}"/>
              </a:ext>
            </a:extLst>
          </p:cNvPr>
          <p:cNvSpPr/>
          <p:nvPr/>
        </p:nvSpPr>
        <p:spPr>
          <a:xfrm>
            <a:off x="203200" y="990600"/>
            <a:ext cx="8737600" cy="457200"/>
          </a:xfrm>
          <a:prstGeom prst="roundRect">
            <a:avLst/>
          </a:prstGeom>
          <a:solidFill>
            <a:srgbClr val="F1F3FB"/>
          </a:solidFill>
          <a:ln w="12700" cap="flat" cmpd="sng" algn="ctr">
            <a:solidFill>
              <a:srgbClr val="0E39A9"/>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lstStyle/>
          <a:p>
            <a:pPr algn="ctr">
              <a:buNone/>
            </a:pPr>
            <a:r>
              <a:rPr lang="en-US" sz="1200" b="1" dirty="0">
                <a:solidFill>
                  <a:srgbClr val="0E39A9"/>
                </a:solidFill>
              </a:rPr>
              <a:t>Model:  </a:t>
            </a:r>
            <a:r>
              <a:rPr lang="en-US" sz="1200" dirty="0">
                <a:solidFill>
                  <a:srgbClr val="222222"/>
                </a:solidFill>
              </a:rPr>
              <a:t>Mistral-7B-Instruct-v0.2 (GGUF Q6_K)        </a:t>
            </a:r>
            <a:r>
              <a:rPr lang="en-US" sz="1200" b="1" dirty="0">
                <a:solidFill>
                  <a:srgbClr val="0E39A9"/>
                </a:solidFill>
              </a:rPr>
              <a:t>Source:  </a:t>
            </a:r>
            <a:r>
              <a:rPr lang="en-US" sz="1200" dirty="0">
                <a:solidFill>
                  <a:srgbClr val="222222"/>
                </a:solidFill>
              </a:rPr>
              <a:t>Hugging Face – TheBloke</a:t>
            </a:r>
          </a:p>
        </p:txBody>
      </p:sp>
      <p:sp>
        <p:nvSpPr>
          <p:cNvPr id="7" name="QAContent">
            <a:extLst>
              <a:ext uri="{FF2B5EF4-FFF2-40B4-BE49-F238E27FC236}">
                <a16:creationId xmlns:a16="http://schemas.microsoft.com/office/drawing/2014/main" id="{262377DC-03E7-25F5-0E0C-607DD0129B19}"/>
              </a:ext>
            </a:extLst>
          </p:cNvPr>
          <p:cNvSpPr txBox="1"/>
          <p:nvPr/>
        </p:nvSpPr>
        <p:spPr>
          <a:xfrm>
            <a:off x="203200" y="3365500"/>
            <a:ext cx="8737600" cy="787400"/>
          </a:xfrm>
          <a:prstGeom prst="rect">
            <a:avLst/>
          </a:prstGeom>
          <a:noFill/>
        </p:spPr>
        <p:txBody>
          <a:bodyPr vertOverflow="overflow" vert="horz" wrap="square" rtlCol="0" anchor="t">
            <a:spAutoFit/>
          </a:bodyPr>
          <a:lstStyle/>
          <a:p>
            <a:pPr>
              <a:spcAft>
                <a:spcPts val="200"/>
              </a:spcAft>
              <a:buNone/>
            </a:pPr>
            <a:r>
              <a:rPr lang="en-US" sz="1100" b="1" dirty="0">
                <a:solidFill>
                  <a:srgbClr val="0E39A9"/>
                </a:solidFill>
              </a:rPr>
              <a:t>RESPONSE</a:t>
            </a:r>
          </a:p>
          <a:p>
            <a:pPr>
              <a:spcAft>
                <a:spcPts val="500"/>
              </a:spcAft>
              <a:buNone/>
            </a:pPr>
            <a:r>
              <a:rPr lang="en-US" sz="1100" dirty="0">
                <a:solidFill>
                  <a:srgbClr val="222222"/>
                </a:solidFill>
              </a:rPr>
              <a:t>Sepsis is a life-threatening condition that can arise from an infection and requires prompt recognition and aggressive management in a critical care unit. General steps include: 1. Early recognition — recognize the signs and symptoms of sepsis early and initiate treatment as soon as possible. Sepsis can present with various clinical features, including fever or hypothermia, tachycardia or bradycardia, altered mental status, respiratory distress, and lactic acidosis. 2. Resusc…</a:t>
            </a:r>
          </a:p>
          <a:p>
            <a:pPr>
              <a:spcAft>
                <a:spcPts val="200"/>
              </a:spcAft>
              <a:buNone/>
            </a:pPr>
            <a:r>
              <a:rPr lang="en-US" sz="1100" b="1" dirty="0">
                <a:solidFill>
                  <a:srgbClr val="C77700"/>
                </a:solidFill>
              </a:rPr>
              <a:t>COMMENTS / OBSERVATIONS</a:t>
            </a:r>
          </a:p>
          <a:p>
            <a:pPr>
              <a:buNone/>
            </a:pPr>
            <a:r>
              <a:rPr lang="en-US" sz="1100" i="1" dirty="0">
                <a:solidFill>
                  <a:srgbClr val="222222"/>
                </a:solidFill>
              </a:rPr>
              <a:t>Clinically sound and correctly prioritizes early recognition, listing relevant presenting features for a critical-care audience. Limitation: the response is truncated mid-list at step 2 (resuscitation) and omits later protocol steps such as fluid resuscitation, broad-spectrum antibiotics, source control, and vasopressors. Raising the max output-token limit would capture the full protocol.</a:t>
            </a:r>
          </a:p>
        </p:txBody>
      </p:sp>
      <p:sp>
        <p:nvSpPr>
          <p:cNvPr id="2" name="QuestionBox">
            <a:extLst>
              <a:ext uri="{FF2B5EF4-FFF2-40B4-BE49-F238E27FC236}">
                <a16:creationId xmlns:a16="http://schemas.microsoft.com/office/drawing/2014/main" id="{0796F0A4-CD8C-4885-FEE9-6745E87AF08A}"/>
              </a:ext>
            </a:extLst>
          </p:cNvPr>
          <p:cNvSpPr txBox="1"/>
          <p:nvPr/>
        </p:nvSpPr>
        <p:spPr>
          <a:xfrm>
            <a:off x="203200" y="1473200"/>
            <a:ext cx="8737600" cy="507831"/>
          </a:xfrm>
          <a:prstGeom prst="rect">
            <a:avLst/>
          </a:prstGeom>
          <a:noFill/>
        </p:spPr>
        <p:txBody>
          <a:bodyPr vertOverflow="overflow" vert="horz" wrap="square" rtlCol="0" anchor="t">
            <a:spAutoFit/>
          </a:bodyPr>
          <a:lstStyle/>
          <a:p>
            <a:r>
              <a:rPr lang="en-US" sz="1100" b="1" dirty="0">
                <a:solidFill>
                  <a:srgbClr val="6F4294"/>
                </a:solidFill>
              </a:rPr>
              <a:t>QUESTION 1  </a:t>
            </a:r>
            <a:r>
              <a:rPr lang="en-US" b="1" dirty="0"/>
              <a:t>What is the protocol for managing sepsis in a critical care unit?</a:t>
            </a:r>
          </a:p>
          <a:p>
            <a:pPr>
              <a:buNone/>
            </a:pPr>
            <a:endParaRPr lang="en-US" sz="1300" b="1" dirty="0">
              <a:solidFill>
                <a:srgbClr val="222222"/>
              </a:solidFill>
            </a:endParaRPr>
          </a:p>
        </p:txBody>
      </p:sp>
      <p:pic>
        <p:nvPicPr>
          <p:cNvPr id="5" name="Picture 4">
            <a:extLst>
              <a:ext uri="{FF2B5EF4-FFF2-40B4-BE49-F238E27FC236}">
                <a16:creationId xmlns:a16="http://schemas.microsoft.com/office/drawing/2014/main" id="{9BBAFFD9-4FB5-852C-6971-884BE9369C18}"/>
              </a:ext>
            </a:extLst>
          </p:cNvPr>
          <p:cNvPicPr>
            <a:picLocks noChangeAspect="1"/>
          </p:cNvPicPr>
          <p:nvPr/>
        </p:nvPicPr>
        <p:blipFill>
          <a:blip r:embed="rId3"/>
          <a:stretch>
            <a:fillRect/>
          </a:stretch>
        </p:blipFill>
        <p:spPr>
          <a:xfrm>
            <a:off x="2350052" y="1776589"/>
            <a:ext cx="5362713" cy="1590322"/>
          </a:xfrm>
          <a:prstGeom prst="rect">
            <a:avLst/>
          </a:prstGeom>
        </p:spPr>
      </p:pic>
    </p:spTree>
    <p:extLst>
      <p:ext uri="{BB962C8B-B14F-4D97-AF65-F5344CB8AC3E}">
        <p14:creationId xmlns:p14="http://schemas.microsoft.com/office/powerpoint/2010/main" val="204393581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6FB23613-136C-3B7E-C3B5-B75B0FC9CEC5}"/>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C94D7140-65F9-5116-1F09-E45EF8D68EF6}"/>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sp>
        <p:nvSpPr>
          <p:cNvPr id="6" name="ModelCard">
            <a:extLst>
              <a:ext uri="{FF2B5EF4-FFF2-40B4-BE49-F238E27FC236}">
                <a16:creationId xmlns:a16="http://schemas.microsoft.com/office/drawing/2014/main" id="{3EA92178-D3E9-857C-443B-17FE6FF14D8E}"/>
              </a:ext>
            </a:extLst>
          </p:cNvPr>
          <p:cNvSpPr/>
          <p:nvPr/>
        </p:nvSpPr>
        <p:spPr>
          <a:xfrm>
            <a:off x="203200" y="990600"/>
            <a:ext cx="8737600" cy="457200"/>
          </a:xfrm>
          <a:prstGeom prst="roundRect">
            <a:avLst/>
          </a:prstGeom>
          <a:solidFill>
            <a:srgbClr val="F1F3FB"/>
          </a:solidFill>
          <a:ln w="12700" cap="flat" cmpd="sng" algn="ctr">
            <a:solidFill>
              <a:srgbClr val="0E39A9"/>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lstStyle/>
          <a:p>
            <a:pPr algn="ctr">
              <a:buNone/>
            </a:pPr>
            <a:r>
              <a:rPr lang="en-US" sz="1200" b="1" dirty="0">
                <a:solidFill>
                  <a:srgbClr val="0E39A9"/>
                </a:solidFill>
              </a:rPr>
              <a:t>Model:  </a:t>
            </a:r>
            <a:r>
              <a:rPr lang="en-US" sz="1200" dirty="0">
                <a:solidFill>
                  <a:srgbClr val="222222"/>
                </a:solidFill>
              </a:rPr>
              <a:t>Mistral-7B-Instruct-v0.2 (GGUF Q6_K)        </a:t>
            </a:r>
            <a:r>
              <a:rPr lang="en-US" sz="1200" b="1" dirty="0">
                <a:solidFill>
                  <a:srgbClr val="0E39A9"/>
                </a:solidFill>
              </a:rPr>
              <a:t>Source:  </a:t>
            </a:r>
            <a:r>
              <a:rPr lang="en-US" sz="1200" dirty="0">
                <a:solidFill>
                  <a:srgbClr val="222222"/>
                </a:solidFill>
              </a:rPr>
              <a:t>Hugging Face – TheBloke</a:t>
            </a:r>
          </a:p>
        </p:txBody>
      </p:sp>
      <p:sp>
        <p:nvSpPr>
          <p:cNvPr id="7" name="QAContent">
            <a:extLst>
              <a:ext uri="{FF2B5EF4-FFF2-40B4-BE49-F238E27FC236}">
                <a16:creationId xmlns:a16="http://schemas.microsoft.com/office/drawing/2014/main" id="{C0AAD02C-2EEA-6BD2-0851-52BB24F32793}"/>
              </a:ext>
            </a:extLst>
          </p:cNvPr>
          <p:cNvSpPr txBox="1"/>
          <p:nvPr/>
        </p:nvSpPr>
        <p:spPr>
          <a:xfrm>
            <a:off x="202550" y="3795643"/>
            <a:ext cx="8737600" cy="964367"/>
          </a:xfrm>
          <a:prstGeom prst="rect">
            <a:avLst/>
          </a:prstGeom>
          <a:noFill/>
        </p:spPr>
        <p:txBody>
          <a:bodyPr vertOverflow="overflow" vert="horz" wrap="square" rtlCol="0" anchor="t">
            <a:spAutoFit/>
          </a:bodyPr>
          <a:lstStyle/>
          <a:p>
            <a:pPr>
              <a:spcAft>
                <a:spcPts val="200"/>
              </a:spcAft>
              <a:buNone/>
            </a:pPr>
            <a:r>
              <a:rPr lang="en-US" sz="1100" b="1" dirty="0">
                <a:solidFill>
                  <a:srgbClr val="C77700"/>
                </a:solidFill>
              </a:rPr>
              <a:t>COMMENTS / OBSERVATIONS</a:t>
            </a:r>
          </a:p>
          <a:p>
            <a:pPr>
              <a:buNone/>
            </a:pPr>
            <a:r>
              <a:rPr lang="en-US" sz="1100" i="1" dirty="0">
                <a:solidFill>
                  <a:srgbClr val="222222"/>
                </a:solidFill>
              </a:rPr>
              <a:t>Accurately defines appendicitis and clearly describes the hallmark migrating abdominal pain. However, this complete response only partially answers the question: it covers a single symptom and does not address the other two parts asked — whether appendicitis can be treated with medication, and the surgical procedure (appendectomy) used to treat it. A fuller answer would explicitly cover both treatment and surgery.</a:t>
            </a:r>
          </a:p>
        </p:txBody>
      </p:sp>
      <p:sp>
        <p:nvSpPr>
          <p:cNvPr id="2" name="QuestionBox">
            <a:extLst>
              <a:ext uri="{FF2B5EF4-FFF2-40B4-BE49-F238E27FC236}">
                <a16:creationId xmlns:a16="http://schemas.microsoft.com/office/drawing/2014/main" id="{C5480374-35EC-54C1-D508-4121A2419189}"/>
              </a:ext>
            </a:extLst>
          </p:cNvPr>
          <p:cNvSpPr txBox="1"/>
          <p:nvPr/>
        </p:nvSpPr>
        <p:spPr>
          <a:xfrm>
            <a:off x="203200" y="1473200"/>
            <a:ext cx="8737600" cy="492443"/>
          </a:xfrm>
          <a:prstGeom prst="rect">
            <a:avLst/>
          </a:prstGeom>
          <a:noFill/>
        </p:spPr>
        <p:txBody>
          <a:bodyPr vertOverflow="overflow" vert="horz" wrap="square" rtlCol="0" anchor="t">
            <a:spAutoFit/>
          </a:bodyPr>
          <a:lstStyle/>
          <a:p>
            <a:pPr>
              <a:buNone/>
            </a:pPr>
            <a:r>
              <a:rPr lang="en-US" sz="1100" b="1" dirty="0">
                <a:solidFill>
                  <a:srgbClr val="6F4294"/>
                </a:solidFill>
              </a:rPr>
              <a:t>QUESTION 2    </a:t>
            </a:r>
            <a:r>
              <a:rPr lang="en-US" sz="1300" b="1" dirty="0">
                <a:solidFill>
                  <a:srgbClr val="222222"/>
                </a:solidFill>
              </a:rPr>
              <a:t>What are the common symptoms for appendicitis, and can it be cured via medicine? If not, what surgical procedure should be followed to treat it?</a:t>
            </a:r>
          </a:p>
        </p:txBody>
      </p:sp>
      <p:pic>
        <p:nvPicPr>
          <p:cNvPr id="4" name="Picture 3">
            <a:extLst>
              <a:ext uri="{FF2B5EF4-FFF2-40B4-BE49-F238E27FC236}">
                <a16:creationId xmlns:a16="http://schemas.microsoft.com/office/drawing/2014/main" id="{EED41C98-5C3E-E810-DABA-2128BF6F1D66}"/>
              </a:ext>
            </a:extLst>
          </p:cNvPr>
          <p:cNvPicPr>
            <a:picLocks noChangeAspect="1"/>
          </p:cNvPicPr>
          <p:nvPr/>
        </p:nvPicPr>
        <p:blipFill>
          <a:blip r:embed="rId3"/>
          <a:stretch>
            <a:fillRect/>
          </a:stretch>
        </p:blipFill>
        <p:spPr>
          <a:xfrm>
            <a:off x="4648200" y="2032000"/>
            <a:ext cx="4292600" cy="1511300"/>
          </a:xfrm>
          <a:prstGeom prst="rect">
            <a:avLst/>
          </a:prstGeom>
        </p:spPr>
      </p:pic>
      <p:sp>
        <p:nvSpPr>
          <p:cNvPr id="3" name="ResponseBox">
            <a:extLst>
              <a:ext uri="{FF2B5EF4-FFF2-40B4-BE49-F238E27FC236}">
                <a16:creationId xmlns:a16="http://schemas.microsoft.com/office/drawing/2014/main" id="{534544B2-96B6-314C-BF85-BFA3D230A435}"/>
              </a:ext>
            </a:extLst>
          </p:cNvPr>
          <p:cNvSpPr txBox="1"/>
          <p:nvPr/>
        </p:nvSpPr>
        <p:spPr>
          <a:xfrm>
            <a:off x="203200" y="2006600"/>
            <a:ext cx="4292600" cy="1641475"/>
          </a:xfrm>
          <a:prstGeom prst="rect">
            <a:avLst/>
          </a:prstGeom>
          <a:noFill/>
        </p:spPr>
        <p:txBody>
          <a:bodyPr vertOverflow="overflow" vert="horz" wrap="square" rtlCol="0" anchor="t">
            <a:spAutoFit/>
          </a:bodyPr>
          <a:lstStyle/>
          <a:p>
            <a:pPr>
              <a:spcAft>
                <a:spcPts val="200"/>
              </a:spcAft>
              <a:buNone/>
            </a:pPr>
            <a:r>
              <a:rPr lang="en-US" sz="1100" b="1" dirty="0">
                <a:solidFill>
                  <a:srgbClr val="0E39A9"/>
                </a:solidFill>
              </a:rPr>
              <a:t>RESPONSE</a:t>
            </a:r>
          </a:p>
          <a:p>
            <a:pPr>
              <a:buNone/>
            </a:pPr>
            <a:r>
              <a:rPr lang="en-US" sz="1100" dirty="0">
                <a:solidFill>
                  <a:srgbClr val="222222"/>
                </a:solidFill>
              </a:rPr>
              <a:t>Appendicitis is a medical condition characterized by inflammation of the appendix, a small tube-shaped organ located in the lower right side of the abdomen. Common signs include: 1. Abdominal pain — may start as mild discomfort around the navel or lower right abdomen, then gradually moves to the right lower quadrant and becomes more severe over time. The pain may be constant or intermittent and is often worsened by movement, coughing, or deep breathing.</a:t>
            </a:r>
          </a:p>
        </p:txBody>
      </p:sp>
    </p:spTree>
    <p:extLst>
      <p:ext uri="{BB962C8B-B14F-4D97-AF65-F5344CB8AC3E}">
        <p14:creationId xmlns:p14="http://schemas.microsoft.com/office/powerpoint/2010/main" val="539368583"/>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09493C44-F49D-34E5-239A-C1019D51C828}"/>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93EACE35-802C-3E8A-72C8-846A67B6CBB6}"/>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sp>
        <p:nvSpPr>
          <p:cNvPr id="6" name="ModelCard">
            <a:extLst>
              <a:ext uri="{FF2B5EF4-FFF2-40B4-BE49-F238E27FC236}">
                <a16:creationId xmlns:a16="http://schemas.microsoft.com/office/drawing/2014/main" id="{AB6DE7A7-C4D7-66E5-7A7D-E72C1232D8DC}"/>
              </a:ext>
            </a:extLst>
          </p:cNvPr>
          <p:cNvSpPr/>
          <p:nvPr/>
        </p:nvSpPr>
        <p:spPr>
          <a:xfrm>
            <a:off x="203200" y="990600"/>
            <a:ext cx="8737600" cy="457200"/>
          </a:xfrm>
          <a:prstGeom prst="roundRect">
            <a:avLst/>
          </a:prstGeom>
          <a:solidFill>
            <a:srgbClr val="F1F3FB"/>
          </a:solidFill>
          <a:ln w="12700" cap="flat" cmpd="sng" algn="ctr">
            <a:solidFill>
              <a:srgbClr val="0E39A9"/>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lstStyle/>
          <a:p>
            <a:pPr algn="ctr">
              <a:buNone/>
            </a:pPr>
            <a:r>
              <a:rPr lang="en-US" sz="1200" b="1" dirty="0">
                <a:solidFill>
                  <a:srgbClr val="0E39A9"/>
                </a:solidFill>
              </a:rPr>
              <a:t>Model:  </a:t>
            </a:r>
            <a:r>
              <a:rPr lang="en-US" sz="1200" dirty="0">
                <a:solidFill>
                  <a:srgbClr val="222222"/>
                </a:solidFill>
              </a:rPr>
              <a:t>Mistral-7B-Instruct-v0.2 (GGUF Q6_K)        </a:t>
            </a:r>
            <a:r>
              <a:rPr lang="en-US" sz="1200" b="1" dirty="0">
                <a:solidFill>
                  <a:srgbClr val="0E39A9"/>
                </a:solidFill>
              </a:rPr>
              <a:t>Source:  </a:t>
            </a:r>
            <a:r>
              <a:rPr lang="en-US" sz="1200" dirty="0">
                <a:solidFill>
                  <a:srgbClr val="222222"/>
                </a:solidFill>
              </a:rPr>
              <a:t>Hugging Face – TheBloke</a:t>
            </a:r>
          </a:p>
        </p:txBody>
      </p:sp>
      <p:sp>
        <p:nvSpPr>
          <p:cNvPr id="7" name="QAContent">
            <a:extLst>
              <a:ext uri="{FF2B5EF4-FFF2-40B4-BE49-F238E27FC236}">
                <a16:creationId xmlns:a16="http://schemas.microsoft.com/office/drawing/2014/main" id="{062121D7-A40E-BC21-79E6-5C7DB96A5F85}"/>
              </a:ext>
            </a:extLst>
          </p:cNvPr>
          <p:cNvSpPr txBox="1"/>
          <p:nvPr/>
        </p:nvSpPr>
        <p:spPr>
          <a:xfrm>
            <a:off x="202550" y="3962400"/>
            <a:ext cx="8737600" cy="795089"/>
          </a:xfrm>
          <a:prstGeom prst="rect">
            <a:avLst/>
          </a:prstGeom>
          <a:noFill/>
        </p:spPr>
        <p:txBody>
          <a:bodyPr vertOverflow="overflow" vert="horz" wrap="square" rtlCol="0" anchor="t">
            <a:spAutoFit/>
          </a:bodyPr>
          <a:lstStyle/>
          <a:p>
            <a:pPr>
              <a:spcAft>
                <a:spcPts val="200"/>
              </a:spcAft>
              <a:buNone/>
            </a:pPr>
            <a:r>
              <a:rPr lang="en-US" sz="1100" b="1" dirty="0">
                <a:solidFill>
                  <a:srgbClr val="C77700"/>
                </a:solidFill>
              </a:rPr>
              <a:t>COMMENTS / OBSERVATIONS</a:t>
            </a:r>
          </a:p>
          <a:p>
            <a:pPr>
              <a:buNone/>
            </a:pPr>
            <a:r>
              <a:rPr lang="en-US" sz="1100" i="1" dirty="0">
                <a:solidFill>
                  <a:srgbClr val="222222"/>
                </a:solidFill>
              </a:rPr>
              <a:t>Accurate and well-written: correctly identifies the condition as alopecia areata, an autoimmune disorder, and lists plausible triggers (stress, genetics, infections, medications). Gap: the response is complete but answers only the 'causes' half of the question — it never provides the treatments or solutions that were asked for.</a:t>
            </a:r>
          </a:p>
        </p:txBody>
      </p:sp>
      <p:sp>
        <p:nvSpPr>
          <p:cNvPr id="2" name="QuestionBox">
            <a:extLst>
              <a:ext uri="{FF2B5EF4-FFF2-40B4-BE49-F238E27FC236}">
                <a16:creationId xmlns:a16="http://schemas.microsoft.com/office/drawing/2014/main" id="{E72F6C67-CDAE-7FFA-6C68-033451AEE27A}"/>
              </a:ext>
            </a:extLst>
          </p:cNvPr>
          <p:cNvSpPr txBox="1"/>
          <p:nvPr/>
        </p:nvSpPr>
        <p:spPr>
          <a:xfrm>
            <a:off x="203200" y="1473200"/>
            <a:ext cx="8737600" cy="492443"/>
          </a:xfrm>
          <a:prstGeom prst="rect">
            <a:avLst/>
          </a:prstGeom>
          <a:noFill/>
        </p:spPr>
        <p:txBody>
          <a:bodyPr vertOverflow="overflow" vert="horz" wrap="square" rtlCol="0" anchor="t">
            <a:spAutoFit/>
          </a:bodyPr>
          <a:lstStyle/>
          <a:p>
            <a:pPr>
              <a:buNone/>
            </a:pPr>
            <a:r>
              <a:rPr lang="en-US" sz="1100" b="1" dirty="0">
                <a:solidFill>
                  <a:srgbClr val="6F4294"/>
                </a:solidFill>
              </a:rPr>
              <a:t>QUESTION 3    </a:t>
            </a:r>
            <a:r>
              <a:rPr lang="en-US" sz="1300" b="1" dirty="0">
                <a:solidFill>
                  <a:srgbClr val="222222"/>
                </a:solidFill>
              </a:rPr>
              <a:t>What are the effective treatments or solutions for addressing sudden patchy hair loss, commonly seen as localized bald spots on the scalp, and what could be the possible causes behind it?</a:t>
            </a:r>
          </a:p>
        </p:txBody>
      </p:sp>
      <p:sp>
        <p:nvSpPr>
          <p:cNvPr id="3" name="ResponseBox">
            <a:extLst>
              <a:ext uri="{FF2B5EF4-FFF2-40B4-BE49-F238E27FC236}">
                <a16:creationId xmlns:a16="http://schemas.microsoft.com/office/drawing/2014/main" id="{157DAF2B-B1AF-0475-2F07-6459C8DDD868}"/>
              </a:ext>
            </a:extLst>
          </p:cNvPr>
          <p:cNvSpPr txBox="1"/>
          <p:nvPr/>
        </p:nvSpPr>
        <p:spPr>
          <a:xfrm>
            <a:off x="203200" y="2286000"/>
            <a:ext cx="4292600" cy="1625600"/>
          </a:xfrm>
          <a:prstGeom prst="rect">
            <a:avLst/>
          </a:prstGeom>
          <a:noFill/>
        </p:spPr>
        <p:txBody>
          <a:bodyPr vertOverflow="overflow" vert="horz" wrap="square" rtlCol="0" anchor="t">
            <a:spAutoFit/>
          </a:bodyPr>
          <a:lstStyle/>
          <a:p>
            <a:pPr>
              <a:spcAft>
                <a:spcPts val="200"/>
              </a:spcAft>
              <a:buNone/>
            </a:pPr>
            <a:r>
              <a:rPr lang="en-US" sz="1100" b="1" dirty="0">
                <a:solidFill>
                  <a:srgbClr val="0E39A9"/>
                </a:solidFill>
              </a:rPr>
              <a:t>RESPONSE</a:t>
            </a:r>
          </a:p>
          <a:p>
            <a:pPr>
              <a:buNone/>
            </a:pPr>
            <a:r>
              <a:rPr lang="en-US" sz="1100" dirty="0">
                <a:solidFill>
                  <a:srgbClr val="222222"/>
                </a:solidFill>
              </a:rPr>
              <a:t>Sudden patchy hair loss, also known as alopecia areata, is a common autoimmune disorder that affects the hair follicles. It can result in round or oval bald patches on the scalp, but can also occur on other parts of the body such as the beard area, eyebrows, or eyelashes. The exact cause is not known, but it is believed to relate to a problem with the immune system. Possible triggers include stress, genetics, viral infections, and certain medications.</a:t>
            </a:r>
          </a:p>
        </p:txBody>
      </p:sp>
      <p:pic>
        <p:nvPicPr>
          <p:cNvPr id="8" name="Picture 7">
            <a:extLst>
              <a:ext uri="{FF2B5EF4-FFF2-40B4-BE49-F238E27FC236}">
                <a16:creationId xmlns:a16="http://schemas.microsoft.com/office/drawing/2014/main" id="{19E0D5D3-83FE-FBCB-0346-CD1D0745B059}"/>
              </a:ext>
            </a:extLst>
          </p:cNvPr>
          <p:cNvPicPr>
            <a:picLocks noChangeAspect="1"/>
          </p:cNvPicPr>
          <p:nvPr/>
        </p:nvPicPr>
        <p:blipFill>
          <a:blip r:embed="rId3"/>
          <a:stretch>
            <a:fillRect/>
          </a:stretch>
        </p:blipFill>
        <p:spPr>
          <a:xfrm>
            <a:off x="4813300" y="2286000"/>
            <a:ext cx="3975100" cy="1524000"/>
          </a:xfrm>
          <a:prstGeom prst="rect">
            <a:avLst/>
          </a:prstGeom>
        </p:spPr>
      </p:pic>
    </p:spTree>
    <p:extLst>
      <p:ext uri="{BB962C8B-B14F-4D97-AF65-F5344CB8AC3E}">
        <p14:creationId xmlns:p14="http://schemas.microsoft.com/office/powerpoint/2010/main" val="398938329"/>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4B012461-CF5E-1602-F803-8C054C57254F}"/>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45034E28-2AC3-FA36-4CB8-4D437486416D}"/>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sp>
        <p:nvSpPr>
          <p:cNvPr id="6" name="ModelCard">
            <a:extLst>
              <a:ext uri="{FF2B5EF4-FFF2-40B4-BE49-F238E27FC236}">
                <a16:creationId xmlns:a16="http://schemas.microsoft.com/office/drawing/2014/main" id="{2832BF2B-47BC-830D-5EBD-07E2DE4442D1}"/>
              </a:ext>
            </a:extLst>
          </p:cNvPr>
          <p:cNvSpPr/>
          <p:nvPr/>
        </p:nvSpPr>
        <p:spPr>
          <a:xfrm>
            <a:off x="203200" y="990600"/>
            <a:ext cx="8737600" cy="457200"/>
          </a:xfrm>
          <a:prstGeom prst="roundRect">
            <a:avLst/>
          </a:prstGeom>
          <a:solidFill>
            <a:srgbClr val="F1F3FB"/>
          </a:solidFill>
          <a:ln w="12700" cap="flat" cmpd="sng" algn="ctr">
            <a:solidFill>
              <a:srgbClr val="0E39A9"/>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lstStyle/>
          <a:p>
            <a:pPr algn="ctr">
              <a:buNone/>
            </a:pPr>
            <a:r>
              <a:rPr lang="en-US" sz="1200" b="1" dirty="0">
                <a:solidFill>
                  <a:srgbClr val="0E39A9"/>
                </a:solidFill>
              </a:rPr>
              <a:t>Model:  </a:t>
            </a:r>
            <a:r>
              <a:rPr lang="en-US" sz="1200" dirty="0">
                <a:solidFill>
                  <a:srgbClr val="222222"/>
                </a:solidFill>
              </a:rPr>
              <a:t>Mistral-7B-Instruct-v0.2 (GGUF Q6_K)        </a:t>
            </a:r>
            <a:r>
              <a:rPr lang="en-US" sz="1200" b="1" dirty="0">
                <a:solidFill>
                  <a:srgbClr val="0E39A9"/>
                </a:solidFill>
              </a:rPr>
              <a:t>Source:  </a:t>
            </a:r>
            <a:r>
              <a:rPr lang="en-US" sz="1200" dirty="0">
                <a:solidFill>
                  <a:srgbClr val="222222"/>
                </a:solidFill>
              </a:rPr>
              <a:t>Hugging Face – TheBloke</a:t>
            </a:r>
          </a:p>
        </p:txBody>
      </p:sp>
      <p:sp>
        <p:nvSpPr>
          <p:cNvPr id="7" name="QAContent">
            <a:extLst>
              <a:ext uri="{FF2B5EF4-FFF2-40B4-BE49-F238E27FC236}">
                <a16:creationId xmlns:a16="http://schemas.microsoft.com/office/drawing/2014/main" id="{B176A4FB-C919-7E52-7E04-836FFCC7D75E}"/>
              </a:ext>
            </a:extLst>
          </p:cNvPr>
          <p:cNvSpPr txBox="1"/>
          <p:nvPr/>
        </p:nvSpPr>
        <p:spPr>
          <a:xfrm>
            <a:off x="202550" y="3987800"/>
            <a:ext cx="8737600" cy="964367"/>
          </a:xfrm>
          <a:prstGeom prst="rect">
            <a:avLst/>
          </a:prstGeom>
          <a:noFill/>
        </p:spPr>
        <p:txBody>
          <a:bodyPr vertOverflow="overflow" vert="horz" wrap="square" rtlCol="0" anchor="t">
            <a:spAutoFit/>
          </a:bodyPr>
          <a:lstStyle/>
          <a:p>
            <a:pPr>
              <a:spcAft>
                <a:spcPts val="200"/>
              </a:spcAft>
              <a:buNone/>
            </a:pPr>
            <a:r>
              <a:rPr lang="en-US" sz="1100" b="1" dirty="0">
                <a:solidFill>
                  <a:srgbClr val="C77700"/>
                </a:solidFill>
              </a:rPr>
              <a:t>COMMENTS / OBSERVATIONS</a:t>
            </a:r>
          </a:p>
          <a:p>
            <a:pPr>
              <a:buNone/>
            </a:pPr>
            <a:r>
              <a:rPr lang="en-US" sz="1100" i="1" dirty="0">
                <a:solidFill>
                  <a:srgbClr val="222222"/>
                </a:solidFill>
              </a:rPr>
              <a:t>Strong, well-organized clinical answer: correctly frames the injury as a TBI and structures treatment by priority — emergency airway/breathing/circulation and surgical evacuation of hematomas, followed by medications. Limitation: the response is truncated mid-sentence at step 2 (“conditions such as…”) and never reaches the full medication list or later steps such as rehabilitation. Raising the output-token limit would complete the answer.</a:t>
            </a:r>
          </a:p>
        </p:txBody>
      </p:sp>
      <p:sp>
        <p:nvSpPr>
          <p:cNvPr id="2" name="QuestionBox">
            <a:extLst>
              <a:ext uri="{FF2B5EF4-FFF2-40B4-BE49-F238E27FC236}">
                <a16:creationId xmlns:a16="http://schemas.microsoft.com/office/drawing/2014/main" id="{A11EB457-D27B-50C7-CD9E-7EF1FF3223E1}"/>
              </a:ext>
            </a:extLst>
          </p:cNvPr>
          <p:cNvSpPr txBox="1"/>
          <p:nvPr/>
        </p:nvSpPr>
        <p:spPr>
          <a:xfrm>
            <a:off x="203200" y="1473200"/>
            <a:ext cx="8737600" cy="508000"/>
          </a:xfrm>
          <a:prstGeom prst="rect">
            <a:avLst/>
          </a:prstGeom>
          <a:noFill/>
        </p:spPr>
        <p:txBody>
          <a:bodyPr vertOverflow="overflow" vert="horz" wrap="square" rtlCol="0" anchor="t">
            <a:spAutoFit/>
          </a:bodyPr>
          <a:lstStyle/>
          <a:p>
            <a:pPr>
              <a:buNone/>
            </a:pPr>
            <a:r>
              <a:rPr lang="en-US" sz="1100" b="1" dirty="0">
                <a:solidFill>
                  <a:srgbClr val="6F4294"/>
                </a:solidFill>
              </a:rPr>
              <a:t>QUESTION 4    </a:t>
            </a:r>
            <a:r>
              <a:rPr lang="en-US" sz="1300" b="1" dirty="0">
                <a:solidFill>
                  <a:srgbClr val="222222"/>
                </a:solidFill>
              </a:rPr>
              <a:t>What treatments are recommended for a person who has sustained a physical injury to brain tissue, resulting in temporary or permanent impairment of brain function?</a:t>
            </a:r>
          </a:p>
        </p:txBody>
      </p:sp>
      <p:sp>
        <p:nvSpPr>
          <p:cNvPr id="3" name="ResponseBox">
            <a:extLst>
              <a:ext uri="{FF2B5EF4-FFF2-40B4-BE49-F238E27FC236}">
                <a16:creationId xmlns:a16="http://schemas.microsoft.com/office/drawing/2014/main" id="{9452C0DE-87B5-38D0-866C-5ABC8F3CA8E5}"/>
              </a:ext>
            </a:extLst>
          </p:cNvPr>
          <p:cNvSpPr txBox="1"/>
          <p:nvPr/>
        </p:nvSpPr>
        <p:spPr>
          <a:xfrm>
            <a:off x="203200" y="2057400"/>
            <a:ext cx="4292600" cy="1641475"/>
          </a:xfrm>
          <a:prstGeom prst="rect">
            <a:avLst/>
          </a:prstGeom>
          <a:noFill/>
        </p:spPr>
        <p:txBody>
          <a:bodyPr vertOverflow="overflow" vert="horz" wrap="square" rtlCol="0" anchor="t">
            <a:spAutoFit/>
          </a:bodyPr>
          <a:lstStyle/>
          <a:p>
            <a:pPr>
              <a:spcAft>
                <a:spcPts val="200"/>
              </a:spcAft>
              <a:buNone/>
            </a:pPr>
            <a:r>
              <a:rPr lang="en-US" sz="1100" b="1" dirty="0">
                <a:solidFill>
                  <a:srgbClr val="0E39A9"/>
                </a:solidFill>
              </a:rPr>
              <a:t>RESPONSE</a:t>
            </a:r>
          </a:p>
          <a:p>
            <a:pPr>
              <a:buNone/>
            </a:pPr>
            <a:r>
              <a:rPr lang="en-US" sz="1100" dirty="0">
                <a:solidFill>
                  <a:srgbClr val="222222"/>
                </a:solidFill>
              </a:rPr>
              <a:t>A person who has sustained a physical injury to brain tissue — a traumatic brain injury (TBI) — may require various treatments depending on the severity and location of the injury. Common treatments include: 1. Emergency care — ensure the airway is clear, the person is breathing, and the heart is beating normally; in severe cases, emergency surgery may remove hematomas or other obstructions. 2. Medications — depending on symptoms, medications may be prescribed to manage conditions such as…</a:t>
            </a:r>
          </a:p>
        </p:txBody>
      </p:sp>
      <p:pic>
        <p:nvPicPr>
          <p:cNvPr id="5" name="Picture 4">
            <a:extLst>
              <a:ext uri="{FF2B5EF4-FFF2-40B4-BE49-F238E27FC236}">
                <a16:creationId xmlns:a16="http://schemas.microsoft.com/office/drawing/2014/main" id="{9F5243C7-A809-DCE4-5316-0386EB3392DE}"/>
              </a:ext>
            </a:extLst>
          </p:cNvPr>
          <p:cNvPicPr>
            <a:picLocks noChangeAspect="1"/>
          </p:cNvPicPr>
          <p:nvPr/>
        </p:nvPicPr>
        <p:blipFill>
          <a:blip r:embed="rId3"/>
          <a:stretch>
            <a:fillRect/>
          </a:stretch>
        </p:blipFill>
        <p:spPr>
          <a:xfrm>
            <a:off x="4749800" y="2057400"/>
            <a:ext cx="4089400" cy="1454618"/>
          </a:xfrm>
          <a:prstGeom prst="rect">
            <a:avLst/>
          </a:prstGeom>
        </p:spPr>
      </p:pic>
    </p:spTree>
    <p:extLst>
      <p:ext uri="{BB962C8B-B14F-4D97-AF65-F5344CB8AC3E}">
        <p14:creationId xmlns:p14="http://schemas.microsoft.com/office/powerpoint/2010/main" val="396104974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9F789DDE-72FF-81B2-54C0-A7ECDBD57CD8}"/>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975141B7-DBF1-B762-7A5E-7E6478A2EF2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sp>
        <p:nvSpPr>
          <p:cNvPr id="6" name="ModelCard">
            <a:extLst>
              <a:ext uri="{FF2B5EF4-FFF2-40B4-BE49-F238E27FC236}">
                <a16:creationId xmlns:a16="http://schemas.microsoft.com/office/drawing/2014/main" id="{620584DC-EBF4-8469-33B1-42665FAE3A49}"/>
              </a:ext>
            </a:extLst>
          </p:cNvPr>
          <p:cNvSpPr/>
          <p:nvPr/>
        </p:nvSpPr>
        <p:spPr>
          <a:xfrm>
            <a:off x="203200" y="990600"/>
            <a:ext cx="8737600" cy="457200"/>
          </a:xfrm>
          <a:prstGeom prst="roundRect">
            <a:avLst/>
          </a:prstGeom>
          <a:solidFill>
            <a:srgbClr val="F1F3FB"/>
          </a:solidFill>
          <a:ln w="12700" cap="flat" cmpd="sng" algn="ctr">
            <a:solidFill>
              <a:srgbClr val="0E39A9"/>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lstStyle/>
          <a:p>
            <a:pPr algn="ctr">
              <a:buNone/>
            </a:pPr>
            <a:r>
              <a:rPr lang="en-US" sz="1200" b="1" dirty="0">
                <a:solidFill>
                  <a:srgbClr val="0E39A9"/>
                </a:solidFill>
              </a:rPr>
              <a:t>Model:  </a:t>
            </a:r>
            <a:r>
              <a:rPr lang="en-US" sz="1200" dirty="0">
                <a:solidFill>
                  <a:srgbClr val="222222"/>
                </a:solidFill>
              </a:rPr>
              <a:t>Mistral-7B-Instruct-v0.2 (GGUF Q6_K)        </a:t>
            </a:r>
            <a:r>
              <a:rPr lang="en-US" sz="1200" b="1" dirty="0">
                <a:solidFill>
                  <a:srgbClr val="0E39A9"/>
                </a:solidFill>
              </a:rPr>
              <a:t>Source:  </a:t>
            </a:r>
            <a:r>
              <a:rPr lang="en-US" sz="1200" dirty="0">
                <a:solidFill>
                  <a:srgbClr val="222222"/>
                </a:solidFill>
              </a:rPr>
              <a:t>Hugging Face – TheBloke</a:t>
            </a:r>
          </a:p>
        </p:txBody>
      </p:sp>
      <p:sp>
        <p:nvSpPr>
          <p:cNvPr id="7" name="QAContent">
            <a:extLst>
              <a:ext uri="{FF2B5EF4-FFF2-40B4-BE49-F238E27FC236}">
                <a16:creationId xmlns:a16="http://schemas.microsoft.com/office/drawing/2014/main" id="{5CF1DBCA-8BA3-BB22-CA63-66EE2AE1239A}"/>
              </a:ext>
            </a:extLst>
          </p:cNvPr>
          <p:cNvSpPr txBox="1"/>
          <p:nvPr/>
        </p:nvSpPr>
        <p:spPr>
          <a:xfrm>
            <a:off x="202550" y="4064000"/>
            <a:ext cx="8737600" cy="795089"/>
          </a:xfrm>
          <a:prstGeom prst="rect">
            <a:avLst/>
          </a:prstGeom>
          <a:noFill/>
        </p:spPr>
        <p:txBody>
          <a:bodyPr vertOverflow="overflow" vert="horz" wrap="square" rtlCol="0" anchor="t">
            <a:spAutoFit/>
          </a:bodyPr>
          <a:lstStyle/>
          <a:p>
            <a:pPr>
              <a:spcAft>
                <a:spcPts val="200"/>
              </a:spcAft>
              <a:buNone/>
            </a:pPr>
            <a:r>
              <a:rPr lang="en-US" sz="1100" b="1" dirty="0">
                <a:solidFill>
                  <a:srgbClr val="C77700"/>
                </a:solidFill>
              </a:rPr>
              <a:t>COMMENTS / OBSERVATIONS</a:t>
            </a:r>
          </a:p>
          <a:p>
            <a:pPr>
              <a:buNone/>
            </a:pPr>
            <a:r>
              <a:rPr lang="en-US" sz="1100" i="1" dirty="0">
                <a:solidFill>
                  <a:srgbClr val="222222"/>
                </a:solidFill>
              </a:rPr>
              <a:t>Practical and well-prioritized first aid: leads with safety, calming the patient, shock assessment, and immobilization — a sound sequence. Limitation: the response is truncated mid-word at step 3 (“use a splint, sl…”) and never reaches the care-and-recovery part of the question (transport, pain management, follow-up). Raising the output-token limit would complete the guidance.</a:t>
            </a:r>
          </a:p>
        </p:txBody>
      </p:sp>
      <p:sp>
        <p:nvSpPr>
          <p:cNvPr id="2" name="QuestionBox">
            <a:extLst>
              <a:ext uri="{FF2B5EF4-FFF2-40B4-BE49-F238E27FC236}">
                <a16:creationId xmlns:a16="http://schemas.microsoft.com/office/drawing/2014/main" id="{49DC1739-E631-6B3F-86B6-FCF889544213}"/>
              </a:ext>
            </a:extLst>
          </p:cNvPr>
          <p:cNvSpPr txBox="1"/>
          <p:nvPr/>
        </p:nvSpPr>
        <p:spPr>
          <a:xfrm>
            <a:off x="203200" y="1473200"/>
            <a:ext cx="8737600" cy="492443"/>
          </a:xfrm>
          <a:prstGeom prst="rect">
            <a:avLst/>
          </a:prstGeom>
          <a:noFill/>
        </p:spPr>
        <p:txBody>
          <a:bodyPr vertOverflow="overflow" vert="horz" wrap="square" rtlCol="0" anchor="t">
            <a:spAutoFit/>
          </a:bodyPr>
          <a:lstStyle/>
          <a:p>
            <a:pPr>
              <a:buNone/>
            </a:pPr>
            <a:r>
              <a:rPr lang="en-US" sz="1100" b="1" dirty="0">
                <a:solidFill>
                  <a:srgbClr val="6F4294"/>
                </a:solidFill>
              </a:rPr>
              <a:t>QUESTION 5    </a:t>
            </a:r>
            <a:r>
              <a:rPr lang="en-US" sz="1300" b="1" dirty="0">
                <a:solidFill>
                  <a:srgbClr val="222222"/>
                </a:solidFill>
              </a:rPr>
              <a:t>What are the necessary precautions and treatment steps for a person who has fractured their leg during a hiking trip, and what should be considered for their care and recovery?</a:t>
            </a:r>
          </a:p>
        </p:txBody>
      </p:sp>
      <p:sp>
        <p:nvSpPr>
          <p:cNvPr id="3" name="ResponseBox">
            <a:extLst>
              <a:ext uri="{FF2B5EF4-FFF2-40B4-BE49-F238E27FC236}">
                <a16:creationId xmlns:a16="http://schemas.microsoft.com/office/drawing/2014/main" id="{E6CFA077-6155-2369-000D-7D3739AE6592}"/>
              </a:ext>
            </a:extLst>
          </p:cNvPr>
          <p:cNvSpPr txBox="1"/>
          <p:nvPr/>
        </p:nvSpPr>
        <p:spPr>
          <a:xfrm>
            <a:off x="203200" y="2235200"/>
            <a:ext cx="4292600" cy="1641475"/>
          </a:xfrm>
          <a:prstGeom prst="rect">
            <a:avLst/>
          </a:prstGeom>
          <a:noFill/>
        </p:spPr>
        <p:txBody>
          <a:bodyPr vertOverflow="overflow" vert="horz" wrap="square" rtlCol="0" anchor="t">
            <a:spAutoFit/>
          </a:bodyPr>
          <a:lstStyle/>
          <a:p>
            <a:pPr>
              <a:spcAft>
                <a:spcPts val="200"/>
              </a:spcAft>
              <a:buNone/>
            </a:pPr>
            <a:r>
              <a:rPr lang="en-US" sz="1100" b="1" dirty="0">
                <a:solidFill>
                  <a:srgbClr val="0E39A9"/>
                </a:solidFill>
              </a:rPr>
              <a:t>RESPONSE</a:t>
            </a:r>
          </a:p>
          <a:p>
            <a:pPr>
              <a:buNone/>
            </a:pPr>
            <a:r>
              <a:rPr lang="en-US" sz="1100" dirty="0">
                <a:solidFill>
                  <a:srgbClr val="222222"/>
                </a:solidFill>
              </a:rPr>
              <a:t>First and foremost, if you suspect someone has fractured their leg while hiking, ensure their safety and prevent further injury. Necessary precautions: 1. Keep the person calm and still — encourage them to minimize movement to reduce pain and avoid worsening the injury. 2. Assess the situation — check for signs of shock (pale skin, rapid heartbeat, shallow breathing); if present, seek medical help immediately. 3. Immobilize the leg — use a splint, sl…</a:t>
            </a:r>
          </a:p>
        </p:txBody>
      </p:sp>
      <p:pic>
        <p:nvPicPr>
          <p:cNvPr id="8" name="Picture 7">
            <a:extLst>
              <a:ext uri="{FF2B5EF4-FFF2-40B4-BE49-F238E27FC236}">
                <a16:creationId xmlns:a16="http://schemas.microsoft.com/office/drawing/2014/main" id="{70550BB2-4C07-B270-2C25-DC5AEF4F397C}"/>
              </a:ext>
            </a:extLst>
          </p:cNvPr>
          <p:cNvPicPr>
            <a:picLocks noChangeAspect="1"/>
          </p:cNvPicPr>
          <p:nvPr/>
        </p:nvPicPr>
        <p:blipFill>
          <a:blip r:embed="rId3"/>
          <a:stretch>
            <a:fillRect/>
          </a:stretch>
        </p:blipFill>
        <p:spPr>
          <a:xfrm>
            <a:off x="4749800" y="2235200"/>
            <a:ext cx="4089400" cy="1520775"/>
          </a:xfrm>
          <a:prstGeom prst="rect">
            <a:avLst/>
          </a:prstGeom>
        </p:spPr>
      </p:pic>
    </p:spTree>
    <p:extLst>
      <p:ext uri="{BB962C8B-B14F-4D97-AF65-F5344CB8AC3E}">
        <p14:creationId xmlns:p14="http://schemas.microsoft.com/office/powerpoint/2010/main" val="179479238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248">
          <a:extLst>
            <a:ext uri="{FF2B5EF4-FFF2-40B4-BE49-F238E27FC236}">
              <a16:creationId xmlns:a16="http://schemas.microsoft.com/office/drawing/2014/main" id="{9F789DDE-72FF-81B2-54C0-A7ECDBD57CD8}"/>
            </a:ext>
          </a:extLst>
        </p:cNvPr>
        <p:cNvGrpSpPr/>
        <p:nvPr/>
      </p:nvGrpSpPr>
      <p:grpSpPr>
        <a:xfrm>
          <a:off x="0" y="0"/>
          <a:ext cx="0" cy="0"/>
          <a:chOff x="0" y="0"/>
          <a:chExt cx="0" cy="0"/>
        </a:xfrm>
      </p:grpSpPr>
      <p:sp>
        <p:nvSpPr>
          <p:cNvPr id="250" name="Google Shape;250;p52">
            <a:extLst>
              <a:ext uri="{FF2B5EF4-FFF2-40B4-BE49-F238E27FC236}">
                <a16:creationId xmlns:a16="http://schemas.microsoft.com/office/drawing/2014/main" id="{975141B7-DBF1-B762-7A5E-7E6478A2EF2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a:t>
            </a:r>
            <a:endParaRPr sz="2400" dirty="0">
              <a:solidFill>
                <a:srgbClr val="0E39A9"/>
              </a:solidFill>
            </a:endParaRPr>
          </a:p>
        </p:txBody>
      </p:sp>
      <p:sp>
        <p:nvSpPr>
          <p:cNvPr id="6" name="ModelCard">
            <a:extLst>
              <a:ext uri="{FF2B5EF4-FFF2-40B4-BE49-F238E27FC236}">
                <a16:creationId xmlns:a16="http://schemas.microsoft.com/office/drawing/2014/main" id="{620584DC-EBF4-8469-33B1-42665FAE3A49}"/>
              </a:ext>
            </a:extLst>
          </p:cNvPr>
          <p:cNvSpPr/>
          <p:nvPr/>
        </p:nvSpPr>
        <p:spPr>
          <a:xfrm>
            <a:off x="203200" y="990600"/>
            <a:ext cx="8737600" cy="457200"/>
          </a:xfrm>
          <a:prstGeom prst="roundRect">
            <a:avLst/>
          </a:prstGeom>
          <a:solidFill>
            <a:srgbClr val="F1F3FB"/>
          </a:solidFill>
          <a:ln w="12700" cap="flat" cmpd="sng" algn="ctr">
            <a:solidFill>
              <a:srgbClr val="0E39A9"/>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square" rtlCol="0" anchor="ctr"/>
          <a:lstStyle/>
          <a:p>
            <a:pPr algn="ctr">
              <a:buNone/>
            </a:pPr>
            <a:r>
              <a:rPr lang="en-US" sz="1200" b="1" dirty="0">
                <a:solidFill>
                  <a:srgbClr val="0E39A9"/>
                </a:solidFill>
              </a:rPr>
              <a:t>Model:  </a:t>
            </a:r>
            <a:r>
              <a:rPr lang="en-US" sz="1200" dirty="0">
                <a:solidFill>
                  <a:srgbClr val="222222"/>
                </a:solidFill>
              </a:rPr>
              <a:t>Mistral-7B-Instruct-v0.2 (GGUF Q6_K)        </a:t>
            </a:r>
            <a:r>
              <a:rPr lang="en-US" sz="1200" b="1" dirty="0">
                <a:solidFill>
                  <a:srgbClr val="0E39A9"/>
                </a:solidFill>
              </a:rPr>
              <a:t>Source:  </a:t>
            </a:r>
            <a:r>
              <a:rPr lang="en-US" sz="1200" dirty="0">
                <a:solidFill>
                  <a:srgbClr val="222222"/>
                </a:solidFill>
              </a:rPr>
              <a:t>Hugging Face – TheBloke</a:t>
            </a:r>
          </a:p>
        </p:txBody>
      </p:sp>
      <p:sp>
        <p:nvSpPr>
          <p:cNvPr id="7" name="QAContent">
            <a:extLst>
              <a:ext uri="{FF2B5EF4-FFF2-40B4-BE49-F238E27FC236}">
                <a16:creationId xmlns:a16="http://schemas.microsoft.com/office/drawing/2014/main" id="{5CF1DBCA-8BA3-BB22-CA63-66EE2AE1239A}"/>
              </a:ext>
            </a:extLst>
          </p:cNvPr>
          <p:cNvSpPr txBox="1"/>
          <p:nvPr/>
        </p:nvSpPr>
        <p:spPr>
          <a:xfrm>
            <a:off x="202550" y="4064000"/>
            <a:ext cx="8737600" cy="795089"/>
          </a:xfrm>
          <a:prstGeom prst="rect">
            <a:avLst/>
          </a:prstGeom>
          <a:noFill/>
        </p:spPr>
        <p:txBody>
          <a:bodyPr vertOverflow="overflow" vert="horz" wrap="square" rtlCol="0" anchor="t">
            <a:spAutoFit/>
          </a:bodyPr>
          <a:lstStyle/>
          <a:p>
            <a:pPr>
              <a:spcAft>
                <a:spcPts val="200"/>
              </a:spcAft>
              <a:buNone/>
            </a:pPr>
            <a:r>
              <a:rPr lang="en-US" sz="1100" b="1" dirty="0">
                <a:solidFill>
                  <a:srgbClr val="C77700"/>
                </a:solidFill>
              </a:rPr>
              <a:t>COMMENTS / OBSERVATIONS</a:t>
            </a:r>
          </a:p>
          <a:p>
            <a:pPr>
              <a:buNone/>
            </a:pPr>
            <a:r>
              <a:rPr lang="en-US" sz="1100" i="1" dirty="0">
                <a:solidFill>
                  <a:srgbClr val="222222"/>
                </a:solidFill>
              </a:rPr>
              <a:t>Practical and well-prioritized first aid: leads with safety, calming the patient, shock assessment, and immobilization — a sound sequence. Limitation: the response is truncated mid-word at step 3 (“use a splint, sl…”) and never reaches the care-and-recovery part of the question (transport, pain management, follow-up). Raising the output-token limit would complete the guidance.</a:t>
            </a:r>
          </a:p>
        </p:txBody>
      </p:sp>
      <p:sp>
        <p:nvSpPr>
          <p:cNvPr id="2" name="QuestionBox">
            <a:extLst>
              <a:ext uri="{FF2B5EF4-FFF2-40B4-BE49-F238E27FC236}">
                <a16:creationId xmlns:a16="http://schemas.microsoft.com/office/drawing/2014/main" id="{49DC1739-E631-6B3F-86B6-FCF889544213}"/>
              </a:ext>
            </a:extLst>
          </p:cNvPr>
          <p:cNvSpPr txBox="1"/>
          <p:nvPr/>
        </p:nvSpPr>
        <p:spPr>
          <a:xfrm>
            <a:off x="203200" y="1473200"/>
            <a:ext cx="8737600" cy="492443"/>
          </a:xfrm>
          <a:prstGeom prst="rect">
            <a:avLst/>
          </a:prstGeom>
          <a:noFill/>
        </p:spPr>
        <p:txBody>
          <a:bodyPr vertOverflow="overflow" vert="horz" wrap="square" rtlCol="0" anchor="t">
            <a:spAutoFit/>
          </a:bodyPr>
          <a:lstStyle/>
          <a:p>
            <a:pPr>
              <a:buNone/>
            </a:pPr>
            <a:r>
              <a:rPr lang="en-US" sz="1100" b="1" dirty="0">
                <a:solidFill>
                  <a:srgbClr val="6F4294"/>
                </a:solidFill>
              </a:rPr>
              <a:t>QUESTION 5    </a:t>
            </a:r>
            <a:r>
              <a:rPr lang="en-US" sz="1300" b="1" dirty="0">
                <a:solidFill>
                  <a:srgbClr val="222222"/>
                </a:solidFill>
              </a:rPr>
              <a:t>What are the necessary precautions and treatment steps for a person who has fractured their leg during a hiking trip, and what should be considered for their care and recovery?</a:t>
            </a:r>
          </a:p>
        </p:txBody>
      </p:sp>
      <p:sp>
        <p:nvSpPr>
          <p:cNvPr id="3" name="ResponseBox">
            <a:extLst>
              <a:ext uri="{FF2B5EF4-FFF2-40B4-BE49-F238E27FC236}">
                <a16:creationId xmlns:a16="http://schemas.microsoft.com/office/drawing/2014/main" id="{E6CFA077-6155-2369-000D-7D3739AE6592}"/>
              </a:ext>
            </a:extLst>
          </p:cNvPr>
          <p:cNvSpPr txBox="1"/>
          <p:nvPr/>
        </p:nvSpPr>
        <p:spPr>
          <a:xfrm>
            <a:off x="203200" y="2235200"/>
            <a:ext cx="4292600" cy="1641475"/>
          </a:xfrm>
          <a:prstGeom prst="rect">
            <a:avLst/>
          </a:prstGeom>
          <a:noFill/>
        </p:spPr>
        <p:txBody>
          <a:bodyPr vertOverflow="overflow" vert="horz" wrap="square" rtlCol="0" anchor="t">
            <a:spAutoFit/>
          </a:bodyPr>
          <a:lstStyle/>
          <a:p>
            <a:pPr>
              <a:spcAft>
                <a:spcPts val="200"/>
              </a:spcAft>
              <a:buNone/>
            </a:pPr>
            <a:r>
              <a:rPr lang="en-US" sz="1100" b="1" dirty="0">
                <a:solidFill>
                  <a:srgbClr val="0E39A9"/>
                </a:solidFill>
              </a:rPr>
              <a:t>RESPONSE</a:t>
            </a:r>
          </a:p>
          <a:p>
            <a:pPr>
              <a:buNone/>
            </a:pPr>
            <a:r>
              <a:rPr lang="en-US" sz="1100" dirty="0">
                <a:solidFill>
                  <a:srgbClr val="222222"/>
                </a:solidFill>
              </a:rPr>
              <a:t>First and foremost, if you suspect someone has fractured their leg while hiking, ensure their safety and prevent further injury. Necessary precautions: 1. Keep the person calm and still — encourage them to minimize movement to reduce pain and avoid worsening the injury. 2. Assess the situation — check for signs of shock (pale skin, rapid heartbeat, shallow breathing); if present, seek medical help immediately. 3. Immobilize the leg — use a splint, sl…</a:t>
            </a:r>
          </a:p>
        </p:txBody>
      </p:sp>
      <p:pic>
        <p:nvPicPr>
          <p:cNvPr id="8" name="Picture 7">
            <a:extLst>
              <a:ext uri="{FF2B5EF4-FFF2-40B4-BE49-F238E27FC236}">
                <a16:creationId xmlns:a16="http://schemas.microsoft.com/office/drawing/2014/main" id="{70550BB2-4C07-B270-2C25-DC5AEF4F397C}"/>
              </a:ext>
            </a:extLst>
          </p:cNvPr>
          <p:cNvPicPr>
            <a:picLocks noChangeAspect="1"/>
          </p:cNvPicPr>
          <p:nvPr/>
        </p:nvPicPr>
        <p:blipFill>
          <a:blip r:embed="rId3"/>
          <a:stretch>
            <a:fillRect/>
          </a:stretch>
        </p:blipFill>
        <p:spPr>
          <a:xfrm>
            <a:off x="4749800" y="2235200"/>
            <a:ext cx="4089400" cy="1520775"/>
          </a:xfrm>
          <a:prstGeom prst="rect">
            <a:avLst/>
          </a:prstGeom>
        </p:spPr>
      </p:pic>
    </p:spTree>
    <p:extLst>
      <p:ext uri="{BB962C8B-B14F-4D97-AF65-F5344CB8AC3E}">
        <p14:creationId xmlns:p14="http://schemas.microsoft.com/office/powerpoint/2010/main" val="135436334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260"/>
        <p:cNvGrpSpPr/>
        <p:nvPr/>
      </p:nvGrpSpPr>
      <p:grpSpPr>
        <a:xfrm>
          <a:off x="0" y="0"/>
          <a:ext cx="0" cy="0"/>
          <a:chOff x="0" y="0"/>
          <a:chExt cx="0" cy="0"/>
        </a:xfrm>
      </p:grpSpPr>
      <p:sp>
        <p:nvSpPr>
          <p:cNvPr id="262" name="Google Shape;262;p53"/>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LLM with Prompt Engineering</a:t>
            </a:r>
            <a:endParaRPr sz="2400" dirty="0">
              <a:solidFill>
                <a:srgbClr val="0E39A9"/>
              </a:solidFill>
            </a:endParaRPr>
          </a:p>
        </p:txBody>
      </p:sp>
      <p:sp>
        <p:nvSpPr>
          <p:cNvPr id="4" name="TextBox 3">
            <a:extLst>
              <a:ext uri="{FF2B5EF4-FFF2-40B4-BE49-F238E27FC236}">
                <a16:creationId xmlns:a16="http://schemas.microsoft.com/office/drawing/2014/main" id="{370F7BA5-C15F-6F4C-8BD7-A4901C6E2954}"/>
              </a:ext>
            </a:extLst>
          </p:cNvPr>
          <p:cNvSpPr txBox="1"/>
          <p:nvPr/>
        </p:nvSpPr>
        <p:spPr>
          <a:xfrm>
            <a:off x="358913" y="1049304"/>
            <a:ext cx="3810000" cy="279400"/>
          </a:xfrm>
          <a:prstGeom prst="rect">
            <a:avLst/>
          </a:prstGeom>
          <a:noFill/>
        </p:spPr>
        <p:txBody>
          <a:bodyPr vertOverflow="overflow" vert="horz" wrap="square" rtlCol="0" anchor="t">
            <a:noAutofit/>
          </a:bodyPr>
          <a:lstStyle/>
          <a:p>
            <a:pPr algn="l"/>
            <a:r>
              <a:rPr lang="en-US" sz="1500" b="1" dirty="0">
                <a:solidFill>
                  <a:srgbClr val="6F4294"/>
                </a:solidFill>
                <a:latin typeface="Montserrat"/>
              </a:rPr>
              <a:t>SYSTEM PROMPT</a:t>
            </a:r>
          </a:p>
        </p:txBody>
      </p:sp>
      <p:sp>
        <p:nvSpPr>
          <p:cNvPr id="5" name="Rounded Rectangle 4">
            <a:extLst>
              <a:ext uri="{FF2B5EF4-FFF2-40B4-BE49-F238E27FC236}">
                <a16:creationId xmlns:a16="http://schemas.microsoft.com/office/drawing/2014/main" id="{9F0AD086-CF7A-474D-85CC-97ABA12C54E1}"/>
              </a:ext>
            </a:extLst>
          </p:cNvPr>
          <p:cNvSpPr/>
          <p:nvPr/>
        </p:nvSpPr>
        <p:spPr>
          <a:xfrm>
            <a:off x="358913" y="1414024"/>
            <a:ext cx="7383670" cy="725251"/>
          </a:xfrm>
          <a:prstGeom prst="roundRect">
            <a:avLst/>
          </a:prstGeom>
          <a:solidFill>
            <a:srgbClr val="F2F4FB"/>
          </a:solidFill>
          <a:ln w="12700" cap="flat" cmpd="sng" algn="ctr">
            <a:solidFill>
              <a:srgbClr val="6F4294"/>
            </a:solid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ctr" anchorCtr="0">
            <a:noAutofit/>
          </a:bodyPr>
          <a:lstStyle/>
          <a:p>
            <a:pPr algn="l"/>
            <a:r>
              <a:rPr lang="en-US" sz="1100">
                <a:solidFill>
                  <a:srgbClr val="222222"/>
                </a:solidFill>
              </a:rPr>
              <a:t>“You are an experienced medical doctor. Provide accurate, evidence-based answers to medical questions. Explain symptoms, causes, diagnosis, treatment options, precautions, and follow-up care in a clear and concise manner. If appropriate, recommend consulting a healthcare professional for medical emergencies.”</a:t>
            </a:r>
            <a:endParaRPr lang="en-US" sz="1100" dirty="0">
              <a:solidFill>
                <a:srgbClr val="222222"/>
              </a:solidFill>
            </a:endParaRPr>
          </a:p>
        </p:txBody>
      </p:sp>
      <p:sp>
        <p:nvSpPr>
          <p:cNvPr id="8" name="TextBox 7">
            <a:extLst>
              <a:ext uri="{FF2B5EF4-FFF2-40B4-BE49-F238E27FC236}">
                <a16:creationId xmlns:a16="http://schemas.microsoft.com/office/drawing/2014/main" id="{2847B904-CA24-B248-9E07-73F4F5EAD19D}"/>
              </a:ext>
            </a:extLst>
          </p:cNvPr>
          <p:cNvSpPr txBox="1"/>
          <p:nvPr/>
        </p:nvSpPr>
        <p:spPr>
          <a:xfrm>
            <a:off x="358913" y="3267948"/>
            <a:ext cx="3810000" cy="307777"/>
          </a:xfrm>
          <a:prstGeom prst="rect">
            <a:avLst/>
          </a:prstGeom>
          <a:noFill/>
        </p:spPr>
        <p:txBody>
          <a:bodyPr vertOverflow="overflow" vert="horz" wrap="square" rtlCol="0" anchor="t">
            <a:spAutoFit/>
          </a:bodyPr>
          <a:lstStyle/>
          <a:p>
            <a:pPr algn="l"/>
            <a:r>
              <a:rPr lang="en-US" b="1" dirty="0">
                <a:solidFill>
                  <a:srgbClr val="6F4294"/>
                </a:solidFill>
                <a:latin typeface="Montserrat"/>
              </a:rPr>
              <a:t>BEST PARAMETERS</a:t>
            </a:r>
          </a:p>
        </p:txBody>
      </p:sp>
      <p:graphicFrame>
        <p:nvGraphicFramePr>
          <p:cNvPr id="10" name="Table 9">
            <a:extLst>
              <a:ext uri="{FF2B5EF4-FFF2-40B4-BE49-F238E27FC236}">
                <a16:creationId xmlns:a16="http://schemas.microsoft.com/office/drawing/2014/main" id="{9DA74BC4-E79C-BA40-B06A-10D8FBEC1A74}"/>
              </a:ext>
            </a:extLst>
          </p:cNvPr>
          <p:cNvGraphicFramePr>
            <a:graphicFrameLocks noGrp="1"/>
          </p:cNvGraphicFramePr>
          <p:nvPr>
            <p:extLst>
              <p:ext uri="{D42A27DB-BD31-4B8C-83A1-F6EECF244321}">
                <p14:modId xmlns:p14="http://schemas.microsoft.com/office/powerpoint/2010/main" val="4033239574"/>
              </p:ext>
            </p:extLst>
          </p:nvPr>
        </p:nvGraphicFramePr>
        <p:xfrm>
          <a:off x="398850" y="3631526"/>
          <a:ext cx="8128000" cy="725250"/>
        </p:xfrm>
        <a:graphic>
          <a:graphicData uri="http://schemas.openxmlformats.org/drawingml/2006/table">
            <a:tbl>
              <a:tblPr firstRow="1" bandRow="1">
                <a:tableStyleId>{11B3D4AF-D05D-46CC-AD48-3D6A0D768892}</a:tableStyleId>
              </a:tblPr>
              <a:tblGrid>
                <a:gridCol w="1625600">
                  <a:extLst>
                    <a:ext uri="{9D8B030D-6E8A-4147-A177-3AD203B41FA5}">
                      <a16:colId xmlns:a16="http://schemas.microsoft.com/office/drawing/2014/main" val="718331125"/>
                    </a:ext>
                  </a:extLst>
                </a:gridCol>
                <a:gridCol w="1625600">
                  <a:extLst>
                    <a:ext uri="{9D8B030D-6E8A-4147-A177-3AD203B41FA5}">
                      <a16:colId xmlns:a16="http://schemas.microsoft.com/office/drawing/2014/main" val="3855167796"/>
                    </a:ext>
                  </a:extLst>
                </a:gridCol>
                <a:gridCol w="1625600">
                  <a:extLst>
                    <a:ext uri="{9D8B030D-6E8A-4147-A177-3AD203B41FA5}">
                      <a16:colId xmlns:a16="http://schemas.microsoft.com/office/drawing/2014/main" val="1777127314"/>
                    </a:ext>
                  </a:extLst>
                </a:gridCol>
                <a:gridCol w="1625600">
                  <a:extLst>
                    <a:ext uri="{9D8B030D-6E8A-4147-A177-3AD203B41FA5}">
                      <a16:colId xmlns:a16="http://schemas.microsoft.com/office/drawing/2014/main" val="2824478530"/>
                    </a:ext>
                  </a:extLst>
                </a:gridCol>
                <a:gridCol w="1625600">
                  <a:extLst>
                    <a:ext uri="{9D8B030D-6E8A-4147-A177-3AD203B41FA5}">
                      <a16:colId xmlns:a16="http://schemas.microsoft.com/office/drawing/2014/main" val="697299514"/>
                    </a:ext>
                  </a:extLst>
                </a:gridCol>
              </a:tblGrid>
              <a:tr h="362625">
                <a:tc>
                  <a:txBody>
                    <a:bodyPr/>
                    <a:lstStyle/>
                    <a:p>
                      <a:pPr algn="ctr"/>
                      <a:r>
                        <a:rPr lang="en-US" sz="1100" b="1">
                          <a:solidFill>
                            <a:srgbClr val="FFFFFF"/>
                          </a:solidFill>
                        </a:rPr>
                        <a:t>Temperature</a:t>
                      </a:r>
                    </a:p>
                  </a:txBody>
                  <a:tcPr anchor="ctr">
                    <a:solidFill>
                      <a:srgbClr val="6F4294"/>
                    </a:solidFill>
                  </a:tcPr>
                </a:tc>
                <a:tc>
                  <a:txBody>
                    <a:bodyPr/>
                    <a:lstStyle/>
                    <a:p>
                      <a:pPr algn="ctr"/>
                      <a:r>
                        <a:rPr lang="en-US" sz="1100" b="1">
                          <a:solidFill>
                            <a:srgbClr val="FFFFFF"/>
                          </a:solidFill>
                        </a:rPr>
                        <a:t>Top-p</a:t>
                      </a:r>
                    </a:p>
                  </a:txBody>
                  <a:tcPr anchor="ctr">
                    <a:solidFill>
                      <a:srgbClr val="6F4294"/>
                    </a:solidFill>
                  </a:tcPr>
                </a:tc>
                <a:tc>
                  <a:txBody>
                    <a:bodyPr/>
                    <a:lstStyle/>
                    <a:p>
                      <a:pPr algn="ctr"/>
                      <a:r>
                        <a:rPr lang="en-US" sz="1100" b="1">
                          <a:solidFill>
                            <a:srgbClr val="FFFFFF"/>
                          </a:solidFill>
                        </a:rPr>
                        <a:t>Top-k</a:t>
                      </a:r>
                    </a:p>
                  </a:txBody>
                  <a:tcPr anchor="ctr">
                    <a:solidFill>
                      <a:srgbClr val="6F4294"/>
                    </a:solidFill>
                  </a:tcPr>
                </a:tc>
                <a:tc>
                  <a:txBody>
                    <a:bodyPr/>
                    <a:lstStyle/>
                    <a:p>
                      <a:pPr algn="ctr"/>
                      <a:r>
                        <a:rPr lang="en-US" sz="1100" b="1">
                          <a:solidFill>
                            <a:srgbClr val="FFFFFF"/>
                          </a:solidFill>
                        </a:rPr>
                        <a:t>Max tokens</a:t>
                      </a:r>
                    </a:p>
                  </a:txBody>
                  <a:tcPr anchor="ctr">
                    <a:solidFill>
                      <a:srgbClr val="6F4294"/>
                    </a:solidFill>
                  </a:tcPr>
                </a:tc>
                <a:tc>
                  <a:txBody>
                    <a:bodyPr/>
                    <a:lstStyle/>
                    <a:p>
                      <a:pPr algn="ctr"/>
                      <a:r>
                        <a:rPr lang="en-US" sz="1100" b="1">
                          <a:solidFill>
                            <a:srgbClr val="FFFFFF"/>
                          </a:solidFill>
                        </a:rPr>
                        <a:t>Repeat penalty</a:t>
                      </a:r>
                    </a:p>
                  </a:txBody>
                  <a:tcPr anchor="ctr">
                    <a:solidFill>
                      <a:srgbClr val="6F4294"/>
                    </a:solidFill>
                  </a:tcPr>
                </a:tc>
                <a:extLst>
                  <a:ext uri="{0D108BD9-81ED-4DB2-BD59-A6C34878D82A}">
                    <a16:rowId xmlns:a16="http://schemas.microsoft.com/office/drawing/2014/main" val="931233404"/>
                  </a:ext>
                </a:extLst>
              </a:tr>
              <a:tr h="362625">
                <a:tc>
                  <a:txBody>
                    <a:bodyPr/>
                    <a:lstStyle/>
                    <a:p>
                      <a:pPr algn="ctr"/>
                      <a:r>
                        <a:rPr lang="en-US" sz="1200" b="1">
                          <a:solidFill>
                            <a:srgbClr val="222222"/>
                          </a:solidFill>
                        </a:rPr>
                        <a:t>0.2</a:t>
                      </a:r>
                    </a:p>
                  </a:txBody>
                  <a:tcPr anchor="ctr">
                    <a:solidFill>
                      <a:srgbClr val="F2F4FB"/>
                    </a:solidFill>
                  </a:tcPr>
                </a:tc>
                <a:tc>
                  <a:txBody>
                    <a:bodyPr/>
                    <a:lstStyle/>
                    <a:p>
                      <a:pPr algn="ctr"/>
                      <a:r>
                        <a:rPr lang="en-US" sz="1200" b="1" dirty="0">
                          <a:solidFill>
                            <a:srgbClr val="222222"/>
                          </a:solidFill>
                        </a:rPr>
                        <a:t>0.9</a:t>
                      </a:r>
                    </a:p>
                  </a:txBody>
                  <a:tcPr anchor="ctr">
                    <a:solidFill>
                      <a:srgbClr val="F2F4FB"/>
                    </a:solidFill>
                  </a:tcPr>
                </a:tc>
                <a:tc>
                  <a:txBody>
                    <a:bodyPr/>
                    <a:lstStyle/>
                    <a:p>
                      <a:pPr algn="ctr"/>
                      <a:r>
                        <a:rPr lang="en-US" sz="1200" b="1" dirty="0">
                          <a:solidFill>
                            <a:srgbClr val="222222"/>
                          </a:solidFill>
                        </a:rPr>
                        <a:t>40</a:t>
                      </a:r>
                    </a:p>
                  </a:txBody>
                  <a:tcPr anchor="ctr">
                    <a:solidFill>
                      <a:srgbClr val="F2F4FB"/>
                    </a:solidFill>
                  </a:tcPr>
                </a:tc>
                <a:tc>
                  <a:txBody>
                    <a:bodyPr/>
                    <a:lstStyle/>
                    <a:p>
                      <a:pPr algn="ctr"/>
                      <a:r>
                        <a:rPr lang="en-US" sz="1200" b="1" dirty="0">
                          <a:solidFill>
                            <a:srgbClr val="222222"/>
                          </a:solidFill>
                        </a:rPr>
                        <a:t>256</a:t>
                      </a:r>
                    </a:p>
                  </a:txBody>
                  <a:tcPr anchor="ctr">
                    <a:solidFill>
                      <a:srgbClr val="F2F4FB"/>
                    </a:solidFill>
                  </a:tcPr>
                </a:tc>
                <a:tc>
                  <a:txBody>
                    <a:bodyPr/>
                    <a:lstStyle/>
                    <a:p>
                      <a:pPr algn="ctr"/>
                      <a:r>
                        <a:rPr lang="en-US" sz="1200" b="1" dirty="0">
                          <a:solidFill>
                            <a:srgbClr val="222222"/>
                          </a:solidFill>
                        </a:rPr>
                        <a:t>1.1</a:t>
                      </a:r>
                    </a:p>
                  </a:txBody>
                  <a:tcPr anchor="ctr">
                    <a:solidFill>
                      <a:srgbClr val="F2F4FB"/>
                    </a:solidFill>
                  </a:tcPr>
                </a:tc>
                <a:extLst>
                  <a:ext uri="{0D108BD9-81ED-4DB2-BD59-A6C34878D82A}">
                    <a16:rowId xmlns:a16="http://schemas.microsoft.com/office/drawing/2014/main" val="3800483408"/>
                  </a:ext>
                </a:extLst>
              </a:tr>
            </a:tbl>
          </a:graphicData>
        </a:graphic>
      </p:graphicFrame>
      <p:sp>
        <p:nvSpPr>
          <p:cNvPr id="11" name="TextBox 10">
            <a:extLst>
              <a:ext uri="{FF2B5EF4-FFF2-40B4-BE49-F238E27FC236}">
                <a16:creationId xmlns:a16="http://schemas.microsoft.com/office/drawing/2014/main" id="{A074B793-CE28-CC49-9D45-E14F0A846065}"/>
              </a:ext>
            </a:extLst>
          </p:cNvPr>
          <p:cNvSpPr txBox="1"/>
          <p:nvPr/>
        </p:nvSpPr>
        <p:spPr>
          <a:xfrm>
            <a:off x="508000" y="4470400"/>
            <a:ext cx="8128000" cy="461665"/>
          </a:xfrm>
          <a:prstGeom prst="rect">
            <a:avLst/>
          </a:prstGeom>
          <a:noFill/>
        </p:spPr>
        <p:txBody>
          <a:bodyPr vertOverflow="overflow" vert="horz" wrap="square" rtlCol="0" anchor="t">
            <a:spAutoFit/>
          </a:bodyPr>
          <a:lstStyle/>
          <a:p>
            <a:pPr algn="l"/>
            <a:r>
              <a:rPr lang="en-US" sz="1200" i="1" dirty="0">
                <a:solidFill>
                  <a:srgbClr val="666666"/>
                </a:solidFill>
              </a:rPr>
              <a:t>Low temperature with capped top-p/top-k favors accurate, focused medical answers. Max tokens controls response length — raising it avoids the mid-sentence truncation seen in some answers.</a:t>
            </a:r>
          </a:p>
        </p:txBody>
      </p:sp>
      <p:pic>
        <p:nvPicPr>
          <p:cNvPr id="12" name="Picture 11">
            <a:extLst>
              <a:ext uri="{FF2B5EF4-FFF2-40B4-BE49-F238E27FC236}">
                <a16:creationId xmlns:a16="http://schemas.microsoft.com/office/drawing/2014/main" id="{1FB490D6-CBFF-5516-3E56-BC3971F7146E}"/>
              </a:ext>
            </a:extLst>
          </p:cNvPr>
          <p:cNvPicPr>
            <a:picLocks noChangeAspect="1"/>
          </p:cNvPicPr>
          <p:nvPr/>
        </p:nvPicPr>
        <p:blipFill>
          <a:blip r:embed="rId3"/>
          <a:stretch>
            <a:fillRect/>
          </a:stretch>
        </p:blipFill>
        <p:spPr>
          <a:xfrm>
            <a:off x="358913" y="2252225"/>
            <a:ext cx="7772400" cy="725924"/>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C1247792-411B-FD6C-71A1-7A25CBF2DD61}"/>
            </a:ext>
          </a:extLst>
        </p:cNvPr>
        <p:cNvGrpSpPr/>
        <p:nvPr/>
      </p:nvGrpSpPr>
      <p:grpSpPr>
        <a:xfrm>
          <a:off x="0" y="0"/>
          <a:ext cx="0" cy="0"/>
          <a:chOff x="0" y="0"/>
          <a:chExt cx="0" cy="0"/>
        </a:xfrm>
      </p:grpSpPr>
      <p:sp>
        <p:nvSpPr>
          <p:cNvPr id="262" name="Google Shape;262;p53">
            <a:extLst>
              <a:ext uri="{FF2B5EF4-FFF2-40B4-BE49-F238E27FC236}">
                <a16:creationId xmlns:a16="http://schemas.microsoft.com/office/drawing/2014/main" id="{DC864BF4-F6DE-4FA1-4408-9872B9E7D2A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br>
              <a:rPr lang="en-US" sz="2400" dirty="0">
                <a:solidFill>
                  <a:srgbClr val="0E39A9"/>
                </a:solidFill>
              </a:rPr>
            </a:br>
            <a:r>
              <a:rPr lang="en-US" sz="2400" dirty="0">
                <a:solidFill>
                  <a:srgbClr val="0E39A9"/>
                </a:solidFill>
              </a:rPr>
              <a:t>Query 1 · Sepsis Management</a:t>
            </a:r>
            <a:endParaRPr sz="2400" dirty="0">
              <a:solidFill>
                <a:srgbClr val="0E39A9"/>
              </a:solidFill>
            </a:endParaRPr>
          </a:p>
        </p:txBody>
      </p:sp>
      <p:sp>
        <p:nvSpPr>
          <p:cNvPr id="8" name="QAContent">
            <a:extLst>
              <a:ext uri="{FF2B5EF4-FFF2-40B4-BE49-F238E27FC236}">
                <a16:creationId xmlns:a16="http://schemas.microsoft.com/office/drawing/2014/main" id="{0B9742FB-0183-A042-8944-A96B7C550873}"/>
              </a:ext>
            </a:extLst>
          </p:cNvPr>
          <p:cNvSpPr txBox="1"/>
          <p:nvPr/>
        </p:nvSpPr>
        <p:spPr>
          <a:xfrm>
            <a:off x="0" y="1075095"/>
            <a:ext cx="7770438" cy="2033890"/>
          </a:xfrm>
          <a:prstGeom prst="rect">
            <a:avLst/>
          </a:prstGeom>
          <a:noFill/>
        </p:spPr>
        <p:txBody>
          <a:bodyPr vertOverflow="overflow" vert="horz" wrap="square" rtlCol="0" anchor="t">
            <a:spAutoFit/>
          </a:bodyPr>
          <a:lstStyle/>
          <a:p>
            <a:pPr>
              <a:buNone/>
            </a:pPr>
            <a:r>
              <a:rPr lang="en-US" sz="1050" b="1" dirty="0">
                <a:solidFill>
                  <a:srgbClr val="6F4294"/>
                </a:solidFill>
              </a:rPr>
              <a:t>QUESTION</a:t>
            </a:r>
          </a:p>
          <a:p>
            <a:pPr>
              <a:spcAft>
                <a:spcPts val="400"/>
              </a:spcAft>
              <a:buNone/>
            </a:pPr>
            <a:r>
              <a:rPr lang="en-US" sz="1200" b="1" dirty="0">
                <a:solidFill>
                  <a:srgbClr val="222222"/>
                </a:solidFill>
              </a:rPr>
              <a:t>What is the protocol for managing sepsis in a critical care unit?</a:t>
            </a:r>
          </a:p>
          <a:p>
            <a:pPr>
              <a:spcBef>
                <a:spcPts val="600"/>
              </a:spcBef>
              <a:buNone/>
            </a:pPr>
            <a:r>
              <a:rPr lang="en-US" sz="1050" b="1" dirty="0">
                <a:solidFill>
                  <a:srgbClr val="0E39A9"/>
                </a:solidFill>
              </a:rPr>
              <a:t>RESPONSE</a:t>
            </a:r>
          </a:p>
          <a:p>
            <a:pPr>
              <a:spcAft>
                <a:spcPts val="400"/>
              </a:spcAft>
              <a:buNone/>
            </a:pPr>
            <a:r>
              <a:rPr lang="en-US" sz="1100" dirty="0">
                <a:solidFill>
                  <a:srgbClr val="222222"/>
                </a:solidFill>
              </a:rPr>
              <a:t>Sepsis is a life-threatening condition caused by a dysregulated response to an infection. In a critical care unit, managing it involves prompt recognition, early goal-directed therapy (EGDT), and ongoing supportive care. Key steps: 1. Recognition — look for signs of infection (fever, chills, localized inflammation) plus systemic symptoms like tachycardia, tachypnea, altered mental status, and lactic acidosis. Use the Sequential Organ Failure Assessment (SOFA) score…</a:t>
            </a:r>
          </a:p>
          <a:p>
            <a:pPr>
              <a:spcBef>
                <a:spcPts val="600"/>
              </a:spcBef>
              <a:buNone/>
            </a:pPr>
            <a:r>
              <a:rPr lang="en-US" sz="1050" b="1" dirty="0">
                <a:solidFill>
                  <a:srgbClr val="C77700"/>
                </a:solidFill>
              </a:rPr>
              <a:t>COMMENTS / OBSERVATIONS</a:t>
            </a:r>
          </a:p>
          <a:p>
            <a:pPr>
              <a:buNone/>
            </a:pPr>
            <a:r>
              <a:rPr lang="en-US" sz="1100" i="1" dirty="0">
                <a:solidFill>
                  <a:srgbClr val="444444"/>
                </a:solidFill>
              </a:rPr>
              <a:t>The system prompt clearly deepened the answer — it names EGDT and the SOFA score and frames sepsis as a dysregulated host response. The output is still cut off at the recognition step, reflecting the low max-tokens limit.</a:t>
            </a:r>
          </a:p>
        </p:txBody>
      </p:sp>
      <p:sp>
        <p:nvSpPr>
          <p:cNvPr id="2" name="Google Shape;262;p53">
            <a:extLst>
              <a:ext uri="{FF2B5EF4-FFF2-40B4-BE49-F238E27FC236}">
                <a16:creationId xmlns:a16="http://schemas.microsoft.com/office/drawing/2014/main" id="{32C27EE4-228F-76B4-0507-70729B2E7E97}"/>
              </a:ext>
            </a:extLst>
          </p:cNvPr>
          <p:cNvSpPr txBox="1">
            <a:spLocks/>
          </p:cNvSpPr>
          <p:nvPr/>
        </p:nvSpPr>
        <p:spPr>
          <a:xfrm>
            <a:off x="202550" y="167831"/>
            <a:ext cx="8520600" cy="815596"/>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2400">
                <a:solidFill>
                  <a:srgbClr val="0E39A9"/>
                </a:solidFill>
              </a:rPr>
              <a:t>Question Answering using LLM with Prompt Engineering</a:t>
            </a:r>
            <a:endParaRPr lang="en-US" sz="2400" dirty="0">
              <a:solidFill>
                <a:srgbClr val="0E39A9"/>
              </a:solidFill>
            </a:endParaRPr>
          </a:p>
        </p:txBody>
      </p:sp>
      <p:sp>
        <p:nvSpPr>
          <p:cNvPr id="3" name="ParamStrip">
            <a:extLst>
              <a:ext uri="{FF2B5EF4-FFF2-40B4-BE49-F238E27FC236}">
                <a16:creationId xmlns:a16="http://schemas.microsoft.com/office/drawing/2014/main" id="{2B17342E-3C2E-FD45-84BC-05A11A5393D2}"/>
              </a:ext>
            </a:extLst>
          </p:cNvPr>
          <p:cNvSpPr/>
          <p:nvPr/>
        </p:nvSpPr>
        <p:spPr>
          <a:xfrm>
            <a:off x="-7875" y="3201648"/>
            <a:ext cx="8941450" cy="330200"/>
          </a:xfrm>
          <a:prstGeom prst="roundRect">
            <a:avLst/>
          </a:prstGeom>
          <a:solidFill>
            <a:srgbClr val="F2F4FB"/>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1100" b="1" dirty="0">
                <a:solidFill>
                  <a:srgbClr val="6F4294"/>
                </a:solidFill>
                <a:latin typeface="Montserrat"/>
              </a:rPr>
              <a:t>Generation parameters   ·   Temperature 0.2   ·   Top-p 0.9   ·   Top-k 40   ·   Max tokens 256   ·   Repeat penalty 1.1</a:t>
            </a:r>
          </a:p>
        </p:txBody>
      </p:sp>
      <p:pic>
        <p:nvPicPr>
          <p:cNvPr id="4" name="Picture 3">
            <a:extLst>
              <a:ext uri="{FF2B5EF4-FFF2-40B4-BE49-F238E27FC236}">
                <a16:creationId xmlns:a16="http://schemas.microsoft.com/office/drawing/2014/main" id="{E127A5EE-90F2-09C0-E27A-A5DC270EE86E}"/>
              </a:ext>
            </a:extLst>
          </p:cNvPr>
          <p:cNvPicPr>
            <a:picLocks noChangeAspect="1"/>
          </p:cNvPicPr>
          <p:nvPr/>
        </p:nvPicPr>
        <p:blipFill>
          <a:blip r:embed="rId3"/>
          <a:stretch>
            <a:fillRect/>
          </a:stretch>
        </p:blipFill>
        <p:spPr>
          <a:xfrm>
            <a:off x="-7875" y="3624511"/>
            <a:ext cx="7084638" cy="1359454"/>
          </a:xfrm>
          <a:prstGeom prst="rect">
            <a:avLst/>
          </a:prstGeom>
        </p:spPr>
      </p:pic>
    </p:spTree>
    <p:extLst>
      <p:ext uri="{BB962C8B-B14F-4D97-AF65-F5344CB8AC3E}">
        <p14:creationId xmlns:p14="http://schemas.microsoft.com/office/powerpoint/2010/main" val="411086782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64FD7AB4-6ADA-7BAA-389D-0DAB3D03AF62}"/>
            </a:ext>
          </a:extLst>
        </p:cNvPr>
        <p:cNvGrpSpPr/>
        <p:nvPr/>
      </p:nvGrpSpPr>
      <p:grpSpPr>
        <a:xfrm>
          <a:off x="0" y="0"/>
          <a:ext cx="0" cy="0"/>
          <a:chOff x="0" y="0"/>
          <a:chExt cx="0" cy="0"/>
        </a:xfrm>
      </p:grpSpPr>
      <p:sp>
        <p:nvSpPr>
          <p:cNvPr id="262" name="Google Shape;262;p53">
            <a:extLst>
              <a:ext uri="{FF2B5EF4-FFF2-40B4-BE49-F238E27FC236}">
                <a16:creationId xmlns:a16="http://schemas.microsoft.com/office/drawing/2014/main" id="{328D0251-33B1-CCC1-2663-B8576B4A7416}"/>
              </a:ext>
            </a:extLst>
          </p:cNvPr>
          <p:cNvSpPr txBox="1">
            <a:spLocks noGrp="1"/>
          </p:cNvSpPr>
          <p:nvPr>
            <p:ph type="title"/>
          </p:nvPr>
        </p:nvSpPr>
        <p:spPr>
          <a:xfrm>
            <a:off x="166200" y="274335"/>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br>
              <a:rPr lang="en-US" sz="2400" dirty="0">
                <a:solidFill>
                  <a:srgbClr val="0E39A9"/>
                </a:solidFill>
              </a:rPr>
            </a:br>
            <a:r>
              <a:rPr lang="en-US" sz="2400" dirty="0">
                <a:solidFill>
                  <a:srgbClr val="0E39A9"/>
                </a:solidFill>
              </a:rPr>
              <a:t>Query 2 · Appendicitis</a:t>
            </a:r>
            <a:endParaRPr sz="2400" dirty="0">
              <a:solidFill>
                <a:srgbClr val="0E39A9"/>
              </a:solidFill>
            </a:endParaRPr>
          </a:p>
        </p:txBody>
      </p:sp>
      <p:sp>
        <p:nvSpPr>
          <p:cNvPr id="5" name="QAContent">
            <a:extLst>
              <a:ext uri="{FF2B5EF4-FFF2-40B4-BE49-F238E27FC236}">
                <a16:creationId xmlns:a16="http://schemas.microsoft.com/office/drawing/2014/main" id="{EB54FABE-DF9B-B845-98B2-77304F1005EC}"/>
              </a:ext>
            </a:extLst>
          </p:cNvPr>
          <p:cNvSpPr txBox="1"/>
          <p:nvPr/>
        </p:nvSpPr>
        <p:spPr>
          <a:xfrm>
            <a:off x="0" y="1058671"/>
            <a:ext cx="9074426" cy="2634054"/>
          </a:xfrm>
          <a:prstGeom prst="rect">
            <a:avLst/>
          </a:prstGeom>
          <a:noFill/>
        </p:spPr>
        <p:txBody>
          <a:bodyPr vertOverflow="overflow" vert="horz" wrap="square" rtlCol="0" anchor="t">
            <a:spAutoFit/>
          </a:bodyPr>
          <a:lstStyle/>
          <a:p>
            <a:pPr>
              <a:buNone/>
            </a:pPr>
            <a:r>
              <a:rPr lang="en-US" sz="1050" b="1" dirty="0">
                <a:solidFill>
                  <a:srgbClr val="6F4294"/>
                </a:solidFill>
              </a:rPr>
              <a:t>QUESTION</a:t>
            </a:r>
          </a:p>
          <a:p>
            <a:pPr>
              <a:spcAft>
                <a:spcPts val="400"/>
              </a:spcAft>
              <a:buNone/>
            </a:pPr>
            <a:r>
              <a:rPr lang="en-US" sz="1200" b="1" dirty="0">
                <a:solidFill>
                  <a:srgbClr val="222222"/>
                </a:solidFill>
              </a:rPr>
              <a:t>What are the common symptoms for appendicitis, and can it be cured via medicine? If not, what surgical procedure should be followed to treat it?</a:t>
            </a:r>
          </a:p>
          <a:p>
            <a:pPr>
              <a:spcBef>
                <a:spcPts val="600"/>
              </a:spcBef>
              <a:buNone/>
            </a:pPr>
            <a:r>
              <a:rPr lang="en-US" sz="1050" b="1" dirty="0">
                <a:solidFill>
                  <a:srgbClr val="0E39A9"/>
                </a:solidFill>
              </a:rPr>
              <a:t>RESPONSE</a:t>
            </a:r>
          </a:p>
          <a:p>
            <a:pPr>
              <a:spcAft>
                <a:spcPts val="400"/>
              </a:spcAft>
              <a:buNone/>
            </a:pPr>
            <a:r>
              <a:rPr lang="en-US" sz="1100" dirty="0">
                <a:solidFill>
                  <a:srgbClr val="222222"/>
                </a:solidFill>
              </a:rPr>
              <a:t>Appendicitis is a common inflammatory condition of the appendix, a small tube-shaped organ located in the lower right side of the abdomen. The symptoms of appendicitis typically include:</a:t>
            </a:r>
          </a:p>
          <a:p>
            <a:pPr>
              <a:spcAft>
                <a:spcPts val="400"/>
              </a:spcAft>
              <a:buNone/>
            </a:pPr>
            <a:r>
              <a:rPr lang="en-US" sz="1100" dirty="0">
                <a:solidFill>
                  <a:srgbClr val="222222"/>
                </a:solidFill>
              </a:rPr>
              <a:t>1. Abdominal pain: The pain usually starts as a mild discomfort around the navel that may come and go. However, it soon localizes to the lower right side of the abdomen and becomes constant and severe. The pain may be worsened by walking or taking deep breaths.</a:t>
            </a:r>
          </a:p>
          <a:p>
            <a:pPr>
              <a:spcAft>
                <a:spcPts val="400"/>
              </a:spcAft>
              <a:buNone/>
            </a:pPr>
            <a:r>
              <a:rPr lang="en-US" sz="1100" dirty="0">
                <a:solidFill>
                  <a:srgbClr val="222222"/>
                </a:solidFill>
              </a:rPr>
              <a:t>2. Loss of appetite: As the inflammation progresses, you may lose your appetite</a:t>
            </a:r>
          </a:p>
          <a:p>
            <a:pPr>
              <a:spcAft>
                <a:spcPts val="400"/>
              </a:spcAft>
              <a:buNone/>
            </a:pPr>
            <a:r>
              <a:rPr lang="en-US" sz="1050" b="1" dirty="0">
                <a:solidFill>
                  <a:srgbClr val="C77700"/>
                </a:solidFill>
              </a:rPr>
              <a:t>COMMENTS / OBSERVATIONS</a:t>
            </a:r>
          </a:p>
          <a:p>
            <a:pPr>
              <a:buNone/>
            </a:pPr>
            <a:r>
              <a:rPr lang="en-US" sz="1100" i="1" dirty="0">
                <a:solidFill>
                  <a:srgbClr val="444444"/>
                </a:solidFill>
              </a:rPr>
              <a:t>Accurate definition and the hallmark migrating pain, but this complete output covers only one symptom and never addresses the rest of the question — whether it is curable with medication, or the surgical procedure (appendectomy). </a:t>
            </a:r>
            <a:r>
              <a:rPr lang="en-US" sz="1100" i="1" dirty="0"/>
              <a:t>The model stopped after one symptom on its own, so both a higher token cap and an explicit "cover diagnosis, medication, and surgery" instruction would help.</a:t>
            </a:r>
            <a:r>
              <a:rPr lang="en-US" sz="1100" i="1" dirty="0">
                <a:solidFill>
                  <a:srgbClr val="444444"/>
                </a:solidFill>
              </a:rPr>
              <a:t> </a:t>
            </a:r>
          </a:p>
        </p:txBody>
      </p:sp>
      <p:sp>
        <p:nvSpPr>
          <p:cNvPr id="2" name="Google Shape;262;p53">
            <a:extLst>
              <a:ext uri="{FF2B5EF4-FFF2-40B4-BE49-F238E27FC236}">
                <a16:creationId xmlns:a16="http://schemas.microsoft.com/office/drawing/2014/main" id="{D4896D7F-DE2E-A399-C2C0-05372DF56233}"/>
              </a:ext>
            </a:extLst>
          </p:cNvPr>
          <p:cNvSpPr txBox="1">
            <a:spLocks/>
          </p:cNvSpPr>
          <p:nvPr/>
        </p:nvSpPr>
        <p:spPr>
          <a:xfrm>
            <a:off x="166200" y="274335"/>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2400" dirty="0">
                <a:solidFill>
                  <a:srgbClr val="0E39A9"/>
                </a:solidFill>
              </a:rPr>
              <a:t>Question Answering using LLM with Prompt Engineering</a:t>
            </a:r>
          </a:p>
        </p:txBody>
      </p:sp>
      <p:sp>
        <p:nvSpPr>
          <p:cNvPr id="3" name="ParamStrip">
            <a:extLst>
              <a:ext uri="{FF2B5EF4-FFF2-40B4-BE49-F238E27FC236}">
                <a16:creationId xmlns:a16="http://schemas.microsoft.com/office/drawing/2014/main" id="{D879E08A-0469-9E4A-8EDA-3A14E3C8ACB1}"/>
              </a:ext>
            </a:extLst>
          </p:cNvPr>
          <p:cNvSpPr/>
          <p:nvPr/>
        </p:nvSpPr>
        <p:spPr>
          <a:xfrm>
            <a:off x="69574" y="4869165"/>
            <a:ext cx="5496339" cy="189852"/>
          </a:xfrm>
          <a:prstGeom prst="roundRect">
            <a:avLst/>
          </a:prstGeom>
          <a:solidFill>
            <a:srgbClr val="F2F4FB"/>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700" b="1" dirty="0">
                <a:solidFill>
                  <a:srgbClr val="6F4294"/>
                </a:solidFill>
                <a:latin typeface="Montserrat"/>
              </a:rPr>
              <a:t>Generation parameters   ·   Temperature 0.2   ·   Top-p 0.9   ·   Top-k 40   ·   Max tokens 256   ·   Repeat penalty 1.1</a:t>
            </a:r>
          </a:p>
        </p:txBody>
      </p:sp>
      <p:pic>
        <p:nvPicPr>
          <p:cNvPr id="4" name="Picture 3">
            <a:extLst>
              <a:ext uri="{FF2B5EF4-FFF2-40B4-BE49-F238E27FC236}">
                <a16:creationId xmlns:a16="http://schemas.microsoft.com/office/drawing/2014/main" id="{BCAD17D3-0E62-4064-DCA7-74955B9B1179}"/>
              </a:ext>
            </a:extLst>
          </p:cNvPr>
          <p:cNvPicPr>
            <a:picLocks noChangeAspect="1"/>
          </p:cNvPicPr>
          <p:nvPr/>
        </p:nvPicPr>
        <p:blipFill>
          <a:blip r:embed="rId3"/>
          <a:stretch>
            <a:fillRect/>
          </a:stretch>
        </p:blipFill>
        <p:spPr>
          <a:xfrm>
            <a:off x="1382" y="3664791"/>
            <a:ext cx="4928427" cy="1204374"/>
          </a:xfrm>
          <a:prstGeom prst="rect">
            <a:avLst/>
          </a:prstGeom>
        </p:spPr>
      </p:pic>
    </p:spTree>
    <p:extLst>
      <p:ext uri="{BB962C8B-B14F-4D97-AF65-F5344CB8AC3E}">
        <p14:creationId xmlns:p14="http://schemas.microsoft.com/office/powerpoint/2010/main" val="6372428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64FD7AB4-6ADA-7BAA-389D-0DAB3D03AF62}"/>
            </a:ext>
          </a:extLst>
        </p:cNvPr>
        <p:cNvGrpSpPr/>
        <p:nvPr/>
      </p:nvGrpSpPr>
      <p:grpSpPr>
        <a:xfrm>
          <a:off x="0" y="0"/>
          <a:ext cx="0" cy="0"/>
          <a:chOff x="0" y="0"/>
          <a:chExt cx="0" cy="0"/>
        </a:xfrm>
      </p:grpSpPr>
      <p:sp>
        <p:nvSpPr>
          <p:cNvPr id="262" name="Google Shape;262;p53">
            <a:extLst>
              <a:ext uri="{FF2B5EF4-FFF2-40B4-BE49-F238E27FC236}">
                <a16:creationId xmlns:a16="http://schemas.microsoft.com/office/drawing/2014/main" id="{328D0251-33B1-CCC1-2663-B8576B4A7416}"/>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br>
              <a:rPr lang="en-US" sz="2400" dirty="0">
                <a:solidFill>
                  <a:srgbClr val="0E39A9"/>
                </a:solidFill>
              </a:rPr>
            </a:br>
            <a:r>
              <a:rPr lang="en-US" sz="2400" dirty="0">
                <a:solidFill>
                  <a:srgbClr val="0E39A9"/>
                </a:solidFill>
              </a:rPr>
              <a:t>Query 3 · Alopecia Areata</a:t>
            </a:r>
            <a:endParaRPr sz="2400" dirty="0">
              <a:solidFill>
                <a:srgbClr val="0E39A9"/>
              </a:solidFill>
            </a:endParaRPr>
          </a:p>
        </p:txBody>
      </p:sp>
      <p:sp>
        <p:nvSpPr>
          <p:cNvPr id="5" name="QAContent">
            <a:extLst>
              <a:ext uri="{FF2B5EF4-FFF2-40B4-BE49-F238E27FC236}">
                <a16:creationId xmlns:a16="http://schemas.microsoft.com/office/drawing/2014/main" id="{EB54FABE-DF9B-B845-98B2-77304F1005EC}"/>
              </a:ext>
            </a:extLst>
          </p:cNvPr>
          <p:cNvSpPr txBox="1"/>
          <p:nvPr/>
        </p:nvSpPr>
        <p:spPr>
          <a:xfrm>
            <a:off x="-1" y="1019342"/>
            <a:ext cx="9017325" cy="2231380"/>
          </a:xfrm>
          <a:prstGeom prst="rect">
            <a:avLst/>
          </a:prstGeom>
          <a:noFill/>
        </p:spPr>
        <p:txBody>
          <a:bodyPr vertOverflow="overflow" vert="horz" wrap="square" rtlCol="0" anchor="t">
            <a:spAutoFit/>
          </a:bodyPr>
          <a:lstStyle/>
          <a:p>
            <a:pPr>
              <a:buNone/>
            </a:pPr>
            <a:r>
              <a:rPr lang="en-US" sz="900" b="1" dirty="0">
                <a:solidFill>
                  <a:srgbClr val="6F4294"/>
                </a:solidFill>
              </a:rPr>
              <a:t>QUESTION</a:t>
            </a:r>
          </a:p>
          <a:p>
            <a:pPr>
              <a:spcAft>
                <a:spcPts val="400"/>
              </a:spcAft>
              <a:buNone/>
            </a:pPr>
            <a:r>
              <a:rPr lang="en-US" sz="1050" b="1" dirty="0">
                <a:solidFill>
                  <a:srgbClr val="222222"/>
                </a:solidFill>
              </a:rPr>
              <a:t>What are the effective treatments or solutions for addressing sudden patchy hair loss, commonly seen as localized bald spots on the scalp, and what could be the possible causes behind it?</a:t>
            </a:r>
          </a:p>
          <a:p>
            <a:pPr>
              <a:spcBef>
                <a:spcPts val="600"/>
              </a:spcBef>
              <a:buNone/>
            </a:pPr>
            <a:r>
              <a:rPr lang="en-US" sz="900" b="1" dirty="0">
                <a:solidFill>
                  <a:srgbClr val="0E39A9"/>
                </a:solidFill>
              </a:rPr>
              <a:t>RESPONSE</a:t>
            </a:r>
          </a:p>
          <a:p>
            <a:pPr>
              <a:spcAft>
                <a:spcPts val="400"/>
              </a:spcAft>
              <a:buNone/>
            </a:pPr>
            <a:r>
              <a:rPr lang="en-US" sz="1100" dirty="0"/>
              <a:t>Sudden patchy hair loss, also known as alopecia areata, is an autoimmune disorder that results in the sudden loss of hair in small, round patches on the scalp or other areas of the body. The exact cause of alopecia areata is not known, but it's believed to be related to a problem with the immune system. There are several treatments for addressing sudden patchy hair loss: 1. Corticosteroids: These medications can help reduce inflammation and suppress the immune response that causes hair loss. They can be applied topically or</a:t>
            </a:r>
          </a:p>
          <a:p>
            <a:pPr>
              <a:spcAft>
                <a:spcPts val="400"/>
              </a:spcAft>
              <a:buNone/>
            </a:pPr>
            <a:r>
              <a:rPr lang="en-US" sz="900" b="1" dirty="0">
                <a:solidFill>
                  <a:srgbClr val="C77700"/>
                </a:solidFill>
              </a:rPr>
              <a:t>COMMENTS / OBSERVATIONS</a:t>
            </a:r>
          </a:p>
          <a:p>
            <a:pPr>
              <a:buNone/>
            </a:pPr>
            <a:r>
              <a:rPr lang="en-US" sz="1000" dirty="0">
                <a:solidFill>
                  <a:srgbClr val="444444"/>
                </a:solidFill>
              </a:rPr>
              <a:t>Accurate and complete; correctly identifies the autoimmune cause and triggers. However, it answers only the 'causes' half of the question and omits the treatments or solutions that were asked for. </a:t>
            </a:r>
            <a:r>
              <a:rPr lang="en-US" sz="1000" dirty="0"/>
              <a:t>So the gap here isn't tokens, it's focus — worth noting "a more directive prompt (e.g. 'list treatment options')</a:t>
            </a:r>
            <a:r>
              <a:rPr lang="en-US" sz="1100" dirty="0"/>
              <a:t> would close this," not just more tokens.</a:t>
            </a:r>
            <a:endParaRPr lang="en-US" sz="1100" dirty="0">
              <a:solidFill>
                <a:srgbClr val="444444"/>
              </a:solidFill>
            </a:endParaRPr>
          </a:p>
        </p:txBody>
      </p:sp>
      <p:sp>
        <p:nvSpPr>
          <p:cNvPr id="2" name="Google Shape;262;p53">
            <a:extLst>
              <a:ext uri="{FF2B5EF4-FFF2-40B4-BE49-F238E27FC236}">
                <a16:creationId xmlns:a16="http://schemas.microsoft.com/office/drawing/2014/main" id="{11F5953C-172C-1037-940C-B58505712EFA}"/>
              </a:ext>
            </a:extLst>
          </p:cNvPr>
          <p:cNvSpPr txBox="1">
            <a:spLocks/>
          </p:cNvSpPr>
          <p:nvPr/>
        </p:nvSpPr>
        <p:spPr>
          <a:xfrm>
            <a:off x="202550" y="289279"/>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2400" dirty="0">
                <a:solidFill>
                  <a:srgbClr val="0E39A9"/>
                </a:solidFill>
              </a:rPr>
              <a:t>Question Answering using LLM with Prompt Engineering</a:t>
            </a:r>
          </a:p>
        </p:txBody>
      </p:sp>
      <p:sp>
        <p:nvSpPr>
          <p:cNvPr id="3" name="ParamStrip">
            <a:extLst>
              <a:ext uri="{FF2B5EF4-FFF2-40B4-BE49-F238E27FC236}">
                <a16:creationId xmlns:a16="http://schemas.microsoft.com/office/drawing/2014/main" id="{9980C97B-2028-754B-8C2D-E5FA4E436C37}"/>
              </a:ext>
            </a:extLst>
          </p:cNvPr>
          <p:cNvSpPr/>
          <p:nvPr/>
        </p:nvSpPr>
        <p:spPr>
          <a:xfrm>
            <a:off x="37936" y="3058319"/>
            <a:ext cx="5846029" cy="330200"/>
          </a:xfrm>
          <a:prstGeom prst="roundRect">
            <a:avLst/>
          </a:prstGeom>
          <a:solidFill>
            <a:srgbClr val="F2F4FB"/>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800" b="1" dirty="0">
                <a:solidFill>
                  <a:srgbClr val="6F4294"/>
                </a:solidFill>
                <a:latin typeface="Montserrat"/>
              </a:rPr>
              <a:t>Generation parameters   ·   Temperature 0.2   ·   Top-p 0.9   ·   Top-k 40   ·   Max tokens 256   ·   Repeat penalty 1.1</a:t>
            </a:r>
          </a:p>
        </p:txBody>
      </p:sp>
      <p:pic>
        <p:nvPicPr>
          <p:cNvPr id="4" name="Picture 3">
            <a:extLst>
              <a:ext uri="{FF2B5EF4-FFF2-40B4-BE49-F238E27FC236}">
                <a16:creationId xmlns:a16="http://schemas.microsoft.com/office/drawing/2014/main" id="{6F6C3139-F92D-E42A-1CA4-F575C77BC70A}"/>
              </a:ext>
            </a:extLst>
          </p:cNvPr>
          <p:cNvPicPr>
            <a:picLocks noChangeAspect="1"/>
          </p:cNvPicPr>
          <p:nvPr/>
        </p:nvPicPr>
        <p:blipFill>
          <a:blip r:embed="rId3"/>
          <a:stretch>
            <a:fillRect/>
          </a:stretch>
        </p:blipFill>
        <p:spPr>
          <a:xfrm>
            <a:off x="37936" y="3464415"/>
            <a:ext cx="7394669" cy="1640618"/>
          </a:xfrm>
          <a:prstGeom prst="rect">
            <a:avLst/>
          </a:prstGeom>
        </p:spPr>
      </p:pic>
    </p:spTree>
    <p:extLst>
      <p:ext uri="{BB962C8B-B14F-4D97-AF65-F5344CB8AC3E}">
        <p14:creationId xmlns:p14="http://schemas.microsoft.com/office/powerpoint/2010/main" val="39363941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64FD7AB4-6ADA-7BAA-389D-0DAB3D03AF62}"/>
            </a:ext>
          </a:extLst>
        </p:cNvPr>
        <p:cNvGrpSpPr/>
        <p:nvPr/>
      </p:nvGrpSpPr>
      <p:grpSpPr>
        <a:xfrm>
          <a:off x="0" y="0"/>
          <a:ext cx="0" cy="0"/>
          <a:chOff x="0" y="0"/>
          <a:chExt cx="0" cy="0"/>
        </a:xfrm>
      </p:grpSpPr>
      <p:sp>
        <p:nvSpPr>
          <p:cNvPr id="262" name="Google Shape;262;p53">
            <a:extLst>
              <a:ext uri="{FF2B5EF4-FFF2-40B4-BE49-F238E27FC236}">
                <a16:creationId xmlns:a16="http://schemas.microsoft.com/office/drawing/2014/main" id="{328D0251-33B1-CCC1-2663-B8576B4A7416}"/>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br>
              <a:rPr lang="en-US" sz="2400" dirty="0">
                <a:solidFill>
                  <a:srgbClr val="0E39A9"/>
                </a:solidFill>
              </a:rPr>
            </a:br>
            <a:r>
              <a:rPr lang="en-US" sz="2400" dirty="0">
                <a:solidFill>
                  <a:srgbClr val="0E39A9"/>
                </a:solidFill>
              </a:rPr>
              <a:t>Query 4 · Traumatic Brain Injury</a:t>
            </a:r>
            <a:endParaRPr sz="2400" dirty="0">
              <a:solidFill>
                <a:srgbClr val="0E39A9"/>
              </a:solidFill>
            </a:endParaRPr>
          </a:p>
        </p:txBody>
      </p:sp>
      <p:sp>
        <p:nvSpPr>
          <p:cNvPr id="5" name="QAContent">
            <a:extLst>
              <a:ext uri="{FF2B5EF4-FFF2-40B4-BE49-F238E27FC236}">
                <a16:creationId xmlns:a16="http://schemas.microsoft.com/office/drawing/2014/main" id="{EB54FABE-DF9B-B845-98B2-77304F1005EC}"/>
              </a:ext>
            </a:extLst>
          </p:cNvPr>
          <p:cNvSpPr txBox="1"/>
          <p:nvPr/>
        </p:nvSpPr>
        <p:spPr>
          <a:xfrm>
            <a:off x="41087" y="1016000"/>
            <a:ext cx="9011023" cy="2357056"/>
          </a:xfrm>
          <a:prstGeom prst="rect">
            <a:avLst/>
          </a:prstGeom>
          <a:noFill/>
        </p:spPr>
        <p:txBody>
          <a:bodyPr vertOverflow="overflow" vert="horz" wrap="square" rtlCol="0" anchor="t">
            <a:spAutoFit/>
          </a:bodyPr>
          <a:lstStyle/>
          <a:p>
            <a:pPr>
              <a:buNone/>
            </a:pPr>
            <a:r>
              <a:rPr lang="en-US" sz="1000" b="1" dirty="0">
                <a:solidFill>
                  <a:srgbClr val="6F4294"/>
                </a:solidFill>
              </a:rPr>
              <a:t>QUESTION</a:t>
            </a:r>
          </a:p>
          <a:p>
            <a:pPr>
              <a:spcAft>
                <a:spcPts val="400"/>
              </a:spcAft>
              <a:buNone/>
            </a:pPr>
            <a:r>
              <a:rPr lang="en-US" sz="1100" b="1" dirty="0">
                <a:solidFill>
                  <a:srgbClr val="222222"/>
                </a:solidFill>
              </a:rPr>
              <a:t>What treatments are recommended for a person who has sustained a physical injury to brain tissue, resulting in temporary or permanent impairment of brain function?</a:t>
            </a:r>
          </a:p>
          <a:p>
            <a:pPr>
              <a:spcBef>
                <a:spcPts val="600"/>
              </a:spcBef>
              <a:buNone/>
            </a:pPr>
            <a:r>
              <a:rPr lang="en-US" sz="1000" b="1" dirty="0">
                <a:solidFill>
                  <a:srgbClr val="0E39A9"/>
                </a:solidFill>
              </a:rPr>
              <a:t>RESPONSE</a:t>
            </a:r>
          </a:p>
          <a:p>
            <a:pPr>
              <a:spcAft>
                <a:spcPts val="400"/>
              </a:spcAft>
              <a:buNone/>
            </a:pPr>
            <a:r>
              <a:rPr lang="en-US" sz="1050" dirty="0">
                <a:solidFill>
                  <a:srgbClr val="222222"/>
                </a:solidFill>
              </a:rPr>
              <a:t>A person with a brain injury may require various treatments depending on the severity and location of the injury. Here are some common treatments:</a:t>
            </a:r>
          </a:p>
          <a:p>
            <a:pPr>
              <a:spcAft>
                <a:spcPts val="400"/>
              </a:spcAft>
              <a:buNone/>
            </a:pPr>
            <a:r>
              <a:rPr lang="en-US" sz="1050" dirty="0">
                <a:solidFill>
                  <a:srgbClr val="222222"/>
                </a:solidFill>
              </a:rPr>
              <a:t>1. Emergency care: For severe brain injuries, emergency care is essential to prevent further damage and ensure the patient's safety. This may include surgery to remove hematomas or other obstructions, intubation and mechanical ventilation, and administration of medications to manage increased intracranial pressure or seizures.</a:t>
            </a:r>
          </a:p>
          <a:p>
            <a:pPr>
              <a:spcAft>
                <a:spcPts val="400"/>
              </a:spcAft>
              <a:buNone/>
            </a:pPr>
            <a:r>
              <a:rPr lang="en-US" sz="1050" dirty="0">
                <a:solidFill>
                  <a:srgbClr val="222222"/>
                </a:solidFill>
              </a:rPr>
              <a:t>2. Rehabilitation: Rehabilitation is a crucial component of brain injury treatment. It may involve physical therapy to help the patient regain mobility,</a:t>
            </a:r>
          </a:p>
          <a:p>
            <a:pPr>
              <a:spcAft>
                <a:spcPts val="400"/>
              </a:spcAft>
              <a:buNone/>
            </a:pPr>
            <a:r>
              <a:rPr lang="en-US" sz="1000" b="1" dirty="0">
                <a:solidFill>
                  <a:srgbClr val="C77700"/>
                </a:solidFill>
              </a:rPr>
              <a:t>COMMENTS / OBSERVATIONS</a:t>
            </a:r>
          </a:p>
          <a:p>
            <a:pPr>
              <a:buNone/>
            </a:pPr>
            <a:r>
              <a:rPr lang="en-US" sz="1050" i="1" dirty="0">
                <a:solidFill>
                  <a:srgbClr val="444444"/>
                </a:solidFill>
              </a:rPr>
              <a:t>Well-organized, covering emergency care then medications, but truncated mid-sentence at step 2 — before the full medication list and later steps such as rehabilitation. Reflects the max-tokens limit.</a:t>
            </a:r>
          </a:p>
        </p:txBody>
      </p:sp>
      <p:sp>
        <p:nvSpPr>
          <p:cNvPr id="2" name="Google Shape;262;p53">
            <a:extLst>
              <a:ext uri="{FF2B5EF4-FFF2-40B4-BE49-F238E27FC236}">
                <a16:creationId xmlns:a16="http://schemas.microsoft.com/office/drawing/2014/main" id="{38A5AD9A-3667-AAA9-813F-B65476F6F387}"/>
              </a:ext>
            </a:extLst>
          </p:cNvPr>
          <p:cNvSpPr txBox="1">
            <a:spLocks/>
          </p:cNvSpPr>
          <p:nvPr/>
        </p:nvSpPr>
        <p:spPr>
          <a:xfrm>
            <a:off x="203654" y="289279"/>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2400">
                <a:solidFill>
                  <a:srgbClr val="0E39A9"/>
                </a:solidFill>
              </a:rPr>
              <a:t>Question Answering using LLM with Prompt Engineering</a:t>
            </a:r>
            <a:endParaRPr lang="en-US" sz="2400" dirty="0">
              <a:solidFill>
                <a:srgbClr val="0E39A9"/>
              </a:solidFill>
            </a:endParaRPr>
          </a:p>
        </p:txBody>
      </p:sp>
      <p:sp>
        <p:nvSpPr>
          <p:cNvPr id="3" name="ParamStrip">
            <a:extLst>
              <a:ext uri="{FF2B5EF4-FFF2-40B4-BE49-F238E27FC236}">
                <a16:creationId xmlns:a16="http://schemas.microsoft.com/office/drawing/2014/main" id="{FB5C154B-095D-404D-86A2-1130AEB2A313}"/>
              </a:ext>
            </a:extLst>
          </p:cNvPr>
          <p:cNvSpPr/>
          <p:nvPr/>
        </p:nvSpPr>
        <p:spPr>
          <a:xfrm>
            <a:off x="41087" y="3348797"/>
            <a:ext cx="6956062" cy="330200"/>
          </a:xfrm>
          <a:prstGeom prst="roundRect">
            <a:avLst/>
          </a:prstGeom>
          <a:solidFill>
            <a:srgbClr val="F2F4FB"/>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b="1" dirty="0">
                <a:solidFill>
                  <a:srgbClr val="6F4294"/>
                </a:solidFill>
                <a:latin typeface="Montserrat"/>
              </a:rPr>
              <a:t>Generation parameters   ·   Temperature 0.2   ·   Top-p 0.9   ·   Top-k 40   ·   Max tokens 256   ·   Repeat penalty 1.1</a:t>
            </a:r>
          </a:p>
        </p:txBody>
      </p:sp>
      <p:pic>
        <p:nvPicPr>
          <p:cNvPr id="4" name="Picture 3">
            <a:extLst>
              <a:ext uri="{FF2B5EF4-FFF2-40B4-BE49-F238E27FC236}">
                <a16:creationId xmlns:a16="http://schemas.microsoft.com/office/drawing/2014/main" id="{419CF396-6F72-AABF-4A2D-ED385AFC44E4}"/>
              </a:ext>
            </a:extLst>
          </p:cNvPr>
          <p:cNvPicPr>
            <a:picLocks noChangeAspect="1"/>
          </p:cNvPicPr>
          <p:nvPr/>
        </p:nvPicPr>
        <p:blipFill>
          <a:blip r:embed="rId3"/>
          <a:stretch>
            <a:fillRect/>
          </a:stretch>
        </p:blipFill>
        <p:spPr>
          <a:xfrm>
            <a:off x="41087" y="3725002"/>
            <a:ext cx="5813061" cy="1418498"/>
          </a:xfrm>
          <a:prstGeom prst="rect">
            <a:avLst/>
          </a:prstGeom>
        </p:spPr>
      </p:pic>
    </p:spTree>
    <p:extLst>
      <p:ext uri="{BB962C8B-B14F-4D97-AF65-F5344CB8AC3E}">
        <p14:creationId xmlns:p14="http://schemas.microsoft.com/office/powerpoint/2010/main" val="12903427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64FD7AB4-6ADA-7BAA-389D-0DAB3D03AF62}"/>
            </a:ext>
          </a:extLst>
        </p:cNvPr>
        <p:cNvGrpSpPr/>
        <p:nvPr/>
      </p:nvGrpSpPr>
      <p:grpSpPr>
        <a:xfrm>
          <a:off x="0" y="0"/>
          <a:ext cx="0" cy="0"/>
          <a:chOff x="0" y="0"/>
          <a:chExt cx="0" cy="0"/>
        </a:xfrm>
      </p:grpSpPr>
      <p:sp>
        <p:nvSpPr>
          <p:cNvPr id="262" name="Google Shape;262;p53">
            <a:extLst>
              <a:ext uri="{FF2B5EF4-FFF2-40B4-BE49-F238E27FC236}">
                <a16:creationId xmlns:a16="http://schemas.microsoft.com/office/drawing/2014/main" id="{328D0251-33B1-CCC1-2663-B8576B4A7416}"/>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br>
              <a:rPr lang="en-US" sz="2400" dirty="0">
                <a:solidFill>
                  <a:srgbClr val="0E39A9"/>
                </a:solidFill>
              </a:rPr>
            </a:br>
            <a:r>
              <a:rPr lang="en-US" sz="2400" dirty="0">
                <a:solidFill>
                  <a:srgbClr val="0E39A9"/>
                </a:solidFill>
              </a:rPr>
              <a:t>Query 5 · Leg Fracture (Hiking)</a:t>
            </a:r>
            <a:endParaRPr sz="2400" dirty="0">
              <a:solidFill>
                <a:srgbClr val="0E39A9"/>
              </a:solidFill>
            </a:endParaRPr>
          </a:p>
        </p:txBody>
      </p:sp>
      <p:sp>
        <p:nvSpPr>
          <p:cNvPr id="5" name="QAContent">
            <a:extLst>
              <a:ext uri="{FF2B5EF4-FFF2-40B4-BE49-F238E27FC236}">
                <a16:creationId xmlns:a16="http://schemas.microsoft.com/office/drawing/2014/main" id="{EB54FABE-DF9B-B845-98B2-77304F1005EC}"/>
              </a:ext>
            </a:extLst>
          </p:cNvPr>
          <p:cNvSpPr txBox="1"/>
          <p:nvPr/>
        </p:nvSpPr>
        <p:spPr>
          <a:xfrm>
            <a:off x="0" y="1089560"/>
            <a:ext cx="9077925" cy="2036455"/>
          </a:xfrm>
          <a:prstGeom prst="rect">
            <a:avLst/>
          </a:prstGeom>
          <a:noFill/>
        </p:spPr>
        <p:txBody>
          <a:bodyPr vertOverflow="overflow" vert="horz" wrap="square" rtlCol="0" anchor="t">
            <a:spAutoFit/>
          </a:bodyPr>
          <a:lstStyle/>
          <a:p>
            <a:pPr>
              <a:buNone/>
            </a:pPr>
            <a:r>
              <a:rPr lang="en-US" sz="900" b="1" dirty="0">
                <a:solidFill>
                  <a:srgbClr val="6F4294"/>
                </a:solidFill>
              </a:rPr>
              <a:t>QUESTION</a:t>
            </a:r>
          </a:p>
          <a:p>
            <a:pPr>
              <a:spcAft>
                <a:spcPts val="400"/>
              </a:spcAft>
              <a:buNone/>
            </a:pPr>
            <a:r>
              <a:rPr lang="en-US" sz="1050" b="1" dirty="0">
                <a:solidFill>
                  <a:srgbClr val="222222"/>
                </a:solidFill>
              </a:rPr>
              <a:t>What are the necessary precautions and treatment steps for a person who has fractured their leg during a hiking trip, and what should be considered for their care and recovery?</a:t>
            </a:r>
          </a:p>
          <a:p>
            <a:pPr>
              <a:spcBef>
                <a:spcPts val="600"/>
              </a:spcBef>
              <a:buNone/>
            </a:pPr>
            <a:r>
              <a:rPr lang="en-US" sz="900" b="1" dirty="0">
                <a:solidFill>
                  <a:srgbClr val="0E39A9"/>
                </a:solidFill>
              </a:rPr>
              <a:t>RESPONSE</a:t>
            </a:r>
          </a:p>
          <a:p>
            <a:pPr>
              <a:spcAft>
                <a:spcPts val="400"/>
              </a:spcAft>
              <a:buNone/>
            </a:pPr>
            <a:r>
              <a:rPr lang="en-US" sz="1000" dirty="0">
                <a:solidFill>
                  <a:srgbClr val="222222"/>
                </a:solidFill>
              </a:rPr>
              <a:t>A fractured leg, also known as a broken leg, is a common injury that can occur during hiking due to falls, tripping over rocks or roots, or other traumatic events. The necessary precautions and treatment steps for a person with a fractured leg are as follows:</a:t>
            </a:r>
          </a:p>
          <a:p>
            <a:pPr>
              <a:spcAft>
                <a:spcPts val="400"/>
              </a:spcAft>
              <a:buNone/>
            </a:pPr>
            <a:r>
              <a:rPr lang="en-US" sz="1000" dirty="0">
                <a:solidFill>
                  <a:srgbClr val="222222"/>
                </a:solidFill>
              </a:rPr>
              <a:t>Assess the severity of the injury: If you suspect a fracture, do not move the person unless it is necessary to prevent further harm or danger. Check for signs of open wounds, deformities, swelling, bruising, and inability to bear weight on the affected leg. If there are any</a:t>
            </a:r>
          </a:p>
          <a:p>
            <a:pPr>
              <a:spcAft>
                <a:spcPts val="400"/>
              </a:spcAft>
            </a:pPr>
            <a:r>
              <a:rPr lang="en-US" sz="900" b="1" dirty="0">
                <a:solidFill>
                  <a:srgbClr val="C77700"/>
                </a:solidFill>
              </a:rPr>
              <a:t>COMMENTS / OBSERVATIONS</a:t>
            </a:r>
          </a:p>
          <a:p>
            <a:pPr>
              <a:buNone/>
            </a:pPr>
            <a:r>
              <a:rPr lang="en-US" sz="1000" i="1" dirty="0">
                <a:solidFill>
                  <a:srgbClr val="444444"/>
                </a:solidFill>
              </a:rPr>
              <a:t>Practical and well-prioritized first aid — safety, calming the patient, shock assessment, immobilization. Truncated mid-word at step 3, before reaching the care-and-recovery portion of the question (transport, pain management, follow-up).</a:t>
            </a:r>
          </a:p>
        </p:txBody>
      </p:sp>
      <p:sp>
        <p:nvSpPr>
          <p:cNvPr id="2" name="Google Shape;262;p53">
            <a:extLst>
              <a:ext uri="{FF2B5EF4-FFF2-40B4-BE49-F238E27FC236}">
                <a16:creationId xmlns:a16="http://schemas.microsoft.com/office/drawing/2014/main" id="{05A9C5E2-BDBB-52B3-8E5A-A62F9CDA946C}"/>
              </a:ext>
            </a:extLst>
          </p:cNvPr>
          <p:cNvSpPr txBox="1">
            <a:spLocks/>
          </p:cNvSpPr>
          <p:nvPr/>
        </p:nvSpPr>
        <p:spPr>
          <a:xfrm>
            <a:off x="202550" y="289279"/>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2400" dirty="0">
                <a:solidFill>
                  <a:srgbClr val="0E39A9"/>
                </a:solidFill>
              </a:rPr>
              <a:t>Question Answering using LLM with Prompt Engineering</a:t>
            </a:r>
          </a:p>
        </p:txBody>
      </p:sp>
      <p:sp>
        <p:nvSpPr>
          <p:cNvPr id="3" name="ParamStrip">
            <a:extLst>
              <a:ext uri="{FF2B5EF4-FFF2-40B4-BE49-F238E27FC236}">
                <a16:creationId xmlns:a16="http://schemas.microsoft.com/office/drawing/2014/main" id="{A53D3325-6DFD-274A-B0AF-D8F5FE0D0E59}"/>
              </a:ext>
            </a:extLst>
          </p:cNvPr>
          <p:cNvSpPr/>
          <p:nvPr/>
        </p:nvSpPr>
        <p:spPr>
          <a:xfrm>
            <a:off x="-2" y="3162869"/>
            <a:ext cx="6937514" cy="330200"/>
          </a:xfrm>
          <a:prstGeom prst="roundRect">
            <a:avLst/>
          </a:prstGeom>
          <a:solidFill>
            <a:srgbClr val="F2F4FB"/>
          </a:solidFill>
          <a:ln w="25400" cap="flat" cmpd="sng" algn="ctr">
            <a:noFill/>
            <a:prstDash val="solid"/>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sz="900" b="1" dirty="0">
                <a:solidFill>
                  <a:srgbClr val="6F4294"/>
                </a:solidFill>
                <a:latin typeface="Montserrat"/>
              </a:rPr>
              <a:t>Generation parameters   ·   Temperature 0.2   ·   Top-p 0.9   ·   Top-k 40   ·   Max tokens 256   ·   Repeat penalty 1.1</a:t>
            </a:r>
          </a:p>
        </p:txBody>
      </p:sp>
      <p:pic>
        <p:nvPicPr>
          <p:cNvPr id="4" name="Picture 3">
            <a:extLst>
              <a:ext uri="{FF2B5EF4-FFF2-40B4-BE49-F238E27FC236}">
                <a16:creationId xmlns:a16="http://schemas.microsoft.com/office/drawing/2014/main" id="{21273466-75EC-F261-FB0C-B9FF89D87484}"/>
              </a:ext>
            </a:extLst>
          </p:cNvPr>
          <p:cNvPicPr>
            <a:picLocks noChangeAspect="1"/>
          </p:cNvPicPr>
          <p:nvPr/>
        </p:nvPicPr>
        <p:blipFill>
          <a:blip r:embed="rId3"/>
          <a:stretch>
            <a:fillRect/>
          </a:stretch>
        </p:blipFill>
        <p:spPr>
          <a:xfrm>
            <a:off x="-2" y="3529924"/>
            <a:ext cx="6748672" cy="1613575"/>
          </a:xfrm>
          <a:prstGeom prst="rect">
            <a:avLst/>
          </a:prstGeom>
        </p:spPr>
      </p:pic>
    </p:spTree>
    <p:extLst>
      <p:ext uri="{BB962C8B-B14F-4D97-AF65-F5344CB8AC3E}">
        <p14:creationId xmlns:p14="http://schemas.microsoft.com/office/powerpoint/2010/main" val="8428856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260">
          <a:extLst>
            <a:ext uri="{FF2B5EF4-FFF2-40B4-BE49-F238E27FC236}">
              <a16:creationId xmlns:a16="http://schemas.microsoft.com/office/drawing/2014/main" id="{64FD7AB4-6ADA-7BAA-389D-0DAB3D03AF62}"/>
            </a:ext>
          </a:extLst>
        </p:cNvPr>
        <p:cNvGrpSpPr/>
        <p:nvPr/>
      </p:nvGrpSpPr>
      <p:grpSpPr>
        <a:xfrm>
          <a:off x="0" y="0"/>
          <a:ext cx="0" cy="0"/>
          <a:chOff x="0" y="0"/>
          <a:chExt cx="0" cy="0"/>
        </a:xfrm>
      </p:grpSpPr>
      <p:sp>
        <p:nvSpPr>
          <p:cNvPr id="262" name="Google Shape;262;p53">
            <a:extLst>
              <a:ext uri="{FF2B5EF4-FFF2-40B4-BE49-F238E27FC236}">
                <a16:creationId xmlns:a16="http://schemas.microsoft.com/office/drawing/2014/main" id="{328D0251-33B1-CCC1-2663-B8576B4A7416}"/>
              </a:ext>
            </a:extLst>
          </p:cNvPr>
          <p:cNvSpPr txBox="1">
            <a:spLocks noGrp="1"/>
          </p:cNvSpPr>
          <p:nvPr>
            <p:ph type="title"/>
          </p:nvPr>
        </p:nvSpPr>
        <p:spPr>
          <a:xfrm>
            <a:off x="202550" y="633800"/>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US" sz="2400" dirty="0">
                <a:solidFill>
                  <a:srgbClr val="0E39A9"/>
                </a:solidFill>
              </a:rPr>
              <a:t>Parameter Tuning · Current → Recommended</a:t>
            </a:r>
            <a:endParaRPr sz="2400" dirty="0">
              <a:solidFill>
                <a:srgbClr val="0E39A9"/>
              </a:solidFill>
            </a:endParaRPr>
          </a:p>
        </p:txBody>
      </p:sp>
      <p:sp>
        <p:nvSpPr>
          <p:cNvPr id="6" name="TextBox 5">
            <a:extLst>
              <a:ext uri="{FF2B5EF4-FFF2-40B4-BE49-F238E27FC236}">
                <a16:creationId xmlns:a16="http://schemas.microsoft.com/office/drawing/2014/main" id="{3EF60DD3-1132-8243-B33B-107B50F7867A}"/>
              </a:ext>
            </a:extLst>
          </p:cNvPr>
          <p:cNvSpPr txBox="1"/>
          <p:nvPr/>
        </p:nvSpPr>
        <p:spPr>
          <a:xfrm>
            <a:off x="330200" y="1016000"/>
            <a:ext cx="8483600" cy="381000"/>
          </a:xfrm>
          <a:prstGeom prst="rect">
            <a:avLst/>
          </a:prstGeom>
          <a:noFill/>
        </p:spPr>
        <p:txBody>
          <a:bodyPr vertOverflow="overflow" vert="horz" wrap="square" rtlCol="0" anchor="t">
            <a:spAutoFit/>
          </a:bodyPr>
          <a:lstStyle/>
          <a:p>
            <a:pPr algn="l"/>
            <a:r>
              <a:rPr lang="en-US" sz="1200" i="1">
                <a:solidFill>
                  <a:srgbClr val="6F4294"/>
                </a:solidFill>
                <a:latin typeface="Montserrat"/>
              </a:rPr>
              <a:t>Top-p (0.9), Top-k (40) and Repeat penalty (1.1) held constant — Temperature and Max tokens tuned per question.</a:t>
            </a:r>
          </a:p>
        </p:txBody>
      </p:sp>
      <p:graphicFrame>
        <p:nvGraphicFramePr>
          <p:cNvPr id="8" name="Table 7">
            <a:extLst>
              <a:ext uri="{FF2B5EF4-FFF2-40B4-BE49-F238E27FC236}">
                <a16:creationId xmlns:a16="http://schemas.microsoft.com/office/drawing/2014/main" id="{66C51CC5-5408-B04B-B1D3-4DBB6782E834}"/>
              </a:ext>
            </a:extLst>
          </p:cNvPr>
          <p:cNvGraphicFramePr>
            <a:graphicFrameLocks noGrp="1"/>
          </p:cNvGraphicFramePr>
          <p:nvPr>
            <p:extLst>
              <p:ext uri="{D42A27DB-BD31-4B8C-83A1-F6EECF244321}">
                <p14:modId xmlns:p14="http://schemas.microsoft.com/office/powerpoint/2010/main" val="2961387888"/>
              </p:ext>
            </p:extLst>
          </p:nvPr>
        </p:nvGraphicFramePr>
        <p:xfrm>
          <a:off x="330200" y="1473200"/>
          <a:ext cx="8483600" cy="3108960"/>
        </p:xfrm>
        <a:graphic>
          <a:graphicData uri="http://schemas.openxmlformats.org/drawingml/2006/table">
            <a:tbl>
              <a:tblPr firstRow="1" bandRow="1">
                <a:tableStyleId>{11B3D4AF-D05D-46CC-AD48-3D6A0D768892}</a:tableStyleId>
              </a:tblPr>
              <a:tblGrid>
                <a:gridCol w="990600">
                  <a:extLst>
                    <a:ext uri="{9D8B030D-6E8A-4147-A177-3AD203B41FA5}">
                      <a16:colId xmlns:a16="http://schemas.microsoft.com/office/drawing/2014/main" val="3741321166"/>
                    </a:ext>
                  </a:extLst>
                </a:gridCol>
                <a:gridCol w="635000">
                  <a:extLst>
                    <a:ext uri="{9D8B030D-6E8A-4147-A177-3AD203B41FA5}">
                      <a16:colId xmlns:a16="http://schemas.microsoft.com/office/drawing/2014/main" val="1856227762"/>
                    </a:ext>
                  </a:extLst>
                </a:gridCol>
                <a:gridCol w="558800">
                  <a:extLst>
                    <a:ext uri="{9D8B030D-6E8A-4147-A177-3AD203B41FA5}">
                      <a16:colId xmlns:a16="http://schemas.microsoft.com/office/drawing/2014/main" val="3031893619"/>
                    </a:ext>
                  </a:extLst>
                </a:gridCol>
                <a:gridCol w="558800">
                  <a:extLst>
                    <a:ext uri="{9D8B030D-6E8A-4147-A177-3AD203B41FA5}">
                      <a16:colId xmlns:a16="http://schemas.microsoft.com/office/drawing/2014/main" val="3831153667"/>
                    </a:ext>
                  </a:extLst>
                </a:gridCol>
                <a:gridCol w="863600">
                  <a:extLst>
                    <a:ext uri="{9D8B030D-6E8A-4147-A177-3AD203B41FA5}">
                      <a16:colId xmlns:a16="http://schemas.microsoft.com/office/drawing/2014/main" val="3698198261"/>
                    </a:ext>
                  </a:extLst>
                </a:gridCol>
                <a:gridCol w="584200">
                  <a:extLst>
                    <a:ext uri="{9D8B030D-6E8A-4147-A177-3AD203B41FA5}">
                      <a16:colId xmlns:a16="http://schemas.microsoft.com/office/drawing/2014/main" val="272583422"/>
                    </a:ext>
                  </a:extLst>
                </a:gridCol>
                <a:gridCol w="4292600">
                  <a:extLst>
                    <a:ext uri="{9D8B030D-6E8A-4147-A177-3AD203B41FA5}">
                      <a16:colId xmlns:a16="http://schemas.microsoft.com/office/drawing/2014/main" val="971737142"/>
                    </a:ext>
                  </a:extLst>
                </a:gridCol>
              </a:tblGrid>
              <a:tr h="254000">
                <a:tc>
                  <a:txBody>
                    <a:bodyPr/>
                    <a:lstStyle/>
                    <a:p>
                      <a:pPr algn="ctr"/>
                      <a:r>
                        <a:rPr lang="en-US" sz="1100" b="1">
                          <a:solidFill>
                            <a:srgbClr val="FFFFFF"/>
                          </a:solidFill>
                        </a:rPr>
                        <a:t>Query</a:t>
                      </a:r>
                    </a:p>
                  </a:txBody>
                  <a:tcPr anchor="ctr">
                    <a:solidFill>
                      <a:srgbClr val="6F4294"/>
                    </a:solidFill>
                  </a:tcPr>
                </a:tc>
                <a:tc>
                  <a:txBody>
                    <a:bodyPr/>
                    <a:lstStyle/>
                    <a:p>
                      <a:pPr algn="ctr"/>
                      <a:r>
                        <a:rPr lang="en-US" sz="1100" b="1">
                          <a:solidFill>
                            <a:srgbClr val="FFFFFF"/>
                          </a:solidFill>
                        </a:rPr>
                        <a:t>Temp</a:t>
                      </a:r>
                    </a:p>
                  </a:txBody>
                  <a:tcPr anchor="ctr">
                    <a:solidFill>
                      <a:srgbClr val="6F4294"/>
                    </a:solidFill>
                  </a:tcPr>
                </a:tc>
                <a:tc>
                  <a:txBody>
                    <a:bodyPr/>
                    <a:lstStyle/>
                    <a:p>
                      <a:pPr algn="ctr"/>
                      <a:r>
                        <a:rPr lang="en-US" sz="1100" b="1">
                          <a:solidFill>
                            <a:srgbClr val="FFFFFF"/>
                          </a:solidFill>
                        </a:rPr>
                        <a:t>Top-p</a:t>
                      </a:r>
                    </a:p>
                  </a:txBody>
                  <a:tcPr anchor="ctr">
                    <a:solidFill>
                      <a:srgbClr val="6F4294"/>
                    </a:solidFill>
                  </a:tcPr>
                </a:tc>
                <a:tc>
                  <a:txBody>
                    <a:bodyPr/>
                    <a:lstStyle/>
                    <a:p>
                      <a:pPr algn="ctr"/>
                      <a:r>
                        <a:rPr lang="en-US" sz="1100" b="1">
                          <a:solidFill>
                            <a:srgbClr val="FFFFFF"/>
                          </a:solidFill>
                        </a:rPr>
                        <a:t>Top-k</a:t>
                      </a:r>
                    </a:p>
                  </a:txBody>
                  <a:tcPr anchor="ctr">
                    <a:solidFill>
                      <a:srgbClr val="6F4294"/>
                    </a:solidFill>
                  </a:tcPr>
                </a:tc>
                <a:tc>
                  <a:txBody>
                    <a:bodyPr/>
                    <a:lstStyle/>
                    <a:p>
                      <a:pPr algn="ctr"/>
                      <a:r>
                        <a:rPr lang="en-US" sz="1100" b="1">
                          <a:solidFill>
                            <a:srgbClr val="FFFFFF"/>
                          </a:solidFill>
                        </a:rPr>
                        <a:t>Max tok</a:t>
                      </a:r>
                    </a:p>
                  </a:txBody>
                  <a:tcPr anchor="ctr">
                    <a:solidFill>
                      <a:srgbClr val="6F4294"/>
                    </a:solidFill>
                  </a:tcPr>
                </a:tc>
                <a:tc>
                  <a:txBody>
                    <a:bodyPr/>
                    <a:lstStyle/>
                    <a:p>
                      <a:pPr algn="ctr"/>
                      <a:r>
                        <a:rPr lang="en-US" sz="1100" b="1">
                          <a:solidFill>
                            <a:srgbClr val="FFFFFF"/>
                          </a:solidFill>
                        </a:rPr>
                        <a:t>Repeat</a:t>
                      </a:r>
                    </a:p>
                  </a:txBody>
                  <a:tcPr anchor="ctr">
                    <a:solidFill>
                      <a:srgbClr val="6F4294"/>
                    </a:solidFill>
                  </a:tcPr>
                </a:tc>
                <a:tc>
                  <a:txBody>
                    <a:bodyPr/>
                    <a:lstStyle/>
                    <a:p>
                      <a:pPr algn="ctr"/>
                      <a:r>
                        <a:rPr lang="en-US" sz="1100" b="1">
                          <a:solidFill>
                            <a:srgbClr val="FFFFFF"/>
                          </a:solidFill>
                        </a:rPr>
                        <a:t>Reason for the recommended change</a:t>
                      </a:r>
                    </a:p>
                  </a:txBody>
                  <a:tcPr anchor="ctr">
                    <a:solidFill>
                      <a:srgbClr val="6F4294"/>
                    </a:solidFill>
                  </a:tcPr>
                </a:tc>
                <a:extLst>
                  <a:ext uri="{0D108BD9-81ED-4DB2-BD59-A6C34878D82A}">
                    <a16:rowId xmlns:a16="http://schemas.microsoft.com/office/drawing/2014/main" val="1240258343"/>
                  </a:ext>
                </a:extLst>
              </a:tr>
              <a:tr h="533400">
                <a:tc>
                  <a:txBody>
                    <a:bodyPr/>
                    <a:lstStyle/>
                    <a:p>
                      <a:pPr algn="l"/>
                      <a:r>
                        <a:rPr lang="en-US" sz="1000" b="1">
                          <a:solidFill>
                            <a:srgbClr val="0E39A9"/>
                          </a:solidFill>
                        </a:rPr>
                        <a:t>Q1 · Sepsis</a:t>
                      </a:r>
                    </a:p>
                  </a:txBody>
                  <a:tcPr anchor="ctr">
                    <a:solidFill>
                      <a:srgbClr val="F2F4FB"/>
                    </a:solidFill>
                  </a:tcPr>
                </a:tc>
                <a:tc>
                  <a:txBody>
                    <a:bodyPr/>
                    <a:lstStyle/>
                    <a:p>
                      <a:pPr algn="ctr"/>
                      <a:r>
                        <a:rPr lang="en-US" sz="1000" b="1">
                          <a:solidFill>
                            <a:srgbClr val="222222"/>
                          </a:solidFill>
                        </a:rPr>
                        <a:t>0.2 → 0.1</a:t>
                      </a:r>
                    </a:p>
                  </a:txBody>
                  <a:tcPr anchor="ctr"/>
                </a:tc>
                <a:tc>
                  <a:txBody>
                    <a:bodyPr/>
                    <a:lstStyle/>
                    <a:p>
                      <a:pPr algn="ctr"/>
                      <a:r>
                        <a:rPr lang="en-US" sz="1000" b="0">
                          <a:solidFill>
                            <a:srgbClr val="222222"/>
                          </a:solidFill>
                        </a:rPr>
                        <a:t>0.9</a:t>
                      </a:r>
                    </a:p>
                  </a:txBody>
                  <a:tcPr anchor="ctr"/>
                </a:tc>
                <a:tc>
                  <a:txBody>
                    <a:bodyPr/>
                    <a:lstStyle/>
                    <a:p>
                      <a:pPr algn="ctr"/>
                      <a:r>
                        <a:rPr lang="en-US" sz="1000" b="0">
                          <a:solidFill>
                            <a:srgbClr val="222222"/>
                          </a:solidFill>
                        </a:rPr>
                        <a:t>40</a:t>
                      </a:r>
                    </a:p>
                  </a:txBody>
                  <a:tcPr anchor="ctr"/>
                </a:tc>
                <a:tc>
                  <a:txBody>
                    <a:bodyPr/>
                    <a:lstStyle/>
                    <a:p>
                      <a:pPr algn="ctr"/>
                      <a:r>
                        <a:rPr lang="en-US" sz="1000" b="1">
                          <a:solidFill>
                            <a:srgbClr val="222222"/>
                          </a:solidFill>
                        </a:rPr>
                        <a:t>256 → 512</a:t>
                      </a:r>
                    </a:p>
                  </a:txBody>
                  <a:tcPr anchor="ctr"/>
                </a:tc>
                <a:tc>
                  <a:txBody>
                    <a:bodyPr/>
                    <a:lstStyle/>
                    <a:p>
                      <a:pPr algn="ctr"/>
                      <a:r>
                        <a:rPr lang="en-US" sz="1000" b="0">
                          <a:solidFill>
                            <a:srgbClr val="222222"/>
                          </a:solidFill>
                        </a:rPr>
                        <a:t>1.1</a:t>
                      </a:r>
                    </a:p>
                  </a:txBody>
                  <a:tcPr anchor="ctr"/>
                </a:tc>
                <a:tc>
                  <a:txBody>
                    <a:bodyPr/>
                    <a:lstStyle/>
                    <a:p>
                      <a:pPr algn="l"/>
                      <a:r>
                        <a:rPr lang="en-US" sz="1000">
                          <a:solidFill>
                            <a:srgbClr val="333333"/>
                          </a:solidFill>
                        </a:rPr>
                        <a:t>Protocol was cut off at the recognition step — more tokens to finish; lower temperature for safety-critical accuracy.</a:t>
                      </a:r>
                    </a:p>
                  </a:txBody>
                  <a:tcPr anchor="ctr"/>
                </a:tc>
                <a:extLst>
                  <a:ext uri="{0D108BD9-81ED-4DB2-BD59-A6C34878D82A}">
                    <a16:rowId xmlns:a16="http://schemas.microsoft.com/office/drawing/2014/main" val="174294163"/>
                  </a:ext>
                </a:extLst>
              </a:tr>
              <a:tr h="533400">
                <a:tc>
                  <a:txBody>
                    <a:bodyPr/>
                    <a:lstStyle/>
                    <a:p>
                      <a:pPr algn="l"/>
                      <a:r>
                        <a:rPr lang="en-US" sz="1000" b="1">
                          <a:solidFill>
                            <a:srgbClr val="0E39A9"/>
                          </a:solidFill>
                        </a:rPr>
                        <a:t>Q2 · Appendicitis</a:t>
                      </a:r>
                    </a:p>
                  </a:txBody>
                  <a:tcPr anchor="ctr">
                    <a:solidFill>
                      <a:srgbClr val="F2F4FB"/>
                    </a:solidFill>
                  </a:tcPr>
                </a:tc>
                <a:tc>
                  <a:txBody>
                    <a:bodyPr/>
                    <a:lstStyle/>
                    <a:p>
                      <a:pPr algn="ctr"/>
                      <a:r>
                        <a:rPr lang="en-US" sz="1000" b="1">
                          <a:solidFill>
                            <a:srgbClr val="222222"/>
                          </a:solidFill>
                        </a:rPr>
                        <a:t>0.2</a:t>
                      </a:r>
                    </a:p>
                  </a:txBody>
                  <a:tcPr anchor="ctr"/>
                </a:tc>
                <a:tc>
                  <a:txBody>
                    <a:bodyPr/>
                    <a:lstStyle/>
                    <a:p>
                      <a:pPr algn="ctr"/>
                      <a:r>
                        <a:rPr lang="en-US" sz="1000" b="0">
                          <a:solidFill>
                            <a:srgbClr val="222222"/>
                          </a:solidFill>
                        </a:rPr>
                        <a:t>0.9</a:t>
                      </a:r>
                    </a:p>
                  </a:txBody>
                  <a:tcPr anchor="ctr"/>
                </a:tc>
                <a:tc>
                  <a:txBody>
                    <a:bodyPr/>
                    <a:lstStyle/>
                    <a:p>
                      <a:pPr algn="ctr"/>
                      <a:r>
                        <a:rPr lang="en-US" sz="1000" b="0">
                          <a:solidFill>
                            <a:srgbClr val="222222"/>
                          </a:solidFill>
                        </a:rPr>
                        <a:t>40</a:t>
                      </a:r>
                    </a:p>
                  </a:txBody>
                  <a:tcPr anchor="ctr"/>
                </a:tc>
                <a:tc>
                  <a:txBody>
                    <a:bodyPr/>
                    <a:lstStyle/>
                    <a:p>
                      <a:pPr algn="ctr"/>
                      <a:r>
                        <a:rPr lang="en-US" sz="1000" b="1">
                          <a:solidFill>
                            <a:srgbClr val="222222"/>
                          </a:solidFill>
                        </a:rPr>
                        <a:t>256 → 512</a:t>
                      </a:r>
                    </a:p>
                  </a:txBody>
                  <a:tcPr anchor="ctr"/>
                </a:tc>
                <a:tc>
                  <a:txBody>
                    <a:bodyPr/>
                    <a:lstStyle/>
                    <a:p>
                      <a:pPr algn="ctr"/>
                      <a:r>
                        <a:rPr lang="en-US" sz="1000" b="0">
                          <a:solidFill>
                            <a:srgbClr val="222222"/>
                          </a:solidFill>
                        </a:rPr>
                        <a:t>1.1</a:t>
                      </a:r>
                    </a:p>
                  </a:txBody>
                  <a:tcPr anchor="ctr"/>
                </a:tc>
                <a:tc>
                  <a:txBody>
                    <a:bodyPr/>
                    <a:lstStyle/>
                    <a:p>
                      <a:pPr algn="l"/>
                      <a:r>
                        <a:rPr lang="en-US" sz="1000">
                          <a:solidFill>
                            <a:srgbClr val="333333"/>
                          </a:solidFill>
                        </a:rPr>
                        <a:t>Stopped after one symptom — more tokens to also cover diagnosis, medication, and the surgical option (appendectomy).</a:t>
                      </a:r>
                    </a:p>
                  </a:txBody>
                  <a:tcPr anchor="ctr"/>
                </a:tc>
                <a:extLst>
                  <a:ext uri="{0D108BD9-81ED-4DB2-BD59-A6C34878D82A}">
                    <a16:rowId xmlns:a16="http://schemas.microsoft.com/office/drawing/2014/main" val="3283480756"/>
                  </a:ext>
                </a:extLst>
              </a:tr>
              <a:tr h="533400">
                <a:tc>
                  <a:txBody>
                    <a:bodyPr/>
                    <a:lstStyle/>
                    <a:p>
                      <a:pPr algn="l"/>
                      <a:r>
                        <a:rPr lang="en-US" sz="1000" b="1">
                          <a:solidFill>
                            <a:srgbClr val="0E39A9"/>
                          </a:solidFill>
                        </a:rPr>
                        <a:t>Q3 · Alopecia areata</a:t>
                      </a:r>
                    </a:p>
                  </a:txBody>
                  <a:tcPr anchor="ctr">
                    <a:solidFill>
                      <a:srgbClr val="F2F4FB"/>
                    </a:solidFill>
                  </a:tcPr>
                </a:tc>
                <a:tc>
                  <a:txBody>
                    <a:bodyPr/>
                    <a:lstStyle/>
                    <a:p>
                      <a:pPr algn="ctr"/>
                      <a:r>
                        <a:rPr lang="en-US" sz="1000" b="1">
                          <a:solidFill>
                            <a:srgbClr val="222222"/>
                          </a:solidFill>
                        </a:rPr>
                        <a:t>0.2</a:t>
                      </a:r>
                    </a:p>
                  </a:txBody>
                  <a:tcPr anchor="ctr"/>
                </a:tc>
                <a:tc>
                  <a:txBody>
                    <a:bodyPr/>
                    <a:lstStyle/>
                    <a:p>
                      <a:pPr algn="ctr"/>
                      <a:r>
                        <a:rPr lang="en-US" sz="1000" b="0">
                          <a:solidFill>
                            <a:srgbClr val="222222"/>
                          </a:solidFill>
                        </a:rPr>
                        <a:t>0.9</a:t>
                      </a:r>
                    </a:p>
                  </a:txBody>
                  <a:tcPr anchor="ctr"/>
                </a:tc>
                <a:tc>
                  <a:txBody>
                    <a:bodyPr/>
                    <a:lstStyle/>
                    <a:p>
                      <a:pPr algn="ctr"/>
                      <a:r>
                        <a:rPr lang="en-US" sz="1000" b="0">
                          <a:solidFill>
                            <a:srgbClr val="222222"/>
                          </a:solidFill>
                        </a:rPr>
                        <a:t>40</a:t>
                      </a:r>
                    </a:p>
                  </a:txBody>
                  <a:tcPr anchor="ctr"/>
                </a:tc>
                <a:tc>
                  <a:txBody>
                    <a:bodyPr/>
                    <a:lstStyle/>
                    <a:p>
                      <a:pPr algn="ctr"/>
                      <a:r>
                        <a:rPr lang="en-US" sz="1000" b="1">
                          <a:solidFill>
                            <a:srgbClr val="222222"/>
                          </a:solidFill>
                        </a:rPr>
                        <a:t>256 → 384</a:t>
                      </a:r>
                    </a:p>
                  </a:txBody>
                  <a:tcPr anchor="ctr"/>
                </a:tc>
                <a:tc>
                  <a:txBody>
                    <a:bodyPr/>
                    <a:lstStyle/>
                    <a:p>
                      <a:pPr algn="ctr"/>
                      <a:r>
                        <a:rPr lang="en-US" sz="1000" b="0">
                          <a:solidFill>
                            <a:srgbClr val="222222"/>
                          </a:solidFill>
                        </a:rPr>
                        <a:t>1.1</a:t>
                      </a:r>
                    </a:p>
                  </a:txBody>
                  <a:tcPr anchor="ctr"/>
                </a:tc>
                <a:tc>
                  <a:txBody>
                    <a:bodyPr/>
                    <a:lstStyle/>
                    <a:p>
                      <a:pPr algn="l"/>
                      <a:r>
                        <a:rPr lang="en-US" sz="1000">
                          <a:solidFill>
                            <a:srgbClr val="333333"/>
                          </a:solidFill>
                        </a:rPr>
                        <a:t>Answer was complete but omitted treatments — a modest token bump plus a more directive prompt fills the gap.</a:t>
                      </a:r>
                    </a:p>
                  </a:txBody>
                  <a:tcPr anchor="ctr"/>
                </a:tc>
                <a:extLst>
                  <a:ext uri="{0D108BD9-81ED-4DB2-BD59-A6C34878D82A}">
                    <a16:rowId xmlns:a16="http://schemas.microsoft.com/office/drawing/2014/main" val="2249413288"/>
                  </a:ext>
                </a:extLst>
              </a:tr>
              <a:tr h="533400">
                <a:tc>
                  <a:txBody>
                    <a:bodyPr/>
                    <a:lstStyle/>
                    <a:p>
                      <a:pPr algn="l"/>
                      <a:r>
                        <a:rPr lang="en-US" sz="1000" b="1">
                          <a:solidFill>
                            <a:srgbClr val="0E39A9"/>
                          </a:solidFill>
                        </a:rPr>
                        <a:t>Q4 · TBI</a:t>
                      </a:r>
                    </a:p>
                  </a:txBody>
                  <a:tcPr anchor="ctr">
                    <a:solidFill>
                      <a:srgbClr val="F2F4FB"/>
                    </a:solidFill>
                  </a:tcPr>
                </a:tc>
                <a:tc>
                  <a:txBody>
                    <a:bodyPr/>
                    <a:lstStyle/>
                    <a:p>
                      <a:pPr algn="ctr"/>
                      <a:r>
                        <a:rPr lang="en-US" sz="1000" b="1">
                          <a:solidFill>
                            <a:srgbClr val="222222"/>
                          </a:solidFill>
                        </a:rPr>
                        <a:t>0.2 → 0.1</a:t>
                      </a:r>
                    </a:p>
                  </a:txBody>
                  <a:tcPr anchor="ctr"/>
                </a:tc>
                <a:tc>
                  <a:txBody>
                    <a:bodyPr/>
                    <a:lstStyle/>
                    <a:p>
                      <a:pPr algn="ctr"/>
                      <a:r>
                        <a:rPr lang="en-US" sz="1000" b="0">
                          <a:solidFill>
                            <a:srgbClr val="222222"/>
                          </a:solidFill>
                        </a:rPr>
                        <a:t>0.9</a:t>
                      </a:r>
                    </a:p>
                  </a:txBody>
                  <a:tcPr anchor="ctr"/>
                </a:tc>
                <a:tc>
                  <a:txBody>
                    <a:bodyPr/>
                    <a:lstStyle/>
                    <a:p>
                      <a:pPr algn="ctr"/>
                      <a:r>
                        <a:rPr lang="en-US" sz="1000" b="0">
                          <a:solidFill>
                            <a:srgbClr val="222222"/>
                          </a:solidFill>
                        </a:rPr>
                        <a:t>40</a:t>
                      </a:r>
                    </a:p>
                  </a:txBody>
                  <a:tcPr anchor="ctr"/>
                </a:tc>
                <a:tc>
                  <a:txBody>
                    <a:bodyPr/>
                    <a:lstStyle/>
                    <a:p>
                      <a:pPr algn="ctr"/>
                      <a:r>
                        <a:rPr lang="en-US" sz="1000" b="1">
                          <a:solidFill>
                            <a:srgbClr val="222222"/>
                          </a:solidFill>
                        </a:rPr>
                        <a:t>256 → 512</a:t>
                      </a:r>
                    </a:p>
                  </a:txBody>
                  <a:tcPr anchor="ctr"/>
                </a:tc>
                <a:tc>
                  <a:txBody>
                    <a:bodyPr/>
                    <a:lstStyle/>
                    <a:p>
                      <a:pPr algn="ctr"/>
                      <a:r>
                        <a:rPr lang="en-US" sz="1000" b="0">
                          <a:solidFill>
                            <a:srgbClr val="222222"/>
                          </a:solidFill>
                        </a:rPr>
                        <a:t>1.1</a:t>
                      </a:r>
                    </a:p>
                  </a:txBody>
                  <a:tcPr anchor="ctr"/>
                </a:tc>
                <a:tc>
                  <a:txBody>
                    <a:bodyPr/>
                    <a:lstStyle/>
                    <a:p>
                      <a:pPr algn="l"/>
                      <a:r>
                        <a:rPr lang="en-US" sz="1000">
                          <a:solidFill>
                            <a:srgbClr val="333333"/>
                          </a:solidFill>
                        </a:rPr>
                        <a:t>Treatment list truncated mid-step — more tokens; lower temperature for clinical precision.</a:t>
                      </a:r>
                    </a:p>
                  </a:txBody>
                  <a:tcPr anchor="ctr"/>
                </a:tc>
                <a:extLst>
                  <a:ext uri="{0D108BD9-81ED-4DB2-BD59-A6C34878D82A}">
                    <a16:rowId xmlns:a16="http://schemas.microsoft.com/office/drawing/2014/main" val="3274341978"/>
                  </a:ext>
                </a:extLst>
              </a:tr>
              <a:tr h="533400">
                <a:tc>
                  <a:txBody>
                    <a:bodyPr/>
                    <a:lstStyle/>
                    <a:p>
                      <a:pPr algn="l"/>
                      <a:r>
                        <a:rPr lang="en-US" sz="1000" b="1">
                          <a:solidFill>
                            <a:srgbClr val="0E39A9"/>
                          </a:solidFill>
                        </a:rPr>
                        <a:t>Q5 · Leg fracture</a:t>
                      </a:r>
                    </a:p>
                  </a:txBody>
                  <a:tcPr anchor="ctr">
                    <a:solidFill>
                      <a:srgbClr val="F2F4FB"/>
                    </a:solidFill>
                  </a:tcPr>
                </a:tc>
                <a:tc>
                  <a:txBody>
                    <a:bodyPr/>
                    <a:lstStyle/>
                    <a:p>
                      <a:pPr algn="ctr"/>
                      <a:r>
                        <a:rPr lang="en-US" sz="1000" b="1">
                          <a:solidFill>
                            <a:srgbClr val="222222"/>
                          </a:solidFill>
                        </a:rPr>
                        <a:t>0.2</a:t>
                      </a:r>
                    </a:p>
                  </a:txBody>
                  <a:tcPr anchor="ctr"/>
                </a:tc>
                <a:tc>
                  <a:txBody>
                    <a:bodyPr/>
                    <a:lstStyle/>
                    <a:p>
                      <a:pPr algn="ctr"/>
                      <a:r>
                        <a:rPr lang="en-US" sz="1000" b="0">
                          <a:solidFill>
                            <a:srgbClr val="222222"/>
                          </a:solidFill>
                        </a:rPr>
                        <a:t>0.9</a:t>
                      </a:r>
                    </a:p>
                  </a:txBody>
                  <a:tcPr anchor="ctr"/>
                </a:tc>
                <a:tc>
                  <a:txBody>
                    <a:bodyPr/>
                    <a:lstStyle/>
                    <a:p>
                      <a:pPr algn="ctr"/>
                      <a:r>
                        <a:rPr lang="en-US" sz="1000" b="0">
                          <a:solidFill>
                            <a:srgbClr val="222222"/>
                          </a:solidFill>
                        </a:rPr>
                        <a:t>40</a:t>
                      </a:r>
                    </a:p>
                  </a:txBody>
                  <a:tcPr anchor="ctr"/>
                </a:tc>
                <a:tc>
                  <a:txBody>
                    <a:bodyPr/>
                    <a:lstStyle/>
                    <a:p>
                      <a:pPr algn="ctr"/>
                      <a:r>
                        <a:rPr lang="en-US" sz="1000" b="1">
                          <a:solidFill>
                            <a:srgbClr val="222222"/>
                          </a:solidFill>
                        </a:rPr>
                        <a:t>256 → 512</a:t>
                      </a:r>
                    </a:p>
                  </a:txBody>
                  <a:tcPr anchor="ctr"/>
                </a:tc>
                <a:tc>
                  <a:txBody>
                    <a:bodyPr/>
                    <a:lstStyle/>
                    <a:p>
                      <a:pPr algn="ctr"/>
                      <a:r>
                        <a:rPr lang="en-US" sz="1000" b="0">
                          <a:solidFill>
                            <a:srgbClr val="222222"/>
                          </a:solidFill>
                        </a:rPr>
                        <a:t>1.1</a:t>
                      </a:r>
                    </a:p>
                  </a:txBody>
                  <a:tcPr anchor="ctr"/>
                </a:tc>
                <a:tc>
                  <a:txBody>
                    <a:bodyPr/>
                    <a:lstStyle/>
                    <a:p>
                      <a:pPr algn="l"/>
                      <a:r>
                        <a:rPr lang="en-US" sz="1000">
                          <a:solidFill>
                            <a:srgbClr val="333333"/>
                          </a:solidFill>
                        </a:rPr>
                        <a:t>Care-and-recovery steps cut off mid-list — more tokens to complete the guidance.</a:t>
                      </a:r>
                    </a:p>
                  </a:txBody>
                  <a:tcPr anchor="ctr"/>
                </a:tc>
                <a:extLst>
                  <a:ext uri="{0D108BD9-81ED-4DB2-BD59-A6C34878D82A}">
                    <a16:rowId xmlns:a16="http://schemas.microsoft.com/office/drawing/2014/main" val="2806231162"/>
                  </a:ext>
                </a:extLst>
              </a:tr>
            </a:tbl>
          </a:graphicData>
        </a:graphic>
      </p:graphicFrame>
      <p:sp>
        <p:nvSpPr>
          <p:cNvPr id="9" name="Google Shape;262;p53">
            <a:extLst>
              <a:ext uri="{FF2B5EF4-FFF2-40B4-BE49-F238E27FC236}">
                <a16:creationId xmlns:a16="http://schemas.microsoft.com/office/drawing/2014/main" id="{BD47A4F6-CD05-06F5-DEB6-CCEBEA78A4CA}"/>
              </a:ext>
            </a:extLst>
          </p:cNvPr>
          <p:cNvSpPr txBox="1">
            <a:spLocks/>
          </p:cNvSpPr>
          <p:nvPr/>
        </p:nvSpPr>
        <p:spPr>
          <a:xfrm>
            <a:off x="202550" y="309350"/>
            <a:ext cx="8520600" cy="572700"/>
          </a:xfrm>
          <a:prstGeom prst="rect">
            <a:avLst/>
          </a:prstGeom>
          <a:noFill/>
          <a:ln>
            <a:noFill/>
          </a:ln>
        </p:spPr>
        <p:txBody>
          <a:bodyPr spcFirstLastPara="1" wrap="square" lIns="91425" tIns="91425" rIns="91425" bIns="91425"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434343"/>
              </a:buClr>
              <a:buSzPts val="2200"/>
              <a:buFont typeface="Nunito"/>
              <a:buNone/>
              <a:defRPr sz="2200" b="1" i="0" u="none" strike="noStrike" cap="none">
                <a:solidFill>
                  <a:srgbClr val="434343"/>
                </a:solidFill>
                <a:latin typeface="Nunito"/>
                <a:ea typeface="Nunito"/>
                <a:cs typeface="Nunito"/>
                <a:sym typeface="Nunito"/>
              </a:defRPr>
            </a:lvl1pPr>
            <a:lvl2pPr marR="0" lvl="1"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2pPr>
            <a:lvl3pPr marR="0" lvl="2"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3pPr>
            <a:lvl4pPr marR="0" lvl="3"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4pPr>
            <a:lvl5pPr marR="0" lvl="4"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5pPr>
            <a:lvl6pPr marR="0" lvl="5"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6pPr>
            <a:lvl7pPr marR="0" lvl="6"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7pPr>
            <a:lvl8pPr marR="0" lvl="7"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8pPr>
            <a:lvl9pPr marR="0" lvl="8" algn="l" rtl="0">
              <a:lnSpc>
                <a:spcPct val="100000"/>
              </a:lnSpc>
              <a:spcBef>
                <a:spcPts val="0"/>
              </a:spcBef>
              <a:spcAft>
                <a:spcPts val="0"/>
              </a:spcAft>
              <a:buClr>
                <a:srgbClr val="434343"/>
              </a:buClr>
              <a:buSzPts val="2500"/>
              <a:buFont typeface="Nunito SemiBold"/>
              <a:buNone/>
              <a:defRPr sz="2500" b="1" i="0" u="none" strike="noStrike" cap="none">
                <a:solidFill>
                  <a:srgbClr val="434343"/>
                </a:solidFill>
                <a:latin typeface="Nunito SemiBold"/>
                <a:ea typeface="Nunito SemiBold"/>
                <a:cs typeface="Nunito SemiBold"/>
                <a:sym typeface="Nunito SemiBold"/>
              </a:defRPr>
            </a:lvl9pPr>
          </a:lstStyle>
          <a:p>
            <a:r>
              <a:rPr lang="en-US" sz="2400" dirty="0">
                <a:solidFill>
                  <a:srgbClr val="0E39A9"/>
                </a:solidFill>
              </a:rPr>
              <a:t>Question Answering using LLM with Prompt Engineering</a:t>
            </a:r>
          </a:p>
        </p:txBody>
      </p:sp>
    </p:spTree>
    <p:extLst>
      <p:ext uri="{BB962C8B-B14F-4D97-AF65-F5344CB8AC3E}">
        <p14:creationId xmlns:p14="http://schemas.microsoft.com/office/powerpoint/2010/main" val="411051119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274"/>
        <p:cNvGrpSpPr/>
        <p:nvPr/>
      </p:nvGrpSpPr>
      <p:grpSpPr>
        <a:xfrm>
          <a:off x="0" y="0"/>
          <a:ext cx="0" cy="0"/>
          <a:chOff x="0" y="0"/>
          <a:chExt cx="0" cy="0"/>
        </a:xfrm>
      </p:grpSpPr>
      <p:sp>
        <p:nvSpPr>
          <p:cNvPr id="275" name="Google Shape;275;p54"/>
          <p:cNvSpPr txBox="1"/>
          <p:nvPr/>
        </p:nvSpPr>
        <p:spPr>
          <a:xfrm>
            <a:off x="482600" y="4140200"/>
            <a:ext cx="8394700" cy="369302"/>
          </a:xfrm>
          <a:prstGeom prst="rect">
            <a:avLst/>
          </a:prstGeom>
          <a:noFill/>
          <a:ln>
            <a:noFill/>
          </a:ln>
        </p:spPr>
        <p:txBody>
          <a:bodyPr spcFirstLastPara="1" wrap="square" lIns="91425" tIns="91425" rIns="91425" bIns="91425" anchor="t" anchorCtr="0">
            <a:spAutoFit/>
          </a:bodyPr>
          <a:lstStyle/>
          <a:p>
            <a:pPr marL="0" indent="0" algn="l">
              <a:buNone/>
            </a:pPr>
            <a:r>
              <a:rPr lang="en" sz="1200" i="1" dirty="0">
                <a:solidFill>
                  <a:srgbClr val="6F4294"/>
                </a:solidFill>
                <a:latin typeface="Montserrat"/>
                <a:cs typeface="Montserrat"/>
              </a:rPr>
              <a:t>Values taken from the project notebook — Data Preparation for RAG section.</a:t>
            </a:r>
          </a:p>
        </p:txBody>
      </p:sp>
      <p:sp>
        <p:nvSpPr>
          <p:cNvPr id="276" name="Google Shape;276;p54"/>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Data Preparation for RAG</a:t>
            </a:r>
            <a:endParaRPr sz="2400">
              <a:solidFill>
                <a:srgbClr val="0E39A9"/>
              </a:solidFill>
            </a:endParaRPr>
          </a:p>
        </p:txBody>
      </p:sp>
      <p:sp>
        <p:nvSpPr>
          <p:cNvPr id="277" name="Google Shape;277;p54"/>
          <p:cNvSpPr/>
          <p:nvPr/>
        </p:nvSpPr>
        <p:spPr>
          <a:xfrm>
            <a:off x="482600" y="2019300"/>
            <a:ext cx="190500" cy="1905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78" name="Google Shape;278;p54"/>
          <p:cNvSpPr txBox="1"/>
          <p:nvPr/>
        </p:nvSpPr>
        <p:spPr>
          <a:xfrm>
            <a:off x="673100" y="1794317"/>
            <a:ext cx="8128000" cy="830966"/>
          </a:xfrm>
          <a:prstGeom prst="rect">
            <a:avLst/>
          </a:prstGeom>
          <a:noFill/>
          <a:ln>
            <a:noFill/>
          </a:ln>
        </p:spPr>
        <p:txBody>
          <a:bodyPr spcFirstLastPara="1" wrap="square" lIns="91425" tIns="91425" rIns="91425" bIns="91425" anchor="t" anchorCtr="0">
            <a:spAutoFit/>
          </a:bodyPr>
          <a:lstStyle/>
          <a:p>
            <a:pPr marL="0" indent="0" algn="l">
              <a:lnSpc>
                <a:spcPct val="150000"/>
              </a:lnSpc>
              <a:buNone/>
            </a:pPr>
            <a:r>
              <a:rPr lang="en" sz="1400" b="1" dirty="0">
                <a:solidFill>
                  <a:srgbClr val="0E39A9"/>
                </a:solidFill>
                <a:latin typeface="Montserrat"/>
                <a:cs typeface="Montserrat"/>
              </a:rPr>
              <a:t>Data splitting:  </a:t>
            </a:r>
            <a:r>
              <a:rPr lang="en" sz="1400" b="0" dirty="0">
                <a:solidFill>
                  <a:srgbClr val="000000"/>
                </a:solidFill>
                <a:latin typeface="Montserrat"/>
                <a:cs typeface="Montserrat"/>
              </a:rPr>
              <a:t>RecursiveCharacterTextSplitter (tiktoken cl100k_base) — chunk_size = 1000, chunk_overlap = 200, producing 4,675 chunks.</a:t>
            </a:r>
          </a:p>
        </p:txBody>
      </p:sp>
      <p:sp>
        <p:nvSpPr>
          <p:cNvPr id="279" name="Google Shape;279;p54"/>
          <p:cNvSpPr/>
          <p:nvPr/>
        </p:nvSpPr>
        <p:spPr>
          <a:xfrm>
            <a:off x="482600" y="1308100"/>
            <a:ext cx="190500" cy="1905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80" name="Google Shape;280;p54"/>
          <p:cNvSpPr txBox="1"/>
          <p:nvPr/>
        </p:nvSpPr>
        <p:spPr>
          <a:xfrm>
            <a:off x="673100" y="1108517"/>
            <a:ext cx="8128000" cy="830966"/>
          </a:xfrm>
          <a:prstGeom prst="rect">
            <a:avLst/>
          </a:prstGeom>
          <a:noFill/>
          <a:ln>
            <a:noFill/>
          </a:ln>
        </p:spPr>
        <p:txBody>
          <a:bodyPr spcFirstLastPara="1" wrap="square" lIns="91425" tIns="91425" rIns="91425" bIns="91425" anchor="t" anchorCtr="0">
            <a:spAutoFit/>
          </a:bodyPr>
          <a:lstStyle/>
          <a:p>
            <a:pPr marL="0" indent="0" algn="l">
              <a:lnSpc>
                <a:spcPct val="150000"/>
              </a:lnSpc>
              <a:buNone/>
            </a:pPr>
            <a:r>
              <a:rPr lang="en" sz="1400" b="1" dirty="0">
                <a:solidFill>
                  <a:srgbClr val="0E39A9"/>
                </a:solidFill>
                <a:latin typeface="Montserrat"/>
                <a:cs typeface="Montserrat"/>
              </a:rPr>
              <a:t>Dataset:  </a:t>
            </a:r>
            <a:r>
              <a:rPr lang="en" sz="1400" b="0" dirty="0">
                <a:solidFill>
                  <a:srgbClr val="000000"/>
                </a:solidFill>
                <a:latin typeface="Montserrat"/>
                <a:cs typeface="Montserrat"/>
              </a:rPr>
              <a:t>The Merck Manual of Diagnosis &amp; Therapy, 19th Edition (medical_diagnosis_manual.pdf) — a 4,114-page clinical reference.</a:t>
            </a:r>
          </a:p>
        </p:txBody>
      </p:sp>
      <p:sp>
        <p:nvSpPr>
          <p:cNvPr id="281" name="Google Shape;281;p54"/>
          <p:cNvSpPr/>
          <p:nvPr/>
        </p:nvSpPr>
        <p:spPr>
          <a:xfrm>
            <a:off x="482600" y="2730500"/>
            <a:ext cx="190500" cy="1905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82" name="Google Shape;282;p54"/>
          <p:cNvSpPr txBox="1"/>
          <p:nvPr/>
        </p:nvSpPr>
        <p:spPr>
          <a:xfrm>
            <a:off x="673100" y="2505517"/>
            <a:ext cx="8128000" cy="830966"/>
          </a:xfrm>
          <a:prstGeom prst="rect">
            <a:avLst/>
          </a:prstGeom>
          <a:noFill/>
          <a:ln>
            <a:noFill/>
          </a:ln>
        </p:spPr>
        <p:txBody>
          <a:bodyPr spcFirstLastPara="1" wrap="square" lIns="91425" tIns="91425" rIns="91425" bIns="91425" anchor="t" anchorCtr="0">
            <a:spAutoFit/>
          </a:bodyPr>
          <a:lstStyle/>
          <a:p>
            <a:pPr marL="0" indent="0" algn="l">
              <a:lnSpc>
                <a:spcPct val="150000"/>
              </a:lnSpc>
              <a:buNone/>
            </a:pPr>
            <a:r>
              <a:rPr lang="en" sz="1400" b="1" dirty="0">
                <a:solidFill>
                  <a:srgbClr val="0E39A9"/>
                </a:solidFill>
                <a:latin typeface="Montserrat"/>
                <a:cs typeface="Montserrat"/>
              </a:rPr>
              <a:t>Embedding model:  </a:t>
            </a:r>
            <a:r>
              <a:rPr lang="en" sz="1400" b="0" dirty="0">
                <a:solidFill>
                  <a:srgbClr val="000000"/>
                </a:solidFill>
                <a:latin typeface="Montserrat"/>
                <a:cs typeface="Montserrat"/>
              </a:rPr>
              <a:t>sentence-transformers/all-MiniLM-L6-v2 (384-dimensional), stored in a Chroma vector database.</a:t>
            </a:r>
          </a:p>
        </p:txBody>
      </p:sp>
      <p:sp>
        <p:nvSpPr>
          <p:cNvPr id="283" name="Google Shape;283;p54"/>
          <p:cNvSpPr/>
          <p:nvPr/>
        </p:nvSpPr>
        <p:spPr>
          <a:xfrm>
            <a:off x="482600" y="3416300"/>
            <a:ext cx="190500" cy="190500"/>
          </a:xfrm>
          <a:prstGeom prst="donut">
            <a:avLst>
              <a:gd name="adj" fmla="val 25000"/>
            </a:avLst>
          </a:prstGeom>
          <a:solidFill>
            <a:srgbClr val="0944A1"/>
          </a:solidFill>
          <a:ln w="9525" cap="flat" cmpd="sng">
            <a:solidFill>
              <a:srgbClr val="FFFFFF"/>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500"/>
              <a:buFont typeface="Arial"/>
              <a:buNone/>
            </a:pPr>
            <a:endParaRPr sz="1400" b="0" i="0" u="none" strike="noStrike" cap="none">
              <a:solidFill>
                <a:srgbClr val="000000"/>
              </a:solidFill>
              <a:latin typeface="Nunito"/>
              <a:ea typeface="Nunito"/>
              <a:cs typeface="Nunito"/>
              <a:sym typeface="Nunito"/>
            </a:endParaRPr>
          </a:p>
        </p:txBody>
      </p:sp>
      <p:sp>
        <p:nvSpPr>
          <p:cNvPr id="284" name="Google Shape;284;p54"/>
          <p:cNvSpPr txBox="1"/>
          <p:nvPr/>
        </p:nvSpPr>
        <p:spPr>
          <a:xfrm>
            <a:off x="673100" y="3191317"/>
            <a:ext cx="8128000" cy="830966"/>
          </a:xfrm>
          <a:prstGeom prst="rect">
            <a:avLst/>
          </a:prstGeom>
          <a:noFill/>
          <a:ln>
            <a:noFill/>
          </a:ln>
        </p:spPr>
        <p:txBody>
          <a:bodyPr spcFirstLastPara="1" wrap="square" lIns="91425" tIns="91425" rIns="91425" bIns="91425" anchor="t" anchorCtr="0">
            <a:spAutoFit/>
          </a:bodyPr>
          <a:lstStyle/>
          <a:p>
            <a:pPr marL="0" indent="0" algn="l">
              <a:lnSpc>
                <a:spcPct val="150000"/>
              </a:lnSpc>
              <a:buNone/>
            </a:pPr>
            <a:r>
              <a:rPr lang="en" sz="1400" b="1" dirty="0">
                <a:solidFill>
                  <a:srgbClr val="0E39A9"/>
                </a:solidFill>
                <a:latin typeface="Montserrat"/>
                <a:cs typeface="Montserrat"/>
              </a:rPr>
              <a:t>RAG parameters:  </a:t>
            </a:r>
            <a:r>
              <a:rPr lang="en" sz="1400" b="0" dirty="0">
                <a:solidFill>
                  <a:srgbClr val="000000"/>
                </a:solidFill>
                <a:latin typeface="Montserrat"/>
                <a:cs typeface="Montserrat"/>
              </a:rPr>
              <a:t>k = 3 retrieved chunks (retriever returns top 10; top 3 used for context), max_tokens = 256, temperature = 0 (top_p = 0.95, top_k = 50).</a:t>
            </a:r>
          </a:p>
        </p:txBody>
      </p:sp>
    </p:spTree>
    <p:extLst>
      <p:ext uri="{BB962C8B-B14F-4D97-AF65-F5344CB8AC3E}">
        <p14:creationId xmlns:p14="http://schemas.microsoft.com/office/powerpoint/2010/main" val="10993360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5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 Query 1</a:t>
            </a:r>
            <a:endParaRPr sz="2400" dirty="0">
              <a:solidFill>
                <a:srgbClr val="0E39A9"/>
              </a:solidFill>
            </a:endParaRPr>
          </a:p>
        </p:txBody>
      </p:sp>
      <p:sp>
        <p:nvSpPr>
          <p:cNvPr id="294" name="Google Shape;294;p55"/>
          <p:cNvSpPr txBox="1"/>
          <p:nvPr/>
        </p:nvSpPr>
        <p:spPr>
          <a:xfrm>
            <a:off x="254000" y="938210"/>
            <a:ext cx="4648200" cy="2695579"/>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100" b="1" dirty="0">
                <a:solidFill>
                  <a:srgbClr val="0E39A9"/>
                </a:solidFill>
                <a:latin typeface="Montserrat"/>
                <a:cs typeface="Montserrat"/>
              </a:rPr>
              <a:t>USER PROMPT  ·  top_k = 3</a:t>
            </a:r>
          </a:p>
          <a:p>
            <a:pPr marL="0" indent="0" algn="l">
              <a:spcAft>
                <a:spcPts val="200"/>
              </a:spcAft>
              <a:buNone/>
            </a:pPr>
            <a:r>
              <a:rPr lang="en" sz="1300" b="1" i="0" dirty="0">
                <a:solidFill>
                  <a:srgbClr val="222222"/>
                </a:solidFill>
                <a:latin typeface="Montserrat"/>
                <a:cs typeface="Montserrat"/>
              </a:rPr>
              <a:t>What is the protocol for managing sepsis in a critical care unit?</a:t>
            </a:r>
          </a:p>
          <a:p>
            <a:pPr marL="0" indent="0" algn="l">
              <a:spcBef>
                <a:spcPts val="500"/>
              </a:spcBef>
              <a:buNone/>
            </a:pPr>
            <a:r>
              <a:rPr lang="en" sz="1100" b="1" dirty="0">
                <a:solidFill>
                  <a:srgbClr val="1B7A3D"/>
                </a:solidFill>
                <a:latin typeface="Montserrat"/>
                <a:cs typeface="Montserrat"/>
              </a:rPr>
              <a:t>RAG RESPONSE  (temperature 0)</a:t>
            </a:r>
          </a:p>
          <a:p>
            <a:pPr marL="0" indent="0" algn="l">
              <a:spcAft>
                <a:spcPts val="200"/>
              </a:spcAft>
              <a:buNone/>
            </a:pPr>
            <a:r>
              <a:rPr lang="en" sz="1150" b="0" i="0" dirty="0">
                <a:solidFill>
                  <a:srgbClr val="222222"/>
                </a:solidFill>
                <a:latin typeface="Montserrat"/>
                <a:cs typeface="Montserrat"/>
              </a:rPr>
              <a:t>The protocol includes obtaining blood and specimen cultures, giving empiric antibiotics after cultures are taken, then adjusting them per culture and susceptibility results; surgically draining abscesses; removing infected internal devices; and supportive care (fluids, antipyretics, analgesics, oxygen for hypoxemia). Early appropriate antimicrobial therapy improves survival, and ongoing care adjusts antibiotics to culture results while treating the underlying cause.</a:t>
            </a:r>
          </a:p>
        </p:txBody>
      </p:sp>
      <p:sp>
        <p:nvSpPr>
          <p:cNvPr id="300" name="Google Shape;300;p55"/>
          <p:cNvSpPr txBox="1"/>
          <p:nvPr/>
        </p:nvSpPr>
        <p:spPr>
          <a:xfrm>
            <a:off x="5105400" y="2286000"/>
            <a:ext cx="3784600" cy="2087721"/>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000" b="1" dirty="0">
                <a:solidFill>
                  <a:srgbClr val="6F4294"/>
                </a:solidFill>
                <a:latin typeface="Montserrat"/>
                <a:cs typeface="Montserrat"/>
              </a:rPr>
              <a:t>SYSTEM PROMPT</a:t>
            </a:r>
          </a:p>
          <a:p>
            <a:pPr marL="0" indent="0" algn="l">
              <a:spcAft>
                <a:spcPts val="200"/>
              </a:spcAft>
              <a:buNone/>
            </a:pPr>
            <a:r>
              <a:rPr lang="en" sz="1000" b="0" i="1" dirty="0">
                <a:solidFill>
                  <a:srgbClr val="555555"/>
                </a:solidFill>
                <a:latin typeface="Montserrat"/>
                <a:cs typeface="Montserrat"/>
              </a:rPr>
              <a:t>You are a knowledgeable medical assistant. Answer only using the provided context from the medical manual. If the answer is not in the context, say it is not available. Be accurate, concise, and do not make up information.</a:t>
            </a:r>
          </a:p>
          <a:p>
            <a:pPr marL="0" indent="0" algn="l">
              <a:spcBef>
                <a:spcPts val="500"/>
              </a:spcBef>
              <a:buNone/>
            </a:pPr>
            <a:r>
              <a:rPr lang="en" sz="1000" b="1" dirty="0">
                <a:solidFill>
                  <a:srgbClr val="C77700"/>
                </a:solidFill>
                <a:latin typeface="Montserrat"/>
                <a:cs typeface="Montserrat"/>
              </a:rPr>
              <a:t>COMMENTS / OBSERVATIONS</a:t>
            </a:r>
          </a:p>
          <a:p>
            <a:pPr marL="0" indent="0" algn="l">
              <a:spcAft>
                <a:spcPts val="200"/>
              </a:spcAft>
              <a:buNone/>
            </a:pPr>
            <a:r>
              <a:rPr lang="en" sz="1050" b="0" i="1" dirty="0">
                <a:solidFill>
                  <a:srgbClr val="444444"/>
                </a:solidFill>
                <a:latin typeface="Montserrat"/>
                <a:cs typeface="Montserrat"/>
              </a:rPr>
              <a:t>Grounded, manual-based answer — RAG adds specifics the base model lacked (culture-guided antibiotics, source control, device removal) and runs complete, not truncated.</a:t>
            </a:r>
          </a:p>
        </p:txBody>
      </p:sp>
      <p:pic>
        <p:nvPicPr>
          <p:cNvPr id="2" name="Picture 1">
            <a:extLst>
              <a:ext uri="{FF2B5EF4-FFF2-40B4-BE49-F238E27FC236}">
                <a16:creationId xmlns:a16="http://schemas.microsoft.com/office/drawing/2014/main" id="{5BCE35F7-D403-86D1-6FA1-11D7B5D2A83A}"/>
              </a:ext>
            </a:extLst>
          </p:cNvPr>
          <p:cNvPicPr>
            <a:picLocks noChangeAspect="1"/>
          </p:cNvPicPr>
          <p:nvPr/>
        </p:nvPicPr>
        <p:blipFill>
          <a:blip r:embed="rId3"/>
          <a:stretch>
            <a:fillRect/>
          </a:stretch>
        </p:blipFill>
        <p:spPr>
          <a:xfrm>
            <a:off x="4894391" y="1066799"/>
            <a:ext cx="3995609" cy="1139687"/>
          </a:xfrm>
          <a:prstGeom prst="rect">
            <a:avLst/>
          </a:prstGeom>
        </p:spPr>
      </p:pic>
    </p:spTree>
    <p:extLst>
      <p:ext uri="{BB962C8B-B14F-4D97-AF65-F5344CB8AC3E}">
        <p14:creationId xmlns:p14="http://schemas.microsoft.com/office/powerpoint/2010/main" val="4141211070"/>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288"/>
        <p:cNvGrpSpPr/>
        <p:nvPr/>
      </p:nvGrpSpPr>
      <p:grpSpPr>
        <a:xfrm>
          <a:off x="0" y="0"/>
          <a:ext cx="0" cy="0"/>
          <a:chOff x="0" y="0"/>
          <a:chExt cx="0" cy="0"/>
        </a:xfrm>
      </p:grpSpPr>
      <p:sp>
        <p:nvSpPr>
          <p:cNvPr id="289" name="Google Shape;289;p55"/>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RAG Fine-tuning: Query 1</a:t>
            </a:r>
            <a:endParaRPr sz="2400" dirty="0">
              <a:solidFill>
                <a:srgbClr val="0E39A9"/>
              </a:solidFill>
            </a:endParaRPr>
          </a:p>
        </p:txBody>
      </p:sp>
      <p:sp>
        <p:nvSpPr>
          <p:cNvPr id="294" name="Google Shape;294;p55"/>
          <p:cNvSpPr txBox="1"/>
          <p:nvPr/>
        </p:nvSpPr>
        <p:spPr>
          <a:xfrm>
            <a:off x="406400" y="939800"/>
            <a:ext cx="4648200" cy="2441664"/>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100" b="1" dirty="0">
                <a:solidFill>
                  <a:srgbClr val="0E39A9"/>
                </a:solidFill>
                <a:latin typeface="Montserrat"/>
                <a:cs typeface="Montserrat"/>
              </a:rPr>
              <a:t>USER PROMPT</a:t>
            </a:r>
          </a:p>
          <a:p>
            <a:pPr marL="0" indent="0" algn="l">
              <a:spcAft>
                <a:spcPts val="200"/>
              </a:spcAft>
              <a:buNone/>
            </a:pPr>
            <a:r>
              <a:rPr lang="en" sz="1250" b="1" i="0" dirty="0">
                <a:solidFill>
                  <a:srgbClr val="222222"/>
                </a:solidFill>
                <a:latin typeface="Montserrat"/>
                <a:cs typeface="Montserrat"/>
              </a:rPr>
              <a:t>What is the protocol for managing sepsis in a critical care unit?</a:t>
            </a:r>
          </a:p>
          <a:p>
            <a:pPr marL="0" indent="0" algn="l">
              <a:spcBef>
                <a:spcPts val="500"/>
              </a:spcBef>
              <a:buNone/>
            </a:pPr>
            <a:r>
              <a:rPr lang="en" sz="1100" b="1" dirty="0">
                <a:solidFill>
                  <a:srgbClr val="1B7A3D"/>
                </a:solidFill>
                <a:latin typeface="Montserrat"/>
                <a:cs typeface="Montserrat"/>
              </a:rPr>
              <a:t>FINE-TUNED RESPONSE  (temperature 0.5)</a:t>
            </a:r>
          </a:p>
          <a:p>
            <a:pPr marL="0" indent="0" algn="l">
              <a:spcAft>
                <a:spcPts val="200"/>
              </a:spcAft>
              <a:buNone/>
            </a:pPr>
            <a:r>
              <a:rPr lang="en" sz="1100" b="0" i="0" dirty="0">
                <a:solidFill>
                  <a:srgbClr val="222222"/>
                </a:solidFill>
                <a:latin typeface="Montserrat"/>
                <a:cs typeface="Montserrat"/>
              </a:rPr>
              <a:t>The protocol includes obtaining cultures of blood and other appropriate specimens, administering empiric antibiotics, adjusting them per culture and susceptibility testing, surgically draining abscesses, removing internal devices suspected as the source of bacteria, and continuing therapy until improvement is seen or the cause is identified. Close monitoring for hypotension, shaking chills, persistent fever, altered sensorium, and GI symptoms is necessary.</a:t>
            </a:r>
          </a:p>
        </p:txBody>
      </p:sp>
      <p:sp>
        <p:nvSpPr>
          <p:cNvPr id="300" name="Google Shape;300;p55"/>
          <p:cNvSpPr txBox="1"/>
          <p:nvPr/>
        </p:nvSpPr>
        <p:spPr>
          <a:xfrm>
            <a:off x="5105400" y="1016000"/>
            <a:ext cx="3784600" cy="2200572"/>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000" b="1" dirty="0">
                <a:solidFill>
                  <a:srgbClr val="6F4294"/>
                </a:solidFill>
                <a:latin typeface="Montserrat"/>
                <a:cs typeface="Montserrat"/>
              </a:rPr>
              <a:t>FINE-TUNING CALL</a:t>
            </a:r>
          </a:p>
          <a:p>
            <a:pPr marL="0" indent="0" algn="l">
              <a:spcAft>
                <a:spcPts val="200"/>
              </a:spcAft>
              <a:buNone/>
            </a:pPr>
            <a:r>
              <a:rPr lang="en" sz="1000" b="0" i="0" dirty="0">
                <a:solidFill>
                  <a:srgbClr val="333333"/>
                </a:solidFill>
                <a:latin typeface="Consolas"/>
                <a:cs typeface="Consolas"/>
              </a:rPr>
              <a:t>generate_rag_response(user_input, temperature=0.5)</a:t>
            </a:r>
          </a:p>
          <a:p>
            <a:pPr marL="0" indent="0" algn="l">
              <a:spcBef>
                <a:spcPts val="500"/>
              </a:spcBef>
              <a:buNone/>
            </a:pPr>
            <a:r>
              <a:rPr lang="en" sz="1000" b="1" dirty="0">
                <a:solidFill>
                  <a:srgbClr val="6F4294"/>
                </a:solidFill>
                <a:latin typeface="Montserrat"/>
                <a:cs typeface="Montserrat"/>
              </a:rPr>
              <a:t>BEST PARAMETERS</a:t>
            </a:r>
          </a:p>
          <a:p>
            <a:pPr marL="0" indent="0" algn="l">
              <a:spcAft>
                <a:spcPts val="200"/>
              </a:spcAft>
              <a:buNone/>
            </a:pPr>
            <a:r>
              <a:rPr lang="en" sz="1050" b="1" i="0" dirty="0">
                <a:solidFill>
                  <a:srgbClr val="222222"/>
                </a:solidFill>
                <a:latin typeface="Montserrat"/>
                <a:cs typeface="Montserrat"/>
              </a:rPr>
              <a:t>temperature = 0.5  ·  max_tokens = 256  ·  top_p = 0.95  ·  top_k = 50  ·  k = 3</a:t>
            </a:r>
          </a:p>
          <a:p>
            <a:pPr marL="0" indent="0" algn="l">
              <a:spcBef>
                <a:spcPts val="500"/>
              </a:spcBef>
              <a:buNone/>
            </a:pPr>
            <a:r>
              <a:rPr lang="en" sz="1000" b="1" dirty="0">
                <a:solidFill>
                  <a:srgbClr val="C77700"/>
                </a:solidFill>
                <a:latin typeface="Montserrat"/>
                <a:cs typeface="Montserrat"/>
              </a:rPr>
              <a:t>OBSERVATIONS  (vs temperature 0)</a:t>
            </a:r>
          </a:p>
          <a:p>
            <a:pPr marL="0" indent="0" algn="l">
              <a:spcAft>
                <a:spcPts val="200"/>
              </a:spcAft>
              <a:buNone/>
            </a:pPr>
            <a:r>
              <a:rPr lang="en" sz="1050" b="0" i="1" dirty="0">
                <a:solidFill>
                  <a:srgbClr val="444444"/>
                </a:solidFill>
                <a:latin typeface="Montserrat"/>
                <a:cs typeface="Montserrat"/>
              </a:rPr>
              <a:t>Stays grounded and adds monitoring detail (hypotension, chills, altered sensorium, GI symptoms), but omits the supportive-care specifics (fluids, oxygen) the temp-0 answer included — comparable quality, slightly different emphasis.</a:t>
            </a:r>
          </a:p>
        </p:txBody>
      </p:sp>
      <p:pic>
        <p:nvPicPr>
          <p:cNvPr id="2" name="Picture 1">
            <a:extLst>
              <a:ext uri="{FF2B5EF4-FFF2-40B4-BE49-F238E27FC236}">
                <a16:creationId xmlns:a16="http://schemas.microsoft.com/office/drawing/2014/main" id="{43A2A4BC-F603-7F5D-5C22-18A77DCB6B6A}"/>
              </a:ext>
            </a:extLst>
          </p:cNvPr>
          <p:cNvPicPr>
            <a:picLocks noChangeAspect="1"/>
          </p:cNvPicPr>
          <p:nvPr/>
        </p:nvPicPr>
        <p:blipFill>
          <a:blip r:embed="rId3"/>
          <a:stretch>
            <a:fillRect/>
          </a:stretch>
        </p:blipFill>
        <p:spPr>
          <a:xfrm>
            <a:off x="794026" y="3251200"/>
            <a:ext cx="6502400" cy="1752600"/>
          </a:xfrm>
          <a:prstGeom prst="rect">
            <a:avLst/>
          </a:prstGeom>
        </p:spPr>
      </p:pic>
    </p:spTree>
    <p:extLst>
      <p:ext uri="{BB962C8B-B14F-4D97-AF65-F5344CB8AC3E}">
        <p14:creationId xmlns:p14="http://schemas.microsoft.com/office/powerpoint/2010/main" val="231297145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0B254F78-F054-95DC-8231-E591FE6AD87E}"/>
            </a:ext>
          </a:extLst>
        </p:cNvPr>
        <p:cNvGrpSpPr/>
        <p:nvPr/>
      </p:nvGrpSpPr>
      <p:grpSpPr>
        <a:xfrm>
          <a:off x="0" y="0"/>
          <a:ext cx="0" cy="0"/>
          <a:chOff x="0" y="0"/>
          <a:chExt cx="0" cy="0"/>
        </a:xfrm>
      </p:grpSpPr>
      <p:sp>
        <p:nvSpPr>
          <p:cNvPr id="289" name="Google Shape;289;p55">
            <a:extLst>
              <a:ext uri="{FF2B5EF4-FFF2-40B4-BE49-F238E27FC236}">
                <a16:creationId xmlns:a16="http://schemas.microsoft.com/office/drawing/2014/main" id="{D2BC348D-82E1-BA50-6068-F23F533600C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 Query 2</a:t>
            </a:r>
            <a:endParaRPr sz="2400" dirty="0">
              <a:solidFill>
                <a:srgbClr val="0E39A9"/>
              </a:solidFill>
            </a:endParaRPr>
          </a:p>
        </p:txBody>
      </p:sp>
      <p:sp>
        <p:nvSpPr>
          <p:cNvPr id="294" name="Google Shape;294;p55">
            <a:extLst>
              <a:ext uri="{FF2B5EF4-FFF2-40B4-BE49-F238E27FC236}">
                <a16:creationId xmlns:a16="http://schemas.microsoft.com/office/drawing/2014/main" id="{389F4EAC-4E39-70E8-8FB2-49EF72929724}"/>
              </a:ext>
            </a:extLst>
          </p:cNvPr>
          <p:cNvSpPr txBox="1"/>
          <p:nvPr/>
        </p:nvSpPr>
        <p:spPr>
          <a:xfrm>
            <a:off x="406400" y="939800"/>
            <a:ext cx="4648200" cy="2803301"/>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100" b="1" dirty="0">
                <a:solidFill>
                  <a:srgbClr val="0E39A9"/>
                </a:solidFill>
                <a:latin typeface="Montserrat"/>
                <a:cs typeface="Montserrat"/>
              </a:rPr>
              <a:t>USER PROMPT  ·  top_k = 20</a:t>
            </a:r>
          </a:p>
          <a:p>
            <a:pPr marL="0" indent="0" algn="l">
              <a:spcAft>
                <a:spcPts val="200"/>
              </a:spcAft>
              <a:buNone/>
            </a:pPr>
            <a:r>
              <a:rPr lang="en" sz="1250" b="1" i="0" dirty="0">
                <a:solidFill>
                  <a:srgbClr val="222222"/>
                </a:solidFill>
                <a:latin typeface="Montserrat"/>
                <a:cs typeface="Montserrat"/>
              </a:rPr>
              <a:t>What are the common symptoms for appendicitis, and can it be cured via medicine? If not, what surgical procedure should be followed to treat it?</a:t>
            </a:r>
          </a:p>
          <a:p>
            <a:pPr marL="0" indent="0" algn="l">
              <a:spcBef>
                <a:spcPts val="500"/>
              </a:spcBef>
              <a:buNone/>
            </a:pPr>
            <a:r>
              <a:rPr lang="en" sz="1100" b="1" dirty="0">
                <a:solidFill>
                  <a:srgbClr val="1B7A3D"/>
                </a:solidFill>
                <a:latin typeface="Montserrat"/>
                <a:cs typeface="Montserrat"/>
              </a:rPr>
              <a:t>RAG RESPONSE  (temperature 0)</a:t>
            </a:r>
          </a:p>
          <a:p>
            <a:pPr marL="0" indent="0" algn="l">
              <a:spcAft>
                <a:spcPts val="200"/>
              </a:spcAft>
              <a:buNone/>
            </a:pPr>
            <a:r>
              <a:rPr lang="en" sz="1100" b="0" i="0" dirty="0">
                <a:solidFill>
                  <a:srgbClr val="222222"/>
                </a:solidFill>
                <a:latin typeface="Montserrat"/>
                <a:cs typeface="Montserrat"/>
              </a:rPr>
              <a:t>Symptoms begin as epigastric or periumbilical pain with brief nausea, vomiting, and anorexia, then shift to the right lower quadrant; pain worsens with cough and motion. Classic signs include RLQ direct and rebound tenderness at McBurney's point, plus Rovsing, psoas, and obturator signs; low-grade fever is common, though these findings appear in under 50% of patients. Appendicitis cannot be cured by medicine alone — the standard treatment is surgical removal of the appendix (appendectomy).</a:t>
            </a:r>
          </a:p>
        </p:txBody>
      </p:sp>
      <p:sp>
        <p:nvSpPr>
          <p:cNvPr id="300" name="Google Shape;300;p55">
            <a:extLst>
              <a:ext uri="{FF2B5EF4-FFF2-40B4-BE49-F238E27FC236}">
                <a16:creationId xmlns:a16="http://schemas.microsoft.com/office/drawing/2014/main" id="{75B8E7B3-1DAE-990C-5FCC-2439E7690474}"/>
              </a:ext>
            </a:extLst>
          </p:cNvPr>
          <p:cNvSpPr txBox="1"/>
          <p:nvPr/>
        </p:nvSpPr>
        <p:spPr>
          <a:xfrm>
            <a:off x="5105400" y="2286000"/>
            <a:ext cx="3784600" cy="2087721"/>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000" b="1" dirty="0">
                <a:solidFill>
                  <a:srgbClr val="6F4294"/>
                </a:solidFill>
                <a:latin typeface="Montserrat"/>
                <a:cs typeface="Montserrat"/>
              </a:rPr>
              <a:t>SYSTEM PROMPT</a:t>
            </a:r>
          </a:p>
          <a:p>
            <a:pPr marL="0" indent="0" algn="l">
              <a:spcAft>
                <a:spcPts val="200"/>
              </a:spcAft>
              <a:buNone/>
            </a:pPr>
            <a:r>
              <a:rPr lang="en" sz="1000" b="0" i="1" dirty="0">
                <a:solidFill>
                  <a:srgbClr val="555555"/>
                </a:solidFill>
                <a:latin typeface="Montserrat"/>
                <a:cs typeface="Montserrat"/>
              </a:rPr>
              <a:t>You are a knowledgeable medical assistant. Answer only using the provided context from the medical manual. If the answer is not in the context, say it is not available. Be accurate, concise, and do not make up information.</a:t>
            </a:r>
          </a:p>
          <a:p>
            <a:pPr marL="0" indent="0" algn="l">
              <a:spcBef>
                <a:spcPts val="500"/>
              </a:spcBef>
              <a:buNone/>
            </a:pPr>
            <a:r>
              <a:rPr lang="en" sz="1000" b="1" dirty="0">
                <a:solidFill>
                  <a:srgbClr val="C77700"/>
                </a:solidFill>
                <a:latin typeface="Montserrat"/>
                <a:cs typeface="Montserrat"/>
              </a:rPr>
              <a:t>COMMENTS / OBSERVATIONS</a:t>
            </a:r>
          </a:p>
          <a:p>
            <a:pPr marL="0" indent="0" algn="l">
              <a:spcAft>
                <a:spcPts val="200"/>
              </a:spcAft>
              <a:buNone/>
            </a:pPr>
            <a:r>
              <a:rPr lang="en" sz="1050" b="0" i="1" dirty="0">
                <a:solidFill>
                  <a:srgbClr val="444444"/>
                </a:solidFill>
                <a:latin typeface="Montserrat"/>
                <a:cs typeface="Montserrat"/>
              </a:rPr>
              <a:t>Now answers all three parts — symptoms, that medicine alone cannot cure it, and the surgical fix (appendectomy) — which the non-RAG version missed. Rich, manual-grounded detail.</a:t>
            </a:r>
          </a:p>
        </p:txBody>
      </p:sp>
      <p:pic>
        <p:nvPicPr>
          <p:cNvPr id="2" name="Picture 1">
            <a:extLst>
              <a:ext uri="{FF2B5EF4-FFF2-40B4-BE49-F238E27FC236}">
                <a16:creationId xmlns:a16="http://schemas.microsoft.com/office/drawing/2014/main" id="{DB4C137D-1E65-207F-1E5A-760C2D0D15E1}"/>
              </a:ext>
            </a:extLst>
          </p:cNvPr>
          <p:cNvPicPr>
            <a:picLocks noChangeAspect="1"/>
          </p:cNvPicPr>
          <p:nvPr/>
        </p:nvPicPr>
        <p:blipFill>
          <a:blip r:embed="rId3"/>
          <a:stretch>
            <a:fillRect/>
          </a:stretch>
        </p:blipFill>
        <p:spPr>
          <a:xfrm>
            <a:off x="5105400" y="1066800"/>
            <a:ext cx="3784600" cy="1079500"/>
          </a:xfrm>
          <a:prstGeom prst="rect">
            <a:avLst/>
          </a:prstGeom>
        </p:spPr>
      </p:pic>
    </p:spTree>
    <p:extLst>
      <p:ext uri="{BB962C8B-B14F-4D97-AF65-F5344CB8AC3E}">
        <p14:creationId xmlns:p14="http://schemas.microsoft.com/office/powerpoint/2010/main" val="427795411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0B254F78-F054-95DC-8231-E591FE6AD87E}"/>
            </a:ext>
          </a:extLst>
        </p:cNvPr>
        <p:cNvGrpSpPr/>
        <p:nvPr/>
      </p:nvGrpSpPr>
      <p:grpSpPr>
        <a:xfrm>
          <a:off x="0" y="0"/>
          <a:ext cx="0" cy="0"/>
          <a:chOff x="0" y="0"/>
          <a:chExt cx="0" cy="0"/>
        </a:xfrm>
      </p:grpSpPr>
      <p:sp>
        <p:nvSpPr>
          <p:cNvPr id="289" name="Google Shape;289;p55">
            <a:extLst>
              <a:ext uri="{FF2B5EF4-FFF2-40B4-BE49-F238E27FC236}">
                <a16:creationId xmlns:a16="http://schemas.microsoft.com/office/drawing/2014/main" id="{D2BC348D-82E1-BA50-6068-F23F533600C3}"/>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RAG Fine-tuning: Query 2</a:t>
            </a:r>
            <a:endParaRPr sz="2400" dirty="0">
              <a:solidFill>
                <a:srgbClr val="0E39A9"/>
              </a:solidFill>
            </a:endParaRPr>
          </a:p>
        </p:txBody>
      </p:sp>
      <p:sp>
        <p:nvSpPr>
          <p:cNvPr id="294" name="Google Shape;294;p55">
            <a:extLst>
              <a:ext uri="{FF2B5EF4-FFF2-40B4-BE49-F238E27FC236}">
                <a16:creationId xmlns:a16="http://schemas.microsoft.com/office/drawing/2014/main" id="{389F4EAC-4E39-70E8-8FB2-49EF72929724}"/>
              </a:ext>
            </a:extLst>
          </p:cNvPr>
          <p:cNvSpPr txBox="1"/>
          <p:nvPr/>
        </p:nvSpPr>
        <p:spPr>
          <a:xfrm>
            <a:off x="406400" y="939800"/>
            <a:ext cx="4648200" cy="2549386"/>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100" b="1" dirty="0">
                <a:solidFill>
                  <a:srgbClr val="0E39A9"/>
                </a:solidFill>
                <a:latin typeface="Montserrat"/>
                <a:cs typeface="Montserrat"/>
              </a:rPr>
              <a:t>USER PROMPT</a:t>
            </a:r>
          </a:p>
          <a:p>
            <a:pPr marL="0" indent="0" algn="l">
              <a:spcAft>
                <a:spcPts val="200"/>
              </a:spcAft>
              <a:buNone/>
            </a:pPr>
            <a:r>
              <a:rPr lang="en" sz="1200" b="1" i="0" dirty="0">
                <a:solidFill>
                  <a:srgbClr val="222222"/>
                </a:solidFill>
                <a:latin typeface="Montserrat"/>
                <a:cs typeface="Montserrat"/>
              </a:rPr>
              <a:t>What are the common symptoms for appendicitis, and can it be cured via medicine? If not, what surgical procedure should be followed to treat it?</a:t>
            </a:r>
          </a:p>
          <a:p>
            <a:pPr marL="0" indent="0" algn="l">
              <a:spcBef>
                <a:spcPts val="500"/>
              </a:spcBef>
              <a:buNone/>
            </a:pPr>
            <a:r>
              <a:rPr lang="en" sz="1100" b="1" dirty="0">
                <a:solidFill>
                  <a:srgbClr val="1B7A3D"/>
                </a:solidFill>
                <a:latin typeface="Montserrat"/>
                <a:cs typeface="Montserrat"/>
              </a:rPr>
              <a:t>FINE-TUNED RESPONSE  (temperature 0.5)</a:t>
            </a:r>
          </a:p>
          <a:p>
            <a:pPr marL="0" indent="0" algn="l">
              <a:spcAft>
                <a:spcPts val="200"/>
              </a:spcAft>
              <a:buNone/>
            </a:pPr>
            <a:r>
              <a:rPr lang="en" sz="1050" b="0" i="0" dirty="0">
                <a:solidFill>
                  <a:srgbClr val="222222"/>
                </a:solidFill>
                <a:latin typeface="Montserrat"/>
                <a:cs typeface="Montserrat"/>
              </a:rPr>
              <a:t>Symptoms include epigastric or periumbilical pain with brief nausea, vomiting, and anorexia; after a few hours the pain shifts to the right lower quadrant and worsens with cough and motion. Classic signs are RLQ direct and rebound tenderness at McBurney's point, plus Rovsing, psoas, and obturator signs; low-grade fever is common, though classic findings appear in under 50% of patients. Appendicitis cannot be cured by medicine alone — it requires surgical removal of the appendix (appendectomy).</a:t>
            </a:r>
          </a:p>
        </p:txBody>
      </p:sp>
      <p:sp>
        <p:nvSpPr>
          <p:cNvPr id="300" name="Google Shape;300;p55">
            <a:extLst>
              <a:ext uri="{FF2B5EF4-FFF2-40B4-BE49-F238E27FC236}">
                <a16:creationId xmlns:a16="http://schemas.microsoft.com/office/drawing/2014/main" id="{75B8E7B3-1DAE-990C-5FCC-2439E7690474}"/>
              </a:ext>
            </a:extLst>
          </p:cNvPr>
          <p:cNvSpPr txBox="1"/>
          <p:nvPr/>
        </p:nvSpPr>
        <p:spPr>
          <a:xfrm>
            <a:off x="5105400" y="1016000"/>
            <a:ext cx="3784600" cy="2354460"/>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000" b="1" dirty="0">
                <a:solidFill>
                  <a:srgbClr val="6F4294"/>
                </a:solidFill>
                <a:latin typeface="Montserrat"/>
                <a:cs typeface="Montserrat"/>
              </a:rPr>
              <a:t>FINE-TUNING CALL</a:t>
            </a:r>
          </a:p>
          <a:p>
            <a:pPr marL="0" indent="0" algn="l">
              <a:spcAft>
                <a:spcPts val="200"/>
              </a:spcAft>
              <a:buNone/>
            </a:pPr>
            <a:r>
              <a:rPr lang="en" sz="1000" b="0" i="0" dirty="0">
                <a:solidFill>
                  <a:srgbClr val="333333"/>
                </a:solidFill>
                <a:latin typeface="Consolas"/>
                <a:cs typeface="Consolas"/>
              </a:rPr>
              <a:t>generate_rag_response(user_input_2, temperature=0.5)</a:t>
            </a:r>
          </a:p>
          <a:p>
            <a:pPr marL="0" indent="0" algn="l">
              <a:spcBef>
                <a:spcPts val="500"/>
              </a:spcBef>
              <a:buNone/>
            </a:pPr>
            <a:r>
              <a:rPr lang="en" sz="1000" b="1" dirty="0">
                <a:solidFill>
                  <a:srgbClr val="6F4294"/>
                </a:solidFill>
                <a:latin typeface="Montserrat"/>
                <a:cs typeface="Montserrat"/>
              </a:rPr>
              <a:t>BEST PARAMETERS</a:t>
            </a:r>
          </a:p>
          <a:p>
            <a:pPr marL="0" indent="0" algn="l">
              <a:spcAft>
                <a:spcPts val="200"/>
              </a:spcAft>
              <a:buNone/>
            </a:pPr>
            <a:r>
              <a:rPr lang="en" sz="1050" b="1" i="0" dirty="0">
                <a:solidFill>
                  <a:srgbClr val="222222"/>
                </a:solidFill>
                <a:latin typeface="Montserrat"/>
                <a:cs typeface="Montserrat"/>
              </a:rPr>
              <a:t>temperature = 0.5  ·  max_tokens = 256  ·  top_p = 0.95  ·  top_k = 50  ·  k = 3</a:t>
            </a:r>
          </a:p>
          <a:p>
            <a:pPr marL="0" indent="0" algn="l">
              <a:spcBef>
                <a:spcPts val="500"/>
              </a:spcBef>
              <a:buNone/>
            </a:pPr>
            <a:r>
              <a:rPr lang="en" sz="1000" b="1" dirty="0">
                <a:solidFill>
                  <a:srgbClr val="C77700"/>
                </a:solidFill>
                <a:latin typeface="Montserrat"/>
                <a:cs typeface="Montserrat"/>
              </a:rPr>
              <a:t>OBSERVATIONS  (vs temperature 0)</a:t>
            </a:r>
          </a:p>
          <a:p>
            <a:pPr marL="0" indent="0" algn="l">
              <a:spcAft>
                <a:spcPts val="200"/>
              </a:spcAft>
              <a:buNone/>
            </a:pPr>
            <a:r>
              <a:rPr lang="en" sz="1050" b="0" i="1" dirty="0">
                <a:solidFill>
                  <a:srgbClr val="444444"/>
                </a:solidFill>
                <a:latin typeface="Montserrat"/>
                <a:cs typeface="Montserrat"/>
              </a:rPr>
              <a:t>Essentially matches the temp-0 answer — same symptoms and the appendectomy conclusion — but the higher temperature let it run on and truncate mid-sentence. The deterministic temp-0 output was a touch cleaner here.</a:t>
            </a:r>
          </a:p>
        </p:txBody>
      </p:sp>
      <p:pic>
        <p:nvPicPr>
          <p:cNvPr id="2" name="Picture 1">
            <a:extLst>
              <a:ext uri="{FF2B5EF4-FFF2-40B4-BE49-F238E27FC236}">
                <a16:creationId xmlns:a16="http://schemas.microsoft.com/office/drawing/2014/main" id="{56352410-47E8-CB28-7861-30E5309B3844}"/>
              </a:ext>
            </a:extLst>
          </p:cNvPr>
          <p:cNvPicPr>
            <a:picLocks noChangeAspect="1"/>
          </p:cNvPicPr>
          <p:nvPr/>
        </p:nvPicPr>
        <p:blipFill>
          <a:blip r:embed="rId3"/>
          <a:stretch>
            <a:fillRect/>
          </a:stretch>
        </p:blipFill>
        <p:spPr>
          <a:xfrm>
            <a:off x="2355574" y="3387811"/>
            <a:ext cx="4540526" cy="1671414"/>
          </a:xfrm>
          <a:prstGeom prst="rect">
            <a:avLst/>
          </a:prstGeom>
        </p:spPr>
      </p:pic>
    </p:spTree>
    <p:extLst>
      <p:ext uri="{BB962C8B-B14F-4D97-AF65-F5344CB8AC3E}">
        <p14:creationId xmlns:p14="http://schemas.microsoft.com/office/powerpoint/2010/main" val="804702732"/>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FCAF9B6A-688A-B284-BC3E-78E563BDE99D}"/>
            </a:ext>
          </a:extLst>
        </p:cNvPr>
        <p:cNvGrpSpPr/>
        <p:nvPr/>
      </p:nvGrpSpPr>
      <p:grpSpPr>
        <a:xfrm>
          <a:off x="0" y="0"/>
          <a:ext cx="0" cy="0"/>
          <a:chOff x="0" y="0"/>
          <a:chExt cx="0" cy="0"/>
        </a:xfrm>
      </p:grpSpPr>
      <p:sp>
        <p:nvSpPr>
          <p:cNvPr id="289" name="Google Shape;289;p55">
            <a:extLst>
              <a:ext uri="{FF2B5EF4-FFF2-40B4-BE49-F238E27FC236}">
                <a16:creationId xmlns:a16="http://schemas.microsoft.com/office/drawing/2014/main" id="{11383094-D2DF-F269-CB31-DBAEED6D946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 Query 3</a:t>
            </a:r>
            <a:endParaRPr sz="2400" dirty="0">
              <a:solidFill>
                <a:srgbClr val="0E39A9"/>
              </a:solidFill>
            </a:endParaRPr>
          </a:p>
        </p:txBody>
      </p:sp>
      <p:sp>
        <p:nvSpPr>
          <p:cNvPr id="294" name="Google Shape;294;p55">
            <a:extLst>
              <a:ext uri="{FF2B5EF4-FFF2-40B4-BE49-F238E27FC236}">
                <a16:creationId xmlns:a16="http://schemas.microsoft.com/office/drawing/2014/main" id="{BF91F658-3B60-FDCA-B98A-87541F918CC5}"/>
              </a:ext>
            </a:extLst>
          </p:cNvPr>
          <p:cNvSpPr txBox="1"/>
          <p:nvPr/>
        </p:nvSpPr>
        <p:spPr>
          <a:xfrm>
            <a:off x="406400" y="939800"/>
            <a:ext cx="4648200" cy="3057217"/>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100" b="1" dirty="0">
                <a:solidFill>
                  <a:srgbClr val="0E39A9"/>
                </a:solidFill>
                <a:latin typeface="Montserrat"/>
                <a:cs typeface="Montserrat"/>
              </a:rPr>
              <a:t>USER PROMPT  ·  top_k = 50</a:t>
            </a:r>
          </a:p>
          <a:p>
            <a:pPr marL="0" indent="0" algn="l">
              <a:spcAft>
                <a:spcPts val="200"/>
              </a:spcAft>
              <a:buNone/>
            </a:pPr>
            <a:r>
              <a:rPr lang="en" sz="1200" b="1" i="0" dirty="0">
                <a:solidFill>
                  <a:srgbClr val="222222"/>
                </a:solidFill>
                <a:latin typeface="Montserrat"/>
                <a:cs typeface="Montserrat"/>
              </a:rPr>
              <a:t>What are the effective treatments or solutions for addressing sudden patchy hair loss (localized bald spots on the scalp), and what could be the possible causes behind it?</a:t>
            </a:r>
          </a:p>
          <a:p>
            <a:pPr marL="0" indent="0" algn="l">
              <a:spcBef>
                <a:spcPts val="500"/>
              </a:spcBef>
              <a:buNone/>
            </a:pPr>
            <a:r>
              <a:rPr lang="en" sz="1100" b="1" dirty="0">
                <a:solidFill>
                  <a:srgbClr val="1B7A3D"/>
                </a:solidFill>
                <a:latin typeface="Montserrat"/>
                <a:cs typeface="Montserrat"/>
              </a:rPr>
              <a:t>RAG RESPONSE  (temperature 0)</a:t>
            </a:r>
          </a:p>
          <a:p>
            <a:pPr marL="0" indent="0" algn="l">
              <a:spcAft>
                <a:spcPts val="200"/>
              </a:spcAft>
              <a:buNone/>
            </a:pPr>
            <a:r>
              <a:rPr lang="en" sz="1050" b="0" i="0" dirty="0">
                <a:solidFill>
                  <a:srgbClr val="222222"/>
                </a:solidFill>
                <a:latin typeface="Montserrat"/>
                <a:cs typeface="Montserrat"/>
              </a:rPr>
              <a:t>Alopecia areata is an autoimmune disorder in genetically susceptible people with unclear environmental triggers. Effective treatments include topical or intralesional corticosteroids, topical minoxidil, anthralin, topical immunotherapy (diphencyprone or squaric acid dibutylester), or PUVA; hormonal modulators (oral contraceptives, spironolactone) help female-pattern loss. These stimulate growth but do not repair follicles, and loss returns if treatment stops. Causes: genetic susceptibility, environmental triggers, stress, or underlying disorders; diagnosis may need history, exam, and scalp biopsy.</a:t>
            </a:r>
          </a:p>
        </p:txBody>
      </p:sp>
      <p:sp>
        <p:nvSpPr>
          <p:cNvPr id="300" name="Google Shape;300;p55">
            <a:extLst>
              <a:ext uri="{FF2B5EF4-FFF2-40B4-BE49-F238E27FC236}">
                <a16:creationId xmlns:a16="http://schemas.microsoft.com/office/drawing/2014/main" id="{5702DE92-5E49-D5D7-A98F-71E60D7B609F}"/>
              </a:ext>
            </a:extLst>
          </p:cNvPr>
          <p:cNvSpPr txBox="1"/>
          <p:nvPr/>
        </p:nvSpPr>
        <p:spPr>
          <a:xfrm>
            <a:off x="5105400" y="2286000"/>
            <a:ext cx="3784600" cy="2087721"/>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000" b="1" dirty="0">
                <a:solidFill>
                  <a:srgbClr val="6F4294"/>
                </a:solidFill>
                <a:latin typeface="Montserrat"/>
                <a:cs typeface="Montserrat"/>
              </a:rPr>
              <a:t>SYSTEM PROMPT</a:t>
            </a:r>
          </a:p>
          <a:p>
            <a:pPr marL="0" indent="0" algn="l">
              <a:spcAft>
                <a:spcPts val="200"/>
              </a:spcAft>
              <a:buNone/>
            </a:pPr>
            <a:r>
              <a:rPr lang="en" sz="1000" b="0" i="1" dirty="0">
                <a:solidFill>
                  <a:srgbClr val="555555"/>
                </a:solidFill>
                <a:latin typeface="Montserrat"/>
                <a:cs typeface="Montserrat"/>
              </a:rPr>
              <a:t>You are a knowledgeable medical assistant. Answer only using the provided context from the medical manual. If the answer is not in the context, say it is not available. Be accurate, concise, and do not make up information.</a:t>
            </a:r>
          </a:p>
          <a:p>
            <a:pPr marL="0" indent="0" algn="l">
              <a:spcBef>
                <a:spcPts val="500"/>
              </a:spcBef>
              <a:buNone/>
            </a:pPr>
            <a:r>
              <a:rPr lang="en" sz="1000" b="1" dirty="0">
                <a:solidFill>
                  <a:srgbClr val="C77700"/>
                </a:solidFill>
                <a:latin typeface="Montserrat"/>
                <a:cs typeface="Montserrat"/>
              </a:rPr>
              <a:t>COMMENTS / OBSERVATIONS</a:t>
            </a:r>
          </a:p>
          <a:p>
            <a:pPr marL="0" indent="0" algn="l">
              <a:spcAft>
                <a:spcPts val="200"/>
              </a:spcAft>
              <a:buNone/>
            </a:pPr>
            <a:r>
              <a:rPr lang="en" sz="1050" b="0" i="1" dirty="0">
                <a:solidFill>
                  <a:srgbClr val="444444"/>
                </a:solidFill>
                <a:latin typeface="Montserrat"/>
                <a:cs typeface="Montserrat"/>
              </a:rPr>
              <a:t>RAG closes the earlier gap — it now gives concrete treatments (corticosteroids, minoxidil, PUVA, etc.) AND the causes. Complete and grounded in the manual.</a:t>
            </a:r>
          </a:p>
        </p:txBody>
      </p:sp>
      <p:pic>
        <p:nvPicPr>
          <p:cNvPr id="2" name="Picture 1">
            <a:extLst>
              <a:ext uri="{FF2B5EF4-FFF2-40B4-BE49-F238E27FC236}">
                <a16:creationId xmlns:a16="http://schemas.microsoft.com/office/drawing/2014/main" id="{AA9F8313-DC60-2CE3-F383-E7D0963BCCE5}"/>
              </a:ext>
            </a:extLst>
          </p:cNvPr>
          <p:cNvPicPr>
            <a:picLocks noChangeAspect="1"/>
          </p:cNvPicPr>
          <p:nvPr/>
        </p:nvPicPr>
        <p:blipFill>
          <a:blip r:embed="rId3"/>
          <a:stretch>
            <a:fillRect/>
          </a:stretch>
        </p:blipFill>
        <p:spPr>
          <a:xfrm>
            <a:off x="5105400" y="1066800"/>
            <a:ext cx="3784600" cy="1079500"/>
          </a:xfrm>
          <a:prstGeom prst="rect">
            <a:avLst/>
          </a:prstGeom>
        </p:spPr>
      </p:pic>
    </p:spTree>
    <p:extLst>
      <p:ext uri="{BB962C8B-B14F-4D97-AF65-F5344CB8AC3E}">
        <p14:creationId xmlns:p14="http://schemas.microsoft.com/office/powerpoint/2010/main" val="165906127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FCAF9B6A-688A-B284-BC3E-78E563BDE99D}"/>
            </a:ext>
          </a:extLst>
        </p:cNvPr>
        <p:cNvGrpSpPr/>
        <p:nvPr/>
      </p:nvGrpSpPr>
      <p:grpSpPr>
        <a:xfrm>
          <a:off x="0" y="0"/>
          <a:ext cx="0" cy="0"/>
          <a:chOff x="0" y="0"/>
          <a:chExt cx="0" cy="0"/>
        </a:xfrm>
      </p:grpSpPr>
      <p:sp>
        <p:nvSpPr>
          <p:cNvPr id="289" name="Google Shape;289;p55">
            <a:extLst>
              <a:ext uri="{FF2B5EF4-FFF2-40B4-BE49-F238E27FC236}">
                <a16:creationId xmlns:a16="http://schemas.microsoft.com/office/drawing/2014/main" id="{11383094-D2DF-F269-CB31-DBAEED6D946E}"/>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RAG Fine-tuning: Query 3</a:t>
            </a:r>
            <a:endParaRPr sz="2400" dirty="0">
              <a:solidFill>
                <a:srgbClr val="0E39A9"/>
              </a:solidFill>
            </a:endParaRPr>
          </a:p>
        </p:txBody>
      </p:sp>
      <p:sp>
        <p:nvSpPr>
          <p:cNvPr id="294" name="Google Shape;294;p55">
            <a:extLst>
              <a:ext uri="{FF2B5EF4-FFF2-40B4-BE49-F238E27FC236}">
                <a16:creationId xmlns:a16="http://schemas.microsoft.com/office/drawing/2014/main" id="{BF91F658-3B60-FDCA-B98A-87541F918CC5}"/>
              </a:ext>
            </a:extLst>
          </p:cNvPr>
          <p:cNvSpPr txBox="1"/>
          <p:nvPr/>
        </p:nvSpPr>
        <p:spPr>
          <a:xfrm>
            <a:off x="254000" y="913883"/>
            <a:ext cx="3784600" cy="3526576"/>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100" b="1" dirty="0">
                <a:solidFill>
                  <a:srgbClr val="0E39A9"/>
                </a:solidFill>
                <a:latin typeface="Montserrat"/>
                <a:cs typeface="Montserrat"/>
              </a:rPr>
              <a:t>USER PROMPT</a:t>
            </a:r>
          </a:p>
          <a:p>
            <a:pPr marL="0" indent="0" algn="l">
              <a:spcAft>
                <a:spcPts val="200"/>
              </a:spcAft>
              <a:buNone/>
            </a:pPr>
            <a:r>
              <a:rPr lang="en" sz="1150" b="1" i="0" dirty="0">
                <a:solidFill>
                  <a:srgbClr val="222222"/>
                </a:solidFill>
                <a:latin typeface="Montserrat"/>
                <a:cs typeface="Montserrat"/>
              </a:rPr>
              <a:t>What are the effective treatments or solutions for addressing sudden patchy hair loss, commonly seen as localized bald spots on the scalp, and what could be the possible causes behind it?</a:t>
            </a:r>
          </a:p>
          <a:p>
            <a:pPr marL="0" indent="0" algn="l">
              <a:spcBef>
                <a:spcPts val="500"/>
              </a:spcBef>
              <a:buNone/>
            </a:pPr>
            <a:r>
              <a:rPr lang="en" sz="1100" b="1" dirty="0">
                <a:solidFill>
                  <a:srgbClr val="1B7A3D"/>
                </a:solidFill>
                <a:latin typeface="Montserrat"/>
                <a:cs typeface="Montserrat"/>
              </a:rPr>
              <a:t>FINE-TUNED RESPONSE  (temperature 0.5)</a:t>
            </a:r>
          </a:p>
          <a:p>
            <a:pPr marL="0" indent="0" algn="l">
              <a:spcAft>
                <a:spcPts val="200"/>
              </a:spcAft>
              <a:buNone/>
            </a:pPr>
            <a:r>
              <a:rPr lang="en" sz="1050" b="0" i="0" dirty="0">
                <a:solidFill>
                  <a:srgbClr val="222222"/>
                </a:solidFill>
                <a:latin typeface="Montserrat"/>
                <a:cs typeface="Montserrat"/>
              </a:rPr>
              <a:t>Alopecia areata is a common cause of sudden patchy hair loss. Effective treatments include topical, intralesional, or systemic corticosteroids, topical minoxidil, anthralin, topical immunotherapy (diphencyprone or squaric acid dibutylester), or PUVA; the choice depends on severity and extent. Some carry adverse effects (decreased libido, hypersensitivity, gynecomastia, myopathy). Hormonal modulators (oral contraceptives, spironolactone) help female-pattern loss with hyperandrogenemia, and underlying disorders should be treated.</a:t>
            </a:r>
          </a:p>
        </p:txBody>
      </p:sp>
      <p:sp>
        <p:nvSpPr>
          <p:cNvPr id="300" name="Google Shape;300;p55">
            <a:extLst>
              <a:ext uri="{FF2B5EF4-FFF2-40B4-BE49-F238E27FC236}">
                <a16:creationId xmlns:a16="http://schemas.microsoft.com/office/drawing/2014/main" id="{5702DE92-5E49-D5D7-A98F-71E60D7B609F}"/>
              </a:ext>
            </a:extLst>
          </p:cNvPr>
          <p:cNvSpPr txBox="1"/>
          <p:nvPr/>
        </p:nvSpPr>
        <p:spPr>
          <a:xfrm>
            <a:off x="5105400" y="1016000"/>
            <a:ext cx="3784600" cy="2192878"/>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000" b="1" dirty="0">
                <a:solidFill>
                  <a:srgbClr val="6F4294"/>
                </a:solidFill>
                <a:latin typeface="Montserrat"/>
                <a:cs typeface="Montserrat"/>
              </a:rPr>
              <a:t>FINE-TUNING CALL</a:t>
            </a:r>
          </a:p>
          <a:p>
            <a:pPr marL="0" indent="0" algn="l">
              <a:spcAft>
                <a:spcPts val="200"/>
              </a:spcAft>
              <a:buNone/>
            </a:pPr>
            <a:r>
              <a:rPr lang="en" sz="1000" b="0" i="0" dirty="0">
                <a:solidFill>
                  <a:srgbClr val="333333"/>
                </a:solidFill>
                <a:latin typeface="Consolas"/>
                <a:cs typeface="Consolas"/>
              </a:rPr>
              <a:t>generate_rag_response(user_input_3, temperature=0.5)</a:t>
            </a:r>
          </a:p>
          <a:p>
            <a:pPr marL="0" indent="0" algn="l">
              <a:spcBef>
                <a:spcPts val="500"/>
              </a:spcBef>
              <a:buNone/>
            </a:pPr>
            <a:r>
              <a:rPr lang="en" sz="1000" b="1" dirty="0">
                <a:solidFill>
                  <a:srgbClr val="6F4294"/>
                </a:solidFill>
                <a:latin typeface="Montserrat"/>
                <a:cs typeface="Montserrat"/>
              </a:rPr>
              <a:t>BEST PARAMETERS</a:t>
            </a:r>
          </a:p>
          <a:p>
            <a:pPr marL="0" indent="0" algn="l">
              <a:spcAft>
                <a:spcPts val="200"/>
              </a:spcAft>
              <a:buNone/>
            </a:pPr>
            <a:r>
              <a:rPr lang="en" sz="1050" b="1" i="0" dirty="0">
                <a:solidFill>
                  <a:srgbClr val="222222"/>
                </a:solidFill>
                <a:latin typeface="Montserrat"/>
                <a:cs typeface="Montserrat"/>
              </a:rPr>
              <a:t>temperature = 0.5  ·  max_tokens = 256  ·  top_p = 0.95  ·  top_k = 50  ·  k = 3</a:t>
            </a:r>
          </a:p>
          <a:p>
            <a:pPr marL="0" indent="0" algn="l">
              <a:spcBef>
                <a:spcPts val="500"/>
              </a:spcBef>
              <a:buNone/>
            </a:pPr>
            <a:r>
              <a:rPr lang="en" sz="1000" b="1" dirty="0">
                <a:solidFill>
                  <a:srgbClr val="C77700"/>
                </a:solidFill>
                <a:latin typeface="Montserrat"/>
                <a:cs typeface="Montserrat"/>
              </a:rPr>
              <a:t>OBSERVATIONS  (vs temperature 0)</a:t>
            </a:r>
          </a:p>
          <a:p>
            <a:pPr marL="0" indent="0" algn="l">
              <a:spcAft>
                <a:spcPts val="200"/>
              </a:spcAft>
              <a:buNone/>
            </a:pPr>
            <a:r>
              <a:rPr lang="en" sz="1050" b="0" i="1" dirty="0">
                <a:solidFill>
                  <a:srgbClr val="444444"/>
                </a:solidFill>
                <a:latin typeface="Montserrat"/>
                <a:cs typeface="Montserrat"/>
              </a:rPr>
              <a:t>Richer than the temp-0 answer — it adds that treatment choice depends on severity and lists adverse effects — while staying grounded. A case where higher temperature improved the response.</a:t>
            </a:r>
          </a:p>
        </p:txBody>
      </p:sp>
      <p:pic>
        <p:nvPicPr>
          <p:cNvPr id="2" name="Picture 1">
            <a:extLst>
              <a:ext uri="{FF2B5EF4-FFF2-40B4-BE49-F238E27FC236}">
                <a16:creationId xmlns:a16="http://schemas.microsoft.com/office/drawing/2014/main" id="{371FFC03-6C50-8DBA-CD21-BC55EED6A286}"/>
              </a:ext>
            </a:extLst>
          </p:cNvPr>
          <p:cNvPicPr>
            <a:picLocks noChangeAspect="1"/>
          </p:cNvPicPr>
          <p:nvPr/>
        </p:nvPicPr>
        <p:blipFill>
          <a:blip r:embed="rId3"/>
          <a:stretch>
            <a:fillRect/>
          </a:stretch>
        </p:blipFill>
        <p:spPr>
          <a:xfrm>
            <a:off x="3930708" y="3208878"/>
            <a:ext cx="4959292" cy="1755589"/>
          </a:xfrm>
          <a:prstGeom prst="rect">
            <a:avLst/>
          </a:prstGeom>
        </p:spPr>
      </p:pic>
    </p:spTree>
    <p:extLst>
      <p:ext uri="{BB962C8B-B14F-4D97-AF65-F5344CB8AC3E}">
        <p14:creationId xmlns:p14="http://schemas.microsoft.com/office/powerpoint/2010/main" val="4075904113"/>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2A28F019-F28E-2B4C-958D-B7DF2A3BFCC4}"/>
            </a:ext>
          </a:extLst>
        </p:cNvPr>
        <p:cNvGrpSpPr/>
        <p:nvPr/>
      </p:nvGrpSpPr>
      <p:grpSpPr>
        <a:xfrm>
          <a:off x="0" y="0"/>
          <a:ext cx="0" cy="0"/>
          <a:chOff x="0" y="0"/>
          <a:chExt cx="0" cy="0"/>
        </a:xfrm>
      </p:grpSpPr>
      <p:sp>
        <p:nvSpPr>
          <p:cNvPr id="289" name="Google Shape;289;p55">
            <a:extLst>
              <a:ext uri="{FF2B5EF4-FFF2-40B4-BE49-F238E27FC236}">
                <a16:creationId xmlns:a16="http://schemas.microsoft.com/office/drawing/2014/main" id="{4B32ABC0-EDD5-8EC7-3205-8CAA0B6FC272}"/>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 Query 4</a:t>
            </a:r>
            <a:endParaRPr sz="2400" dirty="0">
              <a:solidFill>
                <a:srgbClr val="0E39A9"/>
              </a:solidFill>
            </a:endParaRPr>
          </a:p>
        </p:txBody>
      </p:sp>
      <p:sp>
        <p:nvSpPr>
          <p:cNvPr id="294" name="Google Shape;294;p55">
            <a:extLst>
              <a:ext uri="{FF2B5EF4-FFF2-40B4-BE49-F238E27FC236}">
                <a16:creationId xmlns:a16="http://schemas.microsoft.com/office/drawing/2014/main" id="{4AE09AA4-575B-1AB1-655E-D2F7F1F915AD}"/>
              </a:ext>
            </a:extLst>
          </p:cNvPr>
          <p:cNvSpPr txBox="1"/>
          <p:nvPr/>
        </p:nvSpPr>
        <p:spPr>
          <a:xfrm>
            <a:off x="406400" y="939800"/>
            <a:ext cx="4648200" cy="2995662"/>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100" b="1" dirty="0">
                <a:solidFill>
                  <a:srgbClr val="0E39A9"/>
                </a:solidFill>
                <a:latin typeface="Montserrat"/>
                <a:cs typeface="Montserrat"/>
              </a:rPr>
              <a:t>USER PROMPT  ·  top_k = 20</a:t>
            </a:r>
          </a:p>
          <a:p>
            <a:pPr marL="0" indent="0" algn="l">
              <a:spcAft>
                <a:spcPts val="200"/>
              </a:spcAft>
              <a:buNone/>
            </a:pPr>
            <a:r>
              <a:rPr lang="en" sz="1250" b="1" i="0" dirty="0">
                <a:solidFill>
                  <a:srgbClr val="222222"/>
                </a:solidFill>
                <a:latin typeface="Montserrat"/>
                <a:cs typeface="Montserrat"/>
              </a:rPr>
              <a:t>What treatments are recommended for a person who has sustained a physical injury to brain tissue, resulting in temporary or permanent impairment of brain function?</a:t>
            </a:r>
          </a:p>
          <a:p>
            <a:pPr marL="0" indent="0" algn="l">
              <a:spcBef>
                <a:spcPts val="500"/>
              </a:spcBef>
              <a:buNone/>
            </a:pPr>
            <a:r>
              <a:rPr lang="en" sz="1100" b="1" dirty="0">
                <a:solidFill>
                  <a:srgbClr val="1B7A3D"/>
                </a:solidFill>
                <a:latin typeface="Montserrat"/>
                <a:cs typeface="Montserrat"/>
              </a:rPr>
              <a:t>RAG RESPONSE  (temperature 0)</a:t>
            </a:r>
          </a:p>
          <a:p>
            <a:pPr marL="0" indent="0" algn="l">
              <a:spcAft>
                <a:spcPts val="200"/>
              </a:spcAft>
              <a:buNone/>
            </a:pPr>
            <a:r>
              <a:rPr lang="en" sz="1100" b="0" i="0" dirty="0">
                <a:solidFill>
                  <a:srgbClr val="222222"/>
                </a:solidFill>
                <a:latin typeface="Montserrat"/>
                <a:cs typeface="Montserrat"/>
              </a:rPr>
              <a:t>The manual suggests speech therapy to establish communication codes and active involvement of family and friends, plus investigational approaches: autologous macrophages, epidural BA-210, oral HP-184, and optimal timing of surgery for nerve regeneration. It cautions that no treatment reliably restores neurologic function once a persistent vegetative state lasts 3 months after injury (almost none recover after 6), and brain death — complete cessation of brain function including the brain stem — has no recovery.</a:t>
            </a:r>
          </a:p>
        </p:txBody>
      </p:sp>
      <p:sp>
        <p:nvSpPr>
          <p:cNvPr id="300" name="Google Shape;300;p55">
            <a:extLst>
              <a:ext uri="{FF2B5EF4-FFF2-40B4-BE49-F238E27FC236}">
                <a16:creationId xmlns:a16="http://schemas.microsoft.com/office/drawing/2014/main" id="{A2078EB4-AAA3-A04D-316D-E1760089FFFE}"/>
              </a:ext>
            </a:extLst>
          </p:cNvPr>
          <p:cNvSpPr txBox="1"/>
          <p:nvPr/>
        </p:nvSpPr>
        <p:spPr>
          <a:xfrm>
            <a:off x="5105400" y="2286000"/>
            <a:ext cx="3784600" cy="2087721"/>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000" b="1" dirty="0">
                <a:solidFill>
                  <a:srgbClr val="6F4294"/>
                </a:solidFill>
                <a:latin typeface="Montserrat"/>
                <a:cs typeface="Montserrat"/>
              </a:rPr>
              <a:t>SYSTEM PROMPT</a:t>
            </a:r>
          </a:p>
          <a:p>
            <a:pPr marL="0" indent="0" algn="l">
              <a:spcAft>
                <a:spcPts val="200"/>
              </a:spcAft>
              <a:buNone/>
            </a:pPr>
            <a:r>
              <a:rPr lang="en" sz="1000" b="0" i="1" dirty="0">
                <a:solidFill>
                  <a:srgbClr val="555555"/>
                </a:solidFill>
                <a:latin typeface="Montserrat"/>
                <a:cs typeface="Montserrat"/>
              </a:rPr>
              <a:t>You are a knowledgeable medical assistant. Answer only using the provided context from the medical manual. If the answer is not in the context, say it is not available. Be accurate, concise, and do not make up information.</a:t>
            </a:r>
          </a:p>
          <a:p>
            <a:pPr marL="0" indent="0" algn="l">
              <a:spcBef>
                <a:spcPts val="500"/>
              </a:spcBef>
              <a:buNone/>
            </a:pPr>
            <a:r>
              <a:rPr lang="en" sz="1000" b="1" dirty="0">
                <a:solidFill>
                  <a:srgbClr val="C77700"/>
                </a:solidFill>
                <a:latin typeface="Montserrat"/>
                <a:cs typeface="Montserrat"/>
              </a:rPr>
              <a:t>COMMENTS / OBSERVATIONS</a:t>
            </a:r>
          </a:p>
          <a:p>
            <a:pPr marL="0" indent="0" algn="l">
              <a:spcAft>
                <a:spcPts val="200"/>
              </a:spcAft>
              <a:buNone/>
            </a:pPr>
            <a:r>
              <a:rPr lang="en" sz="1050" b="0" i="1" dirty="0">
                <a:solidFill>
                  <a:srgbClr val="444444"/>
                </a:solidFill>
                <a:latin typeface="Montserrat"/>
                <a:cs typeface="Montserrat"/>
              </a:rPr>
              <a:t>Grounded and candid about prognosis — cites the manual's investigational treatments and clear recovery limits. More nuanced and source-based than the base answer.</a:t>
            </a:r>
          </a:p>
        </p:txBody>
      </p:sp>
      <p:pic>
        <p:nvPicPr>
          <p:cNvPr id="2" name="Picture 1">
            <a:extLst>
              <a:ext uri="{FF2B5EF4-FFF2-40B4-BE49-F238E27FC236}">
                <a16:creationId xmlns:a16="http://schemas.microsoft.com/office/drawing/2014/main" id="{0BE7C640-88FD-60C6-26D8-DD73F512CEB6}"/>
              </a:ext>
            </a:extLst>
          </p:cNvPr>
          <p:cNvPicPr>
            <a:picLocks noChangeAspect="1"/>
          </p:cNvPicPr>
          <p:nvPr/>
        </p:nvPicPr>
        <p:blipFill>
          <a:blip r:embed="rId3"/>
          <a:stretch>
            <a:fillRect/>
          </a:stretch>
        </p:blipFill>
        <p:spPr>
          <a:xfrm>
            <a:off x="5105400" y="1066800"/>
            <a:ext cx="3784600" cy="1079500"/>
          </a:xfrm>
          <a:prstGeom prst="rect">
            <a:avLst/>
          </a:prstGeom>
        </p:spPr>
      </p:pic>
    </p:spTree>
    <p:extLst>
      <p:ext uri="{BB962C8B-B14F-4D97-AF65-F5344CB8AC3E}">
        <p14:creationId xmlns:p14="http://schemas.microsoft.com/office/powerpoint/2010/main" val="27948016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2A28F019-F28E-2B4C-958D-B7DF2A3BFCC4}"/>
            </a:ext>
          </a:extLst>
        </p:cNvPr>
        <p:cNvGrpSpPr/>
        <p:nvPr/>
      </p:nvGrpSpPr>
      <p:grpSpPr>
        <a:xfrm>
          <a:off x="0" y="0"/>
          <a:ext cx="0" cy="0"/>
          <a:chOff x="0" y="0"/>
          <a:chExt cx="0" cy="0"/>
        </a:xfrm>
      </p:grpSpPr>
      <p:sp>
        <p:nvSpPr>
          <p:cNvPr id="289" name="Google Shape;289;p55">
            <a:extLst>
              <a:ext uri="{FF2B5EF4-FFF2-40B4-BE49-F238E27FC236}">
                <a16:creationId xmlns:a16="http://schemas.microsoft.com/office/drawing/2014/main" id="{4B32ABC0-EDD5-8EC7-3205-8CAA0B6FC272}"/>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RAG Fine-tuning: Query 4</a:t>
            </a:r>
            <a:endParaRPr sz="2400" dirty="0">
              <a:solidFill>
                <a:srgbClr val="0E39A9"/>
              </a:solidFill>
            </a:endParaRPr>
          </a:p>
        </p:txBody>
      </p:sp>
      <p:sp>
        <p:nvSpPr>
          <p:cNvPr id="294" name="Google Shape;294;p55">
            <a:extLst>
              <a:ext uri="{FF2B5EF4-FFF2-40B4-BE49-F238E27FC236}">
                <a16:creationId xmlns:a16="http://schemas.microsoft.com/office/drawing/2014/main" id="{4AE09AA4-575B-1AB1-655E-D2F7F1F915AD}"/>
              </a:ext>
            </a:extLst>
          </p:cNvPr>
          <p:cNvSpPr txBox="1"/>
          <p:nvPr/>
        </p:nvSpPr>
        <p:spPr>
          <a:xfrm>
            <a:off x="406400" y="939800"/>
            <a:ext cx="4648200" cy="2895634"/>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100" b="1" dirty="0">
                <a:solidFill>
                  <a:srgbClr val="0E39A9"/>
                </a:solidFill>
                <a:latin typeface="Montserrat"/>
                <a:cs typeface="Montserrat"/>
              </a:rPr>
              <a:t>USER PROMPT</a:t>
            </a:r>
          </a:p>
          <a:p>
            <a:pPr marL="0" indent="0" algn="l">
              <a:spcAft>
                <a:spcPts val="200"/>
              </a:spcAft>
              <a:buNone/>
            </a:pPr>
            <a:r>
              <a:rPr lang="en" sz="1200" b="1" i="0" dirty="0">
                <a:solidFill>
                  <a:srgbClr val="222222"/>
                </a:solidFill>
                <a:latin typeface="Montserrat"/>
                <a:cs typeface="Montserrat"/>
              </a:rPr>
              <a:t>What treatments are recommended for a person who has sustained a physical injury to brain tissue, resulting in temporary or permanent impairment of brain function?</a:t>
            </a:r>
          </a:p>
          <a:p>
            <a:pPr marL="0" indent="0" algn="l">
              <a:spcBef>
                <a:spcPts val="500"/>
              </a:spcBef>
              <a:buNone/>
            </a:pPr>
            <a:r>
              <a:rPr lang="en" sz="1100" b="1" dirty="0">
                <a:solidFill>
                  <a:srgbClr val="1B7A3D"/>
                </a:solidFill>
                <a:latin typeface="Montserrat"/>
                <a:cs typeface="Montserrat"/>
              </a:rPr>
              <a:t>FINE-TUNED RESPONSE  (temperature 0.5)</a:t>
            </a:r>
          </a:p>
          <a:p>
            <a:pPr marL="0" indent="0" algn="l">
              <a:spcAft>
                <a:spcPts val="200"/>
              </a:spcAft>
              <a:buNone/>
            </a:pPr>
            <a:r>
              <a:rPr lang="en" sz="1050" b="0" i="0" dirty="0">
                <a:solidFill>
                  <a:srgbClr val="222222"/>
                </a:solidFill>
                <a:latin typeface="Montserrat"/>
                <a:cs typeface="Montserrat"/>
              </a:rPr>
              <a:t>For TBI, late seizures may develop weeks to years later, causing decreased intellectual function, spastic motor impairment, gait and balance disturbance, ataxia, sensory loss, and possibly a persistent vegetative state. Research into nerve regeneration includes autologous macrophage injections, epidural experimental drugs, and oral HP-184; speech therapists can establish eye-blink communication if cognition is intact. Brain death (loss of the entire cerebrum and brain stem) has no recovery. Overall, care centers on ongoing rehabilitation.</a:t>
            </a:r>
          </a:p>
        </p:txBody>
      </p:sp>
      <p:sp>
        <p:nvSpPr>
          <p:cNvPr id="300" name="Google Shape;300;p55">
            <a:extLst>
              <a:ext uri="{FF2B5EF4-FFF2-40B4-BE49-F238E27FC236}">
                <a16:creationId xmlns:a16="http://schemas.microsoft.com/office/drawing/2014/main" id="{A2078EB4-AAA3-A04D-316D-E1760089FFFE}"/>
              </a:ext>
            </a:extLst>
          </p:cNvPr>
          <p:cNvSpPr txBox="1"/>
          <p:nvPr/>
        </p:nvSpPr>
        <p:spPr>
          <a:xfrm>
            <a:off x="5105400" y="1016000"/>
            <a:ext cx="3784600" cy="2192878"/>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000" b="1" dirty="0">
                <a:solidFill>
                  <a:srgbClr val="6F4294"/>
                </a:solidFill>
                <a:latin typeface="Montserrat"/>
                <a:cs typeface="Montserrat"/>
              </a:rPr>
              <a:t>FINE-TUNING CALL</a:t>
            </a:r>
          </a:p>
          <a:p>
            <a:pPr marL="0" indent="0" algn="l">
              <a:spcAft>
                <a:spcPts val="200"/>
              </a:spcAft>
              <a:buNone/>
            </a:pPr>
            <a:r>
              <a:rPr lang="en" sz="1000" b="0" i="0" dirty="0">
                <a:solidFill>
                  <a:srgbClr val="333333"/>
                </a:solidFill>
                <a:latin typeface="Consolas"/>
                <a:cs typeface="Consolas"/>
              </a:rPr>
              <a:t>generate_rag_response(user_input_4, temperature=0.5)</a:t>
            </a:r>
          </a:p>
          <a:p>
            <a:pPr marL="0" indent="0" algn="l">
              <a:spcBef>
                <a:spcPts val="500"/>
              </a:spcBef>
              <a:buNone/>
            </a:pPr>
            <a:r>
              <a:rPr lang="en" sz="1000" b="1" dirty="0">
                <a:solidFill>
                  <a:srgbClr val="6F4294"/>
                </a:solidFill>
                <a:latin typeface="Montserrat"/>
                <a:cs typeface="Montserrat"/>
              </a:rPr>
              <a:t>BEST PARAMETERS</a:t>
            </a:r>
          </a:p>
          <a:p>
            <a:pPr marL="0" indent="0" algn="l">
              <a:spcAft>
                <a:spcPts val="200"/>
              </a:spcAft>
              <a:buNone/>
            </a:pPr>
            <a:r>
              <a:rPr lang="en" sz="1050" b="1" i="0" dirty="0">
                <a:solidFill>
                  <a:srgbClr val="222222"/>
                </a:solidFill>
                <a:latin typeface="Montserrat"/>
                <a:cs typeface="Montserrat"/>
              </a:rPr>
              <a:t>temperature = 0.5  ·  max_tokens = 256  ·  top_p = 0.95  ·  top_k = 50  ·  k = 3</a:t>
            </a:r>
          </a:p>
          <a:p>
            <a:pPr marL="0" indent="0" algn="l">
              <a:spcBef>
                <a:spcPts val="500"/>
              </a:spcBef>
              <a:buNone/>
            </a:pPr>
            <a:r>
              <a:rPr lang="en" sz="1000" b="1" dirty="0">
                <a:solidFill>
                  <a:srgbClr val="C77700"/>
                </a:solidFill>
                <a:latin typeface="Montserrat"/>
                <a:cs typeface="Montserrat"/>
              </a:rPr>
              <a:t>OBSERVATIONS  (vs temperature 0)</a:t>
            </a:r>
          </a:p>
          <a:p>
            <a:pPr marL="0" indent="0" algn="l">
              <a:spcAft>
                <a:spcPts val="200"/>
              </a:spcAft>
              <a:buNone/>
            </a:pPr>
            <a:r>
              <a:rPr lang="en" sz="1050" b="0" i="1" dirty="0">
                <a:solidFill>
                  <a:srgbClr val="444444"/>
                </a:solidFill>
                <a:latin typeface="Montserrat"/>
                <a:cs typeface="Montserrat"/>
              </a:rPr>
              <a:t>Broader than the temp-0 answer (late seizures, ataxia, brain-death diagnosis) but more rambling, and it ends mid-thought. Higher temperature added breadth at the cost of focus.</a:t>
            </a:r>
          </a:p>
        </p:txBody>
      </p:sp>
      <p:pic>
        <p:nvPicPr>
          <p:cNvPr id="2" name="Picture 1">
            <a:extLst>
              <a:ext uri="{FF2B5EF4-FFF2-40B4-BE49-F238E27FC236}">
                <a16:creationId xmlns:a16="http://schemas.microsoft.com/office/drawing/2014/main" id="{64061828-54E1-604F-211C-D11D5B518DC0}"/>
              </a:ext>
            </a:extLst>
          </p:cNvPr>
          <p:cNvPicPr>
            <a:picLocks noChangeAspect="1"/>
          </p:cNvPicPr>
          <p:nvPr/>
        </p:nvPicPr>
        <p:blipFill>
          <a:blip r:embed="rId3"/>
          <a:stretch>
            <a:fillRect/>
          </a:stretch>
        </p:blipFill>
        <p:spPr>
          <a:xfrm>
            <a:off x="4681329" y="3269713"/>
            <a:ext cx="4370457" cy="1584508"/>
          </a:xfrm>
          <a:prstGeom prst="rect">
            <a:avLst/>
          </a:prstGeom>
        </p:spPr>
      </p:pic>
    </p:spTree>
    <p:extLst>
      <p:ext uri="{BB962C8B-B14F-4D97-AF65-F5344CB8AC3E}">
        <p14:creationId xmlns:p14="http://schemas.microsoft.com/office/powerpoint/2010/main" val="401384627"/>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C807F0F2-903D-D308-3C23-0AB5976C667C}"/>
            </a:ext>
          </a:extLst>
        </p:cNvPr>
        <p:cNvGrpSpPr/>
        <p:nvPr/>
      </p:nvGrpSpPr>
      <p:grpSpPr>
        <a:xfrm>
          <a:off x="0" y="0"/>
          <a:ext cx="0" cy="0"/>
          <a:chOff x="0" y="0"/>
          <a:chExt cx="0" cy="0"/>
        </a:xfrm>
      </p:grpSpPr>
      <p:sp>
        <p:nvSpPr>
          <p:cNvPr id="289" name="Google Shape;289;p55">
            <a:extLst>
              <a:ext uri="{FF2B5EF4-FFF2-40B4-BE49-F238E27FC236}">
                <a16:creationId xmlns:a16="http://schemas.microsoft.com/office/drawing/2014/main" id="{27C2FA88-5453-94DB-4615-F7DC6BC4A81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Question Answering using RAG: Query 5</a:t>
            </a:r>
            <a:endParaRPr sz="2400" dirty="0">
              <a:solidFill>
                <a:srgbClr val="0E39A9"/>
              </a:solidFill>
            </a:endParaRPr>
          </a:p>
        </p:txBody>
      </p:sp>
      <p:sp>
        <p:nvSpPr>
          <p:cNvPr id="294" name="Google Shape;294;p55">
            <a:extLst>
              <a:ext uri="{FF2B5EF4-FFF2-40B4-BE49-F238E27FC236}">
                <a16:creationId xmlns:a16="http://schemas.microsoft.com/office/drawing/2014/main" id="{F6BF4F89-9738-2847-6AB8-9B14D4F6D284}"/>
              </a:ext>
            </a:extLst>
          </p:cNvPr>
          <p:cNvSpPr txBox="1"/>
          <p:nvPr/>
        </p:nvSpPr>
        <p:spPr>
          <a:xfrm>
            <a:off x="406400" y="939800"/>
            <a:ext cx="4648200" cy="2734052"/>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100" b="1" dirty="0">
                <a:solidFill>
                  <a:srgbClr val="0E39A9"/>
                </a:solidFill>
                <a:latin typeface="Montserrat"/>
                <a:cs typeface="Montserrat"/>
              </a:rPr>
              <a:t>USER PROMPT  ·  top_k = 50</a:t>
            </a:r>
          </a:p>
          <a:p>
            <a:pPr marL="0" indent="0" algn="l">
              <a:spcAft>
                <a:spcPts val="200"/>
              </a:spcAft>
              <a:buNone/>
            </a:pPr>
            <a:r>
              <a:rPr lang="en" sz="1200" b="1" i="0" dirty="0">
                <a:solidFill>
                  <a:srgbClr val="222222"/>
                </a:solidFill>
                <a:latin typeface="Montserrat"/>
                <a:cs typeface="Montserrat"/>
              </a:rPr>
              <a:t>What are the necessary precautions and treatment steps for a person who has fractured their leg during a hiking trip, and what should be considered for their care and recovery?</a:t>
            </a:r>
          </a:p>
          <a:p>
            <a:pPr marL="0" indent="0" algn="l">
              <a:spcBef>
                <a:spcPts val="500"/>
              </a:spcBef>
              <a:buNone/>
            </a:pPr>
            <a:r>
              <a:rPr lang="en" sz="1100" b="1" dirty="0">
                <a:solidFill>
                  <a:srgbClr val="1B7A3D"/>
                </a:solidFill>
                <a:latin typeface="Montserrat"/>
                <a:cs typeface="Montserrat"/>
              </a:rPr>
              <a:t>RAG RESPONSE  (temperature 0)</a:t>
            </a:r>
          </a:p>
          <a:p>
            <a:pPr marL="0" indent="0" algn="l">
              <a:spcAft>
                <a:spcPts val="200"/>
              </a:spcAft>
              <a:buNone/>
            </a:pPr>
            <a:r>
              <a:rPr lang="en" sz="1050" b="0" i="0" dirty="0">
                <a:solidFill>
                  <a:srgbClr val="222222"/>
                </a:solidFill>
                <a:latin typeface="Montserrat"/>
                <a:cs typeface="Montserrat"/>
              </a:rPr>
              <a:t>Per the manual: 1) assess severity and give first aid, immobilizing the limb with a splint; 2) control bleeding with direct pressure; 3) if nerve or arterial damage (numbness, tingling, lost pulse), seek immediate care for possible surgical repair; 4) definitive treatment is reduction (often with analgesia/sedation), held by casting or hardware; 5) use RICE to limit swelling; 6) immobilize joints proximal and distal; 7) maintain alignment for lower-limb prostheses; 8) begin rehabilitation.</a:t>
            </a:r>
          </a:p>
        </p:txBody>
      </p:sp>
      <p:sp>
        <p:nvSpPr>
          <p:cNvPr id="300" name="Google Shape;300;p55">
            <a:extLst>
              <a:ext uri="{FF2B5EF4-FFF2-40B4-BE49-F238E27FC236}">
                <a16:creationId xmlns:a16="http://schemas.microsoft.com/office/drawing/2014/main" id="{61066BF6-DCCD-0221-48AD-5CCB31DB7AC6}"/>
              </a:ext>
            </a:extLst>
          </p:cNvPr>
          <p:cNvSpPr txBox="1"/>
          <p:nvPr/>
        </p:nvSpPr>
        <p:spPr>
          <a:xfrm>
            <a:off x="5105400" y="2286000"/>
            <a:ext cx="3784600" cy="2087721"/>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000" b="1" dirty="0">
                <a:solidFill>
                  <a:srgbClr val="6F4294"/>
                </a:solidFill>
                <a:latin typeface="Montserrat"/>
                <a:cs typeface="Montserrat"/>
              </a:rPr>
              <a:t>SYSTEM PROMPT</a:t>
            </a:r>
          </a:p>
          <a:p>
            <a:pPr marL="0" indent="0" algn="l">
              <a:spcAft>
                <a:spcPts val="200"/>
              </a:spcAft>
              <a:buNone/>
            </a:pPr>
            <a:r>
              <a:rPr lang="en" sz="1000" b="0" i="1" dirty="0">
                <a:solidFill>
                  <a:srgbClr val="555555"/>
                </a:solidFill>
                <a:latin typeface="Montserrat"/>
                <a:cs typeface="Montserrat"/>
              </a:rPr>
              <a:t>You are a knowledgeable medical assistant. Answer only using the provided context from the medical manual. If the answer is not in the context, say it is not available. Be accurate, concise, and do not make up information.</a:t>
            </a:r>
          </a:p>
          <a:p>
            <a:pPr marL="0" indent="0" algn="l">
              <a:spcBef>
                <a:spcPts val="500"/>
              </a:spcBef>
              <a:buNone/>
            </a:pPr>
            <a:r>
              <a:rPr lang="en" sz="1000" b="1" dirty="0">
                <a:solidFill>
                  <a:srgbClr val="C77700"/>
                </a:solidFill>
                <a:latin typeface="Montserrat"/>
                <a:cs typeface="Montserrat"/>
              </a:rPr>
              <a:t>COMMENTS / OBSERVATIONS</a:t>
            </a:r>
          </a:p>
          <a:p>
            <a:pPr marL="0" indent="0" algn="l">
              <a:spcAft>
                <a:spcPts val="200"/>
              </a:spcAft>
              <a:buNone/>
            </a:pPr>
            <a:r>
              <a:rPr lang="en" sz="1050" b="0" i="1" dirty="0">
                <a:solidFill>
                  <a:srgbClr val="444444"/>
                </a:solidFill>
                <a:latin typeface="Montserrat"/>
                <a:cs typeface="Montserrat"/>
              </a:rPr>
              <a:t>RAG delivers the full precautions-to-recovery sequence the earlier answer cut off — reduction, RICE, immobilization, and rehab. Complete and grounded in the manual.</a:t>
            </a:r>
          </a:p>
        </p:txBody>
      </p:sp>
      <p:pic>
        <p:nvPicPr>
          <p:cNvPr id="2" name="Picture 1">
            <a:extLst>
              <a:ext uri="{FF2B5EF4-FFF2-40B4-BE49-F238E27FC236}">
                <a16:creationId xmlns:a16="http://schemas.microsoft.com/office/drawing/2014/main" id="{AB92445A-1DBA-CE2E-0F8F-03E8F1279010}"/>
              </a:ext>
            </a:extLst>
          </p:cNvPr>
          <p:cNvPicPr>
            <a:picLocks noChangeAspect="1"/>
          </p:cNvPicPr>
          <p:nvPr/>
        </p:nvPicPr>
        <p:blipFill>
          <a:blip r:embed="rId3"/>
          <a:stretch>
            <a:fillRect/>
          </a:stretch>
        </p:blipFill>
        <p:spPr>
          <a:xfrm>
            <a:off x="5105400" y="1066800"/>
            <a:ext cx="3784600" cy="1079500"/>
          </a:xfrm>
          <a:prstGeom prst="rect">
            <a:avLst/>
          </a:prstGeom>
        </p:spPr>
      </p:pic>
    </p:spTree>
    <p:extLst>
      <p:ext uri="{BB962C8B-B14F-4D97-AF65-F5344CB8AC3E}">
        <p14:creationId xmlns:p14="http://schemas.microsoft.com/office/powerpoint/2010/main" val="1953185878"/>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288">
          <a:extLst>
            <a:ext uri="{FF2B5EF4-FFF2-40B4-BE49-F238E27FC236}">
              <a16:creationId xmlns:a16="http://schemas.microsoft.com/office/drawing/2014/main" id="{C807F0F2-903D-D308-3C23-0AB5976C667C}"/>
            </a:ext>
          </a:extLst>
        </p:cNvPr>
        <p:cNvGrpSpPr/>
        <p:nvPr/>
      </p:nvGrpSpPr>
      <p:grpSpPr>
        <a:xfrm>
          <a:off x="0" y="0"/>
          <a:ext cx="0" cy="0"/>
          <a:chOff x="0" y="0"/>
          <a:chExt cx="0" cy="0"/>
        </a:xfrm>
      </p:grpSpPr>
      <p:sp>
        <p:nvSpPr>
          <p:cNvPr id="289" name="Google Shape;289;p55">
            <a:extLst>
              <a:ext uri="{FF2B5EF4-FFF2-40B4-BE49-F238E27FC236}">
                <a16:creationId xmlns:a16="http://schemas.microsoft.com/office/drawing/2014/main" id="{27C2FA88-5453-94DB-4615-F7DC6BC4A811}"/>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RAG Fine-tuning: Query 5</a:t>
            </a:r>
            <a:endParaRPr sz="2400" dirty="0">
              <a:solidFill>
                <a:srgbClr val="0E39A9"/>
              </a:solidFill>
            </a:endParaRPr>
          </a:p>
        </p:txBody>
      </p:sp>
      <p:sp>
        <p:nvSpPr>
          <p:cNvPr id="294" name="Google Shape;294;p55">
            <a:extLst>
              <a:ext uri="{FF2B5EF4-FFF2-40B4-BE49-F238E27FC236}">
                <a16:creationId xmlns:a16="http://schemas.microsoft.com/office/drawing/2014/main" id="{F6BF4F89-9738-2847-6AB8-9B14D4F6D284}"/>
              </a:ext>
            </a:extLst>
          </p:cNvPr>
          <p:cNvSpPr txBox="1"/>
          <p:nvPr/>
        </p:nvSpPr>
        <p:spPr>
          <a:xfrm>
            <a:off x="406400" y="939800"/>
            <a:ext cx="4165600" cy="2980273"/>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100" b="1" dirty="0">
                <a:solidFill>
                  <a:srgbClr val="0E39A9"/>
                </a:solidFill>
                <a:latin typeface="Montserrat"/>
                <a:cs typeface="Montserrat"/>
              </a:rPr>
              <a:t>USER PROMPT</a:t>
            </a:r>
          </a:p>
          <a:p>
            <a:pPr marL="0" indent="0" algn="l">
              <a:spcAft>
                <a:spcPts val="200"/>
              </a:spcAft>
              <a:buNone/>
            </a:pPr>
            <a:r>
              <a:rPr lang="en" sz="1200" b="1" i="0" dirty="0">
                <a:solidFill>
                  <a:srgbClr val="222222"/>
                </a:solidFill>
                <a:latin typeface="Montserrat"/>
                <a:cs typeface="Montserrat"/>
              </a:rPr>
              <a:t>What are the necessary precautions and treatment steps for a person who has fractured their leg during a hiking trip, and what should be considered for their care and recovery?</a:t>
            </a:r>
          </a:p>
          <a:p>
            <a:pPr marL="0" indent="0" algn="l">
              <a:spcBef>
                <a:spcPts val="500"/>
              </a:spcBef>
              <a:buNone/>
            </a:pPr>
            <a:r>
              <a:rPr lang="en" sz="1100" b="1" dirty="0">
                <a:solidFill>
                  <a:srgbClr val="1B7A3D"/>
                </a:solidFill>
                <a:latin typeface="Montserrat"/>
                <a:cs typeface="Montserrat"/>
              </a:rPr>
              <a:t>FINE-TUNED RESPONSE  (temperature 0.5)</a:t>
            </a:r>
          </a:p>
          <a:p>
            <a:pPr marL="0" indent="0" algn="l">
              <a:spcAft>
                <a:spcPts val="200"/>
              </a:spcAft>
              <a:buNone/>
            </a:pPr>
            <a:r>
              <a:rPr lang="en" sz="1000" b="0" i="0" dirty="0">
                <a:solidFill>
                  <a:srgbClr val="222222"/>
                </a:solidFill>
                <a:latin typeface="Montserrat"/>
                <a:cs typeface="Montserrat"/>
              </a:rPr>
              <a:t>First treat any life-threatening injuries; otherwise immobilize the leg with a splint to prevent further injury and reduce pain, and apply RICE (rest, ice, compression, elevation). Definitive treatment may involve reduction (with analgesia or sedation), maintained by surgical hardware (pins, screws, plates, external fixators) or a cast. Patients should keep the cast dry, inspect the skin daily, and care for sore areas; lower-limb prosthesis users should maintain alignment. Rehabilitation should begin as soon as possible to build strength and prevent atrophy, usually leading to full ambulation.</a:t>
            </a:r>
          </a:p>
        </p:txBody>
      </p:sp>
      <p:sp>
        <p:nvSpPr>
          <p:cNvPr id="300" name="Google Shape;300;p55">
            <a:extLst>
              <a:ext uri="{FF2B5EF4-FFF2-40B4-BE49-F238E27FC236}">
                <a16:creationId xmlns:a16="http://schemas.microsoft.com/office/drawing/2014/main" id="{61066BF6-DCCD-0221-48AD-5CCB31DB7AC6}"/>
              </a:ext>
            </a:extLst>
          </p:cNvPr>
          <p:cNvSpPr txBox="1"/>
          <p:nvPr/>
        </p:nvSpPr>
        <p:spPr>
          <a:xfrm>
            <a:off x="5105400" y="1016000"/>
            <a:ext cx="3784600" cy="2192878"/>
          </a:xfrm>
          <a:prstGeom prst="rect">
            <a:avLst/>
          </a:prstGeom>
          <a:noFill/>
          <a:ln>
            <a:noFill/>
          </a:ln>
        </p:spPr>
        <p:txBody>
          <a:bodyPr spcFirstLastPara="1" wrap="square" lIns="91425" tIns="91425" rIns="91425" bIns="91425" anchor="t" anchorCtr="0">
            <a:spAutoFit/>
          </a:bodyPr>
          <a:lstStyle/>
          <a:p>
            <a:pPr marL="0" indent="0" algn="l">
              <a:spcBef>
                <a:spcPts val="500"/>
              </a:spcBef>
              <a:buNone/>
            </a:pPr>
            <a:r>
              <a:rPr lang="en" sz="1000" b="1" dirty="0">
                <a:solidFill>
                  <a:srgbClr val="6F4294"/>
                </a:solidFill>
                <a:latin typeface="Montserrat"/>
                <a:cs typeface="Montserrat"/>
              </a:rPr>
              <a:t>FINE-TUNING CALL</a:t>
            </a:r>
          </a:p>
          <a:p>
            <a:pPr marL="0" indent="0" algn="l">
              <a:spcAft>
                <a:spcPts val="200"/>
              </a:spcAft>
              <a:buNone/>
            </a:pPr>
            <a:r>
              <a:rPr lang="en" sz="1000" b="0" i="0" dirty="0">
                <a:solidFill>
                  <a:srgbClr val="333333"/>
                </a:solidFill>
                <a:latin typeface="Consolas"/>
                <a:cs typeface="Consolas"/>
              </a:rPr>
              <a:t>generate_rag_response(user_input_5, temperature=0.5)</a:t>
            </a:r>
          </a:p>
          <a:p>
            <a:pPr marL="0" indent="0" algn="l">
              <a:spcBef>
                <a:spcPts val="500"/>
              </a:spcBef>
              <a:buNone/>
            </a:pPr>
            <a:r>
              <a:rPr lang="en" sz="1000" b="1" dirty="0">
                <a:solidFill>
                  <a:srgbClr val="6F4294"/>
                </a:solidFill>
                <a:latin typeface="Montserrat"/>
                <a:cs typeface="Montserrat"/>
              </a:rPr>
              <a:t>BEST PARAMETERS</a:t>
            </a:r>
          </a:p>
          <a:p>
            <a:pPr marL="0" indent="0" algn="l">
              <a:spcAft>
                <a:spcPts val="200"/>
              </a:spcAft>
              <a:buNone/>
            </a:pPr>
            <a:r>
              <a:rPr lang="en" sz="1050" b="1" i="0" dirty="0">
                <a:solidFill>
                  <a:srgbClr val="222222"/>
                </a:solidFill>
                <a:latin typeface="Montserrat"/>
                <a:cs typeface="Montserrat"/>
              </a:rPr>
              <a:t>temperature = 0.5  ·  max_tokens = 256  ·  top_p = 0.95  ·  top_k = 50  ·  k = 3</a:t>
            </a:r>
          </a:p>
          <a:p>
            <a:pPr marL="0" indent="0" algn="l">
              <a:spcBef>
                <a:spcPts val="500"/>
              </a:spcBef>
              <a:buNone/>
            </a:pPr>
            <a:r>
              <a:rPr lang="en" sz="1000" b="1" dirty="0">
                <a:solidFill>
                  <a:srgbClr val="C77700"/>
                </a:solidFill>
                <a:latin typeface="Montserrat"/>
                <a:cs typeface="Montserrat"/>
              </a:rPr>
              <a:t>OBSERVATIONS  (vs temperature 0)</a:t>
            </a:r>
          </a:p>
          <a:p>
            <a:pPr marL="0" indent="0" algn="l">
              <a:spcAft>
                <a:spcPts val="200"/>
              </a:spcAft>
              <a:buNone/>
            </a:pPr>
            <a:r>
              <a:rPr lang="en" sz="1050" b="0" i="1" dirty="0">
                <a:solidFill>
                  <a:srgbClr val="444444"/>
                </a:solidFill>
                <a:latin typeface="Montserrat"/>
                <a:cs typeface="Montserrat"/>
              </a:rPr>
              <a:t>The richest of the five — it adds cast-care instructions and rehabilitation detail beyond the temp-0 answer and reads coherently. Higher temperature paid off here.</a:t>
            </a:r>
          </a:p>
        </p:txBody>
      </p:sp>
      <p:pic>
        <p:nvPicPr>
          <p:cNvPr id="2" name="Picture 1">
            <a:extLst>
              <a:ext uri="{FF2B5EF4-FFF2-40B4-BE49-F238E27FC236}">
                <a16:creationId xmlns:a16="http://schemas.microsoft.com/office/drawing/2014/main" id="{7DE51900-FA19-837F-C5A1-F4E5D7ACE894}"/>
              </a:ext>
            </a:extLst>
          </p:cNvPr>
          <p:cNvPicPr>
            <a:picLocks noChangeAspect="1"/>
          </p:cNvPicPr>
          <p:nvPr/>
        </p:nvPicPr>
        <p:blipFill>
          <a:blip r:embed="rId3"/>
          <a:stretch>
            <a:fillRect/>
          </a:stretch>
        </p:blipFill>
        <p:spPr>
          <a:xfrm>
            <a:off x="4483000" y="3274401"/>
            <a:ext cx="4407000" cy="1599385"/>
          </a:xfrm>
          <a:prstGeom prst="rect">
            <a:avLst/>
          </a:prstGeom>
        </p:spPr>
      </p:pic>
    </p:spTree>
    <p:extLst>
      <p:ext uri="{BB962C8B-B14F-4D97-AF65-F5344CB8AC3E}">
        <p14:creationId xmlns:p14="http://schemas.microsoft.com/office/powerpoint/2010/main" val="3295151072"/>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304"/>
        <p:cNvGrpSpPr/>
        <p:nvPr/>
      </p:nvGrpSpPr>
      <p:grpSpPr>
        <a:xfrm>
          <a:off x="0" y="0"/>
          <a:ext cx="0" cy="0"/>
          <a:chOff x="0" y="0"/>
          <a:chExt cx="0" cy="0"/>
        </a:xfrm>
      </p:grpSpPr>
      <p:sp>
        <p:nvSpPr>
          <p:cNvPr id="305" name="Google Shape;305;p56"/>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Output Evaluation: Query 1 — Sepsis</a:t>
            </a:r>
            <a:endParaRPr sz="2400">
              <a:solidFill>
                <a:srgbClr val="0E39A9"/>
              </a:solidFill>
            </a:endParaRPr>
          </a:p>
        </p:txBody>
      </p:sp>
      <p:sp>
        <p:nvSpPr>
          <p:cNvPr id="308" name="Google Shape;308;p56"/>
          <p:cNvSpPr txBox="1"/>
          <p:nvPr/>
        </p:nvSpPr>
        <p:spPr>
          <a:xfrm>
            <a:off x="132522" y="861979"/>
            <a:ext cx="4902200" cy="2208267"/>
          </a:xfrm>
          <a:prstGeom prst="rect">
            <a:avLst/>
          </a:prstGeom>
          <a:noFill/>
          <a:ln>
            <a:noFill/>
          </a:ln>
        </p:spPr>
        <p:txBody>
          <a:bodyPr spcFirstLastPara="1" wrap="square" lIns="91425" tIns="91425" rIns="91425" bIns="91425" anchor="t" anchorCtr="0">
            <a:spAutoFit/>
          </a:bodyPr>
          <a:lstStyle/>
          <a:p>
            <a:pPr marL="0" indent="0" algn="l">
              <a:buNone/>
            </a:pPr>
            <a:r>
              <a:rPr lang="en-US" sz="1100" b="1" dirty="0">
                <a:solidFill>
                  <a:srgbClr val="6F4294"/>
                </a:solidFill>
                <a:latin typeface="Montserrat"/>
              </a:rPr>
              <a:t>GROUNDEDNESS</a:t>
            </a:r>
            <a:r>
              <a:rPr lang="en-US" sz="1200" b="1" dirty="0">
                <a:solidFill>
                  <a:srgbClr val="1B7A3D"/>
                </a:solidFill>
                <a:latin typeface="Montserrat"/>
              </a:rPr>
              <a:t>    ✓ Grounded</a:t>
            </a:r>
          </a:p>
          <a:p>
            <a:pPr marL="0" indent="0" algn="l">
              <a:spcBef>
                <a:spcPts val="200"/>
              </a:spcBef>
              <a:buNone/>
            </a:pPr>
            <a:r>
              <a:rPr lang="en-US" sz="1000" dirty="0">
                <a:solidFill>
                  <a:srgbClr val="222222"/>
                </a:solidFill>
                <a:latin typeface="Montserrat"/>
              </a:rPr>
              <a:t>The answer is fully supported by the context provided in the text. The context discusses early detection and treatment of sepsis — obtaining cultures and administering empiric antibiotics, adjusting antibiotics based on culture results, surgical intervention for abscesses, removing internal devices, and providing supportive care such as fluids, antipyretics, analgesics, and oxygen. The answer directly references these steps.</a:t>
            </a:r>
          </a:p>
          <a:p>
            <a:pPr marL="0" indent="0" algn="l">
              <a:spcBef>
                <a:spcPts val="500"/>
              </a:spcBef>
              <a:buNone/>
            </a:pPr>
            <a:r>
              <a:rPr lang="en-US" sz="1100" b="1" dirty="0">
                <a:solidFill>
                  <a:srgbClr val="6F4294"/>
                </a:solidFill>
                <a:latin typeface="Montserrat"/>
              </a:rPr>
              <a:t>RELEVANCE</a:t>
            </a:r>
            <a:r>
              <a:rPr lang="en-US" sz="1200" b="1" dirty="0">
                <a:solidFill>
                  <a:srgbClr val="1B7A3D"/>
                </a:solidFill>
                <a:latin typeface="Montserrat"/>
              </a:rPr>
              <a:t>    ✓ Relevant</a:t>
            </a:r>
          </a:p>
          <a:p>
            <a:pPr marL="0" indent="0" algn="l">
              <a:spcBef>
                <a:spcPts val="200"/>
              </a:spcBef>
              <a:buNone/>
            </a:pPr>
            <a:r>
              <a:rPr lang="en-US" sz="1000" dirty="0">
                <a:solidFill>
                  <a:srgbClr val="222222"/>
                </a:solidFill>
                <a:latin typeface="Montserrat"/>
              </a:rPr>
              <a:t>The answer directly addresses the user's question by providing a detailed protocol for managing sepsis in a critical care unit — obtaining cultures, administering antibiotics, adjusting treatment based on test results, and providing supportive care.</a:t>
            </a:r>
          </a:p>
        </p:txBody>
      </p:sp>
      <p:sp>
        <p:nvSpPr>
          <p:cNvPr id="312" name="Google Shape;312;p56"/>
          <p:cNvSpPr txBox="1"/>
          <p:nvPr/>
        </p:nvSpPr>
        <p:spPr>
          <a:xfrm>
            <a:off x="5212522" y="861979"/>
            <a:ext cx="3429000" cy="2367284"/>
          </a:xfrm>
          <a:prstGeom prst="rect">
            <a:avLst/>
          </a:prstGeom>
          <a:noFill/>
          <a:ln>
            <a:noFill/>
          </a:ln>
        </p:spPr>
        <p:txBody>
          <a:bodyPr spcFirstLastPara="1" wrap="square" lIns="91425" tIns="91425" rIns="91425" bIns="91425" anchor="t" anchorCtr="0">
            <a:spAutoFit/>
          </a:bodyPr>
          <a:lstStyle/>
          <a:p>
            <a:pPr marL="0" indent="0" algn="l">
              <a:buNone/>
            </a:pPr>
            <a:r>
              <a:rPr lang="en" sz="1050" b="1" i="0" dirty="0">
                <a:solidFill>
                  <a:srgbClr val="0E39A9"/>
                </a:solidFill>
                <a:latin typeface="Montserrat"/>
                <a:cs typeface="Montserrat"/>
              </a:rPr>
              <a:t>EVALUATION PROMPTS</a:t>
            </a:r>
          </a:p>
          <a:p>
            <a:pPr marL="0" indent="0" algn="l">
              <a:spcBef>
                <a:spcPts val="150"/>
              </a:spcBef>
              <a:buNone/>
            </a:pPr>
            <a:r>
              <a:rPr lang="en" sz="1000" b="1" i="0" dirty="0">
                <a:solidFill>
                  <a:srgbClr val="222222"/>
                </a:solidFill>
                <a:latin typeface="Montserrat"/>
                <a:cs typeface="Montserrat"/>
              </a:rPr>
              <a:t>Groundedness — </a:t>
            </a:r>
            <a:r>
              <a:rPr lang="en" sz="1000" b="0" i="0" dirty="0">
                <a:solidFill>
                  <a:srgbClr val="444444"/>
                </a:solidFill>
                <a:latin typeface="Montserrat"/>
                <a:cs typeface="Montserrat"/>
              </a:rPr>
              <a:t>is the answer supported by the context? Labels: Grounded / Partially / Not Grounded, with a brief explanation.</a:t>
            </a:r>
          </a:p>
          <a:p>
            <a:pPr marL="0" indent="0" algn="l">
              <a:spcBef>
                <a:spcPts val="150"/>
              </a:spcBef>
              <a:buNone/>
            </a:pPr>
            <a:r>
              <a:rPr lang="en" sz="1000" b="1" i="0" dirty="0">
                <a:solidFill>
                  <a:srgbClr val="222222"/>
                </a:solidFill>
                <a:latin typeface="Montserrat"/>
                <a:cs typeface="Montserrat"/>
              </a:rPr>
              <a:t>Relevance — </a:t>
            </a:r>
            <a:r>
              <a:rPr lang="en" sz="1000" b="0" i="0" dirty="0">
                <a:solidFill>
                  <a:srgbClr val="444444"/>
                </a:solidFill>
                <a:latin typeface="Montserrat"/>
                <a:cs typeface="Montserrat"/>
              </a:rPr>
              <a:t>does the answer address the question? Labels: Relevant / Partially / Not Relevant, with a brief explanation.</a:t>
            </a:r>
          </a:p>
          <a:p>
            <a:pPr marL="0" indent="0" algn="l">
              <a:spcBef>
                <a:spcPts val="400"/>
              </a:spcBef>
              <a:buNone/>
            </a:pPr>
            <a:r>
              <a:rPr lang="en" sz="1050" b="1" i="0" dirty="0">
                <a:solidFill>
                  <a:srgbClr val="C77700"/>
                </a:solidFill>
                <a:latin typeface="Montserrat"/>
                <a:cs typeface="Montserrat"/>
              </a:rPr>
              <a:t>OBSERVATION</a:t>
            </a:r>
          </a:p>
          <a:p>
            <a:pPr marL="0" indent="0" algn="l">
              <a:spcBef>
                <a:spcPts val="150"/>
              </a:spcBef>
              <a:buNone/>
            </a:pPr>
            <a:r>
              <a:rPr lang="en" sz="1050" b="0" i="1" dirty="0">
                <a:solidFill>
                  <a:srgbClr val="444444"/>
                </a:solidFill>
                <a:latin typeface="Montserrat"/>
                <a:cs typeface="Montserrat"/>
              </a:rPr>
              <a:t>Mistral judges its own RAG answer Grounded and Relevant — consistent with the manual-based response. As a self-evaluation, the perfect score is encouraging but not independent.</a:t>
            </a:r>
          </a:p>
        </p:txBody>
      </p:sp>
      <p:pic>
        <p:nvPicPr>
          <p:cNvPr id="2" name="Picture 1">
            <a:extLst>
              <a:ext uri="{FF2B5EF4-FFF2-40B4-BE49-F238E27FC236}">
                <a16:creationId xmlns:a16="http://schemas.microsoft.com/office/drawing/2014/main" id="{AD235E98-262C-31CB-9244-A7E26C217860}"/>
              </a:ext>
            </a:extLst>
          </p:cNvPr>
          <p:cNvPicPr>
            <a:picLocks noChangeAspect="1"/>
          </p:cNvPicPr>
          <p:nvPr/>
        </p:nvPicPr>
        <p:blipFill>
          <a:blip r:embed="rId3"/>
          <a:stretch>
            <a:fillRect/>
          </a:stretch>
        </p:blipFill>
        <p:spPr>
          <a:xfrm>
            <a:off x="92765" y="3067298"/>
            <a:ext cx="5208103" cy="1815852"/>
          </a:xfrm>
          <a:prstGeom prst="rect">
            <a:avLst/>
          </a:prstGeom>
        </p:spPr>
      </p:pic>
    </p:spTree>
    <p:extLst>
      <p:ext uri="{BB962C8B-B14F-4D97-AF65-F5344CB8AC3E}">
        <p14:creationId xmlns:p14="http://schemas.microsoft.com/office/powerpoint/2010/main" val="2750520276"/>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00EB2323-B972-28CE-FBBA-E3117D4E675A}"/>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4043A8B2-F87C-8874-6059-6162004C5580}"/>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Output Evaluation: Query 2 — Appendicitis</a:t>
            </a:r>
            <a:endParaRPr sz="2400">
              <a:solidFill>
                <a:srgbClr val="0E39A9"/>
              </a:solidFill>
            </a:endParaRPr>
          </a:p>
        </p:txBody>
      </p:sp>
      <p:sp>
        <p:nvSpPr>
          <p:cNvPr id="308" name="Google Shape;308;p56">
            <a:extLst>
              <a:ext uri="{FF2B5EF4-FFF2-40B4-BE49-F238E27FC236}">
                <a16:creationId xmlns:a16="http://schemas.microsoft.com/office/drawing/2014/main" id="{1A251AAA-8447-055B-3AD3-AA2FBDF6D75E}"/>
              </a:ext>
            </a:extLst>
          </p:cNvPr>
          <p:cNvSpPr txBox="1"/>
          <p:nvPr/>
        </p:nvSpPr>
        <p:spPr>
          <a:xfrm>
            <a:off x="202550" y="861979"/>
            <a:ext cx="4902200" cy="1900490"/>
          </a:xfrm>
          <a:prstGeom prst="rect">
            <a:avLst/>
          </a:prstGeom>
          <a:noFill/>
          <a:ln>
            <a:noFill/>
          </a:ln>
        </p:spPr>
        <p:txBody>
          <a:bodyPr spcFirstLastPara="1" wrap="square" lIns="91425" tIns="91425" rIns="91425" bIns="91425" anchor="t" anchorCtr="0">
            <a:spAutoFit/>
          </a:bodyPr>
          <a:lstStyle/>
          <a:p>
            <a:pPr marL="0" indent="0" algn="l">
              <a:buNone/>
            </a:pPr>
            <a:r>
              <a:rPr lang="en-US" sz="1100" b="1" dirty="0">
                <a:solidFill>
                  <a:srgbClr val="6F4294"/>
                </a:solidFill>
                <a:latin typeface="Montserrat"/>
              </a:rPr>
              <a:t>GROUNDEDNESS</a:t>
            </a:r>
            <a:r>
              <a:rPr lang="en-US" sz="1200" b="1" dirty="0">
                <a:solidFill>
                  <a:srgbClr val="1B7A3D"/>
                </a:solidFill>
                <a:latin typeface="Montserrat"/>
              </a:rPr>
              <a:t>    ✓ Grounded</a:t>
            </a:r>
          </a:p>
          <a:p>
            <a:pPr marL="0" indent="0" algn="l">
              <a:spcBef>
                <a:spcPts val="200"/>
              </a:spcBef>
              <a:buNone/>
            </a:pPr>
            <a:r>
              <a:rPr lang="en-US" sz="1000" dirty="0">
                <a:solidFill>
                  <a:srgbClr val="222222"/>
                </a:solidFill>
                <a:latin typeface="Montserrat"/>
              </a:rPr>
              <a:t>The user's answer is fully supported by the context provided in the text. The symptoms described are explicitly mentioned in the context under the "Symptoms and Signs" section, and the treatment (surgical removal and antibiotics) is consistent with the "Treatment" section.</a:t>
            </a:r>
          </a:p>
          <a:p>
            <a:pPr marL="0" indent="0" algn="l">
              <a:spcBef>
                <a:spcPts val="500"/>
              </a:spcBef>
              <a:buNone/>
            </a:pPr>
            <a:r>
              <a:rPr lang="en-US" sz="1100" b="1" dirty="0">
                <a:solidFill>
                  <a:srgbClr val="6F4294"/>
                </a:solidFill>
                <a:latin typeface="Montserrat"/>
              </a:rPr>
              <a:t>RELEVANCE</a:t>
            </a:r>
            <a:r>
              <a:rPr lang="en-US" sz="1200" b="1" dirty="0">
                <a:solidFill>
                  <a:srgbClr val="1B7A3D"/>
                </a:solidFill>
                <a:latin typeface="Montserrat"/>
              </a:rPr>
              <a:t>    ✓ Relevant</a:t>
            </a:r>
          </a:p>
          <a:p>
            <a:pPr marL="0" indent="0" algn="l">
              <a:spcBef>
                <a:spcPts val="200"/>
              </a:spcBef>
              <a:buNone/>
            </a:pPr>
            <a:r>
              <a:rPr lang="en-US" sz="1000" dirty="0">
                <a:solidFill>
                  <a:srgbClr val="222222"/>
                </a:solidFill>
                <a:latin typeface="Montserrat"/>
              </a:rPr>
              <a:t>The answer directly addresses the user's question by providing the common symptoms for appendicitis and clarifying that it cannot be cured via medicine alone. It also explains the surgical procedure (appendectomy) used to treat appendicitis.</a:t>
            </a:r>
          </a:p>
        </p:txBody>
      </p:sp>
      <p:sp>
        <p:nvSpPr>
          <p:cNvPr id="312" name="Google Shape;312;p56">
            <a:extLst>
              <a:ext uri="{FF2B5EF4-FFF2-40B4-BE49-F238E27FC236}">
                <a16:creationId xmlns:a16="http://schemas.microsoft.com/office/drawing/2014/main" id="{2B41D15A-1D1C-CBED-3BC8-778E76DD170E}"/>
              </a:ext>
            </a:extLst>
          </p:cNvPr>
          <p:cNvSpPr txBox="1"/>
          <p:nvPr/>
        </p:nvSpPr>
        <p:spPr>
          <a:xfrm>
            <a:off x="5282550" y="861979"/>
            <a:ext cx="3429000" cy="2044119"/>
          </a:xfrm>
          <a:prstGeom prst="rect">
            <a:avLst/>
          </a:prstGeom>
          <a:noFill/>
          <a:ln>
            <a:noFill/>
          </a:ln>
        </p:spPr>
        <p:txBody>
          <a:bodyPr spcFirstLastPara="1" wrap="square" lIns="91425" tIns="91425" rIns="91425" bIns="91425" anchor="t" anchorCtr="0">
            <a:spAutoFit/>
          </a:bodyPr>
          <a:lstStyle/>
          <a:p>
            <a:pPr marL="0" indent="0" algn="l">
              <a:buNone/>
            </a:pPr>
            <a:r>
              <a:rPr lang="en" sz="1050" b="1" i="0" dirty="0">
                <a:solidFill>
                  <a:srgbClr val="0E39A9"/>
                </a:solidFill>
                <a:latin typeface="Montserrat"/>
                <a:cs typeface="Montserrat"/>
              </a:rPr>
              <a:t>EVALUATION PROMPTS</a:t>
            </a:r>
          </a:p>
          <a:p>
            <a:pPr marL="0" indent="0" algn="l">
              <a:spcBef>
                <a:spcPts val="150"/>
              </a:spcBef>
              <a:buNone/>
            </a:pPr>
            <a:r>
              <a:rPr lang="en" sz="1000" b="1" i="0" dirty="0">
                <a:solidFill>
                  <a:srgbClr val="222222"/>
                </a:solidFill>
                <a:latin typeface="Montserrat"/>
                <a:cs typeface="Montserrat"/>
              </a:rPr>
              <a:t>Groundedness — </a:t>
            </a:r>
            <a:r>
              <a:rPr lang="en" sz="1000" b="0" i="0" dirty="0">
                <a:solidFill>
                  <a:srgbClr val="444444"/>
                </a:solidFill>
                <a:latin typeface="Montserrat"/>
                <a:cs typeface="Montserrat"/>
              </a:rPr>
              <a:t>is the answer supported by the context? Labels: Grounded / Partially / Not Grounded, with a brief explanation.</a:t>
            </a:r>
          </a:p>
          <a:p>
            <a:pPr marL="0" indent="0" algn="l">
              <a:spcBef>
                <a:spcPts val="150"/>
              </a:spcBef>
              <a:buNone/>
            </a:pPr>
            <a:r>
              <a:rPr lang="en" sz="1000" b="1" i="0" dirty="0">
                <a:solidFill>
                  <a:srgbClr val="222222"/>
                </a:solidFill>
                <a:latin typeface="Montserrat"/>
                <a:cs typeface="Montserrat"/>
              </a:rPr>
              <a:t>Relevance — </a:t>
            </a:r>
            <a:r>
              <a:rPr lang="en" sz="1000" b="0" i="0" dirty="0">
                <a:solidFill>
                  <a:srgbClr val="444444"/>
                </a:solidFill>
                <a:latin typeface="Montserrat"/>
                <a:cs typeface="Montserrat"/>
              </a:rPr>
              <a:t>does the answer address the question? Labels: Relevant / Partially / Not Relevant, with a brief explanation.</a:t>
            </a:r>
          </a:p>
          <a:p>
            <a:pPr marL="0" indent="0" algn="l">
              <a:spcBef>
                <a:spcPts val="400"/>
              </a:spcBef>
              <a:buNone/>
            </a:pPr>
            <a:r>
              <a:rPr lang="en" sz="1050" b="1" i="0" dirty="0">
                <a:solidFill>
                  <a:srgbClr val="C77700"/>
                </a:solidFill>
                <a:latin typeface="Montserrat"/>
                <a:cs typeface="Montserrat"/>
              </a:rPr>
              <a:t>OBSERVATION</a:t>
            </a:r>
          </a:p>
          <a:p>
            <a:pPr marL="0" indent="0" algn="l">
              <a:spcBef>
                <a:spcPts val="150"/>
              </a:spcBef>
              <a:buNone/>
            </a:pPr>
            <a:r>
              <a:rPr lang="en" sz="1050" b="0" i="1" dirty="0">
                <a:solidFill>
                  <a:srgbClr val="444444"/>
                </a:solidFill>
                <a:latin typeface="Montserrat"/>
                <a:cs typeface="Montserrat"/>
              </a:rPr>
              <a:t>Self-rated Grounded and Relevant. The larger top_k=20 retrieval gave the judge ample matching context, supporting the high marks.</a:t>
            </a:r>
          </a:p>
        </p:txBody>
      </p:sp>
      <p:pic>
        <p:nvPicPr>
          <p:cNvPr id="2" name="Picture 1">
            <a:extLst>
              <a:ext uri="{FF2B5EF4-FFF2-40B4-BE49-F238E27FC236}">
                <a16:creationId xmlns:a16="http://schemas.microsoft.com/office/drawing/2014/main" id="{D27ACB3C-4D55-3DE1-33B5-CC2EFBEFBC36}"/>
              </a:ext>
            </a:extLst>
          </p:cNvPr>
          <p:cNvPicPr>
            <a:picLocks noChangeAspect="1"/>
          </p:cNvPicPr>
          <p:nvPr/>
        </p:nvPicPr>
        <p:blipFill>
          <a:blip r:embed="rId3"/>
          <a:stretch>
            <a:fillRect/>
          </a:stretch>
        </p:blipFill>
        <p:spPr>
          <a:xfrm>
            <a:off x="202551" y="2799316"/>
            <a:ext cx="4902199" cy="2121994"/>
          </a:xfrm>
          <a:prstGeom prst="rect">
            <a:avLst/>
          </a:prstGeom>
        </p:spPr>
      </p:pic>
    </p:spTree>
    <p:extLst>
      <p:ext uri="{BB962C8B-B14F-4D97-AF65-F5344CB8AC3E}">
        <p14:creationId xmlns:p14="http://schemas.microsoft.com/office/powerpoint/2010/main" val="3007035781"/>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49998BEA-6993-C3D6-76AF-88C0049E97F7}"/>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9C4CBDB9-C371-4126-1820-897F1CB3CB15}"/>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Output Evaluation: Query 3 — Alopecia Areata</a:t>
            </a:r>
            <a:endParaRPr sz="2400">
              <a:solidFill>
                <a:srgbClr val="0E39A9"/>
              </a:solidFill>
            </a:endParaRPr>
          </a:p>
        </p:txBody>
      </p:sp>
      <p:sp>
        <p:nvSpPr>
          <p:cNvPr id="308" name="Google Shape;308;p56">
            <a:extLst>
              <a:ext uri="{FF2B5EF4-FFF2-40B4-BE49-F238E27FC236}">
                <a16:creationId xmlns:a16="http://schemas.microsoft.com/office/drawing/2014/main" id="{6E76EFFC-4F34-0941-9C19-D15DE6454BF1}"/>
              </a:ext>
            </a:extLst>
          </p:cNvPr>
          <p:cNvSpPr txBox="1"/>
          <p:nvPr/>
        </p:nvSpPr>
        <p:spPr>
          <a:xfrm>
            <a:off x="203200" y="939800"/>
            <a:ext cx="4876800" cy="3911600"/>
          </a:xfrm>
          <a:prstGeom prst="rect">
            <a:avLst/>
          </a:prstGeom>
          <a:noFill/>
          <a:ln>
            <a:noFill/>
          </a:ln>
        </p:spPr>
        <p:txBody>
          <a:bodyPr spcFirstLastPara="1" wrap="square" lIns="91425" tIns="91425" rIns="91425" bIns="91425" anchor="t" anchorCtr="0">
            <a:noAutofit/>
          </a:bodyPr>
          <a:lstStyle/>
          <a:p>
            <a:pPr marL="0" indent="0" algn="l">
              <a:buNone/>
            </a:pPr>
            <a:r>
              <a:rPr lang="en-US" sz="1100" b="1" dirty="0">
                <a:solidFill>
                  <a:srgbClr val="6F4294"/>
                </a:solidFill>
                <a:latin typeface="Montserrat"/>
              </a:rPr>
              <a:t>GROUNDEDNESS</a:t>
            </a:r>
            <a:r>
              <a:rPr lang="en-US" sz="1200" b="1" dirty="0">
                <a:solidFill>
                  <a:srgbClr val="1B7A3D"/>
                </a:solidFill>
                <a:latin typeface="Montserrat"/>
              </a:rPr>
              <a:t>    ✓ Grounded</a:t>
            </a:r>
          </a:p>
          <a:p>
            <a:pPr marL="0" indent="0" algn="l">
              <a:spcBef>
                <a:spcPts val="200"/>
              </a:spcBef>
              <a:buNone/>
            </a:pPr>
            <a:r>
              <a:rPr lang="en-US" sz="1000" dirty="0">
                <a:solidFill>
                  <a:srgbClr val="222222"/>
                </a:solidFill>
                <a:latin typeface="Montserrat"/>
              </a:rPr>
              <a:t>The user's answer is fully supported by the context provided in the Merck Manual of Diagnosis &amp; Therapy. The manual describes alopecia areata as a common cause of sudden patchy hair loss and lists treatment options, which the user accurately summarizes. The user also correctly identifies possible causes — autoimmune disorders, infections, drugs, systemic illnesses, and rare dermatologic conditions — as stated in the context.</a:t>
            </a:r>
          </a:p>
          <a:p>
            <a:pPr marL="0" indent="0" algn="l">
              <a:spcBef>
                <a:spcPts val="500"/>
              </a:spcBef>
              <a:buNone/>
            </a:pPr>
            <a:r>
              <a:rPr lang="en-US" sz="1100" b="1" dirty="0">
                <a:solidFill>
                  <a:srgbClr val="6F4294"/>
                </a:solidFill>
                <a:latin typeface="Montserrat"/>
              </a:rPr>
              <a:t>RELEVANCE</a:t>
            </a:r>
            <a:r>
              <a:rPr lang="en-US" sz="1200" b="1" dirty="0">
                <a:solidFill>
                  <a:srgbClr val="1B7A3D"/>
                </a:solidFill>
                <a:latin typeface="Montserrat"/>
              </a:rPr>
              <a:t>    ✓ Relevant</a:t>
            </a:r>
          </a:p>
          <a:p>
            <a:pPr marL="0" indent="0" algn="l">
              <a:spcBef>
                <a:spcPts val="200"/>
              </a:spcBef>
              <a:buNone/>
            </a:pPr>
            <a:r>
              <a:rPr lang="en-US" sz="1000" dirty="0">
                <a:solidFill>
                  <a:srgbClr val="222222"/>
                </a:solidFill>
                <a:latin typeface="Montserrat"/>
              </a:rPr>
              <a:t>The answer directly addresses the user's question by providing information on effective treatments and possible causes of sudden patchy hair loss, specifically focusing on alopecia areata.</a:t>
            </a:r>
          </a:p>
        </p:txBody>
      </p:sp>
      <p:sp>
        <p:nvSpPr>
          <p:cNvPr id="312" name="Google Shape;312;p56">
            <a:extLst>
              <a:ext uri="{FF2B5EF4-FFF2-40B4-BE49-F238E27FC236}">
                <a16:creationId xmlns:a16="http://schemas.microsoft.com/office/drawing/2014/main" id="{EB642134-01F5-4288-92FD-86AFD07C8CFC}"/>
              </a:ext>
            </a:extLst>
          </p:cNvPr>
          <p:cNvSpPr txBox="1"/>
          <p:nvPr/>
        </p:nvSpPr>
        <p:spPr>
          <a:xfrm>
            <a:off x="5282550" y="917481"/>
            <a:ext cx="3429000" cy="2044119"/>
          </a:xfrm>
          <a:prstGeom prst="rect">
            <a:avLst/>
          </a:prstGeom>
          <a:noFill/>
          <a:ln>
            <a:noFill/>
          </a:ln>
        </p:spPr>
        <p:txBody>
          <a:bodyPr spcFirstLastPara="1" wrap="square" lIns="91425" tIns="91425" rIns="91425" bIns="91425" anchor="t" anchorCtr="0">
            <a:spAutoFit/>
          </a:bodyPr>
          <a:lstStyle/>
          <a:p>
            <a:pPr marL="0" indent="0" algn="l">
              <a:buNone/>
            </a:pPr>
            <a:r>
              <a:rPr lang="en" sz="1050" b="1" i="0" dirty="0">
                <a:solidFill>
                  <a:srgbClr val="0E39A9"/>
                </a:solidFill>
                <a:latin typeface="Montserrat"/>
                <a:cs typeface="Montserrat"/>
              </a:rPr>
              <a:t>EVALUATION PROMPTS</a:t>
            </a:r>
          </a:p>
          <a:p>
            <a:pPr marL="0" indent="0" algn="l">
              <a:spcBef>
                <a:spcPts val="150"/>
              </a:spcBef>
              <a:buNone/>
            </a:pPr>
            <a:r>
              <a:rPr lang="en" sz="1000" b="1" i="0" dirty="0">
                <a:solidFill>
                  <a:srgbClr val="222222"/>
                </a:solidFill>
                <a:latin typeface="Montserrat"/>
                <a:cs typeface="Montserrat"/>
              </a:rPr>
              <a:t>Groundedness — </a:t>
            </a:r>
            <a:r>
              <a:rPr lang="en" sz="1000" b="0" i="0" dirty="0">
                <a:solidFill>
                  <a:srgbClr val="444444"/>
                </a:solidFill>
                <a:latin typeface="Montserrat"/>
                <a:cs typeface="Montserrat"/>
              </a:rPr>
              <a:t>is the answer supported by the context? Labels: Grounded / Partially / Not Grounded, with a brief explanation.</a:t>
            </a:r>
          </a:p>
          <a:p>
            <a:pPr marL="0" indent="0" algn="l">
              <a:spcBef>
                <a:spcPts val="150"/>
              </a:spcBef>
              <a:buNone/>
            </a:pPr>
            <a:r>
              <a:rPr lang="en" sz="1000" b="1" i="0" dirty="0">
                <a:solidFill>
                  <a:srgbClr val="222222"/>
                </a:solidFill>
                <a:latin typeface="Montserrat"/>
                <a:cs typeface="Montserrat"/>
              </a:rPr>
              <a:t>Relevance — </a:t>
            </a:r>
            <a:r>
              <a:rPr lang="en" sz="1000" b="0" i="0" dirty="0">
                <a:solidFill>
                  <a:srgbClr val="444444"/>
                </a:solidFill>
                <a:latin typeface="Montserrat"/>
                <a:cs typeface="Montserrat"/>
              </a:rPr>
              <a:t>does the answer address the question? Labels: Relevant / Partially / Not Relevant, with a brief explanation.</a:t>
            </a:r>
          </a:p>
          <a:p>
            <a:pPr marL="0" indent="0" algn="l">
              <a:spcBef>
                <a:spcPts val="400"/>
              </a:spcBef>
              <a:buNone/>
            </a:pPr>
            <a:r>
              <a:rPr lang="en" sz="1050" b="1" i="0" dirty="0">
                <a:solidFill>
                  <a:srgbClr val="C77700"/>
                </a:solidFill>
                <a:latin typeface="Montserrat"/>
                <a:cs typeface="Montserrat"/>
              </a:rPr>
              <a:t>OBSERVATION</a:t>
            </a:r>
          </a:p>
          <a:p>
            <a:pPr marL="0" indent="0" algn="l">
              <a:spcBef>
                <a:spcPts val="150"/>
              </a:spcBef>
              <a:buNone/>
            </a:pPr>
            <a:r>
              <a:rPr lang="en" sz="1050" b="0" i="1" dirty="0">
                <a:solidFill>
                  <a:srgbClr val="444444"/>
                </a:solidFill>
                <a:latin typeface="Montserrat"/>
                <a:cs typeface="Montserrat"/>
              </a:rPr>
              <a:t>Grounded and Relevant. With top_k=50 the judge saw broad context; the rating aligns with the complete treatments-and-causes answer.</a:t>
            </a:r>
          </a:p>
        </p:txBody>
      </p:sp>
      <p:pic>
        <p:nvPicPr>
          <p:cNvPr id="2" name="Picture 1">
            <a:extLst>
              <a:ext uri="{FF2B5EF4-FFF2-40B4-BE49-F238E27FC236}">
                <a16:creationId xmlns:a16="http://schemas.microsoft.com/office/drawing/2014/main" id="{150842A3-CBE2-DFA3-1620-60ADF872D338}"/>
              </a:ext>
            </a:extLst>
          </p:cNvPr>
          <p:cNvPicPr>
            <a:picLocks noChangeAspect="1"/>
          </p:cNvPicPr>
          <p:nvPr/>
        </p:nvPicPr>
        <p:blipFill>
          <a:blip r:embed="rId3"/>
          <a:stretch>
            <a:fillRect/>
          </a:stretch>
        </p:blipFill>
        <p:spPr>
          <a:xfrm>
            <a:off x="202550" y="2961600"/>
            <a:ext cx="4446588" cy="1889800"/>
          </a:xfrm>
          <a:prstGeom prst="rect">
            <a:avLst/>
          </a:prstGeom>
        </p:spPr>
      </p:pic>
    </p:spTree>
    <p:extLst>
      <p:ext uri="{BB962C8B-B14F-4D97-AF65-F5344CB8AC3E}">
        <p14:creationId xmlns:p14="http://schemas.microsoft.com/office/powerpoint/2010/main" val="3804009474"/>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4D0C1F58-2E9A-2884-4D5C-1D05D2977AF5}"/>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096A70BF-EF0A-0D13-1277-6A6BE439724F}"/>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Output Evaluation: Query 4 — Traumatic Brain Injury</a:t>
            </a:r>
            <a:endParaRPr sz="2400">
              <a:solidFill>
                <a:srgbClr val="0E39A9"/>
              </a:solidFill>
            </a:endParaRPr>
          </a:p>
        </p:txBody>
      </p:sp>
      <p:sp>
        <p:nvSpPr>
          <p:cNvPr id="308" name="Google Shape;308;p56">
            <a:extLst>
              <a:ext uri="{FF2B5EF4-FFF2-40B4-BE49-F238E27FC236}">
                <a16:creationId xmlns:a16="http://schemas.microsoft.com/office/drawing/2014/main" id="{0F29FA3D-D35C-7B52-0440-6FBBE0D9D3E7}"/>
              </a:ext>
            </a:extLst>
          </p:cNvPr>
          <p:cNvSpPr txBox="1"/>
          <p:nvPr/>
        </p:nvSpPr>
        <p:spPr>
          <a:xfrm>
            <a:off x="203200" y="838200"/>
            <a:ext cx="4902200" cy="4013200"/>
          </a:xfrm>
          <a:prstGeom prst="rect">
            <a:avLst/>
          </a:prstGeom>
          <a:noFill/>
          <a:ln>
            <a:noFill/>
          </a:ln>
        </p:spPr>
        <p:txBody>
          <a:bodyPr spcFirstLastPara="1" wrap="square" lIns="91425" tIns="91425" rIns="91425" bIns="91425" anchor="t" anchorCtr="0">
            <a:noAutofit/>
          </a:bodyPr>
          <a:lstStyle/>
          <a:p>
            <a:pPr marL="0" indent="0" algn="l">
              <a:buNone/>
            </a:pPr>
            <a:r>
              <a:rPr lang="en-US" sz="1100" b="1" dirty="0">
                <a:solidFill>
                  <a:srgbClr val="6F4294"/>
                </a:solidFill>
                <a:latin typeface="Montserrat"/>
              </a:rPr>
              <a:t>GROUNDEDNESS</a:t>
            </a:r>
            <a:r>
              <a:rPr lang="en-US" sz="1200" b="1" dirty="0">
                <a:solidFill>
                  <a:srgbClr val="1B7A3D"/>
                </a:solidFill>
                <a:latin typeface="Montserrat"/>
              </a:rPr>
              <a:t>    ✓ Grounded</a:t>
            </a:r>
          </a:p>
          <a:p>
            <a:pPr marL="0" indent="0" algn="l">
              <a:spcBef>
                <a:spcPts val="200"/>
              </a:spcBef>
              <a:buNone/>
            </a:pPr>
            <a:r>
              <a:rPr lang="en-US" sz="1000" dirty="0">
                <a:solidFill>
                  <a:srgbClr val="222222"/>
                </a:solidFill>
                <a:latin typeface="Montserrat"/>
              </a:rPr>
              <a:t>The context provides detailed information about the various impairments that can result from a physical injury to brain tissue, as well as potential treatments. The answer accurately summarizes this and correctly identifies the treatments mentioned — speech therapy, efforts to promote nerve regeneration through experimental drugs and stem-cell research, and emotional care. It also correctly notes there is no recovery from brain death (loss of function of the entire cerebrum and brain stem).</a:t>
            </a:r>
          </a:p>
          <a:p>
            <a:pPr marL="0" indent="0" algn="l">
              <a:spcBef>
                <a:spcPts val="500"/>
              </a:spcBef>
              <a:buNone/>
            </a:pPr>
            <a:r>
              <a:rPr lang="en-US" sz="1100" b="1" dirty="0">
                <a:solidFill>
                  <a:srgbClr val="6F4294"/>
                </a:solidFill>
                <a:latin typeface="Montserrat"/>
              </a:rPr>
              <a:t>RELEVANCE</a:t>
            </a:r>
            <a:r>
              <a:rPr lang="en-US" sz="1200" b="1" dirty="0">
                <a:solidFill>
                  <a:srgbClr val="1B7A3D"/>
                </a:solidFill>
                <a:latin typeface="Montserrat"/>
              </a:rPr>
              <a:t>    ✓ Relevant</a:t>
            </a:r>
          </a:p>
          <a:p>
            <a:pPr marL="0" indent="0" algn="l">
              <a:spcBef>
                <a:spcPts val="200"/>
              </a:spcBef>
              <a:buNone/>
            </a:pPr>
            <a:r>
              <a:rPr lang="en-US" sz="1000" dirty="0">
                <a:solidFill>
                  <a:srgbClr val="222222"/>
                </a:solidFill>
                <a:latin typeface="Montserrat"/>
              </a:rPr>
              <a:t>Directly addresses the question by listing treatments for a person with a physical injury to brain tissue causing temporary or permanent impairment — speech therapy, efforts to promote nerve regeneration through experimental drugs and stem-cell research, and emotional care.</a:t>
            </a:r>
          </a:p>
        </p:txBody>
      </p:sp>
      <p:sp>
        <p:nvSpPr>
          <p:cNvPr id="312" name="Google Shape;312;p56">
            <a:extLst>
              <a:ext uri="{FF2B5EF4-FFF2-40B4-BE49-F238E27FC236}">
                <a16:creationId xmlns:a16="http://schemas.microsoft.com/office/drawing/2014/main" id="{03C3AE13-8F17-18F0-F487-F8E0A69FA7B1}"/>
              </a:ext>
            </a:extLst>
          </p:cNvPr>
          <p:cNvSpPr txBox="1"/>
          <p:nvPr/>
        </p:nvSpPr>
        <p:spPr>
          <a:xfrm>
            <a:off x="5388850" y="836579"/>
            <a:ext cx="3429000" cy="2205702"/>
          </a:xfrm>
          <a:prstGeom prst="rect">
            <a:avLst/>
          </a:prstGeom>
          <a:noFill/>
          <a:ln>
            <a:noFill/>
          </a:ln>
        </p:spPr>
        <p:txBody>
          <a:bodyPr spcFirstLastPara="1" wrap="square" lIns="91425" tIns="91425" rIns="91425" bIns="91425" anchor="t" anchorCtr="0">
            <a:spAutoFit/>
          </a:bodyPr>
          <a:lstStyle/>
          <a:p>
            <a:pPr marL="0" indent="0" algn="l">
              <a:buNone/>
            </a:pPr>
            <a:r>
              <a:rPr lang="en" sz="1050" b="1" i="0" dirty="0">
                <a:solidFill>
                  <a:srgbClr val="0E39A9"/>
                </a:solidFill>
                <a:latin typeface="Montserrat"/>
                <a:cs typeface="Montserrat"/>
              </a:rPr>
              <a:t>EVALUATION PROMPTS</a:t>
            </a:r>
          </a:p>
          <a:p>
            <a:pPr marL="0" indent="0" algn="l">
              <a:spcBef>
                <a:spcPts val="150"/>
              </a:spcBef>
              <a:buNone/>
            </a:pPr>
            <a:r>
              <a:rPr lang="en" sz="1000" b="1" i="0" dirty="0">
                <a:solidFill>
                  <a:srgbClr val="222222"/>
                </a:solidFill>
                <a:latin typeface="Montserrat"/>
                <a:cs typeface="Montserrat"/>
              </a:rPr>
              <a:t>Groundedness — </a:t>
            </a:r>
            <a:r>
              <a:rPr lang="en" sz="1000" b="0" i="0" dirty="0">
                <a:solidFill>
                  <a:srgbClr val="444444"/>
                </a:solidFill>
                <a:latin typeface="Montserrat"/>
                <a:cs typeface="Montserrat"/>
              </a:rPr>
              <a:t>is the answer supported by the context? Labels: Grounded / Partially / Not Grounded, with a brief explanation.</a:t>
            </a:r>
          </a:p>
          <a:p>
            <a:pPr marL="0" indent="0" algn="l">
              <a:spcBef>
                <a:spcPts val="150"/>
              </a:spcBef>
              <a:buNone/>
            </a:pPr>
            <a:r>
              <a:rPr lang="en" sz="1000" b="1" i="0" dirty="0">
                <a:solidFill>
                  <a:srgbClr val="222222"/>
                </a:solidFill>
                <a:latin typeface="Montserrat"/>
                <a:cs typeface="Montserrat"/>
              </a:rPr>
              <a:t>Relevance — </a:t>
            </a:r>
            <a:r>
              <a:rPr lang="en" sz="1000" b="0" i="0" dirty="0">
                <a:solidFill>
                  <a:srgbClr val="444444"/>
                </a:solidFill>
                <a:latin typeface="Montserrat"/>
                <a:cs typeface="Montserrat"/>
              </a:rPr>
              <a:t>does the answer address the question? Labels: Relevant / Partially / Not Relevant, with a brief explanation.</a:t>
            </a:r>
          </a:p>
          <a:p>
            <a:pPr marL="0" indent="0" algn="l">
              <a:spcBef>
                <a:spcPts val="400"/>
              </a:spcBef>
              <a:buNone/>
            </a:pPr>
            <a:r>
              <a:rPr lang="en" sz="1050" b="1" i="0" dirty="0">
                <a:solidFill>
                  <a:srgbClr val="C77700"/>
                </a:solidFill>
                <a:latin typeface="Montserrat"/>
                <a:cs typeface="Montserrat"/>
              </a:rPr>
              <a:t>OBSERVATION</a:t>
            </a:r>
          </a:p>
          <a:p>
            <a:pPr marL="0" indent="0" algn="l">
              <a:spcBef>
                <a:spcPts val="150"/>
              </a:spcBef>
              <a:buNone/>
            </a:pPr>
            <a:r>
              <a:rPr lang="en" sz="1050" b="0" i="1" dirty="0">
                <a:solidFill>
                  <a:srgbClr val="444444"/>
                </a:solidFill>
                <a:latin typeface="Montserrat"/>
                <a:cs typeface="Montserrat"/>
              </a:rPr>
              <a:t>Grounded and Relevant even though the answer leans on investigational treatments — a reminder that 'grounded' means supported by context, not necessarily clinically complete.</a:t>
            </a:r>
          </a:p>
        </p:txBody>
      </p:sp>
      <p:pic>
        <p:nvPicPr>
          <p:cNvPr id="2" name="Picture 1">
            <a:extLst>
              <a:ext uri="{FF2B5EF4-FFF2-40B4-BE49-F238E27FC236}">
                <a16:creationId xmlns:a16="http://schemas.microsoft.com/office/drawing/2014/main" id="{1B66B3B6-DE7B-763F-D890-8715BFB1938B}"/>
              </a:ext>
            </a:extLst>
          </p:cNvPr>
          <p:cNvPicPr>
            <a:picLocks noChangeAspect="1"/>
          </p:cNvPicPr>
          <p:nvPr/>
        </p:nvPicPr>
        <p:blipFill>
          <a:blip r:embed="rId3"/>
          <a:stretch>
            <a:fillRect/>
          </a:stretch>
        </p:blipFill>
        <p:spPr>
          <a:xfrm>
            <a:off x="202549" y="3148495"/>
            <a:ext cx="4518537" cy="1869179"/>
          </a:xfrm>
          <a:prstGeom prst="rect">
            <a:avLst/>
          </a:prstGeom>
        </p:spPr>
      </p:pic>
    </p:spTree>
    <p:extLst>
      <p:ext uri="{BB962C8B-B14F-4D97-AF65-F5344CB8AC3E}">
        <p14:creationId xmlns:p14="http://schemas.microsoft.com/office/powerpoint/2010/main" val="297754306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Shape 304">
          <a:extLst>
            <a:ext uri="{FF2B5EF4-FFF2-40B4-BE49-F238E27FC236}">
              <a16:creationId xmlns:a16="http://schemas.microsoft.com/office/drawing/2014/main" id="{53E9B7F5-AAC3-3148-E2A0-1AD9E6123E5B}"/>
            </a:ext>
          </a:extLst>
        </p:cNvPr>
        <p:cNvGrpSpPr/>
        <p:nvPr/>
      </p:nvGrpSpPr>
      <p:grpSpPr>
        <a:xfrm>
          <a:off x="0" y="0"/>
          <a:ext cx="0" cy="0"/>
          <a:chOff x="0" y="0"/>
          <a:chExt cx="0" cy="0"/>
        </a:xfrm>
      </p:grpSpPr>
      <p:sp>
        <p:nvSpPr>
          <p:cNvPr id="305" name="Google Shape;305;p56">
            <a:extLst>
              <a:ext uri="{FF2B5EF4-FFF2-40B4-BE49-F238E27FC236}">
                <a16:creationId xmlns:a16="http://schemas.microsoft.com/office/drawing/2014/main" id="{3E15EF1B-291C-2B20-F501-66C5AA5D2149}"/>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a:solidFill>
                  <a:srgbClr val="0E39A9"/>
                </a:solidFill>
              </a:rPr>
              <a:t>Output Evaluation: Query 5 — Leg Fracture</a:t>
            </a:r>
            <a:endParaRPr sz="2400">
              <a:solidFill>
                <a:srgbClr val="0E39A9"/>
              </a:solidFill>
            </a:endParaRPr>
          </a:p>
        </p:txBody>
      </p:sp>
      <p:sp>
        <p:nvSpPr>
          <p:cNvPr id="308" name="Google Shape;308;p56">
            <a:extLst>
              <a:ext uri="{FF2B5EF4-FFF2-40B4-BE49-F238E27FC236}">
                <a16:creationId xmlns:a16="http://schemas.microsoft.com/office/drawing/2014/main" id="{FFAF0CE0-EF1D-7799-0E5B-0B61CA1D0696}"/>
              </a:ext>
            </a:extLst>
          </p:cNvPr>
          <p:cNvSpPr txBox="1"/>
          <p:nvPr/>
        </p:nvSpPr>
        <p:spPr>
          <a:xfrm>
            <a:off x="203200" y="838200"/>
            <a:ext cx="4902200" cy="4013200"/>
          </a:xfrm>
          <a:prstGeom prst="rect">
            <a:avLst/>
          </a:prstGeom>
          <a:noFill/>
          <a:ln>
            <a:noFill/>
          </a:ln>
        </p:spPr>
        <p:txBody>
          <a:bodyPr spcFirstLastPara="1" wrap="square" lIns="91425" tIns="91425" rIns="91425" bIns="91425" anchor="t" anchorCtr="0">
            <a:noAutofit/>
          </a:bodyPr>
          <a:lstStyle/>
          <a:p>
            <a:pPr marL="0" indent="0" algn="l">
              <a:buNone/>
            </a:pPr>
            <a:r>
              <a:rPr lang="en-US" sz="1100" b="1" dirty="0">
                <a:solidFill>
                  <a:srgbClr val="6F4294"/>
                </a:solidFill>
                <a:latin typeface="Montserrat"/>
              </a:rPr>
              <a:t>GROUNDEDNESS</a:t>
            </a:r>
            <a:r>
              <a:rPr lang="en-US" sz="1250" b="1" dirty="0">
                <a:solidFill>
                  <a:srgbClr val="1B7A3D"/>
                </a:solidFill>
                <a:latin typeface="Montserrat"/>
              </a:rPr>
              <a:t>    ✓ Grounded</a:t>
            </a:r>
          </a:p>
          <a:p>
            <a:pPr marL="0" indent="0" algn="l">
              <a:spcBef>
                <a:spcPts val="200"/>
              </a:spcBef>
              <a:buNone/>
            </a:pPr>
            <a:r>
              <a:rPr lang="en-US" sz="1000" dirty="0">
                <a:solidFill>
                  <a:srgbClr val="222222"/>
                </a:solidFill>
                <a:latin typeface="Montserrat"/>
              </a:rPr>
              <a:t>The context provides detailed information about the necessary precautions and treatment steps for a fractured leg. The answer summarizes these accurately — assessing severity, immobilizing the leg with a splint or cast, applying RICE, managing pain, and undergoing rehabilitation. The context also mentions arteriography for suspected arterial injuries and nerve conduction studies, which, while not asked, are relevant to fracture care. The answer is fully supported by the context.</a:t>
            </a:r>
          </a:p>
          <a:p>
            <a:pPr marL="0" indent="0" algn="l">
              <a:spcBef>
                <a:spcPts val="500"/>
              </a:spcBef>
              <a:buNone/>
            </a:pPr>
            <a:r>
              <a:rPr lang="en-US" sz="1100" b="1" dirty="0">
                <a:solidFill>
                  <a:srgbClr val="6F4294"/>
                </a:solidFill>
                <a:latin typeface="Montserrat"/>
              </a:rPr>
              <a:t>RELEVANCE</a:t>
            </a:r>
            <a:r>
              <a:rPr lang="en-US" sz="1250" b="1" dirty="0">
                <a:solidFill>
                  <a:srgbClr val="1B7A3D"/>
                </a:solidFill>
                <a:latin typeface="Montserrat"/>
              </a:rPr>
              <a:t>    ✓ Relevant</a:t>
            </a:r>
          </a:p>
          <a:p>
            <a:pPr marL="0" indent="0" algn="l">
              <a:spcBef>
                <a:spcPts val="200"/>
              </a:spcBef>
              <a:buNone/>
            </a:pPr>
            <a:r>
              <a:rPr lang="en-US" sz="1000" dirty="0">
                <a:solidFill>
                  <a:srgbClr val="222222"/>
                </a:solidFill>
                <a:latin typeface="Montserrat"/>
              </a:rPr>
              <a:t>Directly addresses the question by providing precautions and treatment steps for a fractured leg during hiking — immobilization techniques, RICE application, pain management, and rehabilitation.</a:t>
            </a:r>
          </a:p>
        </p:txBody>
      </p:sp>
      <p:sp>
        <p:nvSpPr>
          <p:cNvPr id="312" name="Google Shape;312;p56">
            <a:extLst>
              <a:ext uri="{FF2B5EF4-FFF2-40B4-BE49-F238E27FC236}">
                <a16:creationId xmlns:a16="http://schemas.microsoft.com/office/drawing/2014/main" id="{ECE6249F-31F6-405C-4977-C24FEBBD3635}"/>
              </a:ext>
            </a:extLst>
          </p:cNvPr>
          <p:cNvSpPr txBox="1"/>
          <p:nvPr/>
        </p:nvSpPr>
        <p:spPr>
          <a:xfrm>
            <a:off x="5715000" y="933344"/>
            <a:ext cx="3429000" cy="2044119"/>
          </a:xfrm>
          <a:prstGeom prst="rect">
            <a:avLst/>
          </a:prstGeom>
          <a:noFill/>
          <a:ln>
            <a:noFill/>
          </a:ln>
        </p:spPr>
        <p:txBody>
          <a:bodyPr spcFirstLastPara="1" wrap="square" lIns="91425" tIns="91425" rIns="91425" bIns="91425" anchor="t" anchorCtr="0">
            <a:spAutoFit/>
          </a:bodyPr>
          <a:lstStyle/>
          <a:p>
            <a:pPr marL="0" indent="0" algn="l">
              <a:buNone/>
            </a:pPr>
            <a:r>
              <a:rPr lang="en" sz="1050" b="1" i="0" dirty="0">
                <a:solidFill>
                  <a:srgbClr val="0E39A9"/>
                </a:solidFill>
                <a:latin typeface="Montserrat"/>
                <a:cs typeface="Montserrat"/>
              </a:rPr>
              <a:t>EVALUATION PROMPTS</a:t>
            </a:r>
          </a:p>
          <a:p>
            <a:pPr marL="0" indent="0" algn="l">
              <a:spcBef>
                <a:spcPts val="150"/>
              </a:spcBef>
              <a:buNone/>
            </a:pPr>
            <a:r>
              <a:rPr lang="en" sz="1000" b="1" i="0" dirty="0">
                <a:solidFill>
                  <a:srgbClr val="222222"/>
                </a:solidFill>
                <a:latin typeface="Montserrat"/>
                <a:cs typeface="Montserrat"/>
              </a:rPr>
              <a:t>Groundedness — </a:t>
            </a:r>
            <a:r>
              <a:rPr lang="en" sz="1000" b="0" i="0" dirty="0">
                <a:solidFill>
                  <a:srgbClr val="444444"/>
                </a:solidFill>
                <a:latin typeface="Montserrat"/>
                <a:cs typeface="Montserrat"/>
              </a:rPr>
              <a:t>is the answer supported by the context? Labels: Grounded / Partially / Not Grounded, with a brief explanation.</a:t>
            </a:r>
          </a:p>
          <a:p>
            <a:pPr marL="0" indent="0" algn="l">
              <a:spcBef>
                <a:spcPts val="150"/>
              </a:spcBef>
              <a:buNone/>
            </a:pPr>
            <a:r>
              <a:rPr lang="en" sz="1000" b="1" i="0" dirty="0">
                <a:solidFill>
                  <a:srgbClr val="222222"/>
                </a:solidFill>
                <a:latin typeface="Montserrat"/>
                <a:cs typeface="Montserrat"/>
              </a:rPr>
              <a:t>Relevance — </a:t>
            </a:r>
            <a:r>
              <a:rPr lang="en" sz="1000" b="0" i="0" dirty="0">
                <a:solidFill>
                  <a:srgbClr val="444444"/>
                </a:solidFill>
                <a:latin typeface="Montserrat"/>
                <a:cs typeface="Montserrat"/>
              </a:rPr>
              <a:t>does the answer address the question? Labels: Relevant / Partially / Not Relevant, with a brief explanation.</a:t>
            </a:r>
          </a:p>
          <a:p>
            <a:pPr marL="0" indent="0" algn="l">
              <a:spcBef>
                <a:spcPts val="400"/>
              </a:spcBef>
              <a:buNone/>
            </a:pPr>
            <a:r>
              <a:rPr lang="en" sz="1050" b="1" i="0" dirty="0">
                <a:solidFill>
                  <a:srgbClr val="C77700"/>
                </a:solidFill>
                <a:latin typeface="Montserrat"/>
                <a:cs typeface="Montserrat"/>
              </a:rPr>
              <a:t>OBSERVATION</a:t>
            </a:r>
          </a:p>
          <a:p>
            <a:pPr marL="0" indent="0" algn="l">
              <a:spcBef>
                <a:spcPts val="150"/>
              </a:spcBef>
              <a:buNone/>
            </a:pPr>
            <a:r>
              <a:rPr lang="en" sz="1050" b="0" i="1" dirty="0">
                <a:solidFill>
                  <a:srgbClr val="444444"/>
                </a:solidFill>
                <a:latin typeface="Montserrat"/>
                <a:cs typeface="Montserrat"/>
              </a:rPr>
              <a:t>Grounded and Relevant. The full precautions-to-recovery answer gave the judge clear, context-matching content to verify against.</a:t>
            </a:r>
          </a:p>
        </p:txBody>
      </p:sp>
      <p:pic>
        <p:nvPicPr>
          <p:cNvPr id="2" name="Picture 1">
            <a:extLst>
              <a:ext uri="{FF2B5EF4-FFF2-40B4-BE49-F238E27FC236}">
                <a16:creationId xmlns:a16="http://schemas.microsoft.com/office/drawing/2014/main" id="{017072C4-B630-67D0-E64D-261B83C8C0F2}"/>
              </a:ext>
            </a:extLst>
          </p:cNvPr>
          <p:cNvPicPr>
            <a:picLocks noChangeAspect="1"/>
          </p:cNvPicPr>
          <p:nvPr/>
        </p:nvPicPr>
        <p:blipFill>
          <a:blip r:embed="rId3"/>
          <a:stretch>
            <a:fillRect/>
          </a:stretch>
        </p:blipFill>
        <p:spPr>
          <a:xfrm>
            <a:off x="2402142" y="2977463"/>
            <a:ext cx="4339715" cy="1904479"/>
          </a:xfrm>
          <a:prstGeom prst="rect">
            <a:avLst/>
          </a:prstGeom>
        </p:spPr>
      </p:pic>
    </p:spTree>
    <p:extLst>
      <p:ext uri="{BB962C8B-B14F-4D97-AF65-F5344CB8AC3E}">
        <p14:creationId xmlns:p14="http://schemas.microsoft.com/office/powerpoint/2010/main" val="3918585695"/>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41A4F2C7-786E-06EA-739E-600986432DDF}"/>
            </a:ext>
          </a:extLst>
        </p:cNvPr>
        <p:cNvGrpSpPr/>
        <p:nvPr/>
      </p:nvGrpSpPr>
      <p:grpSpPr>
        <a:xfrm>
          <a:off x="0" y="0"/>
          <a:ext cx="0" cy="0"/>
          <a:chOff x="0" y="0"/>
          <a:chExt cx="0" cy="0"/>
        </a:xfrm>
      </p:grpSpPr>
      <p:sp>
        <p:nvSpPr>
          <p:cNvPr id="334" name="Google Shape;334;p59">
            <a:extLst>
              <a:ext uri="{FF2B5EF4-FFF2-40B4-BE49-F238E27FC236}">
                <a16:creationId xmlns:a16="http://schemas.microsoft.com/office/drawing/2014/main" id="{DE34F603-DCAD-D279-73A8-BC462E3D839D}"/>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chemeClr val="lt2"/>
                </a:solidFill>
              </a:rPr>
              <a:t>Actionable Business Insights</a:t>
            </a:r>
            <a:endParaRPr dirty="0">
              <a:solidFill>
                <a:srgbClr val="000000"/>
              </a:solidFill>
            </a:endParaRPr>
          </a:p>
        </p:txBody>
      </p:sp>
      <p:sp>
        <p:nvSpPr>
          <p:cNvPr id="336" name="Google Shape;336;p59">
            <a:extLst>
              <a:ext uri="{FF2B5EF4-FFF2-40B4-BE49-F238E27FC236}">
                <a16:creationId xmlns:a16="http://schemas.microsoft.com/office/drawing/2014/main" id="{40FEF42A-7822-AA76-0562-653851D1B980}"/>
              </a:ext>
            </a:extLst>
          </p:cNvPr>
          <p:cNvSpPr txBox="1"/>
          <p:nvPr/>
        </p:nvSpPr>
        <p:spPr>
          <a:xfrm>
            <a:off x="202550" y="861979"/>
            <a:ext cx="8229600" cy="3887188"/>
          </a:xfrm>
          <a:prstGeom prst="rect">
            <a:avLst/>
          </a:prstGeom>
          <a:noFill/>
          <a:ln>
            <a:noFill/>
          </a:ln>
        </p:spPr>
        <p:txBody>
          <a:bodyPr spcFirstLastPara="1" wrap="square" lIns="91425" tIns="91425" rIns="91425" bIns="91425" anchor="t" anchorCtr="0">
            <a:spAutoFit/>
          </a:bodyPr>
          <a:lstStyle/>
          <a:p>
            <a:pPr marL="285750" indent="-285750" algn="l">
              <a:lnSpc>
                <a:spcPct val="108000"/>
              </a:lnSpc>
              <a:spcAft>
                <a:spcPts val="600"/>
              </a:spcAft>
              <a:buClr>
                <a:srgbClr val="0E39A9"/>
              </a:buClr>
              <a:buFont typeface="Arial"/>
              <a:buChar char="•"/>
            </a:pPr>
            <a:r>
              <a:rPr lang="en-US" sz="1500" b="1" dirty="0">
                <a:solidFill>
                  <a:srgbClr val="0E39A9"/>
                </a:solidFill>
                <a:latin typeface="Montserrat"/>
                <a:cs typeface="Montserrat"/>
              </a:rPr>
              <a:t>RAG grounding sharply improves accuracy and completeness — </a:t>
            </a:r>
            <a:r>
              <a:rPr lang="en-US" sz="1500" dirty="0">
                <a:solidFill>
                  <a:srgbClr val="222222"/>
                </a:solidFill>
                <a:latin typeface="Montserrat"/>
                <a:cs typeface="Montserrat"/>
              </a:rPr>
              <a:t>answers cite the Merck Manual and fully resolve multi-part questions (appendicitis → appendectomy; alopecia → concrete treatments) the base model missed.</a:t>
            </a:r>
          </a:p>
          <a:p>
            <a:pPr marL="285750" indent="-285750" algn="l">
              <a:lnSpc>
                <a:spcPct val="108000"/>
              </a:lnSpc>
              <a:spcAft>
                <a:spcPts val="600"/>
              </a:spcAft>
              <a:buClr>
                <a:srgbClr val="0E39A9"/>
              </a:buClr>
              <a:buFont typeface="Arial"/>
              <a:buChar char="•"/>
            </a:pPr>
            <a:r>
              <a:rPr lang="en-US" sz="1500" b="1" dirty="0">
                <a:solidFill>
                  <a:srgbClr val="0E39A9"/>
                </a:solidFill>
                <a:latin typeface="Montserrat"/>
                <a:cs typeface="Montserrat"/>
              </a:rPr>
              <a:t>The base, no-retrieval model gave generic answers and often truncated mid-thought — </a:t>
            </a:r>
            <a:r>
              <a:rPr lang="en-US" sz="1500" dirty="0">
                <a:solidFill>
                  <a:srgbClr val="222222"/>
                </a:solidFill>
                <a:latin typeface="Montserrat"/>
                <a:cs typeface="Montserrat"/>
              </a:rPr>
              <a:t>a real risk for medical use.</a:t>
            </a:r>
          </a:p>
          <a:p>
            <a:pPr marL="285750" indent="-285750" algn="l">
              <a:lnSpc>
                <a:spcPct val="108000"/>
              </a:lnSpc>
              <a:spcAft>
                <a:spcPts val="600"/>
              </a:spcAft>
              <a:buClr>
                <a:srgbClr val="0E39A9"/>
              </a:buClr>
              <a:buFont typeface="Arial"/>
              <a:buChar char="•"/>
            </a:pPr>
            <a:r>
              <a:rPr lang="en-US" sz="1500" b="1" dirty="0">
                <a:solidFill>
                  <a:srgbClr val="0E39A9"/>
                </a:solidFill>
                <a:latin typeface="Montserrat"/>
                <a:cs typeface="Montserrat"/>
              </a:rPr>
              <a:t>The 256-token output cap is the biggest quality limiter — </a:t>
            </a:r>
            <a:r>
              <a:rPr lang="en-US" sz="1500" dirty="0">
                <a:solidFill>
                  <a:srgbClr val="222222"/>
                </a:solidFill>
                <a:latin typeface="Montserrat"/>
                <a:cs typeface="Montserrat"/>
              </a:rPr>
              <a:t>several strong answers were cut off before completion.</a:t>
            </a:r>
          </a:p>
          <a:p>
            <a:pPr marL="285750" indent="-285750" algn="l">
              <a:lnSpc>
                <a:spcPct val="108000"/>
              </a:lnSpc>
              <a:spcAft>
                <a:spcPts val="600"/>
              </a:spcAft>
              <a:buClr>
                <a:srgbClr val="0E39A9"/>
              </a:buClr>
              <a:buFont typeface="Arial"/>
              <a:buChar char="•"/>
            </a:pPr>
            <a:r>
              <a:rPr lang="en-US" sz="1500" b="1" dirty="0">
                <a:solidFill>
                  <a:srgbClr val="0E39A9"/>
                </a:solidFill>
                <a:latin typeface="Montserrat"/>
                <a:cs typeface="Montserrat"/>
              </a:rPr>
              <a:t>Temperature is a trade-off — </a:t>
            </a:r>
            <a:r>
              <a:rPr lang="en-US" sz="1500" dirty="0">
                <a:solidFill>
                  <a:srgbClr val="222222"/>
                </a:solidFill>
                <a:latin typeface="Montserrat"/>
                <a:cs typeface="Montserrat"/>
              </a:rPr>
              <a:t>0.5 enriched some answers but made others ramble; low temperature (0–0.2) is safer for clinical content.</a:t>
            </a:r>
          </a:p>
          <a:p>
            <a:pPr marL="285750" indent="-285750" algn="l">
              <a:lnSpc>
                <a:spcPct val="108000"/>
              </a:lnSpc>
              <a:spcAft>
                <a:spcPts val="600"/>
              </a:spcAft>
              <a:buClr>
                <a:srgbClr val="0E39A9"/>
              </a:buClr>
              <a:buFont typeface="Arial"/>
              <a:buChar char="•"/>
            </a:pPr>
            <a:r>
              <a:rPr lang="en-US" sz="1500" b="1" dirty="0">
                <a:solidFill>
                  <a:srgbClr val="0E39A9"/>
                </a:solidFill>
                <a:latin typeface="Montserrat"/>
                <a:cs typeface="Montserrat"/>
              </a:rPr>
              <a:t>Retrieval depth matters — </a:t>
            </a:r>
            <a:r>
              <a:rPr lang="en-US" sz="1500" dirty="0">
                <a:solidFill>
                  <a:srgbClr val="222222"/>
                </a:solidFill>
                <a:latin typeface="Montserrat"/>
                <a:cs typeface="Montserrat"/>
              </a:rPr>
              <a:t>broader retrieval (top_k 20–50) supplied more supporting context and more complete answers.</a:t>
            </a:r>
          </a:p>
          <a:p>
            <a:pPr marL="285750" indent="-285750" algn="l">
              <a:lnSpc>
                <a:spcPct val="108000"/>
              </a:lnSpc>
              <a:spcAft>
                <a:spcPts val="600"/>
              </a:spcAft>
              <a:buClr>
                <a:srgbClr val="0E39A9"/>
              </a:buClr>
              <a:buFont typeface="Arial"/>
              <a:buChar char="•"/>
            </a:pPr>
            <a:r>
              <a:rPr lang="en-US" sz="1500" b="1" dirty="0">
                <a:solidFill>
                  <a:srgbClr val="0E39A9"/>
                </a:solidFill>
                <a:latin typeface="Montserrat"/>
                <a:cs typeface="Montserrat"/>
              </a:rPr>
              <a:t>Self-evaluation rated every answer Grounded and Relevant — </a:t>
            </a:r>
            <a:r>
              <a:rPr lang="en-US" sz="1500" dirty="0">
                <a:solidFill>
                  <a:srgbClr val="222222"/>
                </a:solidFill>
                <a:latin typeface="Montserrat"/>
                <a:cs typeface="Montserrat"/>
              </a:rPr>
              <a:t>encouraging, but the model is grading itself, not an independent check.</a:t>
            </a:r>
          </a:p>
        </p:txBody>
      </p:sp>
    </p:spTree>
    <p:extLst>
      <p:ext uri="{BB962C8B-B14F-4D97-AF65-F5344CB8AC3E}">
        <p14:creationId xmlns:p14="http://schemas.microsoft.com/office/powerpoint/2010/main" val="1967543524"/>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B2F8AA7E-3BCE-C584-3D22-3DB69472BD37}"/>
            </a:ext>
          </a:extLst>
        </p:cNvPr>
        <p:cNvGrpSpPr/>
        <p:nvPr/>
      </p:nvGrpSpPr>
      <p:grpSpPr>
        <a:xfrm>
          <a:off x="0" y="0"/>
          <a:ext cx="0" cy="0"/>
          <a:chOff x="0" y="0"/>
          <a:chExt cx="0" cy="0"/>
        </a:xfrm>
      </p:grpSpPr>
      <p:sp>
        <p:nvSpPr>
          <p:cNvPr id="334" name="Google Shape;334;p59">
            <a:extLst>
              <a:ext uri="{FF2B5EF4-FFF2-40B4-BE49-F238E27FC236}">
                <a16:creationId xmlns:a16="http://schemas.microsoft.com/office/drawing/2014/main" id="{74174E6C-6CBD-9065-9AEC-7EA576974D5C}"/>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chemeClr val="lt2"/>
                </a:solidFill>
              </a:rPr>
              <a:t>Business Recommendations</a:t>
            </a:r>
            <a:endParaRPr dirty="0">
              <a:solidFill>
                <a:srgbClr val="000000"/>
              </a:solidFill>
            </a:endParaRPr>
          </a:p>
        </p:txBody>
      </p:sp>
      <p:sp>
        <p:nvSpPr>
          <p:cNvPr id="336" name="Google Shape;336;p59">
            <a:extLst>
              <a:ext uri="{FF2B5EF4-FFF2-40B4-BE49-F238E27FC236}">
                <a16:creationId xmlns:a16="http://schemas.microsoft.com/office/drawing/2014/main" id="{342F338D-A348-5121-DADE-4E114A483E93}"/>
              </a:ext>
            </a:extLst>
          </p:cNvPr>
          <p:cNvSpPr txBox="1"/>
          <p:nvPr/>
        </p:nvSpPr>
        <p:spPr>
          <a:xfrm>
            <a:off x="202550" y="861979"/>
            <a:ext cx="8229600" cy="3708400"/>
          </a:xfrm>
          <a:prstGeom prst="rect">
            <a:avLst/>
          </a:prstGeom>
          <a:noFill/>
          <a:ln>
            <a:noFill/>
          </a:ln>
        </p:spPr>
        <p:txBody>
          <a:bodyPr spcFirstLastPara="1" wrap="square" lIns="91425" tIns="91425" rIns="91425" bIns="91425" anchor="t" anchorCtr="0">
            <a:spAutoFit/>
          </a:bodyPr>
          <a:lstStyle/>
          <a:p>
            <a:pPr marL="285750" indent="-285750" algn="l">
              <a:lnSpc>
                <a:spcPct val="108000"/>
              </a:lnSpc>
              <a:spcAft>
                <a:spcPts val="600"/>
              </a:spcAft>
              <a:buClr>
                <a:srgbClr val="1B7A3D"/>
              </a:buClr>
              <a:buFont typeface="Arial"/>
              <a:buChar char="•"/>
            </a:pPr>
            <a:r>
              <a:rPr lang="en-US" sz="1500" b="1" dirty="0">
                <a:solidFill>
                  <a:srgbClr val="1B7A3D"/>
                </a:solidFill>
                <a:latin typeface="Montserrat"/>
                <a:cs typeface="Montserrat"/>
              </a:rPr>
              <a:t>Deploy the RAG pipeline over the base model — </a:t>
            </a:r>
            <a:r>
              <a:rPr lang="en-US" sz="1500" dirty="0">
                <a:solidFill>
                  <a:srgbClr val="222222"/>
                </a:solidFill>
                <a:latin typeface="Montserrat"/>
                <a:cs typeface="Montserrat"/>
              </a:rPr>
              <a:t>grounding answers in the manual is what makes them trustworthy for medical use.</a:t>
            </a:r>
          </a:p>
          <a:p>
            <a:pPr marL="285750" indent="-285750" algn="l">
              <a:lnSpc>
                <a:spcPct val="108000"/>
              </a:lnSpc>
              <a:spcAft>
                <a:spcPts val="600"/>
              </a:spcAft>
              <a:buClr>
                <a:srgbClr val="1B7A3D"/>
              </a:buClr>
              <a:buFont typeface="Arial"/>
              <a:buChar char="•"/>
            </a:pPr>
            <a:r>
              <a:rPr lang="en-US" sz="1500" b="1" dirty="0">
                <a:solidFill>
                  <a:srgbClr val="1B7A3D"/>
                </a:solidFill>
                <a:latin typeface="Montserrat"/>
                <a:cs typeface="Montserrat"/>
              </a:rPr>
              <a:t>Raise the output cap (max_tokens ≥ 512) — </a:t>
            </a:r>
            <a:r>
              <a:rPr lang="en-US" sz="1500" dirty="0">
                <a:solidFill>
                  <a:srgbClr val="222222"/>
                </a:solidFill>
                <a:latin typeface="Montserrat"/>
                <a:cs typeface="Montserrat"/>
              </a:rPr>
              <a:t>to eliminate truncation and deliver complete guidance.</a:t>
            </a:r>
          </a:p>
          <a:p>
            <a:pPr marL="285750" indent="-285750" algn="l">
              <a:lnSpc>
                <a:spcPct val="108000"/>
              </a:lnSpc>
              <a:spcAft>
                <a:spcPts val="600"/>
              </a:spcAft>
              <a:buClr>
                <a:srgbClr val="1B7A3D"/>
              </a:buClr>
              <a:buFont typeface="Arial"/>
              <a:buChar char="•"/>
            </a:pPr>
            <a:r>
              <a:rPr lang="en-US" sz="1500" b="1" dirty="0">
                <a:solidFill>
                  <a:srgbClr val="1B7A3D"/>
                </a:solidFill>
                <a:latin typeface="Montserrat"/>
                <a:cs typeface="Montserrat"/>
              </a:rPr>
              <a:t>Keep temperature low (0–0.2) for clinical accuracy — </a:t>
            </a:r>
            <a:r>
              <a:rPr lang="en-US" sz="1500" dirty="0">
                <a:solidFill>
                  <a:srgbClr val="222222"/>
                </a:solidFill>
                <a:latin typeface="Montserrat"/>
                <a:cs typeface="Montserrat"/>
              </a:rPr>
              <a:t>reserve higher temperatures for non-critical or creative tasks.</a:t>
            </a:r>
          </a:p>
          <a:p>
            <a:pPr marL="285750" indent="-285750" algn="l">
              <a:lnSpc>
                <a:spcPct val="108000"/>
              </a:lnSpc>
              <a:spcAft>
                <a:spcPts val="600"/>
              </a:spcAft>
              <a:buClr>
                <a:srgbClr val="1B7A3D"/>
              </a:buClr>
              <a:buFont typeface="Arial"/>
              <a:buChar char="•"/>
            </a:pPr>
            <a:r>
              <a:rPr lang="en-US" sz="1500" b="1" dirty="0">
                <a:solidFill>
                  <a:srgbClr val="1B7A3D"/>
                </a:solidFill>
                <a:latin typeface="Montserrat"/>
                <a:cs typeface="Montserrat"/>
              </a:rPr>
              <a:t>Curate an authoritative corpus and tune retrieval — </a:t>
            </a:r>
            <a:r>
              <a:rPr lang="en-US" sz="1500" dirty="0">
                <a:solidFill>
                  <a:srgbClr val="222222"/>
                </a:solidFill>
                <a:latin typeface="Montserrat"/>
                <a:cs typeface="Montserrat"/>
              </a:rPr>
              <a:t>match chunking and top_k to each question's complexity.</a:t>
            </a:r>
          </a:p>
          <a:p>
            <a:pPr marL="285750" indent="-285750" algn="l">
              <a:lnSpc>
                <a:spcPct val="108000"/>
              </a:lnSpc>
              <a:spcAft>
                <a:spcPts val="600"/>
              </a:spcAft>
              <a:buClr>
                <a:srgbClr val="1B7A3D"/>
              </a:buClr>
              <a:buFont typeface="Arial"/>
              <a:buChar char="•"/>
            </a:pPr>
            <a:r>
              <a:rPr lang="en-US" sz="1500" b="1" dirty="0">
                <a:solidFill>
                  <a:srgbClr val="1B7A3D"/>
                </a:solidFill>
                <a:latin typeface="Montserrat"/>
                <a:cs typeface="Montserrat"/>
              </a:rPr>
              <a:t>Add clinician-in-the-loop review and an independent evaluator — </a:t>
            </a:r>
            <a:r>
              <a:rPr lang="en-US" sz="1500" dirty="0">
                <a:solidFill>
                  <a:srgbClr val="222222"/>
                </a:solidFill>
                <a:latin typeface="Montserrat"/>
                <a:cs typeface="Montserrat"/>
              </a:rPr>
              <a:t>do not rely on the model grading itself before production.</a:t>
            </a:r>
          </a:p>
          <a:p>
            <a:pPr marL="285750" indent="-285750" algn="l">
              <a:lnSpc>
                <a:spcPct val="108000"/>
              </a:lnSpc>
              <a:spcAft>
                <a:spcPts val="600"/>
              </a:spcAft>
              <a:buClr>
                <a:srgbClr val="1B7A3D"/>
              </a:buClr>
              <a:buFont typeface="Arial"/>
              <a:buChar char="•"/>
            </a:pPr>
            <a:r>
              <a:rPr lang="en-US" sz="1500" b="1" dirty="0">
                <a:solidFill>
                  <a:srgbClr val="1B7A3D"/>
                </a:solidFill>
                <a:latin typeface="Montserrat"/>
                <a:cs typeface="Montserrat"/>
              </a:rPr>
              <a:t>Build in safety guardrails — </a:t>
            </a:r>
            <a:r>
              <a:rPr lang="en-US" sz="1500" dirty="0">
                <a:solidFill>
                  <a:srgbClr val="222222"/>
                </a:solidFill>
                <a:latin typeface="Montserrat"/>
                <a:cs typeface="Montserrat"/>
              </a:rPr>
              <a:t>source citations, a 'not in the manual' fallback, and escalation to professionals for emergencies.</a:t>
            </a:r>
          </a:p>
        </p:txBody>
      </p:sp>
    </p:spTree>
    <p:extLst>
      <p:ext uri="{BB962C8B-B14F-4D97-AF65-F5344CB8AC3E}">
        <p14:creationId xmlns:p14="http://schemas.microsoft.com/office/powerpoint/2010/main" val="4171858265"/>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Shape 333">
          <a:extLst>
            <a:ext uri="{FF2B5EF4-FFF2-40B4-BE49-F238E27FC236}">
              <a16:creationId xmlns:a16="http://schemas.microsoft.com/office/drawing/2014/main" id="{640C6F4E-B009-C69B-94CF-7498380C92D8}"/>
            </a:ext>
          </a:extLst>
        </p:cNvPr>
        <p:cNvGrpSpPr/>
        <p:nvPr/>
      </p:nvGrpSpPr>
      <p:grpSpPr>
        <a:xfrm>
          <a:off x="0" y="0"/>
          <a:ext cx="0" cy="0"/>
          <a:chOff x="0" y="0"/>
          <a:chExt cx="0" cy="0"/>
        </a:xfrm>
      </p:grpSpPr>
      <p:sp>
        <p:nvSpPr>
          <p:cNvPr id="334" name="Google Shape;334;p59">
            <a:extLst>
              <a:ext uri="{FF2B5EF4-FFF2-40B4-BE49-F238E27FC236}">
                <a16:creationId xmlns:a16="http://schemas.microsoft.com/office/drawing/2014/main" id="{9F794D30-F5A2-FE2E-A310-6773C44C13E6}"/>
              </a:ext>
            </a:extLst>
          </p:cNvPr>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chemeClr val="lt2"/>
                </a:solidFill>
              </a:rPr>
              <a:t>Conclusion</a:t>
            </a:r>
            <a:endParaRPr dirty="0">
              <a:solidFill>
                <a:srgbClr val="000000"/>
              </a:solidFill>
            </a:endParaRPr>
          </a:p>
        </p:txBody>
      </p:sp>
      <p:sp>
        <p:nvSpPr>
          <p:cNvPr id="336" name="Google Shape;336;p59">
            <a:extLst>
              <a:ext uri="{FF2B5EF4-FFF2-40B4-BE49-F238E27FC236}">
                <a16:creationId xmlns:a16="http://schemas.microsoft.com/office/drawing/2014/main" id="{7B80ABCE-9B27-323B-2475-DFA8BDCAFFE7}"/>
              </a:ext>
            </a:extLst>
          </p:cNvPr>
          <p:cNvSpPr txBox="1"/>
          <p:nvPr/>
        </p:nvSpPr>
        <p:spPr>
          <a:xfrm>
            <a:off x="202550" y="858475"/>
            <a:ext cx="8229600" cy="3426549"/>
          </a:xfrm>
          <a:prstGeom prst="rect">
            <a:avLst/>
          </a:prstGeom>
          <a:noFill/>
          <a:ln>
            <a:noFill/>
          </a:ln>
        </p:spPr>
        <p:txBody>
          <a:bodyPr spcFirstLastPara="1" wrap="square" lIns="91425" tIns="91425" rIns="91425" bIns="91425" anchor="t" anchorCtr="0">
            <a:spAutoFit/>
          </a:bodyPr>
          <a:lstStyle/>
          <a:p>
            <a:pPr marL="285750" indent="-285750" algn="l">
              <a:lnSpc>
                <a:spcPct val="110000"/>
              </a:lnSpc>
              <a:spcAft>
                <a:spcPts val="700"/>
              </a:spcAft>
              <a:buClr>
                <a:srgbClr val="6F4294"/>
              </a:buClr>
              <a:buFont typeface="Arial"/>
              <a:buChar char="•"/>
            </a:pPr>
            <a:r>
              <a:rPr lang="en-US" sz="1500" b="1" dirty="0">
                <a:solidFill>
                  <a:srgbClr val="6F4294"/>
                </a:solidFill>
                <a:latin typeface="Montserrat"/>
                <a:cs typeface="Montserrat"/>
              </a:rPr>
              <a:t>Three approaches were built and compared — </a:t>
            </a:r>
            <a:r>
              <a:rPr lang="en-US" sz="1500" dirty="0">
                <a:solidFill>
                  <a:srgbClr val="222222"/>
                </a:solidFill>
                <a:latin typeface="Montserrat"/>
                <a:cs typeface="Montserrat"/>
              </a:rPr>
              <a:t>base LLM, prompt-engineered LLM, and RAG (with a fine-tuning pass) — judged on groundedness and relevance.</a:t>
            </a:r>
          </a:p>
          <a:p>
            <a:pPr marL="285750" indent="-285750" algn="l">
              <a:lnSpc>
                <a:spcPct val="110000"/>
              </a:lnSpc>
              <a:spcAft>
                <a:spcPts val="700"/>
              </a:spcAft>
              <a:buClr>
                <a:srgbClr val="6F4294"/>
              </a:buClr>
              <a:buFont typeface="Arial"/>
              <a:buChar char="•"/>
            </a:pPr>
            <a:r>
              <a:rPr lang="en-US" sz="1500" b="1" dirty="0">
                <a:solidFill>
                  <a:srgbClr val="6F4294"/>
                </a:solidFill>
                <a:latin typeface="Montserrat"/>
                <a:cs typeface="Montserrat"/>
              </a:rPr>
              <a:t>RAG over the Merck Manual delivered the best answers — </a:t>
            </a:r>
            <a:r>
              <a:rPr lang="en-US" sz="1500" dirty="0">
                <a:solidFill>
                  <a:srgbClr val="222222"/>
                </a:solidFill>
                <a:latin typeface="Montserrat"/>
                <a:cs typeface="Montserrat"/>
              </a:rPr>
              <a:t>the most accurate, complete, and grounded; all five were rated Grounded and Relevant.</a:t>
            </a:r>
          </a:p>
          <a:p>
            <a:pPr marL="285750" indent="-285750" algn="l">
              <a:lnSpc>
                <a:spcPct val="110000"/>
              </a:lnSpc>
              <a:spcAft>
                <a:spcPts val="700"/>
              </a:spcAft>
              <a:buClr>
                <a:srgbClr val="6F4294"/>
              </a:buClr>
              <a:buFont typeface="Arial"/>
              <a:buChar char="•"/>
            </a:pPr>
            <a:r>
              <a:rPr lang="en-US" sz="1500" b="1" dirty="0">
                <a:solidFill>
                  <a:srgbClr val="6F4294"/>
                </a:solidFill>
                <a:latin typeface="Montserrat"/>
                <a:cs typeface="Montserrat"/>
              </a:rPr>
              <a:t>Prompt engineering helped, but retrieval was the decisive upgrade — </a:t>
            </a:r>
            <a:r>
              <a:rPr lang="en-US" sz="1500" dirty="0">
                <a:solidFill>
                  <a:srgbClr val="222222"/>
                </a:solidFill>
                <a:latin typeface="Montserrat"/>
                <a:cs typeface="Montserrat"/>
              </a:rPr>
              <a:t>it supplied the authoritative context the base model lacked.</a:t>
            </a:r>
          </a:p>
          <a:p>
            <a:pPr marL="285750" indent="-285750" algn="l">
              <a:lnSpc>
                <a:spcPct val="110000"/>
              </a:lnSpc>
              <a:spcAft>
                <a:spcPts val="700"/>
              </a:spcAft>
              <a:buClr>
                <a:srgbClr val="6F4294"/>
              </a:buClr>
              <a:buFont typeface="Arial"/>
              <a:buChar char="•"/>
            </a:pPr>
            <a:r>
              <a:rPr lang="en-US" sz="1500" b="1" dirty="0">
                <a:solidFill>
                  <a:srgbClr val="6F4294"/>
                </a:solidFill>
                <a:latin typeface="Montserrat"/>
                <a:cs typeface="Montserrat"/>
              </a:rPr>
              <a:t>Key quality levers: </a:t>
            </a:r>
            <a:r>
              <a:rPr lang="en-US" sz="1500" dirty="0">
                <a:solidFill>
                  <a:srgbClr val="222222"/>
                </a:solidFill>
                <a:latin typeface="Montserrat"/>
                <a:cs typeface="Montserrat"/>
              </a:rPr>
              <a:t>authoritative retrieval, an adequate token budget, and low temperature.</a:t>
            </a:r>
          </a:p>
          <a:p>
            <a:pPr marL="285750" indent="-285750" algn="l">
              <a:lnSpc>
                <a:spcPct val="110000"/>
              </a:lnSpc>
              <a:spcAft>
                <a:spcPts val="700"/>
              </a:spcAft>
              <a:buClr>
                <a:srgbClr val="6F4294"/>
              </a:buClr>
              <a:buFont typeface="Arial"/>
              <a:buChar char="•"/>
            </a:pPr>
            <a:r>
              <a:rPr lang="en-US" sz="1500" b="1" dirty="0">
                <a:solidFill>
                  <a:srgbClr val="6F4294"/>
                </a:solidFill>
                <a:latin typeface="Montserrat"/>
                <a:cs typeface="Montserrat"/>
              </a:rPr>
              <a:t>With independent evaluation and clinician oversight, </a:t>
            </a:r>
            <a:r>
              <a:rPr lang="en-US" sz="1500" dirty="0">
                <a:solidFill>
                  <a:srgbClr val="222222"/>
                </a:solidFill>
                <a:latin typeface="Montserrat"/>
                <a:cs typeface="Montserrat"/>
              </a:rPr>
              <a:t>this is a viable foundation for a trustworthy medical-information assistant.</a:t>
            </a:r>
          </a:p>
        </p:txBody>
      </p:sp>
    </p:spTree>
    <p:extLst>
      <p:ext uri="{BB962C8B-B14F-4D97-AF65-F5344CB8AC3E}">
        <p14:creationId xmlns:p14="http://schemas.microsoft.com/office/powerpoint/2010/main" val="215104245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Shape 320"/>
        <p:cNvGrpSpPr/>
        <p:nvPr/>
      </p:nvGrpSpPr>
      <p:grpSpPr>
        <a:xfrm>
          <a:off x="0" y="0"/>
          <a:ext cx="0" cy="0"/>
          <a:chOff x="0" y="0"/>
          <a:chExt cx="0" cy="0"/>
        </a:xfrm>
      </p:grpSpPr>
      <p:sp>
        <p:nvSpPr>
          <p:cNvPr id="321" name="Google Shape;321;p57"/>
          <p:cNvSpPr/>
          <p:nvPr/>
        </p:nvSpPr>
        <p:spPr>
          <a:xfrm>
            <a:off x="0" y="3442950"/>
            <a:ext cx="9162600" cy="780600"/>
          </a:xfrm>
          <a:prstGeom prst="rect">
            <a:avLst/>
          </a:prstGeom>
          <a:solidFill>
            <a:schemeClr val="lt2"/>
          </a:solidFill>
          <a:ln w="9525" cap="flat" cmpd="sng">
            <a:solidFill>
              <a:schemeClr val="dk2"/>
            </a:solidFill>
            <a:prstDash val="solid"/>
            <a:round/>
            <a:headEnd type="none" w="sm" len="sm"/>
            <a:tailEnd type="none" w="sm" len="sm"/>
          </a:ln>
        </p:spPr>
        <p:txBody>
          <a:bodyPr spcFirstLastPara="1" wrap="square" lIns="91425" tIns="91425" rIns="91425" bIns="91425" anchor="ctr" anchorCtr="0">
            <a:noAutofit/>
          </a:bodyPr>
          <a:lstStyle/>
          <a:p>
            <a:pPr marL="0" marR="0" lvl="0" indent="0" algn="l" rtl="0">
              <a:lnSpc>
                <a:spcPct val="100000"/>
              </a:lnSpc>
              <a:spcBef>
                <a:spcPts val="0"/>
              </a:spcBef>
              <a:spcAft>
                <a:spcPts val="0"/>
              </a:spcAft>
              <a:buClr>
                <a:srgbClr val="000000"/>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22" name="Google Shape;322;p57"/>
          <p:cNvSpPr txBox="1"/>
          <p:nvPr/>
        </p:nvSpPr>
        <p:spPr>
          <a:xfrm>
            <a:off x="32525" y="3526575"/>
            <a:ext cx="4418700" cy="615600"/>
          </a:xfrm>
          <a:prstGeom prst="rect">
            <a:avLst/>
          </a:prstGeom>
          <a:noFill/>
          <a:ln>
            <a:noFill/>
          </a:ln>
        </p:spPr>
        <p:txBody>
          <a:bodyPr spcFirstLastPara="1" wrap="square" lIns="91425" tIns="91425" rIns="91425" bIns="91425" anchor="t" anchorCtr="0">
            <a:spAutoFit/>
          </a:bodyPr>
          <a:lstStyle/>
          <a:p>
            <a:pPr marL="0" marR="0" lvl="0" indent="0" algn="l" rtl="0">
              <a:lnSpc>
                <a:spcPct val="100000"/>
              </a:lnSpc>
              <a:spcBef>
                <a:spcPts val="0"/>
              </a:spcBef>
              <a:spcAft>
                <a:spcPts val="0"/>
              </a:spcAft>
              <a:buClr>
                <a:srgbClr val="000000"/>
              </a:buClr>
              <a:buSzPts val="2800"/>
              <a:buFont typeface="Arial"/>
              <a:buNone/>
            </a:pPr>
            <a:r>
              <a:rPr lang="en" sz="2800" b="1" i="0" u="none" strike="noStrike" cap="none">
                <a:solidFill>
                  <a:schemeClr val="lt1"/>
                </a:solidFill>
                <a:latin typeface="Nunito"/>
                <a:ea typeface="Nunito"/>
                <a:cs typeface="Nunito"/>
                <a:sym typeface="Nunito"/>
              </a:rPr>
              <a:t>APPENDIX</a:t>
            </a:r>
            <a:endParaRPr sz="2800" b="1" i="0" u="none" strike="noStrike" cap="none">
              <a:solidFill>
                <a:schemeClr val="lt1"/>
              </a:solidFill>
              <a:latin typeface="Nunito"/>
              <a:ea typeface="Nunito"/>
              <a:cs typeface="Nunito"/>
              <a:sym typeface="Nunito"/>
            </a:endParaRP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Shape 326"/>
        <p:cNvGrpSpPr/>
        <p:nvPr/>
      </p:nvGrpSpPr>
      <p:grpSpPr>
        <a:xfrm>
          <a:off x="0" y="0"/>
          <a:ext cx="0" cy="0"/>
          <a:chOff x="0" y="0"/>
          <a:chExt cx="0" cy="0"/>
        </a:xfrm>
      </p:grpSpPr>
      <p:sp>
        <p:nvSpPr>
          <p:cNvPr id="327" name="Google Shape;327;p58"/>
          <p:cNvSpPr txBox="1">
            <a:spLocks noGrp="1"/>
          </p:cNvSpPr>
          <p:nvPr>
            <p:ph type="title"/>
          </p:nvPr>
        </p:nvSpPr>
        <p:spPr>
          <a:xfrm>
            <a:off x="202550" y="289279"/>
            <a:ext cx="8520600" cy="5727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2200"/>
              <a:buNone/>
            </a:pPr>
            <a:r>
              <a:rPr lang="en" sz="2400" dirty="0">
                <a:solidFill>
                  <a:srgbClr val="0E39A9"/>
                </a:solidFill>
              </a:rPr>
              <a:t>Data Background and Contents</a:t>
            </a:r>
            <a:endParaRPr sz="2400" dirty="0">
              <a:solidFill>
                <a:srgbClr val="0E39A9"/>
              </a:solidFill>
            </a:endParaRPr>
          </a:p>
        </p:txBody>
      </p:sp>
      <p:sp>
        <p:nvSpPr>
          <p:cNvPr id="329" name="Google Shape;329;p58"/>
          <p:cNvSpPr txBox="1"/>
          <p:nvPr/>
        </p:nvSpPr>
        <p:spPr>
          <a:xfrm>
            <a:off x="202550" y="749852"/>
            <a:ext cx="4717320" cy="4478119"/>
          </a:xfrm>
          <a:prstGeom prst="rect">
            <a:avLst/>
          </a:prstGeom>
          <a:noFill/>
          <a:ln>
            <a:noFill/>
          </a:ln>
        </p:spPr>
        <p:txBody>
          <a:bodyPr spcFirstLastPara="1" wrap="square" lIns="91425" tIns="91425" rIns="91425" bIns="91425" anchor="t" anchorCtr="0">
            <a:spAutoFit/>
          </a:bodyPr>
          <a:lstStyle/>
          <a:p>
            <a:r>
              <a:rPr lang="en-US" sz="900" b="1" dirty="0"/>
              <a:t>Source</a:t>
            </a:r>
          </a:p>
          <a:p>
            <a:r>
              <a:rPr lang="en-US" sz="900" b="1" dirty="0"/>
              <a:t>Dataset:</a:t>
            </a:r>
            <a:r>
              <a:rPr lang="en-US" sz="900" dirty="0"/>
              <a:t> </a:t>
            </a:r>
            <a:r>
              <a:rPr lang="en-US" sz="900" i="1" dirty="0"/>
              <a:t>The Merck Manual of Diagnosis &amp; Therapy, 19th Edition</a:t>
            </a:r>
            <a:r>
              <a:rPr lang="en-US" sz="900" dirty="0"/>
              <a:t> (Medical Diagnosis Manual) </a:t>
            </a:r>
          </a:p>
          <a:p>
            <a:r>
              <a:rPr lang="en-US" sz="900" dirty="0"/>
              <a:t>Comprehensive medical reference used by physicians and healthcare professionals.</a:t>
            </a:r>
          </a:p>
          <a:p>
            <a:r>
              <a:rPr lang="en-US" sz="900" dirty="0"/>
              <a:t>Converted from </a:t>
            </a:r>
            <a:r>
              <a:rPr lang="en-US" sz="900" b="1" dirty="0"/>
              <a:t>PDF</a:t>
            </a:r>
            <a:r>
              <a:rPr lang="en-US" sz="900" dirty="0"/>
              <a:t> into text documents for Retrieval-Augmented Generation (RAG).</a:t>
            </a:r>
          </a:p>
          <a:p>
            <a:br>
              <a:rPr lang="en-US" sz="900" dirty="0"/>
            </a:br>
            <a:endParaRPr lang="en-US" sz="900" dirty="0"/>
          </a:p>
          <a:p>
            <a:r>
              <a:rPr lang="en-US" sz="900" b="1" dirty="0"/>
              <a:t>Dataset Characteristics</a:t>
            </a:r>
          </a:p>
          <a:p>
            <a:r>
              <a:rPr lang="en-US" sz="900" b="1" dirty="0"/>
              <a:t>Approximately 3,700–4,100 pages</a:t>
            </a:r>
            <a:r>
              <a:rPr lang="en-US" sz="900" dirty="0"/>
              <a:t> covering comprehensive clinical medicine. </a:t>
            </a:r>
          </a:p>
          <a:p>
            <a:r>
              <a:rPr lang="en-US" sz="900" dirty="0"/>
              <a:t>Contains structured medical knowledge across </a:t>
            </a:r>
            <a:r>
              <a:rPr lang="en-US" sz="900" b="1" dirty="0"/>
              <a:t>hundreds of diseases and conditions</a:t>
            </a:r>
            <a:r>
              <a:rPr lang="en-US" sz="900" dirty="0"/>
              <a:t>.</a:t>
            </a:r>
          </a:p>
          <a:p>
            <a:r>
              <a:rPr lang="en-US" sz="900" dirty="0"/>
              <a:t>Organized into chapters, sections, diagnoses, treatments, and clinical guidelines.</a:t>
            </a:r>
          </a:p>
          <a:p>
            <a:br>
              <a:rPr lang="en-US" sz="900" dirty="0"/>
            </a:br>
            <a:endParaRPr lang="en-US" sz="900" dirty="0"/>
          </a:p>
          <a:p>
            <a:r>
              <a:rPr lang="en-US" sz="900" b="1" dirty="0"/>
              <a:t>Medical Topics Included</a:t>
            </a:r>
          </a:p>
          <a:p>
            <a:r>
              <a:rPr lang="en-US" sz="900" dirty="0"/>
              <a:t>Critical Care Medicine</a:t>
            </a:r>
          </a:p>
          <a:p>
            <a:r>
              <a:rPr lang="en-US" sz="900" dirty="0"/>
              <a:t>Emergency Medicine</a:t>
            </a:r>
          </a:p>
          <a:p>
            <a:r>
              <a:rPr lang="en-US" sz="900" dirty="0"/>
              <a:t>Internal Medicine</a:t>
            </a:r>
          </a:p>
          <a:p>
            <a:r>
              <a:rPr lang="en-US" sz="900" dirty="0"/>
              <a:t>Infectious Diseases</a:t>
            </a:r>
          </a:p>
          <a:p>
            <a:r>
              <a:rPr lang="en-US" sz="900" dirty="0"/>
              <a:t>Cardiology</a:t>
            </a:r>
          </a:p>
          <a:p>
            <a:r>
              <a:rPr lang="en-US" sz="900" dirty="0"/>
              <a:t>Neurology</a:t>
            </a:r>
          </a:p>
          <a:p>
            <a:r>
              <a:rPr lang="en-US" sz="900" dirty="0"/>
              <a:t>Pulmonology</a:t>
            </a:r>
          </a:p>
          <a:p>
            <a:r>
              <a:rPr lang="en-US" sz="900" dirty="0"/>
              <a:t>Orthopedics</a:t>
            </a:r>
          </a:p>
          <a:p>
            <a:r>
              <a:rPr lang="en-US" sz="900" dirty="0"/>
              <a:t>Surgery</a:t>
            </a:r>
          </a:p>
          <a:p>
            <a:r>
              <a:rPr lang="en-US" sz="900" dirty="0"/>
              <a:t>Pediatrics</a:t>
            </a:r>
          </a:p>
          <a:p>
            <a:r>
              <a:rPr lang="en-US" sz="900" dirty="0"/>
              <a:t>Dermatology</a:t>
            </a:r>
          </a:p>
          <a:p>
            <a:r>
              <a:rPr lang="en-US" sz="900" dirty="0"/>
              <a:t>Endocrinology</a:t>
            </a:r>
          </a:p>
          <a:p>
            <a:r>
              <a:rPr lang="en-US" sz="900" dirty="0"/>
              <a:t>Pharmacology</a:t>
            </a:r>
          </a:p>
          <a:p>
            <a:r>
              <a:rPr lang="en-US" sz="900" dirty="0"/>
              <a:t>Toxicology</a:t>
            </a:r>
          </a:p>
          <a:p>
            <a:r>
              <a:rPr lang="en-US" sz="900" dirty="0"/>
              <a:t>Preventive Medicine</a:t>
            </a:r>
          </a:p>
          <a:p>
            <a:br>
              <a:rPr lang="en-US" sz="900" dirty="0"/>
            </a:br>
            <a:endParaRPr lang="en-US" sz="900" dirty="0"/>
          </a:p>
        </p:txBody>
      </p:sp>
      <p:sp>
        <p:nvSpPr>
          <p:cNvPr id="3" name="Google Shape;329;p58">
            <a:extLst>
              <a:ext uri="{FF2B5EF4-FFF2-40B4-BE49-F238E27FC236}">
                <a16:creationId xmlns:a16="http://schemas.microsoft.com/office/drawing/2014/main" id="{00EB0B10-BE2D-D764-C759-C42B2866B1AC}"/>
              </a:ext>
            </a:extLst>
          </p:cNvPr>
          <p:cNvSpPr txBox="1"/>
          <p:nvPr/>
        </p:nvSpPr>
        <p:spPr>
          <a:xfrm>
            <a:off x="4757985" y="861979"/>
            <a:ext cx="4183465" cy="2954625"/>
          </a:xfrm>
          <a:prstGeom prst="rect">
            <a:avLst/>
          </a:prstGeom>
          <a:noFill/>
          <a:ln>
            <a:noFill/>
          </a:ln>
        </p:spPr>
        <p:txBody>
          <a:bodyPr spcFirstLastPara="1" wrap="square" lIns="91425" tIns="91425" rIns="91425" bIns="91425" anchor="t" anchorCtr="0">
            <a:spAutoFit/>
          </a:bodyPr>
          <a:lstStyle/>
          <a:p>
            <a:r>
              <a:rPr lang="en-US" sz="900" b="1" dirty="0"/>
              <a:t>Content Used for RAG</a:t>
            </a:r>
          </a:p>
          <a:p>
            <a:r>
              <a:rPr lang="en-US" sz="900" dirty="0"/>
              <a:t>The knowledge base includes:</a:t>
            </a:r>
          </a:p>
          <a:p>
            <a:r>
              <a:rPr lang="en-US" sz="900" dirty="0"/>
              <a:t>Disease symptoms and diagnosis</a:t>
            </a:r>
          </a:p>
          <a:p>
            <a:r>
              <a:rPr lang="en-US" sz="900" dirty="0"/>
              <a:t>Differential diagnosis</a:t>
            </a:r>
          </a:p>
          <a:p>
            <a:r>
              <a:rPr lang="en-US" sz="900" dirty="0"/>
              <a:t>Evidence-based treatment recommendations</a:t>
            </a:r>
          </a:p>
          <a:p>
            <a:r>
              <a:rPr lang="en-US" sz="900" dirty="0"/>
              <a:t>Medication information</a:t>
            </a:r>
          </a:p>
          <a:p>
            <a:r>
              <a:rPr lang="en-US" sz="900" dirty="0"/>
              <a:t>Clinical protocols</a:t>
            </a:r>
          </a:p>
          <a:p>
            <a:r>
              <a:rPr lang="en-US" sz="900" dirty="0"/>
              <a:t>Surgical procedures</a:t>
            </a:r>
          </a:p>
          <a:p>
            <a:r>
              <a:rPr lang="en-US" sz="900" dirty="0"/>
              <a:t>Emergency care guidelines</a:t>
            </a:r>
          </a:p>
          <a:p>
            <a:r>
              <a:rPr lang="en-US" sz="900" dirty="0"/>
              <a:t>Patient monitoring recommendations</a:t>
            </a:r>
          </a:p>
          <a:p>
            <a:r>
              <a:rPr lang="en-US" sz="900" dirty="0"/>
              <a:t>Preventive care and follow-up guidance</a:t>
            </a:r>
          </a:p>
          <a:p>
            <a:br>
              <a:rPr lang="en-US" sz="900" dirty="0"/>
            </a:br>
            <a:endParaRPr lang="en-US" sz="900" dirty="0"/>
          </a:p>
          <a:p>
            <a:r>
              <a:rPr lang="en-US" sz="900" b="1" dirty="0"/>
              <a:t>Why This Dataset?</a:t>
            </a:r>
          </a:p>
          <a:p>
            <a:r>
              <a:rPr lang="en-US" sz="900" dirty="0"/>
              <a:t>High-quality, physician-authored medical reference</a:t>
            </a:r>
          </a:p>
          <a:p>
            <a:r>
              <a:rPr lang="en-US" sz="900" dirty="0"/>
              <a:t>Evidence-based clinical guidance</a:t>
            </a:r>
          </a:p>
          <a:p>
            <a:r>
              <a:rPr lang="en-US" sz="900" dirty="0"/>
              <a:t>Broad coverage across multiple medical specialties</a:t>
            </a:r>
          </a:p>
          <a:p>
            <a:r>
              <a:rPr lang="en-US" sz="900" dirty="0"/>
              <a:t>Well-structured content suitable for semantic retrieval using vector embeddings</a:t>
            </a:r>
          </a:p>
          <a:p>
            <a:r>
              <a:rPr lang="en-US" sz="900" dirty="0"/>
              <a:t>Enables the RAG system to provide responses grounded in authoritative medical literature rather than relying solely on the LLM's pretrained knowledge.</a:t>
            </a:r>
          </a:p>
        </p:txBody>
      </p:sp>
    </p:spTree>
    <p:extLst>
      <p:ext uri="{BB962C8B-B14F-4D97-AF65-F5344CB8AC3E}">
        <p14:creationId xmlns:p14="http://schemas.microsoft.com/office/powerpoint/2010/main" val="3028556000"/>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Shape 342"/>
        <p:cNvGrpSpPr/>
        <p:nvPr/>
      </p:nvGrpSpPr>
      <p:grpSpPr>
        <a:xfrm>
          <a:off x="0" y="0"/>
          <a:ext cx="0" cy="0"/>
          <a:chOff x="0" y="0"/>
          <a:chExt cx="0" cy="0"/>
        </a:xfrm>
      </p:grpSpPr>
      <p:sp>
        <p:nvSpPr>
          <p:cNvPr id="343" name="Google Shape;343;p60"/>
          <p:cNvSpPr txBox="1">
            <a:spLocks noGrp="1"/>
          </p:cNvSpPr>
          <p:nvPr>
            <p:ph type="title"/>
          </p:nvPr>
        </p:nvSpPr>
        <p:spPr>
          <a:xfrm>
            <a:off x="70129" y="6703219"/>
            <a:ext cx="15008700" cy="697800"/>
          </a:xfrm>
          <a:prstGeom prst="rect">
            <a:avLst/>
          </a:prstGeom>
          <a:noFill/>
          <a:ln>
            <a:noFill/>
          </a:ln>
        </p:spPr>
        <p:txBody>
          <a:bodyPr spcFirstLastPara="1" wrap="square" lIns="0" tIns="12850" rIns="0" bIns="0" anchor="t" anchorCtr="0">
            <a:noAutofit/>
          </a:bodyPr>
          <a:lstStyle/>
          <a:p>
            <a:pPr marL="0" lvl="0" indent="0" algn="l" rtl="0">
              <a:lnSpc>
                <a:spcPct val="100000"/>
              </a:lnSpc>
              <a:spcBef>
                <a:spcPts val="0"/>
              </a:spcBef>
              <a:spcAft>
                <a:spcPts val="0"/>
              </a:spcAft>
              <a:buSzPts val="2200"/>
              <a:buNone/>
            </a:pPr>
            <a:endParaRPr/>
          </a:p>
        </p:txBody>
      </p:sp>
      <p:sp>
        <p:nvSpPr>
          <p:cNvPr id="344" name="Google Shape;344;p60"/>
          <p:cNvSpPr txBox="1">
            <a:spLocks noGrp="1"/>
          </p:cNvSpPr>
          <p:nvPr>
            <p:ph type="sldNum" idx="4294967295"/>
          </p:nvPr>
        </p:nvSpPr>
        <p:spPr>
          <a:xfrm>
            <a:off x="8556784" y="4749851"/>
            <a:ext cx="548700" cy="393600"/>
          </a:xfrm>
          <a:prstGeom prst="rect">
            <a:avLst/>
          </a:prstGeom>
          <a:noFill/>
          <a:ln>
            <a:noFill/>
          </a:ln>
        </p:spPr>
        <p:txBody>
          <a:bodyPr spcFirstLastPara="1" wrap="square" lIns="91425" tIns="91425" rIns="91425" bIns="91425" anchor="ctr" anchorCtr="0">
            <a:noAutofit/>
          </a:bodyPr>
          <a:lstStyle/>
          <a:p>
            <a:pPr marL="0" lvl="0" indent="0" algn="ctr" rtl="0">
              <a:lnSpc>
                <a:spcPct val="100000"/>
              </a:lnSpc>
              <a:spcBef>
                <a:spcPts val="0"/>
              </a:spcBef>
              <a:spcAft>
                <a:spcPts val="0"/>
              </a:spcAft>
              <a:buSzPts val="800"/>
              <a:buNone/>
            </a:pPr>
            <a:fld id="{00000000-1234-1234-1234-123412341234}" type="slidenum">
              <a:rPr lang="en"/>
              <a:t>40</a:t>
            </a:fld>
            <a:endParaRPr/>
          </a:p>
        </p:txBody>
      </p:sp>
    </p:spTree>
  </p:cSld>
  <p:clrMapOvr>
    <a:masterClrMapping/>
  </p:clrMapOvr>
</p:sld>
</file>

<file path=ppt/theme/theme1.xml><?xml version="1.0" encoding="utf-8"?>
<a:theme xmlns:a="http://schemas.openxmlformats.org/drawingml/2006/main"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Just Logo">
  <a:themeElements>
    <a:clrScheme name="Simple Light">
      <a:dk1>
        <a:srgbClr val="222222"/>
      </a:dk1>
      <a:lt1>
        <a:srgbClr val="FFFFFF"/>
      </a:lt1>
      <a:dk2>
        <a:srgbClr val="222222"/>
      </a:dk2>
      <a:lt2>
        <a:srgbClr val="0E39A9"/>
      </a:lt2>
      <a:accent1>
        <a:srgbClr val="FFAB40"/>
      </a:accent1>
      <a:accent2>
        <a:srgbClr val="6F4294"/>
      </a:accent2>
      <a:accent3>
        <a:srgbClr val="FFA000"/>
      </a:accent3>
      <a:accent4>
        <a:srgbClr val="FFAB40"/>
      </a:accent4>
      <a:accent5>
        <a:srgbClr val="FFDF00"/>
      </a:accent5>
      <a:accent6>
        <a:srgbClr val="1974D5"/>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Just Logo">
  <a:themeElements>
    <a:clrScheme name="Simple Light">
      <a:dk1>
        <a:srgbClr val="000000"/>
      </a:dk1>
      <a:lt1>
        <a:srgbClr val="FFFFFF"/>
      </a:lt1>
      <a:dk2>
        <a:srgbClr val="595959"/>
      </a:dk2>
      <a:lt2>
        <a:srgbClr val="EEEEEE"/>
      </a:lt2>
      <a:accent1>
        <a:srgbClr val="FFAB40"/>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0">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8C7893DB-2FC2-2D41-90E1-AB2FF5D3842B}">
  <we:reference id="wa200010001" version="1.0.0.1" store="en-US" storeType="OMEX"/>
  <we:alternateReferences>
    <we:reference id="wa200010001" version="1.0.0.1" store="en-US" storeType="OMEX"/>
  </we:alternateReferences>
  <we:properties>
    <we:property name="claude.fileId" value="&quot;965c3613-4142-4e08-918c-a42be04562ac&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otalTime>1429</TotalTime>
  <Words>7195</Words>
  <Application>Microsoft Macintosh PowerPoint</Application>
  <PresentationFormat>On-screen Show (16:9)</PresentationFormat>
  <Paragraphs>437</Paragraphs>
  <Slides>40</Slides>
  <Notes>40</Notes>
  <HiddenSlides>0</HiddenSlides>
  <MMClips>0</MMClips>
  <ScaleCrop>false</ScaleCrop>
  <HeadingPairs>
    <vt:vector size="6" baseType="variant">
      <vt:variant>
        <vt:lpstr>Fonts Used</vt:lpstr>
      </vt:variant>
      <vt:variant>
        <vt:i4>8</vt:i4>
      </vt:variant>
      <vt:variant>
        <vt:lpstr>Theme</vt:lpstr>
      </vt:variant>
      <vt:variant>
        <vt:i4>3</vt:i4>
      </vt:variant>
      <vt:variant>
        <vt:lpstr>Slide Titles</vt:lpstr>
      </vt:variant>
      <vt:variant>
        <vt:i4>40</vt:i4>
      </vt:variant>
    </vt:vector>
  </HeadingPairs>
  <TitlesOfParts>
    <vt:vector size="51" baseType="lpstr">
      <vt:lpstr>Nunito ExtraBold</vt:lpstr>
      <vt:lpstr>Century Gothic</vt:lpstr>
      <vt:lpstr>Montserrat</vt:lpstr>
      <vt:lpstr>Nunito</vt:lpstr>
      <vt:lpstr>Calibri</vt:lpstr>
      <vt:lpstr>Consolas</vt:lpstr>
      <vt:lpstr>Arial</vt:lpstr>
      <vt:lpstr>Nunito SemiBold</vt:lpstr>
      <vt:lpstr>Simple Light</vt:lpstr>
      <vt:lpstr>Just Logo</vt:lpstr>
      <vt:lpstr>Just Logo</vt:lpstr>
      <vt:lpstr>PowerPoint Presentation</vt:lpstr>
      <vt:lpstr>Contents / Agenda</vt:lpstr>
      <vt:lpstr>Executive Summary</vt:lpstr>
      <vt:lpstr>Business Problem Overview and Solution Approach</vt:lpstr>
      <vt:lpstr>Question Answering using LLM</vt:lpstr>
      <vt:lpstr>Question Answering using LLM</vt:lpstr>
      <vt:lpstr>Question Answering using LLM</vt:lpstr>
      <vt:lpstr>Question Answering using LLM</vt:lpstr>
      <vt:lpstr>Question Answering using LLM</vt:lpstr>
      <vt:lpstr>Question Answering using LLM</vt:lpstr>
      <vt:lpstr>Question Answering using LLM</vt:lpstr>
      <vt:lpstr>Question Answering using LLM with Prompt Engineering</vt:lpstr>
      <vt:lpstr> Query 1 · Sepsis Management</vt:lpstr>
      <vt:lpstr> Query 2 · Appendicitis</vt:lpstr>
      <vt:lpstr> Query 3 · Alopecia Areata</vt:lpstr>
      <vt:lpstr> Query 4 · Traumatic Brain Injury</vt:lpstr>
      <vt:lpstr> Query 5 · Leg Fracture (Hiking)</vt:lpstr>
      <vt:lpstr>Parameter Tuning · Current → Recommended</vt:lpstr>
      <vt:lpstr>Data Preparation for RAG</vt:lpstr>
      <vt:lpstr>Question Answering using RAG: Query 1</vt:lpstr>
      <vt:lpstr>RAG Fine-tuning: Query 1</vt:lpstr>
      <vt:lpstr>Question Answering using RAG: Query 2</vt:lpstr>
      <vt:lpstr>RAG Fine-tuning: Query 2</vt:lpstr>
      <vt:lpstr>Question Answering using RAG: Query 3</vt:lpstr>
      <vt:lpstr>RAG Fine-tuning: Query 3</vt:lpstr>
      <vt:lpstr>Question Answering using RAG: Query 4</vt:lpstr>
      <vt:lpstr>RAG Fine-tuning: Query 4</vt:lpstr>
      <vt:lpstr>Question Answering using RAG: Query 5</vt:lpstr>
      <vt:lpstr>RAG Fine-tuning: Query 5</vt:lpstr>
      <vt:lpstr>Output Evaluation: Query 1 — Sepsis</vt:lpstr>
      <vt:lpstr>Output Evaluation: Query 2 — Appendicitis</vt:lpstr>
      <vt:lpstr>Output Evaluation: Query 3 — Alopecia Areata</vt:lpstr>
      <vt:lpstr>Output Evaluation: Query 4 — Traumatic Brain Injury</vt:lpstr>
      <vt:lpstr>Output Evaluation: Query 5 — Leg Fracture</vt:lpstr>
      <vt:lpstr>Actionable Business Insights</vt:lpstr>
      <vt:lpstr>Business Recommendations</vt:lpstr>
      <vt:lpstr>Conclusion</vt:lpstr>
      <vt:lpstr>PowerPoint Presentation</vt:lpstr>
      <vt:lpstr>Data Background and Contents</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Sarah Wolberg</cp:lastModifiedBy>
  <cp:revision>34</cp:revision>
  <cp:lastPrinted>2026-06-28T20:43:32Z</cp:lastPrinted>
  <dcterms:modified xsi:type="dcterms:W3CDTF">2026-06-28T21:04:26Z</dcterms:modified>
</cp:coreProperties>
</file>