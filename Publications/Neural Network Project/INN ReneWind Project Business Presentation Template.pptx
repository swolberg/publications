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9" r:id="rId2"/>
  </p:sldMasterIdLst>
  <p:notesMasterIdLst>
    <p:notesMasterId r:id="rId97"/>
  </p:notesMasterIdLst>
  <p:sldIdLst>
    <p:sldId id="256" r:id="rId3"/>
    <p:sldId id="257" r:id="rId4"/>
    <p:sldId id="258" r:id="rId5"/>
    <p:sldId id="259" r:id="rId6"/>
    <p:sldId id="268" r:id="rId7"/>
    <p:sldId id="269" r:id="rId8"/>
    <p:sldId id="270" r:id="rId9"/>
    <p:sldId id="271" r:id="rId10"/>
    <p:sldId id="272" r:id="rId11"/>
    <p:sldId id="273" r:id="rId12"/>
    <p:sldId id="260" r:id="rId13"/>
    <p:sldId id="278" r:id="rId14"/>
    <p:sldId id="274" r:id="rId15"/>
    <p:sldId id="279" r:id="rId16"/>
    <p:sldId id="280" r:id="rId17"/>
    <p:sldId id="284" r:id="rId18"/>
    <p:sldId id="282" r:id="rId19"/>
    <p:sldId id="283" r:id="rId20"/>
    <p:sldId id="275" r:id="rId21"/>
    <p:sldId id="276" r:id="rId22"/>
    <p:sldId id="326" r:id="rId23"/>
    <p:sldId id="327" r:id="rId24"/>
    <p:sldId id="261" r:id="rId25"/>
    <p:sldId id="343" r:id="rId26"/>
    <p:sldId id="344" r:id="rId27"/>
    <p:sldId id="342" r:id="rId28"/>
    <p:sldId id="328" r:id="rId29"/>
    <p:sldId id="329" r:id="rId30"/>
    <p:sldId id="330" r:id="rId31"/>
    <p:sldId id="262" r:id="rId32"/>
    <p:sldId id="263" r:id="rId33"/>
    <p:sldId id="356" r:id="rId34"/>
    <p:sldId id="357" r:id="rId35"/>
    <p:sldId id="358" r:id="rId36"/>
    <p:sldId id="359" r:id="rId37"/>
    <p:sldId id="360" r:id="rId38"/>
    <p:sldId id="361" r:id="rId39"/>
    <p:sldId id="362" r:id="rId40"/>
    <p:sldId id="363" r:id="rId41"/>
    <p:sldId id="364" r:id="rId42"/>
    <p:sldId id="365" r:id="rId43"/>
    <p:sldId id="366" r:id="rId44"/>
    <p:sldId id="367" r:id="rId45"/>
    <p:sldId id="368" r:id="rId46"/>
    <p:sldId id="355" r:id="rId47"/>
    <p:sldId id="370" r:id="rId48"/>
    <p:sldId id="264" r:id="rId49"/>
    <p:sldId id="371" r:id="rId50"/>
    <p:sldId id="372" r:id="rId51"/>
    <p:sldId id="373" r:id="rId52"/>
    <p:sldId id="374" r:id="rId53"/>
    <p:sldId id="265" r:id="rId54"/>
    <p:sldId id="266" r:id="rId55"/>
    <p:sldId id="285" r:id="rId56"/>
    <p:sldId id="286" r:id="rId57"/>
    <p:sldId id="287" r:id="rId58"/>
    <p:sldId id="288" r:id="rId59"/>
    <p:sldId id="289" r:id="rId60"/>
    <p:sldId id="290" r:id="rId61"/>
    <p:sldId id="291" r:id="rId62"/>
    <p:sldId id="292" r:id="rId63"/>
    <p:sldId id="293" r:id="rId64"/>
    <p:sldId id="294" r:id="rId65"/>
    <p:sldId id="295" r:id="rId66"/>
    <p:sldId id="296" r:id="rId67"/>
    <p:sldId id="297" r:id="rId68"/>
    <p:sldId id="298" r:id="rId69"/>
    <p:sldId id="299" r:id="rId70"/>
    <p:sldId id="300" r:id="rId71"/>
    <p:sldId id="301" r:id="rId72"/>
    <p:sldId id="302" r:id="rId73"/>
    <p:sldId id="303" r:id="rId74"/>
    <p:sldId id="304" r:id="rId75"/>
    <p:sldId id="305" r:id="rId76"/>
    <p:sldId id="306" r:id="rId77"/>
    <p:sldId id="307" r:id="rId78"/>
    <p:sldId id="308" r:id="rId79"/>
    <p:sldId id="309" r:id="rId80"/>
    <p:sldId id="310" r:id="rId81"/>
    <p:sldId id="311" r:id="rId82"/>
    <p:sldId id="312" r:id="rId83"/>
    <p:sldId id="313" r:id="rId84"/>
    <p:sldId id="314" r:id="rId85"/>
    <p:sldId id="315" r:id="rId86"/>
    <p:sldId id="316" r:id="rId87"/>
    <p:sldId id="317" r:id="rId88"/>
    <p:sldId id="318" r:id="rId89"/>
    <p:sldId id="320" r:id="rId90"/>
    <p:sldId id="321" r:id="rId91"/>
    <p:sldId id="322" r:id="rId92"/>
    <p:sldId id="323" r:id="rId93"/>
    <p:sldId id="324" r:id="rId94"/>
    <p:sldId id="325" r:id="rId95"/>
    <p:sldId id="267" r:id="rId96"/>
  </p:sldIdLst>
  <p:sldSz cx="9144000" cy="5143500" type="screen16x9"/>
  <p:notesSz cx="6858000" cy="9144000"/>
  <p:embeddedFontLst>
    <p:embeddedFont>
      <p:font typeface="Nunito" pitchFamily="2" charset="77"/>
      <p:regular r:id="rId98"/>
      <p:bold r:id="rId99"/>
      <p:italic r:id="rId100"/>
      <p:boldItalic r:id="rId101"/>
    </p:embeddedFont>
    <p:embeddedFont>
      <p:font typeface="Nunito ExtraBold" pitchFamily="2" charset="77"/>
      <p:bold r:id="rId102"/>
      <p:italic r:id="rId103"/>
      <p:boldItalic r:id="rId104"/>
    </p:embeddedFont>
    <p:embeddedFont>
      <p:font typeface="Nunito Medium" pitchFamily="2" charset="77"/>
      <p:regular r:id="rId105"/>
      <p:bold r:id="rId106"/>
      <p:italic r:id="rId107"/>
      <p:boldItalic r:id="rId108"/>
    </p:embeddedFont>
    <p:embeddedFont>
      <p:font typeface="Nunito SemiBold" pitchFamily="2" charset="77"/>
      <p:regular r:id="rId109"/>
      <p:bold r:id="rId110"/>
      <p:italic r:id="rId111"/>
      <p:boldItalic r:id="rId1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3" roundtripDataSignature="AMtx7mgJqCccHXhuciI1lV75Fqrgt7OnV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084AC0-A0CB-4F2F-9A05-E4AD725CB356}">
  <a:tblStyle styleId="{12084AC0-A0CB-4F2F-9A05-E4AD725CB356}"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349"/>
  </p:normalViewPr>
  <p:slideViewPr>
    <p:cSldViewPr snapToGrid="0">
      <p:cViewPr>
        <p:scale>
          <a:sx n="160" d="100"/>
          <a:sy n="160" d="100"/>
        </p:scale>
        <p:origin x="480" y="12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tableStyles" Target="tableStyles.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font" Target="fonts/font15.fntdata"/><Relationship Id="rId16" Type="http://schemas.openxmlformats.org/officeDocument/2006/relationships/slide" Target="slides/slide14.xml"/><Relationship Id="rId107" Type="http://schemas.openxmlformats.org/officeDocument/2006/relationships/font" Target="fonts/font10.fntdata"/><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font" Target="fonts/font5.fntdata"/><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customschemas.google.com/relationships/presentationmetadata" Target="metadata"/><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font" Target="fonts/font6.fntdata"/><Relationship Id="rId108" Type="http://schemas.openxmlformats.org/officeDocument/2006/relationships/font" Target="fonts/font11.fntdata"/><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font" Target="fonts/font2.fntdata"/><Relationship Id="rId101"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font" Target="fonts/font12.fntdata"/><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notesMaster" Target="notesMasters/notesMaster1.xml"/><Relationship Id="rId104" Type="http://schemas.openxmlformats.org/officeDocument/2006/relationships/font" Target="fonts/font7.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font" Target="fonts/font13.fntdata"/><Relationship Id="rId115"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font" Target="fonts/font3.fntdata"/><Relationship Id="rId105" Type="http://schemas.openxmlformats.org/officeDocument/2006/relationships/font" Target="fonts/font8.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font" Target="fonts/font1.fntdata"/><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font" Target="fonts/font14.fntdata"/><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12508d39905_0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g12508d39905_0_2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0e9006cb6c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10e9006cb6c_1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12508d3990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12508d39905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9CC743E8-A438-0056-BFC9-A0427511A100}"/>
            </a:ext>
          </a:extLst>
        </p:cNvPr>
        <p:cNvGrpSpPr/>
        <p:nvPr/>
      </p:nvGrpSpPr>
      <p:grpSpPr>
        <a:xfrm>
          <a:off x="0" y="0"/>
          <a:ext cx="0" cy="0"/>
          <a:chOff x="0" y="0"/>
          <a:chExt cx="0" cy="0"/>
        </a:xfrm>
      </p:grpSpPr>
      <p:sp>
        <p:nvSpPr>
          <p:cNvPr id="121" name="Google Shape;121;g12508d39905_0_1:notes">
            <a:extLst>
              <a:ext uri="{FF2B5EF4-FFF2-40B4-BE49-F238E27FC236}">
                <a16:creationId xmlns:a16="http://schemas.microsoft.com/office/drawing/2014/main" id="{B03DD054-42DC-88D4-3A3B-27D3EE2D60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12508d39905_0_1:notes">
            <a:extLst>
              <a:ext uri="{FF2B5EF4-FFF2-40B4-BE49-F238E27FC236}">
                <a16:creationId xmlns:a16="http://schemas.microsoft.com/office/drawing/2014/main" id="{B50A1C6E-BBC4-0796-56F9-BE56180330F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862384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1971A762-EF88-9446-1285-F28245D76C21}"/>
            </a:ext>
          </a:extLst>
        </p:cNvPr>
        <p:cNvGrpSpPr/>
        <p:nvPr/>
      </p:nvGrpSpPr>
      <p:grpSpPr>
        <a:xfrm>
          <a:off x="0" y="0"/>
          <a:ext cx="0" cy="0"/>
          <a:chOff x="0" y="0"/>
          <a:chExt cx="0" cy="0"/>
        </a:xfrm>
      </p:grpSpPr>
      <p:sp>
        <p:nvSpPr>
          <p:cNvPr id="121" name="Google Shape;121;g12508d39905_0_1:notes">
            <a:extLst>
              <a:ext uri="{FF2B5EF4-FFF2-40B4-BE49-F238E27FC236}">
                <a16:creationId xmlns:a16="http://schemas.microsoft.com/office/drawing/2014/main" id="{FA598D65-6716-F407-90D3-CE73CE778A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12508d39905_0_1:notes">
            <a:extLst>
              <a:ext uri="{FF2B5EF4-FFF2-40B4-BE49-F238E27FC236}">
                <a16:creationId xmlns:a16="http://schemas.microsoft.com/office/drawing/2014/main" id="{E3590F5F-9792-E018-A0AA-EBDAFA71B77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242277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170392B3-9C9B-2E4F-DD66-93F0DDE93AE5}"/>
            </a:ext>
          </a:extLst>
        </p:cNvPr>
        <p:cNvGrpSpPr/>
        <p:nvPr/>
      </p:nvGrpSpPr>
      <p:grpSpPr>
        <a:xfrm>
          <a:off x="0" y="0"/>
          <a:ext cx="0" cy="0"/>
          <a:chOff x="0" y="0"/>
          <a:chExt cx="0" cy="0"/>
        </a:xfrm>
      </p:grpSpPr>
      <p:sp>
        <p:nvSpPr>
          <p:cNvPr id="121" name="Google Shape;121;g12508d39905_0_1:notes">
            <a:extLst>
              <a:ext uri="{FF2B5EF4-FFF2-40B4-BE49-F238E27FC236}">
                <a16:creationId xmlns:a16="http://schemas.microsoft.com/office/drawing/2014/main" id="{8462719E-FA43-3662-CEF8-2FE4C3BB26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12508d39905_0_1:notes">
            <a:extLst>
              <a:ext uri="{FF2B5EF4-FFF2-40B4-BE49-F238E27FC236}">
                <a16:creationId xmlns:a16="http://schemas.microsoft.com/office/drawing/2014/main" id="{36266CEE-7411-D704-F796-D12C853A4FF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851219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1E79581E-ACF1-6D84-B7ED-9CBBBC260E2E}"/>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E2464AC9-5729-5EC7-D109-BF23C29636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13EAED81-DD8A-194D-D56D-273167AB48B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70738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EF37F89E-64E2-472E-A420-574395E89CB9}"/>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FE085315-8903-7EDC-0B78-44B7B353F5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AF7EF875-CB2D-80DF-8B4D-0B8EBB42930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6178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33EDBA82-EB29-3F3A-95E3-B32E49C96253}"/>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D3047ADF-D020-B9DB-B74F-07A1BE4423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F66BB6E0-FACB-7CB2-CB74-6EE7CD08240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42279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2508d39905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22D75345-1006-1C50-AF05-407868FDBD7D}"/>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38D703A5-B4CA-FF9A-DAAC-F556638AEC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CB8BAC76-3A14-DC69-80E4-98EF68193E5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861831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A9B646AC-DC50-1331-01EC-F9A864A6A6E0}"/>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E034DB0A-4F41-E29B-CCEA-C86B012480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EA6CC15D-9C89-D1BF-72F0-CB96E3A0F1C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742609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908F4890-50CF-A804-0BFC-03688C6DF319}"/>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AE632238-DB27-2CD1-8F60-0EA01BC595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D4E56826-8A48-24B5-3A6D-5E3A8E5CF18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49700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C5433DF6-F3EB-8E03-4893-64FC551C2022}"/>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43B345A3-3A78-5513-264B-83552C67C0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5DB15C43-3292-70C8-3C0F-1C89ECF48F5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82766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C26010D9-4CF9-BD8F-9CBD-6B6C052725BE}"/>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39B1B8EC-691B-7A71-72DF-398629F74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521B7BCB-6BE1-5A1F-2B13-E6B3BDF918D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200464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7EA1376F-CA74-0026-153E-3B4BA8C6F142}"/>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31930015-F8F8-7DE1-9991-675CE7830E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6A841EF9-2E99-CC4B-1E54-E64DE84BC8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85732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535C6B3B-AFC9-9205-8126-083C91F07821}"/>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5CB1678D-74FB-93C7-E68D-E0AF0BBE7D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07BC1C86-F440-AC3E-B57E-A8CA224392D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043438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5F1DECBC-7DC2-1931-C902-2C52C1DA2687}"/>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55D94677-6E07-B100-20EC-60FA00C8CC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1B8E160C-F937-AF21-E457-E8F33B2688A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864388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7CC19C4F-27E0-ED02-329A-84C7E2E427D1}"/>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3CC77458-4F7A-0448-9FDE-EB11EE6AA3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84CA43F3-39C5-4FF5-5A06-DF9D786F2BA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792571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EB97ECDB-5FA1-BD82-D5FD-2CC17CEB3919}"/>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3779587E-82CA-FD8D-EA55-2F4B6304E1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444A6170-5A16-7E71-67D8-6648B12F3A6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708131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D34B9BF4-DEDD-94B5-A570-2CE0335AF911}"/>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CA8FF415-5D3F-5DA0-C8EC-E329613C4E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DEE5F72F-0C9C-0BBA-C74B-10E9321DA8D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748542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12508d39905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12508d39905_0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5AFF9C17-0729-D597-1949-CB7EB2C29FC7}"/>
            </a:ext>
          </a:extLst>
        </p:cNvPr>
        <p:cNvGrpSpPr/>
        <p:nvPr/>
      </p:nvGrpSpPr>
      <p:grpSpPr>
        <a:xfrm>
          <a:off x="0" y="0"/>
          <a:ext cx="0" cy="0"/>
          <a:chOff x="0" y="0"/>
          <a:chExt cx="0" cy="0"/>
        </a:xfrm>
      </p:grpSpPr>
      <p:sp>
        <p:nvSpPr>
          <p:cNvPr id="134" name="Google Shape;134;g12508d39905_0_109:notes">
            <a:extLst>
              <a:ext uri="{FF2B5EF4-FFF2-40B4-BE49-F238E27FC236}">
                <a16:creationId xmlns:a16="http://schemas.microsoft.com/office/drawing/2014/main" id="{B2F1EB98-70FF-EE58-2157-376981146B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12508d39905_0_109:notes">
            <a:extLst>
              <a:ext uri="{FF2B5EF4-FFF2-40B4-BE49-F238E27FC236}">
                <a16:creationId xmlns:a16="http://schemas.microsoft.com/office/drawing/2014/main" id="{5F56108E-F125-A265-F367-53F69BD02AB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795788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1D96DC1A-0844-337F-6B63-C57E15058C98}"/>
            </a:ext>
          </a:extLst>
        </p:cNvPr>
        <p:cNvGrpSpPr/>
        <p:nvPr/>
      </p:nvGrpSpPr>
      <p:grpSpPr>
        <a:xfrm>
          <a:off x="0" y="0"/>
          <a:ext cx="0" cy="0"/>
          <a:chOff x="0" y="0"/>
          <a:chExt cx="0" cy="0"/>
        </a:xfrm>
      </p:grpSpPr>
      <p:sp>
        <p:nvSpPr>
          <p:cNvPr id="134" name="Google Shape;134;g12508d39905_0_109:notes">
            <a:extLst>
              <a:ext uri="{FF2B5EF4-FFF2-40B4-BE49-F238E27FC236}">
                <a16:creationId xmlns:a16="http://schemas.microsoft.com/office/drawing/2014/main" id="{268C0FC2-81A9-0F3F-3B5D-015CD46D3F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12508d39905_0_109:notes">
            <a:extLst>
              <a:ext uri="{FF2B5EF4-FFF2-40B4-BE49-F238E27FC236}">
                <a16:creationId xmlns:a16="http://schemas.microsoft.com/office/drawing/2014/main" id="{CC66AD0D-29E7-7326-90B1-706A936596A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663109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F693939C-EB47-DEA6-5747-3CFF595B4A59}"/>
            </a:ext>
          </a:extLst>
        </p:cNvPr>
        <p:cNvGrpSpPr/>
        <p:nvPr/>
      </p:nvGrpSpPr>
      <p:grpSpPr>
        <a:xfrm>
          <a:off x="0" y="0"/>
          <a:ext cx="0" cy="0"/>
          <a:chOff x="0" y="0"/>
          <a:chExt cx="0" cy="0"/>
        </a:xfrm>
      </p:grpSpPr>
      <p:sp>
        <p:nvSpPr>
          <p:cNvPr id="134" name="Google Shape;134;g12508d39905_0_109:notes">
            <a:extLst>
              <a:ext uri="{FF2B5EF4-FFF2-40B4-BE49-F238E27FC236}">
                <a16:creationId xmlns:a16="http://schemas.microsoft.com/office/drawing/2014/main" id="{3C672F43-38C7-CB10-DF11-F544A576D1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12508d39905_0_109:notes">
            <a:extLst>
              <a:ext uri="{FF2B5EF4-FFF2-40B4-BE49-F238E27FC236}">
                <a16:creationId xmlns:a16="http://schemas.microsoft.com/office/drawing/2014/main" id="{6DC1CA0A-2445-CA43-9E19-194E78E843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480506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EEA495FF-0FE3-2D5B-A8CC-D83C1BEBF01A}"/>
            </a:ext>
          </a:extLst>
        </p:cNvPr>
        <p:cNvGrpSpPr/>
        <p:nvPr/>
      </p:nvGrpSpPr>
      <p:grpSpPr>
        <a:xfrm>
          <a:off x="0" y="0"/>
          <a:ext cx="0" cy="0"/>
          <a:chOff x="0" y="0"/>
          <a:chExt cx="0" cy="0"/>
        </a:xfrm>
      </p:grpSpPr>
      <p:sp>
        <p:nvSpPr>
          <p:cNvPr id="134" name="Google Shape;134;g12508d39905_0_109:notes">
            <a:extLst>
              <a:ext uri="{FF2B5EF4-FFF2-40B4-BE49-F238E27FC236}">
                <a16:creationId xmlns:a16="http://schemas.microsoft.com/office/drawing/2014/main" id="{864BB810-6C7A-ED2C-8DD4-52A89AF065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12508d39905_0_109:notes">
            <a:extLst>
              <a:ext uri="{FF2B5EF4-FFF2-40B4-BE49-F238E27FC236}">
                <a16:creationId xmlns:a16="http://schemas.microsoft.com/office/drawing/2014/main" id="{E65399C5-DF28-3CA2-F2AF-D7455FC25F0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4019216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4FED0E2F-25D8-5326-1D22-46FB15E8C4A6}"/>
            </a:ext>
          </a:extLst>
        </p:cNvPr>
        <p:cNvGrpSpPr/>
        <p:nvPr/>
      </p:nvGrpSpPr>
      <p:grpSpPr>
        <a:xfrm>
          <a:off x="0" y="0"/>
          <a:ext cx="0" cy="0"/>
          <a:chOff x="0" y="0"/>
          <a:chExt cx="0" cy="0"/>
        </a:xfrm>
      </p:grpSpPr>
      <p:sp>
        <p:nvSpPr>
          <p:cNvPr id="134" name="Google Shape;134;g12508d39905_0_109:notes">
            <a:extLst>
              <a:ext uri="{FF2B5EF4-FFF2-40B4-BE49-F238E27FC236}">
                <a16:creationId xmlns:a16="http://schemas.microsoft.com/office/drawing/2014/main" id="{23BA0B49-1B25-38BB-C8C8-7352DF1C5A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12508d39905_0_109:notes">
            <a:extLst>
              <a:ext uri="{FF2B5EF4-FFF2-40B4-BE49-F238E27FC236}">
                <a16:creationId xmlns:a16="http://schemas.microsoft.com/office/drawing/2014/main" id="{2E19DECF-2277-74FD-4DF5-CED34EA02FB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561635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7B73913C-87D5-AC7E-D0C6-5A341F1776E0}"/>
            </a:ext>
          </a:extLst>
        </p:cNvPr>
        <p:cNvGrpSpPr/>
        <p:nvPr/>
      </p:nvGrpSpPr>
      <p:grpSpPr>
        <a:xfrm>
          <a:off x="0" y="0"/>
          <a:ext cx="0" cy="0"/>
          <a:chOff x="0" y="0"/>
          <a:chExt cx="0" cy="0"/>
        </a:xfrm>
      </p:grpSpPr>
      <p:sp>
        <p:nvSpPr>
          <p:cNvPr id="134" name="Google Shape;134;g12508d39905_0_109:notes">
            <a:extLst>
              <a:ext uri="{FF2B5EF4-FFF2-40B4-BE49-F238E27FC236}">
                <a16:creationId xmlns:a16="http://schemas.microsoft.com/office/drawing/2014/main" id="{D402CD7D-1C6D-20F9-F2C9-2B46724AFA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12508d39905_0_109:notes">
            <a:extLst>
              <a:ext uri="{FF2B5EF4-FFF2-40B4-BE49-F238E27FC236}">
                <a16:creationId xmlns:a16="http://schemas.microsoft.com/office/drawing/2014/main" id="{0F7C2DB7-6A36-43F4-D308-9144DA47B9C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330772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2685eae676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32685eae676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12508d39905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1B1F204E-F88B-6BC5-1C48-D116A673629D}"/>
            </a:ext>
          </a:extLst>
        </p:cNvPr>
        <p:cNvGrpSpPr/>
        <p:nvPr/>
      </p:nvGrpSpPr>
      <p:grpSpPr>
        <a:xfrm>
          <a:off x="0" y="0"/>
          <a:ext cx="0" cy="0"/>
          <a:chOff x="0" y="0"/>
          <a:chExt cx="0" cy="0"/>
        </a:xfrm>
      </p:grpSpPr>
      <p:sp>
        <p:nvSpPr>
          <p:cNvPr id="146" name="Google Shape;146;g12508d39905_0_217:notes">
            <a:extLst>
              <a:ext uri="{FF2B5EF4-FFF2-40B4-BE49-F238E27FC236}">
                <a16:creationId xmlns:a16="http://schemas.microsoft.com/office/drawing/2014/main" id="{24454E96-3C62-693D-1290-F521F32884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a:extLst>
              <a:ext uri="{FF2B5EF4-FFF2-40B4-BE49-F238E27FC236}">
                <a16:creationId xmlns:a16="http://schemas.microsoft.com/office/drawing/2014/main" id="{8C1248DD-5801-FF8B-4431-DF7A9784649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057895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31688AD7-531B-3873-CF35-3B62FA7D5325}"/>
            </a:ext>
          </a:extLst>
        </p:cNvPr>
        <p:cNvGrpSpPr/>
        <p:nvPr/>
      </p:nvGrpSpPr>
      <p:grpSpPr>
        <a:xfrm>
          <a:off x="0" y="0"/>
          <a:ext cx="0" cy="0"/>
          <a:chOff x="0" y="0"/>
          <a:chExt cx="0" cy="0"/>
        </a:xfrm>
      </p:grpSpPr>
      <p:sp>
        <p:nvSpPr>
          <p:cNvPr id="146" name="Google Shape;146;g12508d39905_0_217:notes">
            <a:extLst>
              <a:ext uri="{FF2B5EF4-FFF2-40B4-BE49-F238E27FC236}">
                <a16:creationId xmlns:a16="http://schemas.microsoft.com/office/drawing/2014/main" id="{EFF238A4-903C-5C71-F79D-689797A7DF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a:extLst>
              <a:ext uri="{FF2B5EF4-FFF2-40B4-BE49-F238E27FC236}">
                <a16:creationId xmlns:a16="http://schemas.microsoft.com/office/drawing/2014/main" id="{081BC23C-802B-F8AA-C32E-698C3EA75C6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166386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1060630E-A10C-B1DF-B622-0206114DAA02}"/>
            </a:ext>
          </a:extLst>
        </p:cNvPr>
        <p:cNvGrpSpPr/>
        <p:nvPr/>
      </p:nvGrpSpPr>
      <p:grpSpPr>
        <a:xfrm>
          <a:off x="0" y="0"/>
          <a:ext cx="0" cy="0"/>
          <a:chOff x="0" y="0"/>
          <a:chExt cx="0" cy="0"/>
        </a:xfrm>
      </p:grpSpPr>
      <p:sp>
        <p:nvSpPr>
          <p:cNvPr id="146" name="Google Shape;146;g12508d39905_0_217:notes">
            <a:extLst>
              <a:ext uri="{FF2B5EF4-FFF2-40B4-BE49-F238E27FC236}">
                <a16:creationId xmlns:a16="http://schemas.microsoft.com/office/drawing/2014/main" id="{20D12415-348E-EEB1-1151-D25A609572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a:extLst>
              <a:ext uri="{FF2B5EF4-FFF2-40B4-BE49-F238E27FC236}">
                <a16:creationId xmlns:a16="http://schemas.microsoft.com/office/drawing/2014/main" id="{49D79B30-DCF1-F882-74C4-518B48E64C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393572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FC5DC022-1D6B-2CC9-D579-8B6514817415}"/>
            </a:ext>
          </a:extLst>
        </p:cNvPr>
        <p:cNvGrpSpPr/>
        <p:nvPr/>
      </p:nvGrpSpPr>
      <p:grpSpPr>
        <a:xfrm>
          <a:off x="0" y="0"/>
          <a:ext cx="0" cy="0"/>
          <a:chOff x="0" y="0"/>
          <a:chExt cx="0" cy="0"/>
        </a:xfrm>
      </p:grpSpPr>
      <p:sp>
        <p:nvSpPr>
          <p:cNvPr id="146" name="Google Shape;146;g12508d39905_0_217:notes">
            <a:extLst>
              <a:ext uri="{FF2B5EF4-FFF2-40B4-BE49-F238E27FC236}">
                <a16:creationId xmlns:a16="http://schemas.microsoft.com/office/drawing/2014/main" id="{A1835955-7168-39A1-04F7-E9DDB18C53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a:extLst>
              <a:ext uri="{FF2B5EF4-FFF2-40B4-BE49-F238E27FC236}">
                <a16:creationId xmlns:a16="http://schemas.microsoft.com/office/drawing/2014/main" id="{0A2A65E3-57E1-F999-AE5B-5CB7AFEB01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318136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CC4B8B0E-7B9F-09D2-8C78-818F20E409B8}"/>
            </a:ext>
          </a:extLst>
        </p:cNvPr>
        <p:cNvGrpSpPr/>
        <p:nvPr/>
      </p:nvGrpSpPr>
      <p:grpSpPr>
        <a:xfrm>
          <a:off x="0" y="0"/>
          <a:ext cx="0" cy="0"/>
          <a:chOff x="0" y="0"/>
          <a:chExt cx="0" cy="0"/>
        </a:xfrm>
      </p:grpSpPr>
      <p:sp>
        <p:nvSpPr>
          <p:cNvPr id="146" name="Google Shape;146;g12508d39905_0_217:notes">
            <a:extLst>
              <a:ext uri="{FF2B5EF4-FFF2-40B4-BE49-F238E27FC236}">
                <a16:creationId xmlns:a16="http://schemas.microsoft.com/office/drawing/2014/main" id="{C845E4DF-50CE-9BFB-9855-9EECBACD5A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a:extLst>
              <a:ext uri="{FF2B5EF4-FFF2-40B4-BE49-F238E27FC236}">
                <a16:creationId xmlns:a16="http://schemas.microsoft.com/office/drawing/2014/main" id="{1AE5D363-3A5A-0852-07C2-66C1883BA4F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329378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B169FC9E-79F7-C7D2-5462-7849C188B4FD}"/>
            </a:ext>
          </a:extLst>
        </p:cNvPr>
        <p:cNvGrpSpPr/>
        <p:nvPr/>
      </p:nvGrpSpPr>
      <p:grpSpPr>
        <a:xfrm>
          <a:off x="0" y="0"/>
          <a:ext cx="0" cy="0"/>
          <a:chOff x="0" y="0"/>
          <a:chExt cx="0" cy="0"/>
        </a:xfrm>
      </p:grpSpPr>
      <p:sp>
        <p:nvSpPr>
          <p:cNvPr id="146" name="Google Shape;146;g12508d39905_0_217:notes">
            <a:extLst>
              <a:ext uri="{FF2B5EF4-FFF2-40B4-BE49-F238E27FC236}">
                <a16:creationId xmlns:a16="http://schemas.microsoft.com/office/drawing/2014/main" id="{534182E1-2A57-BC86-54FC-56E8EF038C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a:extLst>
              <a:ext uri="{FF2B5EF4-FFF2-40B4-BE49-F238E27FC236}">
                <a16:creationId xmlns:a16="http://schemas.microsoft.com/office/drawing/2014/main" id="{B1F808A6-C66B-BEB8-9385-010AFA33EB3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750159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C2F83491-151A-2D3B-EC70-5308900D514A}"/>
            </a:ext>
          </a:extLst>
        </p:cNvPr>
        <p:cNvGrpSpPr/>
        <p:nvPr/>
      </p:nvGrpSpPr>
      <p:grpSpPr>
        <a:xfrm>
          <a:off x="0" y="0"/>
          <a:ext cx="0" cy="0"/>
          <a:chOff x="0" y="0"/>
          <a:chExt cx="0" cy="0"/>
        </a:xfrm>
      </p:grpSpPr>
      <p:sp>
        <p:nvSpPr>
          <p:cNvPr id="146" name="Google Shape;146;g12508d39905_0_217:notes">
            <a:extLst>
              <a:ext uri="{FF2B5EF4-FFF2-40B4-BE49-F238E27FC236}">
                <a16:creationId xmlns:a16="http://schemas.microsoft.com/office/drawing/2014/main" id="{4FA376BE-2853-19F3-C207-AB2DEFBB7E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a:extLst>
              <a:ext uri="{FF2B5EF4-FFF2-40B4-BE49-F238E27FC236}">
                <a16:creationId xmlns:a16="http://schemas.microsoft.com/office/drawing/2014/main" id="{C51AB4A8-3271-B36C-6C33-20D070F34A1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849462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ED01ECF0-938C-F104-8408-A504ECFD0C33}"/>
            </a:ext>
          </a:extLst>
        </p:cNvPr>
        <p:cNvGrpSpPr/>
        <p:nvPr/>
      </p:nvGrpSpPr>
      <p:grpSpPr>
        <a:xfrm>
          <a:off x="0" y="0"/>
          <a:ext cx="0" cy="0"/>
          <a:chOff x="0" y="0"/>
          <a:chExt cx="0" cy="0"/>
        </a:xfrm>
      </p:grpSpPr>
      <p:sp>
        <p:nvSpPr>
          <p:cNvPr id="146" name="Google Shape;146;g12508d39905_0_217:notes">
            <a:extLst>
              <a:ext uri="{FF2B5EF4-FFF2-40B4-BE49-F238E27FC236}">
                <a16:creationId xmlns:a16="http://schemas.microsoft.com/office/drawing/2014/main" id="{A5700E0E-296A-D29C-A907-989968FEAC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a:extLst>
              <a:ext uri="{FF2B5EF4-FFF2-40B4-BE49-F238E27FC236}">
                <a16:creationId xmlns:a16="http://schemas.microsoft.com/office/drawing/2014/main" id="{446FC370-180C-E86F-4433-53C1DD0D6D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938665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F4A0BCBA-B6FE-1FB6-5F2E-4DE716CB0515}"/>
            </a:ext>
          </a:extLst>
        </p:cNvPr>
        <p:cNvGrpSpPr/>
        <p:nvPr/>
      </p:nvGrpSpPr>
      <p:grpSpPr>
        <a:xfrm>
          <a:off x="0" y="0"/>
          <a:ext cx="0" cy="0"/>
          <a:chOff x="0" y="0"/>
          <a:chExt cx="0" cy="0"/>
        </a:xfrm>
      </p:grpSpPr>
      <p:sp>
        <p:nvSpPr>
          <p:cNvPr id="146" name="Google Shape;146;g12508d39905_0_217:notes">
            <a:extLst>
              <a:ext uri="{FF2B5EF4-FFF2-40B4-BE49-F238E27FC236}">
                <a16:creationId xmlns:a16="http://schemas.microsoft.com/office/drawing/2014/main" id="{548CA2D6-365B-D0C9-C1A0-CC4C167E3A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a:extLst>
              <a:ext uri="{FF2B5EF4-FFF2-40B4-BE49-F238E27FC236}">
                <a16:creationId xmlns:a16="http://schemas.microsoft.com/office/drawing/2014/main" id="{425EFB42-769C-838B-7DEE-68DC8569C8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784841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62240E25-8D0D-1058-239D-F8C495C574C2}"/>
            </a:ext>
          </a:extLst>
        </p:cNvPr>
        <p:cNvGrpSpPr/>
        <p:nvPr/>
      </p:nvGrpSpPr>
      <p:grpSpPr>
        <a:xfrm>
          <a:off x="0" y="0"/>
          <a:ext cx="0" cy="0"/>
          <a:chOff x="0" y="0"/>
          <a:chExt cx="0" cy="0"/>
        </a:xfrm>
      </p:grpSpPr>
      <p:sp>
        <p:nvSpPr>
          <p:cNvPr id="146" name="Google Shape;146;g12508d39905_0_217:notes">
            <a:extLst>
              <a:ext uri="{FF2B5EF4-FFF2-40B4-BE49-F238E27FC236}">
                <a16:creationId xmlns:a16="http://schemas.microsoft.com/office/drawing/2014/main" id="{95F605F7-CA83-F42B-BD23-FB96BBCC3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a:extLst>
              <a:ext uri="{FF2B5EF4-FFF2-40B4-BE49-F238E27FC236}">
                <a16:creationId xmlns:a16="http://schemas.microsoft.com/office/drawing/2014/main" id="{95183576-3F73-9DAB-4B23-4BF69CA8E14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410907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AC24533D-AC7F-1B91-4C25-F3DDA5132F8C}"/>
            </a:ext>
          </a:extLst>
        </p:cNvPr>
        <p:cNvGrpSpPr/>
        <p:nvPr/>
      </p:nvGrpSpPr>
      <p:grpSpPr>
        <a:xfrm>
          <a:off x="0" y="0"/>
          <a:ext cx="0" cy="0"/>
          <a:chOff x="0" y="0"/>
          <a:chExt cx="0" cy="0"/>
        </a:xfrm>
      </p:grpSpPr>
      <p:sp>
        <p:nvSpPr>
          <p:cNvPr id="146" name="Google Shape;146;g12508d39905_0_217:notes">
            <a:extLst>
              <a:ext uri="{FF2B5EF4-FFF2-40B4-BE49-F238E27FC236}">
                <a16:creationId xmlns:a16="http://schemas.microsoft.com/office/drawing/2014/main" id="{A9123321-52B9-C8B9-332E-314905DDE6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a:extLst>
              <a:ext uri="{FF2B5EF4-FFF2-40B4-BE49-F238E27FC236}">
                <a16:creationId xmlns:a16="http://schemas.microsoft.com/office/drawing/2014/main" id="{70A30901-4E84-BC2E-3219-C7A094B34A5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902166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634B0984-C6C5-F0E2-D5D8-82E63C33BFF8}"/>
            </a:ext>
          </a:extLst>
        </p:cNvPr>
        <p:cNvGrpSpPr/>
        <p:nvPr/>
      </p:nvGrpSpPr>
      <p:grpSpPr>
        <a:xfrm>
          <a:off x="0" y="0"/>
          <a:ext cx="0" cy="0"/>
          <a:chOff x="0" y="0"/>
          <a:chExt cx="0" cy="0"/>
        </a:xfrm>
      </p:grpSpPr>
      <p:sp>
        <p:nvSpPr>
          <p:cNvPr id="146" name="Google Shape;146;g12508d39905_0_217:notes">
            <a:extLst>
              <a:ext uri="{FF2B5EF4-FFF2-40B4-BE49-F238E27FC236}">
                <a16:creationId xmlns:a16="http://schemas.microsoft.com/office/drawing/2014/main" id="{3C4EF16A-7D3C-B4AF-55D0-A2F3535D3F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a:extLst>
              <a:ext uri="{FF2B5EF4-FFF2-40B4-BE49-F238E27FC236}">
                <a16:creationId xmlns:a16="http://schemas.microsoft.com/office/drawing/2014/main" id="{A69CD746-B7D3-A19C-2182-B323135471E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779795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6A26D4D7-FD06-855A-D8A3-342A0D9F1992}"/>
            </a:ext>
          </a:extLst>
        </p:cNvPr>
        <p:cNvGrpSpPr/>
        <p:nvPr/>
      </p:nvGrpSpPr>
      <p:grpSpPr>
        <a:xfrm>
          <a:off x="0" y="0"/>
          <a:ext cx="0" cy="0"/>
          <a:chOff x="0" y="0"/>
          <a:chExt cx="0" cy="0"/>
        </a:xfrm>
      </p:grpSpPr>
      <p:sp>
        <p:nvSpPr>
          <p:cNvPr id="146" name="Google Shape;146;g12508d39905_0_217:notes">
            <a:extLst>
              <a:ext uri="{FF2B5EF4-FFF2-40B4-BE49-F238E27FC236}">
                <a16:creationId xmlns:a16="http://schemas.microsoft.com/office/drawing/2014/main" id="{FC35EF26-3554-2BF2-0ABD-6AF7EFB3E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a:extLst>
              <a:ext uri="{FF2B5EF4-FFF2-40B4-BE49-F238E27FC236}">
                <a16:creationId xmlns:a16="http://schemas.microsoft.com/office/drawing/2014/main" id="{1FBF1242-534A-3EEE-099B-16FA8046C2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093671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AEC03FDA-B472-0F40-FFF8-000A881EB1C5}"/>
            </a:ext>
          </a:extLst>
        </p:cNvPr>
        <p:cNvGrpSpPr/>
        <p:nvPr/>
      </p:nvGrpSpPr>
      <p:grpSpPr>
        <a:xfrm>
          <a:off x="0" y="0"/>
          <a:ext cx="0" cy="0"/>
          <a:chOff x="0" y="0"/>
          <a:chExt cx="0" cy="0"/>
        </a:xfrm>
      </p:grpSpPr>
      <p:sp>
        <p:nvSpPr>
          <p:cNvPr id="146" name="Google Shape;146;g12508d39905_0_217:notes">
            <a:extLst>
              <a:ext uri="{FF2B5EF4-FFF2-40B4-BE49-F238E27FC236}">
                <a16:creationId xmlns:a16="http://schemas.microsoft.com/office/drawing/2014/main" id="{4C4C92AC-C224-F6EF-9A6D-E3E9B7F01F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a:extLst>
              <a:ext uri="{FF2B5EF4-FFF2-40B4-BE49-F238E27FC236}">
                <a16:creationId xmlns:a16="http://schemas.microsoft.com/office/drawing/2014/main" id="{022F7A4D-7BE9-BF68-73B5-3D600DF9A9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499337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E270A25F-915C-3EA8-A4AB-8467A6D2D159}"/>
            </a:ext>
          </a:extLst>
        </p:cNvPr>
        <p:cNvGrpSpPr/>
        <p:nvPr/>
      </p:nvGrpSpPr>
      <p:grpSpPr>
        <a:xfrm>
          <a:off x="0" y="0"/>
          <a:ext cx="0" cy="0"/>
          <a:chOff x="0" y="0"/>
          <a:chExt cx="0" cy="0"/>
        </a:xfrm>
      </p:grpSpPr>
      <p:sp>
        <p:nvSpPr>
          <p:cNvPr id="146" name="Google Shape;146;g12508d39905_0_217:notes">
            <a:extLst>
              <a:ext uri="{FF2B5EF4-FFF2-40B4-BE49-F238E27FC236}">
                <a16:creationId xmlns:a16="http://schemas.microsoft.com/office/drawing/2014/main" id="{836EEDC0-7E0D-135F-6014-C33F2C40C3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a:extLst>
              <a:ext uri="{FF2B5EF4-FFF2-40B4-BE49-F238E27FC236}">
                <a16:creationId xmlns:a16="http://schemas.microsoft.com/office/drawing/2014/main" id="{FCB4D790-6A82-20FE-AEF3-83CCE87C74D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840434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26869b8a7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326869b8a7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DC472879-E7A9-367E-36A7-7AEB69A41078}"/>
            </a:ext>
          </a:extLst>
        </p:cNvPr>
        <p:cNvGrpSpPr/>
        <p:nvPr/>
      </p:nvGrpSpPr>
      <p:grpSpPr>
        <a:xfrm>
          <a:off x="0" y="0"/>
          <a:ext cx="0" cy="0"/>
          <a:chOff x="0" y="0"/>
          <a:chExt cx="0" cy="0"/>
        </a:xfrm>
      </p:grpSpPr>
      <p:sp>
        <p:nvSpPr>
          <p:cNvPr id="153" name="Google Shape;153;g326869b8a79_0_0:notes">
            <a:extLst>
              <a:ext uri="{FF2B5EF4-FFF2-40B4-BE49-F238E27FC236}">
                <a16:creationId xmlns:a16="http://schemas.microsoft.com/office/drawing/2014/main" id="{C147C420-FA8A-60A6-11EF-28FB566182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326869b8a79_0_0:notes">
            <a:extLst>
              <a:ext uri="{FF2B5EF4-FFF2-40B4-BE49-F238E27FC236}">
                <a16:creationId xmlns:a16="http://schemas.microsoft.com/office/drawing/2014/main" id="{5D83169F-8DB6-2681-D45B-956A4C4407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612984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82DAFDA8-3B80-8162-3DA5-C5AD652215D5}"/>
            </a:ext>
          </a:extLst>
        </p:cNvPr>
        <p:cNvGrpSpPr/>
        <p:nvPr/>
      </p:nvGrpSpPr>
      <p:grpSpPr>
        <a:xfrm>
          <a:off x="0" y="0"/>
          <a:ext cx="0" cy="0"/>
          <a:chOff x="0" y="0"/>
          <a:chExt cx="0" cy="0"/>
        </a:xfrm>
      </p:grpSpPr>
      <p:sp>
        <p:nvSpPr>
          <p:cNvPr id="153" name="Google Shape;153;g326869b8a79_0_0:notes">
            <a:extLst>
              <a:ext uri="{FF2B5EF4-FFF2-40B4-BE49-F238E27FC236}">
                <a16:creationId xmlns:a16="http://schemas.microsoft.com/office/drawing/2014/main" id="{DE433248-EC9B-77CB-7EAA-A00D896336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326869b8a79_0_0:notes">
            <a:extLst>
              <a:ext uri="{FF2B5EF4-FFF2-40B4-BE49-F238E27FC236}">
                <a16:creationId xmlns:a16="http://schemas.microsoft.com/office/drawing/2014/main" id="{FD5E5057-29FC-3696-608F-CE9D55294D4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4329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D5BA8DF7-3EF4-F426-FB07-35AEF3BCD565}"/>
            </a:ext>
          </a:extLst>
        </p:cNvPr>
        <p:cNvGrpSpPr/>
        <p:nvPr/>
      </p:nvGrpSpPr>
      <p:grpSpPr>
        <a:xfrm>
          <a:off x="0" y="0"/>
          <a:ext cx="0" cy="0"/>
          <a:chOff x="0" y="0"/>
          <a:chExt cx="0" cy="0"/>
        </a:xfrm>
      </p:grpSpPr>
      <p:sp>
        <p:nvSpPr>
          <p:cNvPr id="153" name="Google Shape;153;g326869b8a79_0_0:notes">
            <a:extLst>
              <a:ext uri="{FF2B5EF4-FFF2-40B4-BE49-F238E27FC236}">
                <a16:creationId xmlns:a16="http://schemas.microsoft.com/office/drawing/2014/main" id="{A54F1F0B-1CA3-3C2F-80BC-911E353906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326869b8a79_0_0:notes">
            <a:extLst>
              <a:ext uri="{FF2B5EF4-FFF2-40B4-BE49-F238E27FC236}">
                <a16:creationId xmlns:a16="http://schemas.microsoft.com/office/drawing/2014/main" id="{AF0722CB-ABB4-D432-C6AF-7777D51071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660554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4F2B2C2B-A9A2-ACA6-7B2A-FC3AF9C06008}"/>
            </a:ext>
          </a:extLst>
        </p:cNvPr>
        <p:cNvGrpSpPr/>
        <p:nvPr/>
      </p:nvGrpSpPr>
      <p:grpSpPr>
        <a:xfrm>
          <a:off x="0" y="0"/>
          <a:ext cx="0" cy="0"/>
          <a:chOff x="0" y="0"/>
          <a:chExt cx="0" cy="0"/>
        </a:xfrm>
      </p:grpSpPr>
      <p:sp>
        <p:nvSpPr>
          <p:cNvPr id="153" name="Google Shape;153;g326869b8a79_0_0:notes">
            <a:extLst>
              <a:ext uri="{FF2B5EF4-FFF2-40B4-BE49-F238E27FC236}">
                <a16:creationId xmlns:a16="http://schemas.microsoft.com/office/drawing/2014/main" id="{4E35609C-EC1A-DE2B-9A90-4CFFA20A8A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326869b8a79_0_0:notes">
            <a:extLst>
              <a:ext uri="{FF2B5EF4-FFF2-40B4-BE49-F238E27FC236}">
                <a16:creationId xmlns:a16="http://schemas.microsoft.com/office/drawing/2014/main" id="{B4177FAD-B532-A411-02E0-26D85E3C9E4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448089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0e9006cb6c_1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10e9006cb6c_1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10e9006cb6c_1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3B8BCEED-4B30-F8B0-ED73-D8424D441498}"/>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F4821EEF-1AFB-9D3F-C43D-08CD2CBA27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C7FE34C7-05A2-9621-C983-FDC5C9007CF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6331642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05C243F9-E3B1-7086-AFFA-D6E7CD49D362}"/>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25E39917-3B55-E3DB-D8C7-F0884D6417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9DD4917E-F278-1A20-10A2-1771B35172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615334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D1832D28-5406-7BA6-D1E0-09A3FFB9F5D7}"/>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A7A010E4-206B-571D-5D45-27E5D95E43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C26C83CA-7D80-8099-E834-24B67EFE0CE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928839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2C172891-DC6E-72BC-3768-434D5FF22817}"/>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2E47646B-7F95-3A67-6E5A-AA800A3F6D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B51ACF39-3530-64B3-D3E2-2D712CD5E9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012330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D97451B1-A935-8C8D-6E3F-A3B643A7A771}"/>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ECE90A36-04D2-2D74-597F-ECEBD1060C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1725D645-3FDF-7C71-D9FE-6300A621CED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239634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E22387E0-7560-520F-B5BA-CD52E007D67D}"/>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ABD24619-9D54-9AEA-E0A4-609B04CDA8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A9C4A0FC-27AC-C819-F35B-B5833465466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1920537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CA9F0210-D2FE-BCF2-56F5-319833671D44}"/>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3D7F3715-086E-E38A-4C1B-39D84ED111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151EF347-4366-B4F2-3FA1-4934D35362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5928100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7D3650AB-7601-C2AC-8246-AA34E8FEE07C}"/>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E6350C63-6989-6219-6C7B-C476E4094E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26C401EC-EA85-F52D-EF48-6A390FF2A41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7296927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72327AA0-63CE-AF99-9C66-34BBA9EF4946}"/>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8FACC5AA-0CF9-8F32-9069-1F75CB7A4D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B03E3F66-E0E0-AC7B-5D03-AAC85181ED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187277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8AA67DCC-D94F-EE5B-25D7-331194431695}"/>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9050D060-2CA2-24B0-FF1C-3489EC4522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A147D424-FE1F-A190-E9D4-A432565184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9512148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051E0E45-63B1-DD88-291F-6D1B59FC782F}"/>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6889E006-1047-7BD8-02D5-5D1B95B3D3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12C9ADEE-35E9-42D3-6AB4-2FF88BD1A96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7192067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BAFD0EFC-C8CD-D941-90EC-AA94A48F33FC}"/>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541D6347-8DD4-84B5-EA05-BAB26ABDE6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CCB6368D-5108-808D-62CD-15D71B95A9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6369518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907534CE-3FD3-0170-7B1E-6562375B765F}"/>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E4EFB1EF-4D91-F7FE-B357-A484C7EBD3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6B848905-4309-D3FC-93B8-AE34B03B779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261023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BD602FDC-5523-00E5-C839-60C9B321CF55}"/>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9B451D93-774D-B34D-BC2F-41AF1159F8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E10F7E4D-63CE-F56F-25EC-DAE96C59961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9046437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CCA2FE30-04D9-4B62-D0B9-DFA40255C5FE}"/>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4C2128CB-6F8E-1275-579C-FBC3B545CA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496D2824-25BD-7592-AE45-6ACF5076A5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2780286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62E69CCD-D1C5-74A2-C483-17CEA36ED2C8}"/>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9483603B-D367-BC92-6A49-F0A303F404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77260EDE-E470-E31F-B003-D56567FCB7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9906816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A2931DC8-BE71-3E50-8B93-2F664AD1E37C}"/>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44E7A7BB-BCA2-CCCC-C627-E3DCBCEE0D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4CB3191E-1B44-5B63-8C05-8A3216AD0CC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0049127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669CAE72-7541-613D-1D87-9BB9D0F643AE}"/>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94C06807-19A1-035E-E834-520E013569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E561F6B9-53E9-055B-B4BF-3797E1EDD18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6504357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155E4A6E-6436-CAFF-B6F6-FB666A1DEBD8}"/>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4FE1F9FC-7EBB-1D30-B55A-CEB8BF86C6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4C6C2144-CC92-A361-AB56-114975F8C2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6404190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1A94D659-B884-5ED3-4ADB-12C334378C03}"/>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97628C3E-4976-1ABD-17BE-1848628B79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5CDB4555-EB13-3E79-FD70-9DD0EFA6243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6214075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70B05F96-A532-A273-4B50-2D4CD0E8A253}"/>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552315E1-747E-69A7-1A8B-CA6B7DDA5F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FCA36C14-087B-36E1-C609-7368B3C509B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8294549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141F4A5F-8684-6E79-8D8A-D2D9CD735F5F}"/>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183DEB97-F54A-FA48-5414-3CA31BC97C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3B10287F-8223-5B63-B8FB-A1A1C76D3E3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0100140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EACBA610-CE38-9D46-BAB7-2544DD1B6C28}"/>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AC15A6CC-10DD-5F7F-7F46-BA0896B7AA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BFED921A-2E40-C2A6-6127-2C4F166228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6566894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088492FE-AF94-588B-C4C1-7411C5CE8A4E}"/>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F951E14C-3C47-67C7-1801-805E6506BD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8910A8A7-D54B-D9BB-3D34-F80799F3DF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7428820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0D10407A-236C-2059-5140-BDFC207344C0}"/>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8B170D91-8165-49EA-2198-DC781F2D7B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56E7CBB0-0B12-652C-181F-AA5FC9DE6A8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692915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1E9F3153-F279-22DC-2952-F1D490C938A1}"/>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E4E7E050-7DC6-C9AA-5B3A-7CFFE19577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D75AB5C4-B956-C9A8-3A37-E546502BAF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683026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61DB7777-13CB-E076-DD99-EE03AA0DE312}"/>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EE82A509-197E-9E60-AD12-01B3F4B8C5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CDF72C82-91E3-BE0B-B3F4-E3482FB3676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5001419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CECCD0E1-E529-7486-BDD9-9BD7EF891C6C}"/>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0F103506-5893-ADD6-9639-3178D8CC3F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4AF3A9B6-5D96-D38F-B235-C7E1A1C12C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0810318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7CE741CD-DA20-10B9-2355-E128B7A8482C}"/>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9F5ACC9A-B203-7CF0-F8FC-03C1230E67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B189D4B2-A700-CCD9-EA1B-CD93125261E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9919717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B4C9B4C3-9167-EC2C-1E53-9F6FEAFBA6B4}"/>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DA083EE2-2318-BDBD-CED8-2764239B58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E70DAE8B-C2B4-39A2-66E0-CF384980B74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424149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1DF93D2A-A5CF-FFB3-2938-DFE8EB675D0E}"/>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37707E0C-2CBD-B13E-A4B4-B673A0D8FF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44DA8D8B-2BC9-8029-24E2-76D212D6AB9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3709070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031C759B-1C15-7BCF-A355-D09F48BDF016}"/>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A761F346-1284-58D5-D0DE-9E3352C8BD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703454F7-6E97-E7D1-AD00-8AE279B332D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3341605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1AFB76E7-6599-3AC8-314A-1E516D9A510B}"/>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860AA108-D32F-23F6-A449-BAE6FBF92F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B56B55D7-CE09-D994-E8E4-EA1FF05EBCC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6205016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D1FB6EA6-E7A1-703E-E5C9-084546F3A9B5}"/>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A9CC9480-5C66-6B3A-EF0D-A5CA657FFA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D673F734-7275-BFB0-AFCD-29464111D21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8700806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934E5579-DEEC-3D52-FDFC-4BD607E8078C}"/>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8752EF55-8C9A-E57D-7BBF-56477208D7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950348A0-20B1-87C8-2CAB-D23ED9FC69D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733834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6E62F1DB-86C8-B874-EE49-E5A3C23E6515}"/>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9F6781B4-B31E-B853-23E5-730BF2185C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794BDBFE-3449-0C47-0F99-B93E22C0633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9229871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700AE0E9-500C-7855-A0E9-0AF4C79365F8}"/>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1CA36DA7-56CE-4AA1-441D-BEE61B1CDF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E7E36DC2-09D3-D2BD-2FE4-6F87202E985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5478208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E9ED7060-84E5-D306-CCD5-FFE9A187CED1}"/>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3A0E2BF6-E591-8BD9-E5CF-AB874793AD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CBBBB93C-2E21-ABB1-75FE-3C01854B560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177942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13ADB386-276F-19D5-0C9F-758FC0C48045}"/>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3C25B91A-89C5-1929-B4C1-1CA621B2B3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04C1C971-E64D-083D-7E7C-0C52B6C02D3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3077130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312C02B9-E226-3778-1C0A-2AE6163FB41A}"/>
            </a:ext>
          </a:extLst>
        </p:cNvPr>
        <p:cNvGrpSpPr/>
        <p:nvPr/>
      </p:nvGrpSpPr>
      <p:grpSpPr>
        <a:xfrm>
          <a:off x="0" y="0"/>
          <a:ext cx="0" cy="0"/>
          <a:chOff x="0" y="0"/>
          <a:chExt cx="0" cy="0"/>
        </a:xfrm>
      </p:grpSpPr>
      <p:sp>
        <p:nvSpPr>
          <p:cNvPr id="165" name="Google Shape;165;g10e9006cb6c_1_28:notes">
            <a:extLst>
              <a:ext uri="{FF2B5EF4-FFF2-40B4-BE49-F238E27FC236}">
                <a16:creationId xmlns:a16="http://schemas.microsoft.com/office/drawing/2014/main" id="{C43DD917-FA70-AE2E-A40E-F69DF4CC25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a:extLst>
              <a:ext uri="{FF2B5EF4-FFF2-40B4-BE49-F238E27FC236}">
                <a16:creationId xmlns:a16="http://schemas.microsoft.com/office/drawing/2014/main" id="{467FE30B-7D7D-15C1-B29C-7B1A5CCDF55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5254557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10ee00f67ea_0_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10ee00f67ea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g10ee00f67ea_0_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94</a:t>
            </a:fld>
            <a:endParaRPr sz="1200" b="0" i="0" u="none" strike="noStrike" cap="none">
              <a:solidFill>
                <a:schemeClr val="dk1"/>
              </a:solidFill>
              <a:latin typeface="Calibri"/>
              <a:ea typeface="Calibri"/>
              <a:cs typeface="Calibri"/>
              <a:sym typeface="Calibri"/>
            </a:endParaRPr>
          </a:p>
        </p:txBody>
      </p:sp>
      <p:sp>
        <p:nvSpPr>
          <p:cNvPr id="174" name="Google Shape;174;g10ee00f67ea_0_55: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ge1a9588eba_0_9"/>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6" name="Google Shape;16;ge1a9588eba_0_9"/>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ge1a9588eba_0_1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 name="Google Shape;19;ge1a9588eba_0_1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20" name="Google Shape;20;ge1a9588eba_0_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ge1a9588eba_0_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ge1a9588eba_0_1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ge1a9588eba_0_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ge1a9588eba_0_19"/>
          <p:cNvGraphicFramePr/>
          <p:nvPr/>
        </p:nvGraphicFramePr>
        <p:xfrm>
          <a:off x="201942" y="833662"/>
          <a:ext cx="3000000" cy="3000000"/>
        </p:xfrm>
        <a:graphic>
          <a:graphicData uri="http://schemas.openxmlformats.org/drawingml/2006/table">
            <a:tbl>
              <a:tblPr firstRow="1" bandRow="1">
                <a:noFill/>
                <a:tableStyleId>{12084AC0-A0CB-4F2F-9A05-E4AD725CB356}</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ge1a9588eba_0_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ge1a9588eba_0_2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ge1a9588eba_0_2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ge1a9588eba_0_2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ge1a9588eba_0_2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ge1a9588eba_0_2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ge1a9588eba_0_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ge1a9588eba_0_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ge1a9588eba_0_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ge1a9588eba_0_3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ge1a9588eba_0_3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ge1a9588eba_0_3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ge1a9588eba_0_3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ge1a9588eba_0_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ge1a9588eba_0_4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ge1a9588eba_0_42"/>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ge1a9588eba_0_42"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50" name="Google Shape;50;ge1a9588eba_0_42"/>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ge1a9588eba_0_42"/>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ge1a9588eba_0_42"/>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62"/>
        <p:cNvGrpSpPr/>
        <p:nvPr/>
      </p:nvGrpSpPr>
      <p:grpSpPr>
        <a:xfrm>
          <a:off x="0" y="0"/>
          <a:ext cx="0" cy="0"/>
          <a:chOff x="0" y="0"/>
          <a:chExt cx="0" cy="0"/>
        </a:xfrm>
      </p:grpSpPr>
      <p:sp>
        <p:nvSpPr>
          <p:cNvPr id="63" name="Google Shape;63;g10ee00f67ea_0_104"/>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64" name="Google Shape;64;g10ee00f67ea_0_104"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65" name="Google Shape;65;g10ee00f67ea_0_104"/>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66" name="Google Shape;66;g10ee00f67ea_0_104"/>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67" name="Google Shape;67;g10ee00f67ea_0_104"/>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8"/>
        <p:cNvGrpSpPr/>
        <p:nvPr/>
      </p:nvGrpSpPr>
      <p:grpSpPr>
        <a:xfrm>
          <a:off x="0" y="0"/>
          <a:ext cx="0" cy="0"/>
          <a:chOff x="0" y="0"/>
          <a:chExt cx="0" cy="0"/>
        </a:xfrm>
      </p:grpSpPr>
      <p:sp>
        <p:nvSpPr>
          <p:cNvPr id="69" name="Google Shape;69;g10ee00f67ea_0_71"/>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70" name="Google Shape;70;g10ee00f67ea_0_71"/>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1"/>
        <p:cNvGrpSpPr/>
        <p:nvPr/>
      </p:nvGrpSpPr>
      <p:grpSpPr>
        <a:xfrm>
          <a:off x="0" y="0"/>
          <a:ext cx="0" cy="0"/>
          <a:chOff x="0" y="0"/>
          <a:chExt cx="0" cy="0"/>
        </a:xfrm>
      </p:grpSpPr>
      <p:sp>
        <p:nvSpPr>
          <p:cNvPr id="72" name="Google Shape;72;g10ee00f67ea_0_7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73" name="Google Shape;73;g10ee00f67ea_0_7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4"/>
        <p:cNvGrpSpPr/>
        <p:nvPr/>
      </p:nvGrpSpPr>
      <p:grpSpPr>
        <a:xfrm>
          <a:off x="0" y="0"/>
          <a:ext cx="0" cy="0"/>
          <a:chOff x="0" y="0"/>
          <a:chExt cx="0" cy="0"/>
        </a:xfrm>
      </p:grpSpPr>
      <p:sp>
        <p:nvSpPr>
          <p:cNvPr id="75" name="Google Shape;75;g10ee00f67ea_0_7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6" name="Google Shape;76;g10ee00f67ea_0_77"/>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77" name="Google Shape;77;g10ee00f67ea_0_7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78"/>
        <p:cNvGrpSpPr/>
        <p:nvPr/>
      </p:nvGrpSpPr>
      <p:grpSpPr>
        <a:xfrm>
          <a:off x="0" y="0"/>
          <a:ext cx="0" cy="0"/>
          <a:chOff x="0" y="0"/>
          <a:chExt cx="0" cy="0"/>
        </a:xfrm>
      </p:grpSpPr>
      <p:sp>
        <p:nvSpPr>
          <p:cNvPr id="79" name="Google Shape;79;g10ee00f67ea_0_8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80" name="Google Shape;80;g10ee00f67ea_0_81"/>
          <p:cNvGraphicFramePr/>
          <p:nvPr/>
        </p:nvGraphicFramePr>
        <p:xfrm>
          <a:off x="201942" y="833662"/>
          <a:ext cx="3000000" cy="3000000"/>
        </p:xfrm>
        <a:graphic>
          <a:graphicData uri="http://schemas.openxmlformats.org/drawingml/2006/table">
            <a:tbl>
              <a:tblPr firstRow="1" bandRow="1">
                <a:noFill/>
                <a:tableStyleId>{12084AC0-A0CB-4F2F-9A05-E4AD725CB356}</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81" name="Google Shape;81;g10ee00f67ea_0_8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2"/>
        <p:cNvGrpSpPr/>
        <p:nvPr/>
      </p:nvGrpSpPr>
      <p:grpSpPr>
        <a:xfrm>
          <a:off x="0" y="0"/>
          <a:ext cx="0" cy="0"/>
          <a:chOff x="0" y="0"/>
          <a:chExt cx="0" cy="0"/>
        </a:xfrm>
      </p:grpSpPr>
      <p:sp>
        <p:nvSpPr>
          <p:cNvPr id="83" name="Google Shape;83;g10ee00f67ea_0_8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4" name="Google Shape;84;g10ee00f67ea_0_8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5" name="Google Shape;85;g10ee00f67ea_0_8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6" name="Google Shape;86;g10ee00f67ea_0_8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
        <p:cNvGrpSpPr/>
        <p:nvPr/>
      </p:nvGrpSpPr>
      <p:grpSpPr>
        <a:xfrm>
          <a:off x="0" y="0"/>
          <a:ext cx="0" cy="0"/>
          <a:chOff x="0" y="0"/>
          <a:chExt cx="0" cy="0"/>
        </a:xfrm>
      </p:grpSpPr>
      <p:sp>
        <p:nvSpPr>
          <p:cNvPr id="88" name="Google Shape;88;g10ee00f67ea_0_9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9" name="Google Shape;89;g10ee00f67ea_0_9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0"/>
        <p:cNvGrpSpPr/>
        <p:nvPr/>
      </p:nvGrpSpPr>
      <p:grpSpPr>
        <a:xfrm>
          <a:off x="0" y="0"/>
          <a:ext cx="0" cy="0"/>
          <a:chOff x="0" y="0"/>
          <a:chExt cx="0" cy="0"/>
        </a:xfrm>
      </p:grpSpPr>
      <p:sp>
        <p:nvSpPr>
          <p:cNvPr id="91" name="Google Shape;91;g10ee00f67ea_0_9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92" name="Google Shape;92;g10ee00f67ea_0_9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sp>
        <p:nvSpPr>
          <p:cNvPr id="94" name="Google Shape;94;g10ee00f67ea_0_9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g10ee00f67ea_0_9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6" name="Google Shape;96;g10ee00f67ea_0_9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7" name="Google Shape;97;g10ee00f67ea_0_9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98" name="Google Shape;98;g10ee00f67ea_0_9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g10ee00f67ea_0_10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ge1a9588eba_0_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ge1a9588eba_0_0"/>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ge1a9588eba_0_0"/>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ge1a9588eba_0_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 name="Google Shape;10;ge1a9588eba_0_0"/>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1" name="Google Shape;11;ge1a9588eba_0_0"/>
          <p:cNvGrpSpPr/>
          <p:nvPr/>
        </p:nvGrpSpPr>
        <p:grpSpPr>
          <a:xfrm>
            <a:off x="6593" y="10"/>
            <a:ext cx="175500" cy="709221"/>
            <a:chOff x="6593" y="10"/>
            <a:chExt cx="175500" cy="709221"/>
          </a:xfrm>
        </p:grpSpPr>
        <p:sp>
          <p:nvSpPr>
            <p:cNvPr id="12" name="Google Shape;12;ge1a9588eba_0_0"/>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ge1a9588eba_0_0"/>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3"/>
        <p:cNvGrpSpPr/>
        <p:nvPr/>
      </p:nvGrpSpPr>
      <p:grpSpPr>
        <a:xfrm>
          <a:off x="0" y="0"/>
          <a:ext cx="0" cy="0"/>
          <a:chOff x="0" y="0"/>
          <a:chExt cx="0" cy="0"/>
        </a:xfrm>
      </p:grpSpPr>
      <p:sp>
        <p:nvSpPr>
          <p:cNvPr id="54" name="Google Shape;54;g10ee00f67ea_0_6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55" name="Google Shape;55;g10ee00f67ea_0_62"/>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6" name="Google Shape;56;g10ee00f67ea_0_62"/>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7" name="Google Shape;57;g10ee00f67ea_0_6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8" name="Google Shape;58;g10ee00f67ea_0_62"/>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59" name="Google Shape;59;g10ee00f67ea_0_62"/>
          <p:cNvGrpSpPr/>
          <p:nvPr/>
        </p:nvGrpSpPr>
        <p:grpSpPr>
          <a:xfrm>
            <a:off x="6593" y="10"/>
            <a:ext cx="175500" cy="709221"/>
            <a:chOff x="6593" y="10"/>
            <a:chExt cx="175500" cy="709221"/>
          </a:xfrm>
        </p:grpSpPr>
        <p:sp>
          <p:nvSpPr>
            <p:cNvPr id="60" name="Google Shape;60;g10ee00f67ea_0_62"/>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g10ee00f67ea_0_62"/>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mc:AlternateContent xmlns:mc="http://schemas.openxmlformats.org/markup-compatibility/2006" xmlns:p14="http://schemas.microsoft.com/office/powerpoint/2010/main">
    <mc:Choice Requires="p14">
      <p:transition p14:dur="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localhost:8888/notebooks/Desktop/Greater%20Learning%20/Neural%20Networks/Project/INN_ReneWind_Main_Project_LowCode_Notebook.ipynb#Dataset-Characteristics"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localhost:8888/notebooks/Desktop/Greater%20Learning%20/Neural%20Networks/Project/INN_ReneWind_Main_Project_LowCode_Notebook.ipynb#Why-Target-Distribution-Is-Important"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localhost:8888/notebooks/Desktop/Greater%20Learning%20/Neural%20Networks/Project/INN_ReneWind_Main_Project_LowCode_Notebook.ipynb?#1.-The-Dataset-Is-Highly-Imbalanced"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12508d39905_0_224"/>
          <p:cNvSpPr txBox="1">
            <a:spLocks noGrp="1"/>
          </p:cNvSpPr>
          <p:nvPr>
            <p:ph type="ctrTitle"/>
          </p:nvPr>
        </p:nvSpPr>
        <p:spPr>
          <a:xfrm>
            <a:off x="1158150" y="1412050"/>
            <a:ext cx="6827700" cy="581700"/>
          </a:xfrm>
          <a:prstGeom prst="rect">
            <a:avLst/>
          </a:prstGeom>
          <a:noFill/>
          <a:ln>
            <a:noFill/>
          </a:ln>
        </p:spPr>
        <p:txBody>
          <a:bodyPr spcFirstLastPara="1" wrap="square" lIns="91425" tIns="91425" rIns="91425" bIns="91425" anchor="b" anchorCtr="0">
            <a:noAutofit/>
          </a:bodyPr>
          <a:lstStyle/>
          <a:p>
            <a:r>
              <a:rPr lang="en-US" sz="2800" b="0" dirty="0"/>
              <a:t>Predictive Maintenance for Wind Turbine Failure Detection Using Neural Networks</a:t>
            </a:r>
          </a:p>
        </p:txBody>
      </p:sp>
      <p:sp>
        <p:nvSpPr>
          <p:cNvPr id="106" name="Google Shape;106;g12508d39905_0_224"/>
          <p:cNvSpPr txBox="1">
            <a:spLocks noGrp="1"/>
          </p:cNvSpPr>
          <p:nvPr>
            <p:ph type="ctrTitle"/>
          </p:nvPr>
        </p:nvSpPr>
        <p:spPr>
          <a:xfrm>
            <a:off x="1153000" y="2038575"/>
            <a:ext cx="6827700" cy="498300"/>
          </a:xfrm>
          <a:prstGeom prst="rect">
            <a:avLst/>
          </a:prstGeom>
          <a:noFill/>
          <a:ln>
            <a:noFill/>
          </a:ln>
        </p:spPr>
        <p:txBody>
          <a:bodyPr spcFirstLastPara="1" wrap="square" lIns="91425" tIns="91425" rIns="91425" bIns="91425" anchor="b" anchorCtr="0">
            <a:noAutofit/>
          </a:bodyPr>
          <a:lstStyle/>
          <a:p>
            <a:pPr lvl="0"/>
            <a:r>
              <a:rPr lang="en-US" sz="1600" b="0" dirty="0" err="1"/>
              <a:t>ReneWind</a:t>
            </a:r>
            <a:r>
              <a:rPr lang="en-US" sz="1600" b="0" dirty="0"/>
              <a:t> Predictive Maintenance Project</a:t>
            </a:r>
            <a:br>
              <a:rPr lang="en-US" sz="1600" dirty="0"/>
            </a:br>
            <a:r>
              <a:rPr lang="en-US" sz="1600" b="0" dirty="0"/>
              <a:t>Neural Networks and Deep Learning</a:t>
            </a:r>
            <a:endParaRPr sz="1600" b="0" dirty="0">
              <a:solidFill>
                <a:srgbClr val="1974D2"/>
              </a:solidFill>
            </a:endParaRPr>
          </a:p>
        </p:txBody>
      </p:sp>
      <p:sp>
        <p:nvSpPr>
          <p:cNvPr id="107" name="Google Shape;107;g12508d39905_0_224"/>
          <p:cNvSpPr txBox="1">
            <a:spLocks noGrp="1"/>
          </p:cNvSpPr>
          <p:nvPr>
            <p:ph type="ctrTitle"/>
          </p:nvPr>
        </p:nvSpPr>
        <p:spPr>
          <a:xfrm>
            <a:off x="1153000" y="2429300"/>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1600" b="0" dirty="0">
                <a:solidFill>
                  <a:srgbClr val="1974D2"/>
                </a:solidFill>
              </a:rPr>
              <a:t>May 25, 2026</a:t>
            </a:r>
            <a:endParaRPr sz="1600" b="0" dirty="0">
              <a:solidFill>
                <a:srgbClr val="1974D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Contents / Agenda</a:t>
            </a:r>
            <a:endParaRPr>
              <a:solidFill>
                <a:srgbClr val="1974D2"/>
              </a:solidFill>
            </a:endParaRPr>
          </a:p>
        </p:txBody>
      </p:sp>
      <p:sp>
        <p:nvSpPr>
          <p:cNvPr id="113" name="Google Shape;113;p2"/>
          <p:cNvSpPr txBox="1">
            <a:spLocks noGrp="1"/>
          </p:cNvSpPr>
          <p:nvPr>
            <p:ph type="body" idx="1"/>
          </p:nvPr>
        </p:nvSpPr>
        <p:spPr>
          <a:xfrm>
            <a:off x="147950" y="718350"/>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spcBef>
                <a:spcPts val="1000"/>
              </a:spcBef>
              <a:spcAft>
                <a:spcPts val="0"/>
              </a:spcAft>
              <a:buClr>
                <a:srgbClr val="000000"/>
              </a:buClr>
              <a:buSzPts val="1400"/>
              <a:buChar char="●"/>
            </a:pPr>
            <a:r>
              <a:rPr lang="en" sz="1400" dirty="0">
                <a:solidFill>
                  <a:srgbClr val="000000"/>
                </a:solidFill>
              </a:rPr>
              <a:t>Executive Summary </a:t>
            </a:r>
            <a:endParaRPr sz="1400" dirty="0">
              <a:solidFill>
                <a:srgbClr val="000000"/>
              </a:solidFill>
            </a:endParaRPr>
          </a:p>
          <a:p>
            <a:pPr marL="457200" lvl="0" indent="-317500" algn="l" rtl="0">
              <a:spcBef>
                <a:spcPts val="1000"/>
              </a:spcBef>
              <a:spcAft>
                <a:spcPts val="0"/>
              </a:spcAft>
              <a:buClr>
                <a:srgbClr val="000000"/>
              </a:buClr>
              <a:buSzPts val="1400"/>
              <a:buChar char="●"/>
            </a:pPr>
            <a:r>
              <a:rPr lang="en-US" sz="1400" dirty="0">
                <a:solidFill>
                  <a:srgbClr val="000000"/>
                </a:solidFill>
              </a:rPr>
              <a:t>Business Problem Overview and Solution Approach</a:t>
            </a:r>
          </a:p>
          <a:p>
            <a:pPr marL="457200" lvl="0" indent="-317500" algn="l" rtl="0">
              <a:spcBef>
                <a:spcPts val="1000"/>
              </a:spcBef>
              <a:spcAft>
                <a:spcPts val="0"/>
              </a:spcAft>
              <a:buClr>
                <a:srgbClr val="000000"/>
              </a:buClr>
              <a:buSzPts val="1400"/>
              <a:buChar char="●"/>
            </a:pPr>
            <a:r>
              <a:rPr lang="en-US" sz="1400" dirty="0">
                <a:solidFill>
                  <a:srgbClr val="000000"/>
                </a:solidFill>
              </a:rPr>
              <a:t>Data Overview</a:t>
            </a:r>
          </a:p>
          <a:p>
            <a:pPr marL="457200" lvl="0" indent="-317500" algn="l" rtl="0">
              <a:spcBef>
                <a:spcPts val="1000"/>
              </a:spcBef>
              <a:spcAft>
                <a:spcPts val="0"/>
              </a:spcAft>
              <a:buClr>
                <a:srgbClr val="000000"/>
              </a:buClr>
              <a:buSzPts val="1400"/>
              <a:buChar char="●"/>
            </a:pPr>
            <a:r>
              <a:rPr lang="en-US" sz="1400" dirty="0">
                <a:solidFill>
                  <a:srgbClr val="000000"/>
                </a:solidFill>
              </a:rPr>
              <a:t>EDA Results</a:t>
            </a:r>
          </a:p>
          <a:p>
            <a:pPr marL="457200" lvl="0" indent="-317500" algn="l" rtl="0">
              <a:spcBef>
                <a:spcPts val="1000"/>
              </a:spcBef>
              <a:spcAft>
                <a:spcPts val="0"/>
              </a:spcAft>
              <a:buClr>
                <a:srgbClr val="000000"/>
              </a:buClr>
              <a:buSzPts val="1400"/>
              <a:buChar char="●"/>
            </a:pPr>
            <a:r>
              <a:rPr lang="en-US" sz="1400" dirty="0">
                <a:solidFill>
                  <a:srgbClr val="000000"/>
                </a:solidFill>
              </a:rPr>
              <a:t>Data Preprocessing </a:t>
            </a:r>
          </a:p>
          <a:p>
            <a:pPr marL="457200" lvl="0" indent="-317500" algn="l" rtl="0">
              <a:spcBef>
                <a:spcPts val="1000"/>
              </a:spcBef>
              <a:spcAft>
                <a:spcPts val="0"/>
              </a:spcAft>
              <a:buClr>
                <a:srgbClr val="000000"/>
              </a:buClr>
              <a:buSzPts val="1400"/>
              <a:buChar char="●"/>
            </a:pPr>
            <a:r>
              <a:rPr lang="en-US" sz="1400" dirty="0">
                <a:solidFill>
                  <a:srgbClr val="000000"/>
                </a:solidFill>
              </a:rPr>
              <a:t>Model Evaluation Criterion</a:t>
            </a:r>
          </a:p>
          <a:p>
            <a:pPr marL="457200" lvl="0" indent="-317500" algn="l" rtl="0">
              <a:spcBef>
                <a:spcPts val="1000"/>
              </a:spcBef>
              <a:spcAft>
                <a:spcPts val="0"/>
              </a:spcAft>
              <a:buClr>
                <a:srgbClr val="000000"/>
              </a:buClr>
              <a:buSzPts val="1400"/>
              <a:buChar char="●"/>
            </a:pPr>
            <a:r>
              <a:rPr lang="en-US" sz="1400" dirty="0">
                <a:solidFill>
                  <a:srgbClr val="000000"/>
                </a:solidFill>
              </a:rPr>
              <a:t>Model Performance Summary </a:t>
            </a:r>
          </a:p>
          <a:p>
            <a:pPr marL="457200" lvl="0" indent="-317500" algn="l" rtl="0">
              <a:spcBef>
                <a:spcPts val="1000"/>
              </a:spcBef>
              <a:spcAft>
                <a:spcPts val="0"/>
              </a:spcAft>
              <a:buClr>
                <a:srgbClr val="000000"/>
              </a:buClr>
              <a:buSzPts val="1400"/>
              <a:buChar char="●"/>
            </a:pPr>
            <a:r>
              <a:rPr lang="en-US" sz="1400" dirty="0">
                <a:solidFill>
                  <a:srgbClr val="000000"/>
                </a:solidFill>
              </a:rPr>
              <a:t>Test Performance of Best Model</a:t>
            </a:r>
          </a:p>
          <a:p>
            <a:pPr lvl="0" indent="-317500">
              <a:spcBef>
                <a:spcPts val="1000"/>
              </a:spcBef>
              <a:buClr>
                <a:srgbClr val="000000"/>
              </a:buClr>
              <a:buSzPts val="1400"/>
            </a:pPr>
            <a:r>
              <a:rPr lang="en-US" sz="1400" dirty="0"/>
              <a:t>Actionable Insights &amp; Recommendations</a:t>
            </a:r>
          </a:p>
          <a:p>
            <a:pPr lvl="0" indent="-317500">
              <a:spcBef>
                <a:spcPts val="1000"/>
              </a:spcBef>
              <a:buClr>
                <a:srgbClr val="000000"/>
              </a:buClr>
              <a:buSzPts val="1400"/>
            </a:pPr>
            <a:r>
              <a:rPr lang="en-US" sz="1400" dirty="0"/>
              <a:t>Conclusion</a:t>
            </a:r>
            <a:endParaRPr lang="en-US" sz="1400" dirty="0">
              <a:solidFill>
                <a:srgbClr val="000000"/>
              </a:solidFill>
            </a:endParaRPr>
          </a:p>
          <a:p>
            <a:pPr marL="457200" lvl="0" indent="-317500" algn="l" rtl="0">
              <a:spcBef>
                <a:spcPts val="1000"/>
              </a:spcBef>
              <a:spcAft>
                <a:spcPts val="1000"/>
              </a:spcAft>
              <a:buClr>
                <a:srgbClr val="000000"/>
              </a:buClr>
              <a:buSzPts val="1400"/>
              <a:buChar char="●"/>
            </a:pPr>
            <a:r>
              <a:rPr lang="en-US" sz="1400" dirty="0">
                <a:solidFill>
                  <a:srgbClr val="000000"/>
                </a:solidFill>
              </a:rPr>
              <a:t>Appendix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10e9006cb6c_1_2"/>
          <p:cNvSpPr txBox="1">
            <a:spLocks noGrp="1"/>
          </p:cNvSpPr>
          <p:nvPr>
            <p:ph type="title"/>
          </p:nvPr>
        </p:nvSpPr>
        <p:spPr>
          <a:xfrm>
            <a:off x="311700" y="2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Executive Summary </a:t>
            </a:r>
            <a:endParaRPr dirty="0">
              <a:solidFill>
                <a:srgbClr val="1974D2"/>
              </a:solidFill>
            </a:endParaRPr>
          </a:p>
        </p:txBody>
      </p:sp>
      <p:sp>
        <p:nvSpPr>
          <p:cNvPr id="119" name="Google Shape;119;g10e9006cb6c_1_2"/>
          <p:cNvSpPr txBox="1">
            <a:spLocks noGrp="1"/>
          </p:cNvSpPr>
          <p:nvPr>
            <p:ph type="body" idx="1"/>
          </p:nvPr>
        </p:nvSpPr>
        <p:spPr>
          <a:xfrm>
            <a:off x="244475" y="463407"/>
            <a:ext cx="4194521" cy="3706800"/>
          </a:xfrm>
          <a:prstGeom prst="rect">
            <a:avLst/>
          </a:prstGeom>
          <a:noFill/>
          <a:ln>
            <a:noFill/>
          </a:ln>
        </p:spPr>
        <p:txBody>
          <a:bodyPr spcFirstLastPara="1" wrap="square" lIns="91425" tIns="91425" rIns="91425" bIns="91425" anchor="t" anchorCtr="0">
            <a:noAutofit/>
          </a:bodyPr>
          <a:lstStyle/>
          <a:p>
            <a:pPr marL="133350" indent="0">
              <a:buNone/>
            </a:pPr>
            <a:r>
              <a:rPr lang="en-US" sz="900" dirty="0"/>
              <a:t>Developed a neural network-based predictive maintenance model to identify wind turbine generator failures using turbine sensor data.</a:t>
            </a:r>
          </a:p>
          <a:p>
            <a:pPr marL="133350" indent="0">
              <a:buNone/>
            </a:pPr>
            <a:endParaRPr lang="en-US" sz="900" dirty="0"/>
          </a:p>
          <a:p>
            <a:pPr marL="133350" indent="0">
              <a:buNone/>
            </a:pPr>
            <a:r>
              <a:rPr lang="en-US" sz="900" dirty="0"/>
              <a:t>Performed extensive exploratory data analysis (EDA), which revealed significant outliers, varying sensor behavior, and a highly imbalanced target variable with only ~5.5% failure events.</a:t>
            </a:r>
          </a:p>
          <a:p>
            <a:pPr marL="133350" indent="0">
              <a:buNone/>
            </a:pPr>
            <a:endParaRPr lang="en-US" sz="900" dirty="0"/>
          </a:p>
          <a:p>
            <a:pPr marL="133350" indent="0">
              <a:buNone/>
            </a:pPr>
            <a:r>
              <a:rPr lang="en-US" sz="900" dirty="0"/>
              <a:t>Multiple neural network architectures were evaluated using dropout regularization, class weighting, and different network configurations.</a:t>
            </a:r>
          </a:p>
          <a:p>
            <a:pPr marL="133350" indent="0">
              <a:buNone/>
            </a:pPr>
            <a:endParaRPr lang="en-US" sz="900" dirty="0"/>
          </a:p>
          <a:p>
            <a:pPr marL="133350" indent="0">
              <a:buNone/>
            </a:pPr>
            <a:r>
              <a:rPr lang="en-US" sz="900" dirty="0"/>
              <a:t>Model 3 was selected as the best-performing model based on its balance between Recall, Precision, F1 Score, and overall model stability.</a:t>
            </a:r>
          </a:p>
          <a:p>
            <a:pPr marL="133350" indent="0">
              <a:buNone/>
            </a:pPr>
            <a:endParaRPr lang="en-US" sz="900" dirty="0"/>
          </a:p>
          <a:p>
            <a:pPr marL="133350" indent="0">
              <a:buNone/>
            </a:pPr>
            <a:r>
              <a:rPr lang="en-US" sz="900" dirty="0"/>
              <a:t>The model successfully identified approximately 87–93% of turbine failure events while maintaining very high overall accuracy.</a:t>
            </a:r>
          </a:p>
          <a:p>
            <a:pPr marL="133350" indent="0">
              <a:buNone/>
            </a:pPr>
            <a:r>
              <a:rPr lang="en-US" sz="900" dirty="0"/>
              <a:t>The final model demonstrated strong generalization across training, validation, and testing datasets, indicating reliable performance on unseen data.</a:t>
            </a:r>
          </a:p>
          <a:p>
            <a:pPr marL="133350" indent="0">
              <a:buNone/>
            </a:pPr>
            <a:br>
              <a:rPr lang="en-US" sz="900" dirty="0"/>
            </a:br>
            <a:r>
              <a:rPr lang="en-US" sz="900" b="1" dirty="0"/>
              <a:t>Actionable Insights</a:t>
            </a:r>
          </a:p>
          <a:p>
            <a:r>
              <a:rPr lang="en-US" sz="900" dirty="0"/>
              <a:t>Sensor abnormalities and extreme operating conditions contain strong predictive signals for turbine failure detection.</a:t>
            </a:r>
          </a:p>
          <a:p>
            <a:r>
              <a:rPr lang="en-US" sz="900" dirty="0"/>
              <a:t>Handling class imbalance significantly improved the model’s ability to detect rare failure events.</a:t>
            </a:r>
          </a:p>
          <a:p>
            <a:r>
              <a:rPr lang="en-US" sz="900" dirty="0"/>
              <a:t>Models using regularization and class weighting achieved stronger operational performance compared to simpler baseline models.</a:t>
            </a:r>
          </a:p>
          <a:p>
            <a:r>
              <a:rPr lang="en-US" sz="900" dirty="0"/>
              <a:t>Early identification of abnormal turbine behavior can support proactive maintenance planning and reduce unexpected failures.</a:t>
            </a:r>
          </a:p>
          <a:p>
            <a:pPr marL="133350" indent="0">
              <a:buNone/>
            </a:pPr>
            <a:endParaRPr sz="900" dirty="0">
              <a:solidFill>
                <a:srgbClr val="000000"/>
              </a:solidFill>
            </a:endParaRPr>
          </a:p>
        </p:txBody>
      </p:sp>
      <p:sp>
        <p:nvSpPr>
          <p:cNvPr id="2" name="Google Shape;119;g10e9006cb6c_1_2">
            <a:extLst>
              <a:ext uri="{FF2B5EF4-FFF2-40B4-BE49-F238E27FC236}">
                <a16:creationId xmlns:a16="http://schemas.microsoft.com/office/drawing/2014/main" id="{207BA83D-A656-3989-5DFE-3F54F2CE5D2E}"/>
              </a:ext>
            </a:extLst>
          </p:cNvPr>
          <p:cNvSpPr txBox="1">
            <a:spLocks/>
          </p:cNvSpPr>
          <p:nvPr/>
        </p:nvSpPr>
        <p:spPr>
          <a:xfrm>
            <a:off x="4346757" y="463407"/>
            <a:ext cx="4577783"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t>Business Recommendations</a:t>
            </a:r>
          </a:p>
          <a:p>
            <a:r>
              <a:rPr lang="en-US" sz="900" dirty="0"/>
              <a:t>Deploy Model 3 as a predictive maintenance support tool for turbine monitoring systems.</a:t>
            </a:r>
          </a:p>
          <a:p>
            <a:r>
              <a:rPr lang="en-US" sz="900" dirty="0"/>
              <a:t>Use model predictions to prioritize maintenance inspections for high-risk turbines.</a:t>
            </a:r>
          </a:p>
          <a:p>
            <a:r>
              <a:rPr lang="en-US" sz="900" dirty="0"/>
              <a:t>Continuously retrain the model with new turbine operational data to maintain performance over time.</a:t>
            </a:r>
          </a:p>
          <a:p>
            <a:r>
              <a:rPr lang="en-US" sz="900" dirty="0"/>
              <a:t>Integrate the predictive model with existing maintenance scheduling systems to reduce downtime and optimize maintenance operations.</a:t>
            </a:r>
          </a:p>
          <a:p>
            <a:r>
              <a:rPr lang="en-US" sz="900" dirty="0"/>
              <a:t>Conduct pilot testing before large-scale deployment to validate performance under real-world operating conditions.</a:t>
            </a:r>
          </a:p>
          <a:p>
            <a:pPr marL="133350" indent="0">
              <a:buNone/>
            </a:pPr>
            <a:endParaRPr lang="en-US" sz="900" b="1" dirty="0"/>
          </a:p>
          <a:p>
            <a:pPr marL="133350" indent="0">
              <a:buNone/>
            </a:pPr>
            <a:r>
              <a:rPr lang="en-US" sz="900" b="1" dirty="0"/>
              <a:t>Business Impact</a:t>
            </a:r>
          </a:p>
          <a:p>
            <a:r>
              <a:rPr lang="en-US" sz="900" dirty="0"/>
              <a:t>The predictive maintenance solution can help organizations reduce emergency repair costs, minimize unplanned downtime, improve turbine reliability, optimize maintenance scheduling, and increase operational efficiency.</a:t>
            </a:r>
          </a:p>
          <a:p>
            <a:r>
              <a:rPr lang="en-US" sz="900" dirty="0"/>
              <a:t>Early failure detection also supports safer turbine operations, improved energy production consistency, and more data-driven maintenance decision-making.</a:t>
            </a:r>
          </a:p>
          <a:p>
            <a:pPr marL="133350" indent="0">
              <a:buNone/>
            </a:pPr>
            <a:endParaRPr lang="en-US" sz="900" dirty="0"/>
          </a:p>
          <a:p>
            <a:pPr marL="133350" indent="0">
              <a:buNone/>
            </a:pPr>
            <a:br>
              <a:rPr lang="en-US" sz="900" dirty="0"/>
            </a:br>
            <a:endParaRPr lang="en-US" sz="900" dirty="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g12508d39905_0_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Business Problem Overview and Solution Approach</a:t>
            </a:r>
            <a:endParaRPr dirty="0">
              <a:solidFill>
                <a:srgbClr val="1974D2"/>
              </a:solidFill>
            </a:endParaRPr>
          </a:p>
        </p:txBody>
      </p:sp>
      <p:sp>
        <p:nvSpPr>
          <p:cNvPr id="125" name="Google Shape;125;g12508d39905_0_1"/>
          <p:cNvSpPr txBox="1">
            <a:spLocks noGrp="1"/>
          </p:cNvSpPr>
          <p:nvPr>
            <p:ph type="body" idx="1"/>
          </p:nvPr>
        </p:nvSpPr>
        <p:spPr>
          <a:xfrm>
            <a:off x="202550" y="718350"/>
            <a:ext cx="8629800"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Business Context</a:t>
            </a:r>
          </a:p>
          <a:p>
            <a:r>
              <a:rPr lang="en-US" sz="900" dirty="0"/>
              <a:t>Renewable energy plays a critical role in improving sustainability and reducing environmental impact. Wind turbines are one of the most widely adopted renewable energy technologies worldwide.</a:t>
            </a:r>
          </a:p>
          <a:p>
            <a:r>
              <a:rPr lang="en-US" sz="900" dirty="0" err="1"/>
              <a:t>ReneWind</a:t>
            </a:r>
            <a:r>
              <a:rPr lang="en-US" sz="900" dirty="0"/>
              <a:t> aims to improve turbine operational efficiency through predictive maintenance using machine learning and sensor-based monitoring systems.</a:t>
            </a:r>
          </a:p>
          <a:p>
            <a:r>
              <a:rPr lang="en-US" sz="900" dirty="0"/>
              <a:t>Wind turbines continuously collect operational and environmental sensor data such as temperature, humidity, wind speed, vibration, and component-level measurements.</a:t>
            </a:r>
          </a:p>
          <a:p>
            <a:r>
              <a:rPr lang="en-US" sz="900" dirty="0"/>
              <a:t>Unexpected generator failures can result in significant operational downtime, expensive replacement costs, lost energy production, and increased maintenance expenses.</a:t>
            </a:r>
          </a:p>
          <a:p>
            <a:r>
              <a:rPr lang="en-US" sz="900" dirty="0"/>
              <a:t>Predicting failures before breakdown occurs allows organizations to proactively repair turbines and improve overall reliability.</a:t>
            </a:r>
          </a:p>
          <a:p>
            <a:pPr marL="133350" indent="0">
              <a:buNone/>
            </a:pPr>
            <a:endParaRPr lang="en-US" sz="900" b="1" dirty="0"/>
          </a:p>
          <a:p>
            <a:pPr marL="133350" indent="0">
              <a:buNone/>
            </a:pPr>
            <a:r>
              <a:rPr lang="en-US" sz="900" b="1" dirty="0"/>
              <a:t>Project Objective</a:t>
            </a:r>
          </a:p>
          <a:p>
            <a:r>
              <a:rPr lang="en-US" sz="900" dirty="0"/>
              <a:t>The objective of this project is to develop neural network classification models capable of predicting generator failures using turbine sensor data.</a:t>
            </a:r>
          </a:p>
          <a:p>
            <a:pPr marL="133350" indent="0">
              <a:buNone/>
            </a:pPr>
            <a:endParaRPr lang="en-US" sz="900" b="1" dirty="0"/>
          </a:p>
          <a:p>
            <a:pPr marL="133350" indent="0">
              <a:buNone/>
            </a:pPr>
            <a:r>
              <a:rPr lang="en-US" sz="900" b="1" dirty="0"/>
              <a:t>Dataset Overview</a:t>
            </a:r>
          </a:p>
          <a:p>
            <a:r>
              <a:rPr lang="en-US" sz="900" dirty="0"/>
              <a:t>20,000 observations in the training dataset</a:t>
            </a:r>
          </a:p>
          <a:p>
            <a:r>
              <a:rPr lang="en-US" sz="900" dirty="0"/>
              <a:t>5,000 observations in the testing dataset</a:t>
            </a:r>
          </a:p>
          <a:p>
            <a:r>
              <a:rPr lang="en-US" sz="900" dirty="0"/>
              <a:t>40 numerical predictor variables</a:t>
            </a:r>
          </a:p>
          <a:p>
            <a:r>
              <a:rPr lang="en-US" sz="900" dirty="0"/>
              <a:t>1 binary target variable</a:t>
            </a:r>
          </a:p>
          <a:p>
            <a:pPr marL="139700" lvl="0" indent="0">
              <a:spcBef>
                <a:spcPts val="1000"/>
              </a:spcBef>
              <a:buClr>
                <a:srgbClr val="000000"/>
              </a:buClr>
              <a:buSzPts val="1400"/>
              <a:buNone/>
            </a:pPr>
            <a:endParaRPr lang="en-US" sz="900" dirty="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EC23F8F4-862A-94BE-238F-6A5EF7741B40}"/>
            </a:ext>
          </a:extLst>
        </p:cNvPr>
        <p:cNvGrpSpPr/>
        <p:nvPr/>
      </p:nvGrpSpPr>
      <p:grpSpPr>
        <a:xfrm>
          <a:off x="0" y="0"/>
          <a:ext cx="0" cy="0"/>
          <a:chOff x="0" y="0"/>
          <a:chExt cx="0" cy="0"/>
        </a:xfrm>
      </p:grpSpPr>
      <p:sp>
        <p:nvSpPr>
          <p:cNvPr id="124" name="Google Shape;124;g12508d39905_0_1">
            <a:extLst>
              <a:ext uri="{FF2B5EF4-FFF2-40B4-BE49-F238E27FC236}">
                <a16:creationId xmlns:a16="http://schemas.microsoft.com/office/drawing/2014/main" id="{7E3D20EE-59A9-C4F1-9796-B8F82D995284}"/>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Business Problem Overview and Solution Approach</a:t>
            </a:r>
            <a:endParaRPr dirty="0">
              <a:solidFill>
                <a:srgbClr val="1974D2"/>
              </a:solidFill>
            </a:endParaRPr>
          </a:p>
        </p:txBody>
      </p:sp>
      <p:sp>
        <p:nvSpPr>
          <p:cNvPr id="125" name="Google Shape;125;g12508d39905_0_1">
            <a:extLst>
              <a:ext uri="{FF2B5EF4-FFF2-40B4-BE49-F238E27FC236}">
                <a16:creationId xmlns:a16="http://schemas.microsoft.com/office/drawing/2014/main" id="{A6D2829D-A2E1-31B6-2305-515F732BCF80}"/>
              </a:ext>
            </a:extLst>
          </p:cNvPr>
          <p:cNvSpPr txBox="1">
            <a:spLocks noGrp="1"/>
          </p:cNvSpPr>
          <p:nvPr>
            <p:ph type="body" idx="1"/>
          </p:nvPr>
        </p:nvSpPr>
        <p:spPr>
          <a:xfrm>
            <a:off x="202551" y="575629"/>
            <a:ext cx="3603266"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Target Variable</a:t>
            </a:r>
          </a:p>
          <a:p>
            <a:r>
              <a:rPr lang="en-US" sz="900" dirty="0"/>
              <a:t>Target = 1 → Failure</a:t>
            </a:r>
          </a:p>
          <a:p>
            <a:r>
              <a:rPr lang="en-US" sz="900" dirty="0"/>
              <a:t>Target = 0 → No Failure</a:t>
            </a:r>
          </a:p>
          <a:p>
            <a:r>
              <a:rPr lang="en-US" sz="900" dirty="0"/>
              <a:t>The goal is to identify turbine failures early so maintenance teams can intervene before complete generator breakdown occurs.</a:t>
            </a:r>
            <a:br>
              <a:rPr lang="en-US" sz="900" dirty="0"/>
            </a:br>
            <a:endParaRPr lang="en-US" sz="900" dirty="0"/>
          </a:p>
          <a:p>
            <a:pPr marL="133350" indent="0">
              <a:buNone/>
            </a:pPr>
            <a:r>
              <a:rPr lang="en-US" sz="900" b="1" dirty="0"/>
              <a:t>Business Impact of Prediction Outcomes</a:t>
            </a:r>
          </a:p>
          <a:p>
            <a:pPr marL="133350" indent="0">
              <a:buNone/>
            </a:pPr>
            <a:r>
              <a:rPr lang="en-US" sz="900" b="1" dirty="0"/>
              <a:t>1. True Positive (TP)</a:t>
            </a:r>
          </a:p>
          <a:p>
            <a:r>
              <a:rPr lang="en-US" sz="900" dirty="0"/>
              <a:t>Correctly predicting a turbine failure.</a:t>
            </a:r>
          </a:p>
          <a:p>
            <a:r>
              <a:rPr lang="en-US" sz="900" dirty="0"/>
              <a:t>Enables proactive maintenance</a:t>
            </a:r>
          </a:p>
          <a:p>
            <a:r>
              <a:rPr lang="en-US" sz="900" dirty="0"/>
              <a:t>Reduces risk of catastrophic turbine breakdown</a:t>
            </a:r>
          </a:p>
          <a:p>
            <a:r>
              <a:rPr lang="en-US" sz="900" dirty="0"/>
              <a:t>Preferred outcome because repair costs are lower than replacement costs</a:t>
            </a:r>
          </a:p>
          <a:p>
            <a:pPr marL="133350" indent="0">
              <a:buNone/>
            </a:pPr>
            <a:br>
              <a:rPr lang="en-US" sz="900" dirty="0"/>
            </a:br>
            <a:r>
              <a:rPr lang="en-US" sz="900" dirty="0"/>
              <a:t>2. </a:t>
            </a:r>
            <a:r>
              <a:rPr lang="en-US" sz="900" b="1" dirty="0"/>
              <a:t>False Negative (FN)</a:t>
            </a:r>
          </a:p>
          <a:p>
            <a:r>
              <a:rPr lang="en-US" sz="900" dirty="0"/>
              <a:t>Failure occurs but is not detected by the model.</a:t>
            </a:r>
          </a:p>
          <a:p>
            <a:r>
              <a:rPr lang="en-US" sz="900" dirty="0"/>
              <a:t>Business Impact:</a:t>
            </a:r>
          </a:p>
          <a:p>
            <a:r>
              <a:rPr lang="en-US" sz="900" dirty="0"/>
              <a:t>Most critical and expensive error</a:t>
            </a:r>
          </a:p>
          <a:p>
            <a:r>
              <a:rPr lang="en-US" sz="900" dirty="0"/>
              <a:t>Can lead to severe turbine damage, emergency shutdowns, replacement costs, and operational downtime</a:t>
            </a:r>
          </a:p>
          <a:p>
            <a:r>
              <a:rPr lang="en-US" sz="900" dirty="0"/>
              <a:t>Because missed failures are highly costly, minimizing False Negatives is the primary business objective.</a:t>
            </a:r>
          </a:p>
          <a:p>
            <a:pPr marL="133350" indent="0">
              <a:buNone/>
            </a:pPr>
            <a:endParaRPr lang="en-US" sz="900" dirty="0"/>
          </a:p>
          <a:p>
            <a:pPr marL="139700" lvl="0" indent="0">
              <a:spcBef>
                <a:spcPts val="1000"/>
              </a:spcBef>
              <a:buClr>
                <a:srgbClr val="000000"/>
              </a:buClr>
              <a:buSzPts val="1400"/>
              <a:buNone/>
            </a:pPr>
            <a:endParaRPr lang="en-US" sz="900" dirty="0">
              <a:solidFill>
                <a:srgbClr val="000000"/>
              </a:solidFill>
            </a:endParaRPr>
          </a:p>
        </p:txBody>
      </p:sp>
      <p:sp>
        <p:nvSpPr>
          <p:cNvPr id="2" name="Google Shape;125;g12508d39905_0_1">
            <a:extLst>
              <a:ext uri="{FF2B5EF4-FFF2-40B4-BE49-F238E27FC236}">
                <a16:creationId xmlns:a16="http://schemas.microsoft.com/office/drawing/2014/main" id="{645E31E5-9A0C-2DFD-6F47-593D8C72D5BD}"/>
              </a:ext>
            </a:extLst>
          </p:cNvPr>
          <p:cNvSpPr txBox="1">
            <a:spLocks/>
          </p:cNvSpPr>
          <p:nvPr/>
        </p:nvSpPr>
        <p:spPr>
          <a:xfrm>
            <a:off x="3805816" y="718804"/>
            <a:ext cx="5061213"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Font typeface="Nunito"/>
              <a:buNone/>
            </a:pPr>
            <a:endParaRPr lang="en-US" sz="900" dirty="0"/>
          </a:p>
          <a:p>
            <a:pPr marL="133350" indent="0">
              <a:buFont typeface="Nunito"/>
              <a:buNone/>
            </a:pPr>
            <a:r>
              <a:rPr lang="en-US" sz="900" b="1" dirty="0"/>
              <a:t>3. False Positive (FP)</a:t>
            </a:r>
          </a:p>
          <a:p>
            <a:r>
              <a:rPr lang="en-US" sz="900" dirty="0"/>
              <a:t>Model predicts failure when no failure occurs.</a:t>
            </a:r>
          </a:p>
          <a:p>
            <a:pPr marL="133350" indent="0">
              <a:buNone/>
            </a:pPr>
            <a:endParaRPr lang="en-US" sz="900" dirty="0"/>
          </a:p>
          <a:p>
            <a:pPr marL="133350" indent="0">
              <a:buNone/>
            </a:pPr>
            <a:r>
              <a:rPr lang="en-US" sz="900" b="1" dirty="0"/>
              <a:t>Business Impact:</a:t>
            </a:r>
          </a:p>
          <a:p>
            <a:r>
              <a:rPr lang="en-US" sz="900" dirty="0"/>
              <a:t>Leads to additional inspections or maintenance checks</a:t>
            </a:r>
          </a:p>
          <a:p>
            <a:r>
              <a:rPr lang="en-US" sz="900" dirty="0"/>
              <a:t>Increases operational costs slightly</a:t>
            </a:r>
          </a:p>
          <a:p>
            <a:r>
              <a:rPr lang="en-US" sz="900" dirty="0"/>
              <a:t>Less costly than unexpected turbine breakdowns</a:t>
            </a:r>
          </a:p>
          <a:p>
            <a:pPr marL="133350" indent="0">
              <a:buFont typeface="Nunito"/>
              <a:buNone/>
            </a:pPr>
            <a:br>
              <a:rPr lang="en-US" sz="900" dirty="0"/>
            </a:br>
            <a:endParaRPr lang="en-US" sz="900" dirty="0"/>
          </a:p>
          <a:p>
            <a:pPr marL="133350" indent="0">
              <a:buFont typeface="Nunito"/>
              <a:buNone/>
            </a:pPr>
            <a:r>
              <a:rPr lang="en-US" sz="900" b="1" dirty="0"/>
              <a:t>Key Modeling Priority</a:t>
            </a:r>
          </a:p>
          <a:p>
            <a:pPr marL="133350" indent="0">
              <a:buFont typeface="Nunito"/>
              <a:buNone/>
            </a:pPr>
            <a:r>
              <a:rPr lang="en-US" sz="900" dirty="0"/>
              <a:t>Because turbine failures are rare but operationally expensive, Recall was prioritized as the primary evaluation metric to maximize failure detection capability.</a:t>
            </a:r>
          </a:p>
          <a:p>
            <a:pPr marL="139700" indent="0">
              <a:spcBef>
                <a:spcPts val="1000"/>
              </a:spcBef>
              <a:buClr>
                <a:srgbClr val="000000"/>
              </a:buClr>
              <a:buSzPts val="1400"/>
              <a:buFont typeface="Nunito"/>
              <a:buNone/>
            </a:pPr>
            <a:endParaRPr lang="en-US" sz="900" dirty="0">
              <a:solidFill>
                <a:srgbClr val="000000"/>
              </a:solidFill>
            </a:endParaRPr>
          </a:p>
        </p:txBody>
      </p:sp>
    </p:spTree>
    <p:extLst>
      <p:ext uri="{BB962C8B-B14F-4D97-AF65-F5344CB8AC3E}">
        <p14:creationId xmlns:p14="http://schemas.microsoft.com/office/powerpoint/2010/main" val="2316956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021E0380-744C-373D-C65D-888EA82C35A8}"/>
            </a:ext>
          </a:extLst>
        </p:cNvPr>
        <p:cNvGrpSpPr/>
        <p:nvPr/>
      </p:nvGrpSpPr>
      <p:grpSpPr>
        <a:xfrm>
          <a:off x="0" y="0"/>
          <a:ext cx="0" cy="0"/>
          <a:chOff x="0" y="0"/>
          <a:chExt cx="0" cy="0"/>
        </a:xfrm>
      </p:grpSpPr>
      <p:sp>
        <p:nvSpPr>
          <p:cNvPr id="124" name="Google Shape;124;g12508d39905_0_1">
            <a:extLst>
              <a:ext uri="{FF2B5EF4-FFF2-40B4-BE49-F238E27FC236}">
                <a16:creationId xmlns:a16="http://schemas.microsoft.com/office/drawing/2014/main" id="{382D52E2-14AD-94C6-D36A-ED5A8C83FBF7}"/>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Business Problem Overview and Solution Approach</a:t>
            </a:r>
            <a:endParaRPr dirty="0">
              <a:solidFill>
                <a:srgbClr val="1974D2"/>
              </a:solidFill>
            </a:endParaRPr>
          </a:p>
        </p:txBody>
      </p:sp>
      <p:sp>
        <p:nvSpPr>
          <p:cNvPr id="125" name="Google Shape;125;g12508d39905_0_1">
            <a:extLst>
              <a:ext uri="{FF2B5EF4-FFF2-40B4-BE49-F238E27FC236}">
                <a16:creationId xmlns:a16="http://schemas.microsoft.com/office/drawing/2014/main" id="{001E9915-573C-B185-6152-25ACCCE88878}"/>
              </a:ext>
            </a:extLst>
          </p:cNvPr>
          <p:cNvSpPr txBox="1">
            <a:spLocks noGrp="1"/>
          </p:cNvSpPr>
          <p:nvPr>
            <p:ph type="body" idx="1"/>
          </p:nvPr>
        </p:nvSpPr>
        <p:spPr>
          <a:xfrm>
            <a:off x="93350" y="575629"/>
            <a:ext cx="4073133"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Project Methodology</a:t>
            </a:r>
          </a:p>
          <a:p>
            <a:pPr marL="133350" indent="0">
              <a:buNone/>
            </a:pPr>
            <a:r>
              <a:rPr lang="en-US" sz="900" dirty="0"/>
              <a:t>The following approach was used to solve the business problem:</a:t>
            </a:r>
          </a:p>
          <a:p>
            <a:pPr marL="133350" indent="0">
              <a:buNone/>
            </a:pPr>
            <a:r>
              <a:rPr lang="en-US" sz="900" b="1" dirty="0"/>
              <a:t>1. Exploratory Data Analysis (EDA)</a:t>
            </a:r>
          </a:p>
          <a:p>
            <a:r>
              <a:rPr lang="en-US" sz="900" dirty="0"/>
              <a:t>Analyzed sensor distributions</a:t>
            </a:r>
          </a:p>
          <a:p>
            <a:r>
              <a:rPr lang="en-US" sz="900" dirty="0"/>
              <a:t>Identified outliers and skewness</a:t>
            </a:r>
          </a:p>
          <a:p>
            <a:r>
              <a:rPr lang="en-US" sz="900" dirty="0"/>
              <a:t>Evaluated class imbalance</a:t>
            </a:r>
          </a:p>
          <a:p>
            <a:r>
              <a:rPr lang="en-US" sz="900" dirty="0"/>
              <a:t>Investigated feature relationships and correlations</a:t>
            </a:r>
          </a:p>
          <a:p>
            <a:pPr marL="133350" indent="0">
              <a:buNone/>
            </a:pPr>
            <a:endParaRPr lang="en-US" sz="900" dirty="0"/>
          </a:p>
          <a:p>
            <a:pPr marL="133350" indent="0">
              <a:buNone/>
            </a:pPr>
            <a:r>
              <a:rPr lang="en-US" sz="900" b="1" dirty="0"/>
              <a:t>2. Data Preprocessing</a:t>
            </a:r>
          </a:p>
          <a:p>
            <a:r>
              <a:rPr lang="en-US" sz="900" dirty="0"/>
              <a:t>Checked for missing values and duplicates</a:t>
            </a:r>
          </a:p>
          <a:p>
            <a:r>
              <a:rPr lang="en-US" sz="900" dirty="0"/>
              <a:t>Applied median imputation for missing data</a:t>
            </a:r>
          </a:p>
          <a:p>
            <a:r>
              <a:rPr lang="en-US" sz="900" dirty="0"/>
              <a:t>Split data into training, validation, and testing datasets</a:t>
            </a:r>
          </a:p>
          <a:p>
            <a:r>
              <a:rPr lang="en-US" sz="900" dirty="0"/>
              <a:t>Prepared data for neural network modeling</a:t>
            </a:r>
          </a:p>
          <a:p>
            <a:pPr marL="133350" indent="0">
              <a:buNone/>
            </a:pPr>
            <a:endParaRPr lang="en-US" sz="900" dirty="0"/>
          </a:p>
          <a:p>
            <a:pPr marL="133350" indent="0">
              <a:buNone/>
            </a:pPr>
            <a:r>
              <a:rPr lang="en-US" sz="900" b="1" dirty="0"/>
              <a:t>3. Neural Network Model Development</a:t>
            </a:r>
          </a:p>
          <a:p>
            <a:r>
              <a:rPr lang="en-US" sz="900" dirty="0"/>
              <a:t>Multiple neural network architectures were developed and evaluated using different hidden layer configurations, dropout regularization, optimizer tuning, and class weighting techniques.</a:t>
            </a:r>
            <a:br>
              <a:rPr lang="en-US" sz="900" dirty="0"/>
            </a:br>
            <a:endParaRPr lang="en-US" sz="900" dirty="0"/>
          </a:p>
          <a:p>
            <a:pPr marL="133350" indent="0">
              <a:buNone/>
            </a:pPr>
            <a:r>
              <a:rPr lang="en-US" sz="900" b="1" dirty="0"/>
              <a:t>4. Model Performance Improvement Techniques</a:t>
            </a:r>
          </a:p>
          <a:p>
            <a:r>
              <a:rPr lang="en-US" sz="900" dirty="0"/>
              <a:t>The following techniques were used to improve predictive performance:</a:t>
            </a:r>
          </a:p>
          <a:p>
            <a:r>
              <a:rPr lang="en-US" sz="900" dirty="0"/>
              <a:t>Additional hidden layers</a:t>
            </a:r>
          </a:p>
          <a:p>
            <a:r>
              <a:rPr lang="en-US" sz="900" dirty="0"/>
              <a:t>Dropout regularization to reduce overfitting</a:t>
            </a:r>
          </a:p>
          <a:p>
            <a:r>
              <a:rPr lang="en-US" sz="900" dirty="0"/>
              <a:t>Handling class imbalance using class weights</a:t>
            </a:r>
          </a:p>
          <a:p>
            <a:r>
              <a:rPr lang="en-US" sz="900" dirty="0"/>
              <a:t>Architecture tuning</a:t>
            </a:r>
          </a:p>
          <a:p>
            <a:r>
              <a:rPr lang="en-US" sz="900" dirty="0"/>
              <a:t>Optimizer comparison (SGD vs Adam)</a:t>
            </a:r>
          </a:p>
          <a:p>
            <a:pPr marL="139700" lvl="0" indent="0">
              <a:spcBef>
                <a:spcPts val="1000"/>
              </a:spcBef>
              <a:buClr>
                <a:srgbClr val="000000"/>
              </a:buClr>
              <a:buSzPts val="1400"/>
              <a:buNone/>
            </a:pPr>
            <a:endParaRPr lang="en-US" sz="900" dirty="0">
              <a:solidFill>
                <a:srgbClr val="000000"/>
              </a:solidFill>
            </a:endParaRPr>
          </a:p>
        </p:txBody>
      </p:sp>
      <p:sp>
        <p:nvSpPr>
          <p:cNvPr id="2" name="Google Shape;125;g12508d39905_0_1">
            <a:extLst>
              <a:ext uri="{FF2B5EF4-FFF2-40B4-BE49-F238E27FC236}">
                <a16:creationId xmlns:a16="http://schemas.microsoft.com/office/drawing/2014/main" id="{F9EF348A-DAA9-B2CF-379D-E6D5275CE730}"/>
              </a:ext>
            </a:extLst>
          </p:cNvPr>
          <p:cNvSpPr txBox="1">
            <a:spLocks/>
          </p:cNvSpPr>
          <p:nvPr/>
        </p:nvSpPr>
        <p:spPr>
          <a:xfrm>
            <a:off x="3871544" y="656467"/>
            <a:ext cx="4073133"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Font typeface="Nunito"/>
              <a:buNone/>
            </a:pPr>
            <a:r>
              <a:rPr lang="en-US" sz="900" b="1" dirty="0"/>
              <a:t>5. Model Evaluation Metrics</a:t>
            </a:r>
          </a:p>
          <a:p>
            <a:pPr marL="133350" indent="0">
              <a:buNone/>
            </a:pPr>
            <a:r>
              <a:rPr lang="en-US" sz="900" dirty="0"/>
              <a:t>Models were evaluated using:</a:t>
            </a:r>
          </a:p>
          <a:p>
            <a:r>
              <a:rPr lang="en-US" sz="900" dirty="0"/>
              <a:t>Recall</a:t>
            </a:r>
          </a:p>
          <a:p>
            <a:r>
              <a:rPr lang="en-US" sz="900" dirty="0"/>
              <a:t>Precision</a:t>
            </a:r>
          </a:p>
          <a:p>
            <a:r>
              <a:rPr lang="en-US" sz="900" dirty="0"/>
              <a:t>F1-Score</a:t>
            </a:r>
          </a:p>
          <a:p>
            <a:r>
              <a:rPr lang="en-US" sz="900" dirty="0"/>
              <a:t>Accuracy</a:t>
            </a:r>
          </a:p>
          <a:p>
            <a:r>
              <a:rPr lang="en-US" sz="900" dirty="0"/>
              <a:t>Classification Reports</a:t>
            </a:r>
          </a:p>
          <a:p>
            <a:r>
              <a:rPr lang="en-US" sz="900" dirty="0"/>
              <a:t>Confusion Matrix Analysis</a:t>
            </a:r>
          </a:p>
          <a:p>
            <a:pPr marL="133350" indent="0">
              <a:buNone/>
            </a:pPr>
            <a:r>
              <a:rPr lang="en-US" sz="900" dirty="0"/>
              <a:t>Special emphasis was placed on Recall because detecting failures early is the key business objective.</a:t>
            </a:r>
          </a:p>
          <a:p>
            <a:pPr marL="139700" indent="0">
              <a:spcBef>
                <a:spcPts val="1000"/>
              </a:spcBef>
              <a:buClr>
                <a:srgbClr val="000000"/>
              </a:buClr>
              <a:buSzPts val="1400"/>
              <a:buFont typeface="Nunito"/>
              <a:buNone/>
            </a:pPr>
            <a:endParaRPr lang="en-US" sz="900" dirty="0">
              <a:solidFill>
                <a:srgbClr val="000000"/>
              </a:solidFill>
            </a:endParaRPr>
          </a:p>
        </p:txBody>
      </p:sp>
    </p:spTree>
    <p:extLst>
      <p:ext uri="{BB962C8B-B14F-4D97-AF65-F5344CB8AC3E}">
        <p14:creationId xmlns:p14="http://schemas.microsoft.com/office/powerpoint/2010/main" val="3258345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05161EDF-30ED-5ACF-1655-04354102A18A}"/>
            </a:ext>
          </a:extLst>
        </p:cNvPr>
        <p:cNvGrpSpPr/>
        <p:nvPr/>
      </p:nvGrpSpPr>
      <p:grpSpPr>
        <a:xfrm>
          <a:off x="0" y="0"/>
          <a:ext cx="0" cy="0"/>
          <a:chOff x="0" y="0"/>
          <a:chExt cx="0" cy="0"/>
        </a:xfrm>
      </p:grpSpPr>
      <p:sp>
        <p:nvSpPr>
          <p:cNvPr id="124" name="Google Shape;124;g12508d39905_0_1">
            <a:extLst>
              <a:ext uri="{FF2B5EF4-FFF2-40B4-BE49-F238E27FC236}">
                <a16:creationId xmlns:a16="http://schemas.microsoft.com/office/drawing/2014/main" id="{1AD7D4B7-9F58-F4DB-8CAA-25D9B5372019}"/>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Business Problem Overview and Solution Approach</a:t>
            </a:r>
            <a:endParaRPr dirty="0">
              <a:solidFill>
                <a:srgbClr val="1974D2"/>
              </a:solidFill>
            </a:endParaRPr>
          </a:p>
        </p:txBody>
      </p:sp>
      <p:sp>
        <p:nvSpPr>
          <p:cNvPr id="4" name="TextBox 3">
            <a:extLst>
              <a:ext uri="{FF2B5EF4-FFF2-40B4-BE49-F238E27FC236}">
                <a16:creationId xmlns:a16="http://schemas.microsoft.com/office/drawing/2014/main" id="{61F90571-4228-E7F9-8C1B-599C8D9670E7}"/>
              </a:ext>
            </a:extLst>
          </p:cNvPr>
          <p:cNvSpPr txBox="1"/>
          <p:nvPr/>
        </p:nvSpPr>
        <p:spPr>
          <a:xfrm>
            <a:off x="75328" y="896183"/>
            <a:ext cx="7987293" cy="2585323"/>
          </a:xfrm>
          <a:prstGeom prst="rect">
            <a:avLst/>
          </a:prstGeom>
          <a:noFill/>
        </p:spPr>
        <p:txBody>
          <a:bodyPr wrap="square">
            <a:spAutoFit/>
          </a:bodyPr>
          <a:lstStyle/>
          <a:p>
            <a:pPr algn="l">
              <a:buNone/>
            </a:pPr>
            <a:r>
              <a:rPr lang="en-US" sz="900" b="1" i="0" dirty="0">
                <a:solidFill>
                  <a:srgbClr val="000000"/>
                </a:solidFill>
                <a:effectLst/>
                <a:latin typeface="Nunito" pitchFamily="2" charset="77"/>
              </a:rPr>
              <a:t>Final Model Selection</a:t>
            </a:r>
          </a:p>
          <a:p>
            <a:pPr algn="l">
              <a:buFont typeface="Arial" panose="020B0604020202020204" pitchFamily="34" charset="0"/>
              <a:buChar char="•"/>
            </a:pPr>
            <a:r>
              <a:rPr lang="en-US" sz="900" b="0" i="0" dirty="0">
                <a:solidFill>
                  <a:srgbClr val="000000"/>
                </a:solidFill>
                <a:effectLst/>
                <a:latin typeface="Nunito" pitchFamily="2" charset="77"/>
              </a:rPr>
              <a:t>Model 3 was selected as the final model because it achieved the best balance between Recall, Precision, F1-Score, and overall model stability.</a:t>
            </a:r>
          </a:p>
          <a:p>
            <a:pPr algn="l">
              <a:buFont typeface="Arial" panose="020B0604020202020204" pitchFamily="34" charset="0"/>
              <a:buChar char="•"/>
            </a:pPr>
            <a:r>
              <a:rPr lang="en-US" sz="900" b="0" i="0" dirty="0">
                <a:solidFill>
                  <a:srgbClr val="000000"/>
                </a:solidFill>
                <a:effectLst/>
                <a:latin typeface="Nunito" pitchFamily="2" charset="77"/>
              </a:rPr>
              <a:t>The model also demonstrated strong generalization across training, validation, and testing datasets.</a:t>
            </a:r>
          </a:p>
          <a:p>
            <a:pPr>
              <a:buNone/>
            </a:pPr>
            <a:endParaRPr lang="en-US" sz="900" dirty="0">
              <a:latin typeface="Nunito" pitchFamily="2" charset="77"/>
            </a:endParaRPr>
          </a:p>
          <a:p>
            <a:pPr algn="l">
              <a:buNone/>
            </a:pPr>
            <a:r>
              <a:rPr lang="en-US" sz="900" b="1" i="0" dirty="0">
                <a:solidFill>
                  <a:srgbClr val="000000"/>
                </a:solidFill>
                <a:effectLst/>
                <a:latin typeface="Nunito" pitchFamily="2" charset="77"/>
              </a:rPr>
              <a:t>Final Test Performance (Model 3)</a:t>
            </a:r>
          </a:p>
          <a:p>
            <a:pPr algn="l">
              <a:buNone/>
            </a:pPr>
            <a:r>
              <a:rPr lang="en-US" sz="900" b="1" i="0" dirty="0">
                <a:solidFill>
                  <a:srgbClr val="000000"/>
                </a:solidFill>
                <a:effectLst/>
                <a:latin typeface="Nunito" pitchFamily="2" charset="77"/>
              </a:rPr>
              <a:t>Failure Detection Performance (Class 1)</a:t>
            </a:r>
          </a:p>
          <a:p>
            <a:pPr algn="l">
              <a:buFont typeface="Arial" panose="020B0604020202020204" pitchFamily="34" charset="0"/>
              <a:buChar char="•"/>
            </a:pPr>
            <a:r>
              <a:rPr lang="en-US" sz="900" b="0" i="0" dirty="0">
                <a:solidFill>
                  <a:srgbClr val="000000"/>
                </a:solidFill>
                <a:effectLst/>
                <a:latin typeface="Nunito" pitchFamily="2" charset="77"/>
              </a:rPr>
              <a:t>Precision: 90%</a:t>
            </a:r>
          </a:p>
          <a:p>
            <a:pPr algn="l">
              <a:buFont typeface="Arial" panose="020B0604020202020204" pitchFamily="34" charset="0"/>
              <a:buChar char="•"/>
            </a:pPr>
            <a:r>
              <a:rPr lang="en-US" sz="900" b="0" i="0" dirty="0">
                <a:solidFill>
                  <a:srgbClr val="000000"/>
                </a:solidFill>
                <a:effectLst/>
                <a:latin typeface="Nunito" pitchFamily="2" charset="77"/>
              </a:rPr>
              <a:t>Recall: 87%</a:t>
            </a:r>
          </a:p>
          <a:p>
            <a:pPr algn="l">
              <a:buFont typeface="Arial" panose="020B0604020202020204" pitchFamily="34" charset="0"/>
              <a:buChar char="•"/>
            </a:pPr>
            <a:r>
              <a:rPr lang="en-US" sz="900" b="0" i="0" dirty="0">
                <a:solidFill>
                  <a:srgbClr val="000000"/>
                </a:solidFill>
                <a:effectLst/>
                <a:latin typeface="Nunito" pitchFamily="2" charset="77"/>
              </a:rPr>
              <a:t>F1-Score: 88%</a:t>
            </a:r>
          </a:p>
          <a:p>
            <a:pPr>
              <a:buNone/>
            </a:pPr>
            <a:br>
              <a:rPr lang="en-US" sz="900" dirty="0">
                <a:latin typeface="Nunito" pitchFamily="2" charset="77"/>
              </a:rPr>
            </a:br>
            <a:r>
              <a:rPr lang="en-US" sz="900" b="1" i="0" dirty="0">
                <a:solidFill>
                  <a:srgbClr val="000000"/>
                </a:solidFill>
                <a:effectLst/>
                <a:latin typeface="Nunito" pitchFamily="2" charset="77"/>
              </a:rPr>
              <a:t>Business Outcome</a:t>
            </a:r>
          </a:p>
          <a:p>
            <a:pPr algn="l">
              <a:buNone/>
            </a:pPr>
            <a:r>
              <a:rPr lang="en-US" sz="900" b="0" i="0" dirty="0">
                <a:solidFill>
                  <a:srgbClr val="000000"/>
                </a:solidFill>
                <a:effectLst/>
                <a:latin typeface="Nunito" pitchFamily="2" charset="77"/>
              </a:rPr>
              <a:t>The final neural network model can help </a:t>
            </a:r>
            <a:r>
              <a:rPr lang="en-US" sz="900" b="0" i="0" dirty="0" err="1">
                <a:solidFill>
                  <a:srgbClr val="000000"/>
                </a:solidFill>
                <a:effectLst/>
                <a:latin typeface="Nunito" pitchFamily="2" charset="77"/>
              </a:rPr>
              <a:t>ReneWind</a:t>
            </a:r>
            <a:r>
              <a:rPr lang="en-US" sz="900" dirty="0">
                <a:latin typeface="Nunito" pitchFamily="2" charset="77"/>
              </a:rPr>
              <a:t> </a:t>
            </a:r>
            <a:r>
              <a:rPr lang="en-US" sz="900" b="0" i="0" dirty="0">
                <a:solidFill>
                  <a:srgbClr val="000000"/>
                </a:solidFill>
                <a:effectLst/>
                <a:latin typeface="Nunito" pitchFamily="2" charset="77"/>
              </a:rPr>
              <a:t>detect turbine failures before breakdown occurs, reduce emergency maintenance costs, minimize operational downtime, improve maintenance scheduling efficiency, and increase turbine reliability.</a:t>
            </a:r>
          </a:p>
          <a:p>
            <a:pPr>
              <a:buNone/>
            </a:pPr>
            <a:endParaRPr lang="en-US" sz="900" dirty="0">
              <a:latin typeface="Nunito" pitchFamily="2" charset="77"/>
            </a:endParaRPr>
          </a:p>
          <a:p>
            <a:pPr algn="l">
              <a:buNone/>
            </a:pPr>
            <a:r>
              <a:rPr lang="en-US" sz="900" b="1" i="0" dirty="0">
                <a:solidFill>
                  <a:srgbClr val="000000"/>
                </a:solidFill>
                <a:effectLst/>
                <a:latin typeface="Nunito" pitchFamily="2" charset="77"/>
              </a:rPr>
              <a:t>Final Recommendation</a:t>
            </a:r>
          </a:p>
          <a:p>
            <a:pPr algn="l">
              <a:buFont typeface="Arial" panose="020B0604020202020204" pitchFamily="34" charset="0"/>
              <a:buChar char="•"/>
            </a:pPr>
            <a:r>
              <a:rPr lang="en-US" sz="900" b="0" i="0" dirty="0">
                <a:solidFill>
                  <a:srgbClr val="000000"/>
                </a:solidFill>
                <a:effectLst/>
                <a:latin typeface="Nunito" pitchFamily="2" charset="77"/>
              </a:rPr>
              <a:t>Deploy Model 3 as a predictive maintenance support system for turbine monitoring operations.</a:t>
            </a:r>
          </a:p>
          <a:p>
            <a:pPr algn="l">
              <a:buFont typeface="Arial" panose="020B0604020202020204" pitchFamily="34" charset="0"/>
              <a:buChar char="•"/>
            </a:pPr>
            <a:r>
              <a:rPr lang="en-US" sz="900" b="0" i="0" dirty="0">
                <a:solidFill>
                  <a:srgbClr val="000000"/>
                </a:solidFill>
                <a:effectLst/>
                <a:latin typeface="Nunito" pitchFamily="2" charset="77"/>
              </a:rPr>
              <a:t>Continuously retrain the model with new operational data to maintain performance over time.</a:t>
            </a:r>
          </a:p>
          <a:p>
            <a:pPr algn="l">
              <a:buFont typeface="Arial" panose="020B0604020202020204" pitchFamily="34" charset="0"/>
              <a:buChar char="•"/>
            </a:pPr>
            <a:r>
              <a:rPr lang="en-US" sz="900" b="0" i="0" dirty="0">
                <a:solidFill>
                  <a:srgbClr val="000000"/>
                </a:solidFill>
                <a:effectLst/>
                <a:latin typeface="Nunito" pitchFamily="2" charset="77"/>
              </a:rPr>
              <a:t>Integrate model predictions with maintenance planning systems for proactive decision-making.</a:t>
            </a:r>
          </a:p>
        </p:txBody>
      </p:sp>
    </p:spTree>
    <p:extLst>
      <p:ext uri="{BB962C8B-B14F-4D97-AF65-F5344CB8AC3E}">
        <p14:creationId xmlns:p14="http://schemas.microsoft.com/office/powerpoint/2010/main" val="1216512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F5DCABDC-DFDE-5135-7F38-CE717C595C40}"/>
            </a:ext>
          </a:extLst>
        </p:cNvPr>
        <p:cNvGrpSpPr/>
        <p:nvPr/>
      </p:nvGrpSpPr>
      <p:grpSpPr>
        <a:xfrm>
          <a:off x="0" y="0"/>
          <a:ext cx="0" cy="0"/>
          <a:chOff x="0" y="0"/>
          <a:chExt cx="0" cy="0"/>
        </a:xfrm>
      </p:grpSpPr>
      <p:sp>
        <p:nvSpPr>
          <p:cNvPr id="168" name="Google Shape;168;g10e9006cb6c_1_28">
            <a:extLst>
              <a:ext uri="{FF2B5EF4-FFF2-40B4-BE49-F238E27FC236}">
                <a16:creationId xmlns:a16="http://schemas.microsoft.com/office/drawing/2014/main" id="{9A02A422-4BFB-CE29-7E22-16AF0993C0A3}"/>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Data Overview and Initial Findings: Missing Value Analysis</a:t>
            </a:r>
            <a:endParaRPr dirty="0">
              <a:solidFill>
                <a:srgbClr val="1974D2"/>
              </a:solidFill>
            </a:endParaRPr>
          </a:p>
        </p:txBody>
      </p:sp>
      <p:sp>
        <p:nvSpPr>
          <p:cNvPr id="169" name="Google Shape;169;g10e9006cb6c_1_28">
            <a:extLst>
              <a:ext uri="{FF2B5EF4-FFF2-40B4-BE49-F238E27FC236}">
                <a16:creationId xmlns:a16="http://schemas.microsoft.com/office/drawing/2014/main" id="{9A8E35F8-787C-AE4C-61EB-FC058F078AC3}"/>
              </a:ext>
            </a:extLst>
          </p:cNvPr>
          <p:cNvSpPr txBox="1">
            <a:spLocks noGrp="1"/>
          </p:cNvSpPr>
          <p:nvPr>
            <p:ph type="body" idx="1"/>
          </p:nvPr>
        </p:nvSpPr>
        <p:spPr>
          <a:xfrm>
            <a:off x="202550" y="861975"/>
            <a:ext cx="4281218" cy="3706800"/>
          </a:xfrm>
          <a:prstGeom prst="rect">
            <a:avLst/>
          </a:prstGeom>
          <a:noFill/>
          <a:ln>
            <a:noFill/>
          </a:ln>
        </p:spPr>
        <p:txBody>
          <a:bodyPr spcFirstLastPara="1" wrap="square" lIns="91425" tIns="91425" rIns="91425" bIns="91425" anchor="t" anchorCtr="0">
            <a:noAutofit/>
          </a:bodyPr>
          <a:lstStyle/>
          <a:p>
            <a:pPr marL="133350" indent="0">
              <a:buNone/>
            </a:pPr>
            <a:r>
              <a:rPr lang="en-US" sz="1100" b="1" dirty="0"/>
              <a:t>Missing Value Analysis</a:t>
            </a:r>
          </a:p>
          <a:p>
            <a:r>
              <a:rPr lang="en-US" sz="1100" dirty="0"/>
              <a:t>The missing value analysis shows that:</a:t>
            </a:r>
          </a:p>
          <a:p>
            <a:r>
              <a:rPr lang="en-US" sz="1100" dirty="0"/>
              <a:t>Only two variables, </a:t>
            </a:r>
            <a:r>
              <a:rPr lang="en-US" sz="1100" b="1" dirty="0"/>
              <a:t>V1</a:t>
            </a:r>
            <a:r>
              <a:rPr lang="en-US" sz="1100" dirty="0"/>
              <a:t> and </a:t>
            </a:r>
            <a:r>
              <a:rPr lang="en-US" sz="1100" b="1" dirty="0"/>
              <a:t>V2</a:t>
            </a:r>
            <a:r>
              <a:rPr lang="en-US" sz="1100" dirty="0"/>
              <a:t>, contain missing values.</a:t>
            </a:r>
          </a:p>
          <a:p>
            <a:r>
              <a:rPr lang="en-US" sz="1100" dirty="0"/>
              <a:t>Both variables have </a:t>
            </a:r>
            <a:r>
              <a:rPr lang="en-US" sz="1100" b="1" dirty="0"/>
              <a:t>18 missing observations</a:t>
            </a:r>
            <a:r>
              <a:rPr lang="en-US" sz="1100" dirty="0"/>
              <a:t> each.</a:t>
            </a:r>
          </a:p>
          <a:p>
            <a:r>
              <a:rPr lang="en-US" sz="1100" dirty="0"/>
              <a:t>All remaining predictor variables and the target variable contain no missing values.</a:t>
            </a:r>
          </a:p>
          <a:p>
            <a:r>
              <a:rPr lang="en-US" sz="1100" dirty="0"/>
              <a:t>Since the dataset contains 20,000 observations, the percentage of missing values is extremely small.</a:t>
            </a:r>
          </a:p>
          <a:p>
            <a:pPr marL="133350" indent="0">
              <a:buNone/>
            </a:pPr>
            <a:endParaRPr lang="en-US" sz="1100" b="1" dirty="0"/>
          </a:p>
          <a:p>
            <a:pPr marL="133350" indent="0">
              <a:buNone/>
            </a:pPr>
            <a:r>
              <a:rPr lang="en-US" sz="1100" b="1" dirty="0"/>
              <a:t>Importance of Missing Value Analysis</a:t>
            </a:r>
          </a:p>
          <a:p>
            <a:r>
              <a:rPr lang="en-US" sz="1100" dirty="0"/>
              <a:t>Checking for missing values is important because:</a:t>
            </a:r>
          </a:p>
          <a:p>
            <a:r>
              <a:rPr lang="en-US" sz="1100" dirty="0"/>
              <a:t>Missing values can negatively impact model performance and may cause errors during training.</a:t>
            </a:r>
          </a:p>
          <a:p>
            <a:r>
              <a:rPr lang="en-US" sz="1100" dirty="0"/>
              <a:t>Many machine learning algorithms cannot process null values directly.</a:t>
            </a:r>
          </a:p>
          <a:p>
            <a:r>
              <a:rPr lang="en-US" sz="1100" dirty="0"/>
              <a:t>Proper treatment of missing values improves model reliability and prediction accuracy.</a:t>
            </a:r>
          </a:p>
          <a:p>
            <a:r>
              <a:rPr lang="en-US" sz="1100" dirty="0"/>
              <a:t>Since the number of missing values is very low, simple imputation techniques such as mean or median imputation can be applied effectively without significantly changing the data distribution.</a:t>
            </a:r>
          </a:p>
          <a:p>
            <a:pPr marL="139700" lvl="0" indent="0" algn="l" rtl="0">
              <a:lnSpc>
                <a:spcPct val="115000"/>
              </a:lnSpc>
              <a:spcBef>
                <a:spcPts val="1000"/>
              </a:spcBef>
              <a:spcAft>
                <a:spcPts val="1000"/>
              </a:spcAft>
              <a:buClr>
                <a:srgbClr val="000000"/>
              </a:buClr>
              <a:buSzPts val="1400"/>
              <a:buNone/>
            </a:pPr>
            <a:endParaRPr sz="1100" dirty="0">
              <a:solidFill>
                <a:srgbClr val="000000"/>
              </a:solidFill>
            </a:endParaRPr>
          </a:p>
        </p:txBody>
      </p:sp>
      <p:pic>
        <p:nvPicPr>
          <p:cNvPr id="2" name="Picture 1">
            <a:extLst>
              <a:ext uri="{FF2B5EF4-FFF2-40B4-BE49-F238E27FC236}">
                <a16:creationId xmlns:a16="http://schemas.microsoft.com/office/drawing/2014/main" id="{BCECDF9A-6DEF-84BD-846B-6209E247A98F}"/>
              </a:ext>
            </a:extLst>
          </p:cNvPr>
          <p:cNvPicPr>
            <a:picLocks noChangeAspect="1"/>
          </p:cNvPicPr>
          <p:nvPr/>
        </p:nvPicPr>
        <p:blipFill>
          <a:blip r:embed="rId3"/>
          <a:stretch>
            <a:fillRect/>
          </a:stretch>
        </p:blipFill>
        <p:spPr>
          <a:xfrm>
            <a:off x="5202655" y="714020"/>
            <a:ext cx="3139240" cy="4211491"/>
          </a:xfrm>
          <a:prstGeom prst="rect">
            <a:avLst/>
          </a:prstGeom>
        </p:spPr>
      </p:pic>
    </p:spTree>
    <p:extLst>
      <p:ext uri="{BB962C8B-B14F-4D97-AF65-F5344CB8AC3E}">
        <p14:creationId xmlns:p14="http://schemas.microsoft.com/office/powerpoint/2010/main" val="3154500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3614FCB7-B6B2-2E48-6D84-FDC748B180BF}"/>
            </a:ext>
          </a:extLst>
        </p:cNvPr>
        <p:cNvGrpSpPr/>
        <p:nvPr/>
      </p:nvGrpSpPr>
      <p:grpSpPr>
        <a:xfrm>
          <a:off x="0" y="0"/>
          <a:ext cx="0" cy="0"/>
          <a:chOff x="0" y="0"/>
          <a:chExt cx="0" cy="0"/>
        </a:xfrm>
      </p:grpSpPr>
      <p:sp>
        <p:nvSpPr>
          <p:cNvPr id="168" name="Google Shape;168;g10e9006cb6c_1_28">
            <a:extLst>
              <a:ext uri="{FF2B5EF4-FFF2-40B4-BE49-F238E27FC236}">
                <a16:creationId xmlns:a16="http://schemas.microsoft.com/office/drawing/2014/main" id="{BDDBB71C-C725-4DC4-602B-590975692CB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Data Overview and Initial Findings: Statistical Summary</a:t>
            </a:r>
            <a:endParaRPr dirty="0">
              <a:solidFill>
                <a:srgbClr val="1974D2"/>
              </a:solidFill>
            </a:endParaRPr>
          </a:p>
        </p:txBody>
      </p:sp>
      <p:sp>
        <p:nvSpPr>
          <p:cNvPr id="169" name="Google Shape;169;g10e9006cb6c_1_28">
            <a:extLst>
              <a:ext uri="{FF2B5EF4-FFF2-40B4-BE49-F238E27FC236}">
                <a16:creationId xmlns:a16="http://schemas.microsoft.com/office/drawing/2014/main" id="{7916BAD3-C6E7-805B-D5D1-5500A8875264}"/>
              </a:ext>
            </a:extLst>
          </p:cNvPr>
          <p:cNvSpPr txBox="1">
            <a:spLocks noGrp="1"/>
          </p:cNvSpPr>
          <p:nvPr>
            <p:ph type="body" idx="1"/>
          </p:nvPr>
        </p:nvSpPr>
        <p:spPr>
          <a:xfrm>
            <a:off x="202550" y="861975"/>
            <a:ext cx="8738900" cy="3706800"/>
          </a:xfrm>
          <a:prstGeom prst="rect">
            <a:avLst/>
          </a:prstGeom>
          <a:noFill/>
          <a:ln>
            <a:noFill/>
          </a:ln>
        </p:spPr>
        <p:txBody>
          <a:bodyPr spcFirstLastPara="1" wrap="square" lIns="91425" tIns="91425" rIns="91425" bIns="91425" anchor="t" anchorCtr="0">
            <a:noAutofit/>
          </a:bodyPr>
          <a:lstStyle/>
          <a:p>
            <a:pPr marL="133350" indent="0">
              <a:buNone/>
            </a:pPr>
            <a:r>
              <a:rPr lang="en-US" sz="1000" b="1" dirty="0"/>
              <a:t>Statistical Summary Observations</a:t>
            </a:r>
          </a:p>
          <a:p>
            <a:r>
              <a:rPr lang="en-US" sz="1000" dirty="0"/>
              <a:t>The statistical summary provides important insights into the numerical variables in the dataset.</a:t>
            </a:r>
          </a:p>
          <a:p>
            <a:r>
              <a:rPr lang="en-US" sz="1000" dirty="0"/>
              <a:t>Key observations include:</a:t>
            </a:r>
          </a:p>
          <a:p>
            <a:r>
              <a:rPr lang="en-US" sz="1000" dirty="0"/>
              <a:t>The dataset contains </a:t>
            </a:r>
            <a:r>
              <a:rPr lang="en-US" sz="1000" b="1" dirty="0"/>
              <a:t>40 predictor variables</a:t>
            </a:r>
            <a:r>
              <a:rPr lang="en-US" sz="1000" dirty="0"/>
              <a:t> and </a:t>
            </a:r>
            <a:r>
              <a:rPr lang="en-US" sz="1000" b="1" dirty="0"/>
              <a:t>1 target variable</a:t>
            </a:r>
            <a:r>
              <a:rPr lang="en-US" sz="1000" dirty="0"/>
              <a:t>.</a:t>
            </a:r>
          </a:p>
          <a:p>
            <a:r>
              <a:rPr lang="en-US" sz="1000" dirty="0"/>
              <a:t>Several variables have relatively large standard deviations, indicating high variability in sensor readings.</a:t>
            </a:r>
          </a:p>
          <a:p>
            <a:r>
              <a:rPr lang="en-US" sz="1000" dirty="0"/>
              <a:t>The wide gap between minimum and maximum values suggests the possible presence of outliers in multiple features.</a:t>
            </a:r>
          </a:p>
          <a:p>
            <a:r>
              <a:rPr lang="en-US" sz="1000" dirty="0"/>
              <a:t>The target variable has a mean value of approximately </a:t>
            </a:r>
            <a:r>
              <a:rPr lang="en-US" sz="1000" b="1" dirty="0"/>
              <a:t>0.0555</a:t>
            </a:r>
            <a:r>
              <a:rPr lang="en-US" sz="1000" dirty="0"/>
              <a:t>, indicating that only about </a:t>
            </a:r>
            <a:r>
              <a:rPr lang="en-US" sz="1000" b="1" dirty="0"/>
              <a:t>5.5%</a:t>
            </a:r>
            <a:r>
              <a:rPr lang="en-US" sz="1000" dirty="0"/>
              <a:t> of observations correspond to generator failures.</a:t>
            </a:r>
          </a:p>
          <a:p>
            <a:pPr marL="133350" indent="0">
              <a:buNone/>
            </a:pPr>
            <a:endParaRPr lang="en-US" sz="1000" b="1" dirty="0"/>
          </a:p>
          <a:p>
            <a:pPr marL="133350" indent="0">
              <a:buNone/>
            </a:pPr>
            <a:r>
              <a:rPr lang="en-US" sz="1000" b="1" dirty="0"/>
              <a:t>Importance of Statistical Summary</a:t>
            </a:r>
          </a:p>
          <a:p>
            <a:r>
              <a:rPr lang="en-US" sz="1000" dirty="0"/>
              <a:t>The statistical summary is important because:</a:t>
            </a:r>
          </a:p>
          <a:p>
            <a:r>
              <a:rPr lang="en-US" sz="1000" dirty="0"/>
              <a:t>It helps understand the distribution and spread of the variables.</a:t>
            </a:r>
          </a:p>
          <a:p>
            <a:r>
              <a:rPr lang="en-US" sz="1000" dirty="0"/>
              <a:t>It helps identify potential outliers that may affect model performance.</a:t>
            </a:r>
          </a:p>
          <a:p>
            <a:r>
              <a:rPr lang="en-US" sz="1000" dirty="0"/>
              <a:t>It provides insight into whether scaling or normalization may be required before modeling.</a:t>
            </a:r>
          </a:p>
          <a:p>
            <a:r>
              <a:rPr lang="en-US" sz="1000" dirty="0"/>
              <a:t>The low proportion of failure cases indicates that the dataset is </a:t>
            </a:r>
            <a:r>
              <a:rPr lang="en-US" sz="1000" b="1" dirty="0"/>
              <a:t>highly imbalanced</a:t>
            </a:r>
            <a:r>
              <a:rPr lang="en-US" sz="1000" dirty="0"/>
              <a:t>.</a:t>
            </a:r>
          </a:p>
          <a:p>
            <a:pPr marL="139700" lvl="0" indent="0" algn="l" rtl="0">
              <a:lnSpc>
                <a:spcPct val="115000"/>
              </a:lnSpc>
              <a:spcBef>
                <a:spcPts val="1000"/>
              </a:spcBef>
              <a:spcAft>
                <a:spcPts val="1000"/>
              </a:spcAft>
              <a:buClr>
                <a:srgbClr val="000000"/>
              </a:buClr>
              <a:buSzPts val="1400"/>
              <a:buNone/>
            </a:pPr>
            <a:endParaRPr sz="1000" dirty="0">
              <a:solidFill>
                <a:srgbClr val="000000"/>
              </a:solidFill>
            </a:endParaRPr>
          </a:p>
        </p:txBody>
      </p:sp>
    </p:spTree>
    <p:extLst>
      <p:ext uri="{BB962C8B-B14F-4D97-AF65-F5344CB8AC3E}">
        <p14:creationId xmlns:p14="http://schemas.microsoft.com/office/powerpoint/2010/main" val="1185499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B149677E-F87A-1A50-98D7-6713A4BA9641}"/>
            </a:ext>
          </a:extLst>
        </p:cNvPr>
        <p:cNvGrpSpPr/>
        <p:nvPr/>
      </p:nvGrpSpPr>
      <p:grpSpPr>
        <a:xfrm>
          <a:off x="0" y="0"/>
          <a:ext cx="0" cy="0"/>
          <a:chOff x="0" y="0"/>
          <a:chExt cx="0" cy="0"/>
        </a:xfrm>
      </p:grpSpPr>
      <p:sp>
        <p:nvSpPr>
          <p:cNvPr id="168" name="Google Shape;168;g10e9006cb6c_1_28">
            <a:extLst>
              <a:ext uri="{FF2B5EF4-FFF2-40B4-BE49-F238E27FC236}">
                <a16:creationId xmlns:a16="http://schemas.microsoft.com/office/drawing/2014/main" id="{9CE67579-B33D-C828-A9F1-0582E778FFBB}"/>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Data Overview and Initial Findings</a:t>
            </a:r>
            <a:endParaRPr dirty="0">
              <a:solidFill>
                <a:srgbClr val="1974D2"/>
              </a:solidFill>
            </a:endParaRPr>
          </a:p>
        </p:txBody>
      </p:sp>
      <p:sp>
        <p:nvSpPr>
          <p:cNvPr id="169" name="Google Shape;169;g10e9006cb6c_1_28">
            <a:extLst>
              <a:ext uri="{FF2B5EF4-FFF2-40B4-BE49-F238E27FC236}">
                <a16:creationId xmlns:a16="http://schemas.microsoft.com/office/drawing/2014/main" id="{603655CA-DE7C-06E8-FA85-620DD22344B3}"/>
              </a:ext>
            </a:extLst>
          </p:cNvPr>
          <p:cNvSpPr txBox="1">
            <a:spLocks noGrp="1"/>
          </p:cNvSpPr>
          <p:nvPr>
            <p:ph type="body" idx="1"/>
          </p:nvPr>
        </p:nvSpPr>
        <p:spPr>
          <a:xfrm>
            <a:off x="202550" y="861975"/>
            <a:ext cx="8738900" cy="3706800"/>
          </a:xfrm>
          <a:prstGeom prst="rect">
            <a:avLst/>
          </a:prstGeom>
          <a:noFill/>
          <a:ln>
            <a:noFill/>
          </a:ln>
        </p:spPr>
        <p:txBody>
          <a:bodyPr spcFirstLastPara="1" wrap="square" lIns="91425" tIns="91425" rIns="91425" bIns="91425" anchor="t" anchorCtr="0">
            <a:noAutofit/>
          </a:bodyPr>
          <a:lstStyle/>
          <a:p>
            <a:pPr marL="133350" indent="0">
              <a:buNone/>
            </a:pPr>
            <a:r>
              <a:rPr lang="en-US" sz="1100" b="1" dirty="0"/>
              <a:t>Business and Modeling Implications</a:t>
            </a:r>
          </a:p>
          <a:p>
            <a:r>
              <a:rPr lang="en-US" sz="1100" dirty="0"/>
              <a:t>Class imbalance is critical in this project because:</a:t>
            </a:r>
          </a:p>
          <a:p>
            <a:r>
              <a:rPr lang="en-US" sz="1100" dirty="0"/>
              <a:t>A model trained on imbalanced data may become biased toward predicting the majority class (“No Failure”).</a:t>
            </a:r>
          </a:p>
          <a:p>
            <a:r>
              <a:rPr lang="en-US" sz="1100" dirty="0"/>
              <a:t>This can result in poor detection of actual failures.</a:t>
            </a:r>
          </a:p>
          <a:p>
            <a:r>
              <a:rPr lang="en-US" sz="1100" dirty="0"/>
              <a:t>False Negatives are especially costly because undetected failures can lead to expensive generator replacement and operational downtime.</a:t>
            </a:r>
          </a:p>
          <a:p>
            <a:r>
              <a:rPr lang="en-US" sz="1100" dirty="0"/>
              <a:t>Therefore, the final model should prioritize identifying failures effectively by improving Recall and reducing False Negatives, even if it results in slightly higher inspection costs from False Positives.</a:t>
            </a:r>
          </a:p>
          <a:p>
            <a:r>
              <a:rPr lang="en-US" sz="1100" dirty="0"/>
              <a:t>Because of this imbalance, evaluation metrics such as </a:t>
            </a:r>
            <a:r>
              <a:rPr lang="en-US" sz="1100" b="1" dirty="0"/>
              <a:t>Recall, Precision, F1-score, and Confusion Matrix</a:t>
            </a:r>
            <a:r>
              <a:rPr lang="en-US" sz="1100" dirty="0"/>
              <a:t> are more meaningful than accuracy alone.</a:t>
            </a:r>
          </a:p>
          <a:p>
            <a:pPr marL="139700" lvl="0" indent="0" algn="l" rtl="0">
              <a:lnSpc>
                <a:spcPct val="115000"/>
              </a:lnSpc>
              <a:spcBef>
                <a:spcPts val="1000"/>
              </a:spcBef>
              <a:spcAft>
                <a:spcPts val="1000"/>
              </a:spcAft>
              <a:buClr>
                <a:srgbClr val="000000"/>
              </a:buClr>
              <a:buSzPts val="1400"/>
              <a:buNone/>
            </a:pPr>
            <a:endParaRPr sz="1100" dirty="0">
              <a:solidFill>
                <a:srgbClr val="000000"/>
              </a:solidFill>
            </a:endParaRPr>
          </a:p>
        </p:txBody>
      </p:sp>
    </p:spTree>
    <p:extLst>
      <p:ext uri="{BB962C8B-B14F-4D97-AF65-F5344CB8AC3E}">
        <p14:creationId xmlns:p14="http://schemas.microsoft.com/office/powerpoint/2010/main" val="429991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g12508d39905_0_5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EDA Results: Univariate Analysis and Business Interpretation</a:t>
            </a:r>
            <a:endParaRPr dirty="0">
              <a:solidFill>
                <a:srgbClr val="1974D2"/>
              </a:solidFill>
            </a:endParaRPr>
          </a:p>
        </p:txBody>
      </p:sp>
      <p:sp>
        <p:nvSpPr>
          <p:cNvPr id="131" name="Google Shape;131;g12508d39905_0_54"/>
          <p:cNvSpPr txBox="1">
            <a:spLocks noGrp="1"/>
          </p:cNvSpPr>
          <p:nvPr>
            <p:ph type="body" idx="1"/>
          </p:nvPr>
        </p:nvSpPr>
        <p:spPr>
          <a:xfrm>
            <a:off x="52175" y="789790"/>
            <a:ext cx="3268542"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Overview</a:t>
            </a:r>
          </a:p>
          <a:p>
            <a:pPr marL="133350" indent="0">
              <a:buNone/>
            </a:pPr>
            <a:r>
              <a:rPr lang="en-US" sz="900" dirty="0"/>
              <a:t>Univariate analysis was conducted on all numerical variables (V1–V40) and the target variable to better understand:</a:t>
            </a:r>
          </a:p>
          <a:p>
            <a:r>
              <a:rPr lang="en-US" sz="900" dirty="0"/>
              <a:t>the distribution of each feature, variability in sensor behavior, the presence of outliers, skewness, and potential preprocessing requirements before machine learning modeling.</a:t>
            </a:r>
          </a:p>
          <a:p>
            <a:r>
              <a:rPr lang="en-US" sz="900" dirty="0"/>
              <a:t>Histograms and boxplots were used to evaluate the distribution and spread of each variable individually.</a:t>
            </a:r>
          </a:p>
          <a:p>
            <a:pPr marL="133350" indent="0">
              <a:buNone/>
            </a:pPr>
            <a:endParaRPr lang="en-US" sz="900" dirty="0"/>
          </a:p>
          <a:p>
            <a:pPr marL="133350" indent="0">
              <a:buNone/>
            </a:pPr>
            <a:r>
              <a:rPr lang="en-US" sz="900" b="1" dirty="0"/>
              <a:t>Dataset Characteristics</a:t>
            </a:r>
            <a:r>
              <a:rPr lang="en-US" sz="900" b="1" dirty="0">
                <a:hlinkClick r:id="rId3"/>
              </a:rPr>
              <a:t>¶</a:t>
            </a:r>
            <a:endParaRPr lang="en-US" sz="900" b="1" dirty="0"/>
          </a:p>
          <a:p>
            <a:r>
              <a:rPr lang="en-US" sz="900" dirty="0"/>
              <a:t>The dataset contains:</a:t>
            </a:r>
          </a:p>
          <a:p>
            <a:pPr marL="133350" indent="0">
              <a:buNone/>
            </a:pPr>
            <a:r>
              <a:rPr lang="en-US" sz="900" b="1" dirty="0"/>
              <a:t>Training Dataset</a:t>
            </a:r>
          </a:p>
          <a:p>
            <a:r>
              <a:rPr lang="en-US" sz="900" dirty="0"/>
              <a:t>20,000 observations</a:t>
            </a:r>
          </a:p>
          <a:p>
            <a:r>
              <a:rPr lang="en-US" sz="900" dirty="0"/>
              <a:t>40 numerical predictor variables</a:t>
            </a:r>
          </a:p>
          <a:p>
            <a:r>
              <a:rPr lang="en-US" sz="900" dirty="0"/>
              <a:t>1 binary target variable</a:t>
            </a:r>
          </a:p>
          <a:p>
            <a:pPr marL="133350" indent="0">
              <a:buNone/>
            </a:pPr>
            <a:r>
              <a:rPr lang="en-US" sz="900" b="1" dirty="0"/>
              <a:t>Testing Dataset</a:t>
            </a:r>
          </a:p>
          <a:p>
            <a:r>
              <a:rPr lang="en-US" sz="900" dirty="0"/>
              <a:t>5,000 observations</a:t>
            </a:r>
          </a:p>
          <a:p>
            <a:r>
              <a:rPr lang="en-US" sz="900" dirty="0"/>
              <a:t>40 numerical predictor variables</a:t>
            </a:r>
          </a:p>
          <a:p>
            <a:r>
              <a:rPr lang="en-US" sz="900" dirty="0"/>
              <a:t>1 binary target variable</a:t>
            </a:r>
          </a:p>
          <a:p>
            <a:pPr marL="133350" indent="0">
              <a:buNone/>
            </a:pPr>
            <a:r>
              <a:rPr lang="en-US" sz="900" dirty="0"/>
              <a:t>The target variable is:</a:t>
            </a:r>
          </a:p>
          <a:p>
            <a:r>
              <a:rPr lang="en-US" sz="900" b="1" dirty="0"/>
              <a:t>0 = No Failure</a:t>
            </a:r>
            <a:endParaRPr lang="en-US" sz="900" dirty="0"/>
          </a:p>
          <a:p>
            <a:r>
              <a:rPr lang="en-US" sz="900" b="1" dirty="0"/>
              <a:t>1 = Failure</a:t>
            </a:r>
            <a:endParaRPr lang="en-US" sz="900" dirty="0"/>
          </a:p>
          <a:p>
            <a:pPr marL="133350" indent="0">
              <a:buNone/>
            </a:pPr>
            <a:br>
              <a:rPr lang="en-US" sz="900" dirty="0"/>
            </a:br>
            <a:endParaRPr lang="en-US" sz="900" dirty="0"/>
          </a:p>
          <a:p>
            <a:pPr marL="139700" lvl="0" indent="0" algn="l" rtl="0">
              <a:lnSpc>
                <a:spcPct val="115000"/>
              </a:lnSpc>
              <a:spcBef>
                <a:spcPts val="0"/>
              </a:spcBef>
              <a:spcAft>
                <a:spcPts val="0"/>
              </a:spcAft>
              <a:buClr>
                <a:srgbClr val="000000"/>
              </a:buClr>
              <a:buSzPts val="1400"/>
              <a:buNone/>
            </a:pPr>
            <a:endParaRPr sz="900" i="1" dirty="0">
              <a:solidFill>
                <a:srgbClr val="000000"/>
              </a:solidFill>
            </a:endParaRPr>
          </a:p>
        </p:txBody>
      </p:sp>
      <p:sp>
        <p:nvSpPr>
          <p:cNvPr id="2" name="Google Shape;131;g12508d39905_0_54">
            <a:extLst>
              <a:ext uri="{FF2B5EF4-FFF2-40B4-BE49-F238E27FC236}">
                <a16:creationId xmlns:a16="http://schemas.microsoft.com/office/drawing/2014/main" id="{0939A9D7-C6B7-3F6C-5A40-26F43CF9533C}"/>
              </a:ext>
            </a:extLst>
          </p:cNvPr>
          <p:cNvSpPr txBox="1">
            <a:spLocks/>
          </p:cNvSpPr>
          <p:nvPr/>
        </p:nvSpPr>
        <p:spPr>
          <a:xfrm>
            <a:off x="3320717" y="789790"/>
            <a:ext cx="3007894"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t>Missing Value Analysis</a:t>
            </a:r>
          </a:p>
          <a:p>
            <a:pPr marL="133350" indent="0">
              <a:buNone/>
            </a:pPr>
            <a:r>
              <a:rPr lang="en-US" sz="900" b="1" dirty="0"/>
              <a:t>Observations</a:t>
            </a:r>
          </a:p>
          <a:p>
            <a:r>
              <a:rPr lang="en-US" sz="900" dirty="0"/>
              <a:t>Only variables </a:t>
            </a:r>
            <a:r>
              <a:rPr lang="en-US" sz="900" b="1" dirty="0"/>
              <a:t>V1</a:t>
            </a:r>
            <a:r>
              <a:rPr lang="en-US" sz="900" dirty="0"/>
              <a:t> and </a:t>
            </a:r>
            <a:r>
              <a:rPr lang="en-US" sz="900" b="1" dirty="0"/>
              <a:t>V2</a:t>
            </a:r>
            <a:r>
              <a:rPr lang="en-US" sz="900" dirty="0"/>
              <a:t> contain missing values.</a:t>
            </a:r>
          </a:p>
          <a:p>
            <a:r>
              <a:rPr lang="en-US" sz="900" dirty="0"/>
              <a:t>Both variables contain only </a:t>
            </a:r>
            <a:r>
              <a:rPr lang="en-US" sz="900" b="1" dirty="0"/>
              <a:t>18 missing observations</a:t>
            </a:r>
            <a:r>
              <a:rPr lang="en-US" sz="900" dirty="0"/>
              <a:t> each.</a:t>
            </a:r>
          </a:p>
          <a:p>
            <a:r>
              <a:rPr lang="en-US" sz="900" dirty="0"/>
              <a:t>All remaining variables and the target variable contain no missing values.</a:t>
            </a:r>
          </a:p>
          <a:p>
            <a:r>
              <a:rPr lang="en-US" sz="900" dirty="0"/>
              <a:t>The percentage of missing values is extremely small relative to the overall dataset size.</a:t>
            </a:r>
          </a:p>
          <a:p>
            <a:pPr marL="133350" indent="0">
              <a:buNone/>
            </a:pPr>
            <a:endParaRPr lang="en-US" sz="900" dirty="0"/>
          </a:p>
          <a:p>
            <a:pPr marL="133350" indent="0">
              <a:buNone/>
            </a:pPr>
            <a:r>
              <a:rPr lang="en-US" sz="900" b="1" dirty="0"/>
              <a:t>Why Missing Value Analysis Is Important</a:t>
            </a:r>
          </a:p>
          <a:p>
            <a:pPr marL="133350" indent="0">
              <a:buNone/>
            </a:pPr>
            <a:r>
              <a:rPr lang="en-US" sz="900" dirty="0"/>
              <a:t>Checking for missing values is important because:</a:t>
            </a:r>
          </a:p>
          <a:p>
            <a:r>
              <a:rPr lang="en-US" sz="900" dirty="0"/>
              <a:t>Many machine learning algorithms cannot process null values directly.</a:t>
            </a:r>
          </a:p>
          <a:p>
            <a:r>
              <a:rPr lang="en-US" sz="900" dirty="0"/>
              <a:t>Missing data can negatively impact prediction accuracy and model stability.</a:t>
            </a:r>
          </a:p>
          <a:p>
            <a:r>
              <a:rPr lang="en-US" sz="900" dirty="0"/>
              <a:t>Improper handling of missing values may introduce bias into the model.</a:t>
            </a:r>
          </a:p>
          <a:p>
            <a:r>
              <a:rPr lang="en-US" sz="900" dirty="0"/>
              <a:t>Since missingness is minimal, simple imputation methods such as: mean imputation, median imputation, or </a:t>
            </a:r>
            <a:r>
              <a:rPr lang="en-US" sz="900" dirty="0" err="1"/>
              <a:t>SimpleImputer</a:t>
            </a:r>
            <a:r>
              <a:rPr lang="en-US" sz="900" dirty="0"/>
              <a:t> can effectively handle the issue without significantly altering the data distribution.</a:t>
            </a:r>
          </a:p>
          <a:p>
            <a:endParaRPr lang="en-US" sz="900" i="1" dirty="0">
              <a:solidFill>
                <a:srgbClr val="000000"/>
              </a:solidFill>
            </a:endParaRPr>
          </a:p>
        </p:txBody>
      </p:sp>
      <p:sp>
        <p:nvSpPr>
          <p:cNvPr id="3" name="Google Shape;131;g12508d39905_0_54">
            <a:extLst>
              <a:ext uri="{FF2B5EF4-FFF2-40B4-BE49-F238E27FC236}">
                <a16:creationId xmlns:a16="http://schemas.microsoft.com/office/drawing/2014/main" id="{B2D90177-B942-1D3E-3DFF-11B7BD8E1926}"/>
              </a:ext>
            </a:extLst>
          </p:cNvPr>
          <p:cNvSpPr txBox="1">
            <a:spLocks/>
          </p:cNvSpPr>
          <p:nvPr/>
        </p:nvSpPr>
        <p:spPr>
          <a:xfrm>
            <a:off x="6222460" y="789790"/>
            <a:ext cx="2807367"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t>Business Impact of Missing Values</a:t>
            </a:r>
          </a:p>
          <a:p>
            <a:r>
              <a:rPr lang="en-US" sz="900" dirty="0"/>
              <a:t>Proper treatment of missing sensor readings helps improve prediction reliability, reduce operational risk, and support more accurate maintenance decisions.</a:t>
            </a:r>
          </a:p>
          <a:p>
            <a:r>
              <a:rPr lang="en-US" sz="900" dirty="0"/>
              <a:t>Ignoring missing values could increase the likelihood of inaccurate predictions and unexpected turbine failures.</a:t>
            </a:r>
          </a:p>
          <a:p>
            <a:pPr marL="139700" indent="0">
              <a:buClr>
                <a:srgbClr val="000000"/>
              </a:buClr>
              <a:buSzPts val="1400"/>
              <a:buFont typeface="Nunito"/>
              <a:buNone/>
            </a:pPr>
            <a:endParaRPr lang="en-US" sz="900" i="1" dirty="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5DEA5D76-5D12-CAEA-1AA7-747D382A4FCC}"/>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219B39A6-D651-647D-69C8-053AF5CC2B0F}"/>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 Univariate Analysis –Variables V1 to V21</a:t>
            </a:r>
            <a:endParaRPr dirty="0">
              <a:solidFill>
                <a:srgbClr val="1974D2"/>
              </a:solidFill>
            </a:endParaRPr>
          </a:p>
        </p:txBody>
      </p:sp>
      <p:sp>
        <p:nvSpPr>
          <p:cNvPr id="131" name="Google Shape;131;g12508d39905_0_54">
            <a:extLst>
              <a:ext uri="{FF2B5EF4-FFF2-40B4-BE49-F238E27FC236}">
                <a16:creationId xmlns:a16="http://schemas.microsoft.com/office/drawing/2014/main" id="{A055A893-E3B7-DB3D-359E-F510013B7429}"/>
              </a:ext>
            </a:extLst>
          </p:cNvPr>
          <p:cNvSpPr txBox="1">
            <a:spLocks noGrp="1"/>
          </p:cNvSpPr>
          <p:nvPr>
            <p:ph type="body" idx="1"/>
          </p:nvPr>
        </p:nvSpPr>
        <p:spPr>
          <a:xfrm>
            <a:off x="202550" y="861975"/>
            <a:ext cx="3607450" cy="3706800"/>
          </a:xfrm>
          <a:prstGeom prst="rect">
            <a:avLst/>
          </a:prstGeom>
          <a:noFill/>
          <a:ln>
            <a:noFill/>
          </a:ln>
        </p:spPr>
        <p:txBody>
          <a:bodyPr spcFirstLastPara="1" wrap="square" lIns="91425" tIns="91425" rIns="91425" bIns="91425" anchor="t" anchorCtr="0">
            <a:noAutofit/>
          </a:bodyPr>
          <a:lstStyle/>
          <a:p>
            <a:pPr marL="133350" indent="0">
              <a:lnSpc>
                <a:spcPct val="100000"/>
              </a:lnSpc>
              <a:buNone/>
            </a:pPr>
            <a:r>
              <a:rPr lang="en-US" sz="1000" b="1" dirty="0"/>
              <a:t>Observations</a:t>
            </a:r>
          </a:p>
          <a:p>
            <a:pPr>
              <a:lnSpc>
                <a:spcPct val="100000"/>
              </a:lnSpc>
            </a:pPr>
            <a:r>
              <a:rPr lang="en-US" sz="800" dirty="0"/>
              <a:t>Most variables from </a:t>
            </a:r>
            <a:r>
              <a:rPr lang="en-US" sz="800" b="1" dirty="0"/>
              <a:t>V1 to V21</a:t>
            </a:r>
            <a:r>
              <a:rPr lang="en-US" sz="800" dirty="0"/>
              <a:t> follow approximately bell-shaped, normal, or near-normal distributions.</a:t>
            </a:r>
          </a:p>
          <a:p>
            <a:pPr>
              <a:lnSpc>
                <a:spcPct val="100000"/>
              </a:lnSpc>
            </a:pPr>
            <a:r>
              <a:rPr lang="en-US" sz="800" dirty="0"/>
              <a:t>Several variables display slight positive skewness, slight negative skewness, and moderate asymmetry.</a:t>
            </a:r>
            <a:endParaRPr sz="800" i="1" dirty="0">
              <a:solidFill>
                <a:srgbClr val="000000"/>
              </a:solidFill>
            </a:endParaRPr>
          </a:p>
        </p:txBody>
      </p:sp>
      <p:sp>
        <p:nvSpPr>
          <p:cNvPr id="132" name="Google Shape;132;g12508d39905_0_54">
            <a:extLst>
              <a:ext uri="{FF2B5EF4-FFF2-40B4-BE49-F238E27FC236}">
                <a16:creationId xmlns:a16="http://schemas.microsoft.com/office/drawing/2014/main" id="{A2A692A7-B3E6-31F4-ECB2-E41C7AF39FB7}"/>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a:solidFill>
                  <a:schemeClr val="hlink"/>
                </a:solidFill>
                <a:latin typeface="Nunito"/>
                <a:ea typeface="Nunito"/>
                <a:cs typeface="Nunito"/>
                <a:sym typeface="Nunito"/>
              </a:rPr>
              <a:t>Link to Appendix slide on data background check</a:t>
            </a:r>
            <a:endParaRPr sz="1200" b="0" i="1" u="none" strike="noStrike" cap="none">
              <a:solidFill>
                <a:srgbClr val="666666"/>
              </a:solidFill>
              <a:latin typeface="Nunito"/>
              <a:ea typeface="Nunito"/>
              <a:cs typeface="Nunito"/>
              <a:sym typeface="Nunito"/>
            </a:endParaRPr>
          </a:p>
        </p:txBody>
      </p:sp>
      <p:pic>
        <p:nvPicPr>
          <p:cNvPr id="3" name="Picture 2">
            <a:extLst>
              <a:ext uri="{FF2B5EF4-FFF2-40B4-BE49-F238E27FC236}">
                <a16:creationId xmlns:a16="http://schemas.microsoft.com/office/drawing/2014/main" id="{BC72D5C7-AD7F-0863-C761-DB0BA97F4934}"/>
              </a:ext>
            </a:extLst>
          </p:cNvPr>
          <p:cNvPicPr>
            <a:picLocks noChangeAspect="1"/>
          </p:cNvPicPr>
          <p:nvPr/>
        </p:nvPicPr>
        <p:blipFill>
          <a:blip r:embed="rId3"/>
          <a:stretch>
            <a:fillRect/>
          </a:stretch>
        </p:blipFill>
        <p:spPr>
          <a:xfrm>
            <a:off x="4077350" y="795113"/>
            <a:ext cx="3951724" cy="2366661"/>
          </a:xfrm>
          <a:prstGeom prst="rect">
            <a:avLst/>
          </a:prstGeom>
        </p:spPr>
      </p:pic>
      <p:pic>
        <p:nvPicPr>
          <p:cNvPr id="4" name="Picture 3">
            <a:extLst>
              <a:ext uri="{FF2B5EF4-FFF2-40B4-BE49-F238E27FC236}">
                <a16:creationId xmlns:a16="http://schemas.microsoft.com/office/drawing/2014/main" id="{4CA0210E-C3D5-C97E-3411-EBA19FD6D37D}"/>
              </a:ext>
            </a:extLst>
          </p:cNvPr>
          <p:cNvPicPr>
            <a:picLocks noChangeAspect="1"/>
          </p:cNvPicPr>
          <p:nvPr/>
        </p:nvPicPr>
        <p:blipFill>
          <a:blip r:embed="rId4"/>
          <a:stretch>
            <a:fillRect/>
          </a:stretch>
        </p:blipFill>
        <p:spPr>
          <a:xfrm>
            <a:off x="202550" y="1836895"/>
            <a:ext cx="3790130" cy="2269884"/>
          </a:xfrm>
          <a:prstGeom prst="rect">
            <a:avLst/>
          </a:prstGeom>
        </p:spPr>
      </p:pic>
    </p:spTree>
    <p:extLst>
      <p:ext uri="{BB962C8B-B14F-4D97-AF65-F5344CB8AC3E}">
        <p14:creationId xmlns:p14="http://schemas.microsoft.com/office/powerpoint/2010/main" val="2350583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5FAB7E01-5616-220A-301F-4E4014E95A76}"/>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E614B2C9-EE5B-08E2-8ACE-2F2674D621E5}"/>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 Univariate Analysis –Variables V1 to V21</a:t>
            </a:r>
            <a:endParaRPr dirty="0">
              <a:solidFill>
                <a:srgbClr val="1974D2"/>
              </a:solidFill>
            </a:endParaRPr>
          </a:p>
        </p:txBody>
      </p:sp>
      <p:sp>
        <p:nvSpPr>
          <p:cNvPr id="131" name="Google Shape;131;g12508d39905_0_54">
            <a:extLst>
              <a:ext uri="{FF2B5EF4-FFF2-40B4-BE49-F238E27FC236}">
                <a16:creationId xmlns:a16="http://schemas.microsoft.com/office/drawing/2014/main" id="{B171FEC3-B22C-2335-48C0-2CD260F2AAE0}"/>
              </a:ext>
            </a:extLst>
          </p:cNvPr>
          <p:cNvSpPr txBox="1">
            <a:spLocks noGrp="1"/>
          </p:cNvSpPr>
          <p:nvPr>
            <p:ph type="body" idx="1"/>
          </p:nvPr>
        </p:nvSpPr>
        <p:spPr>
          <a:xfrm>
            <a:off x="202550" y="803134"/>
            <a:ext cx="4136839" cy="3706800"/>
          </a:xfrm>
          <a:prstGeom prst="rect">
            <a:avLst/>
          </a:prstGeom>
          <a:noFill/>
          <a:ln>
            <a:noFill/>
          </a:ln>
        </p:spPr>
        <p:txBody>
          <a:bodyPr spcFirstLastPara="1" wrap="square" lIns="91425" tIns="91425" rIns="91425" bIns="91425" anchor="t" anchorCtr="0">
            <a:noAutofit/>
          </a:bodyPr>
          <a:lstStyle/>
          <a:p>
            <a:pPr marL="133350" indent="0">
              <a:lnSpc>
                <a:spcPct val="100000"/>
              </a:lnSpc>
              <a:buNone/>
            </a:pPr>
            <a:r>
              <a:rPr lang="en-US" sz="900" dirty="0"/>
              <a:t>Many variables contain visible outliers on both lower and upper ends of the distributions. The mean and median are relatively close for many variables, indicating moderate symmetry and stable sensor behavior. Variables such as </a:t>
            </a:r>
            <a:r>
              <a:rPr lang="en-US" sz="900" b="1" dirty="0"/>
              <a:t>V3, V12, V13, V16, V21 </a:t>
            </a:r>
            <a:r>
              <a:rPr lang="en-US" sz="900" dirty="0"/>
              <a:t>show wider spreads, heavier tails, and higher variability.</a:t>
            </a:r>
          </a:p>
          <a:p>
            <a:pPr marL="133350" indent="0">
              <a:lnSpc>
                <a:spcPct val="100000"/>
              </a:lnSpc>
              <a:buNone/>
            </a:pPr>
            <a:endParaRPr lang="en-US" sz="900" dirty="0"/>
          </a:p>
          <a:p>
            <a:pPr marL="133350" indent="0">
              <a:lnSpc>
                <a:spcPct val="100000"/>
              </a:lnSpc>
              <a:buNone/>
            </a:pPr>
            <a:r>
              <a:rPr lang="en-US" sz="900" dirty="0"/>
              <a:t>Histograms indicate that most variables are continuous numerical features with varying scales and ranges.</a:t>
            </a:r>
          </a:p>
          <a:p>
            <a:pPr marL="133350" indent="0">
              <a:lnSpc>
                <a:spcPct val="100000"/>
              </a:lnSpc>
              <a:buNone/>
            </a:pPr>
            <a:endParaRPr lang="en-US" sz="900" dirty="0"/>
          </a:p>
          <a:p>
            <a:pPr marL="133350" indent="0">
              <a:lnSpc>
                <a:spcPct val="100000"/>
              </a:lnSpc>
              <a:buNone/>
            </a:pPr>
            <a:r>
              <a:rPr lang="en-US" sz="900" dirty="0"/>
              <a:t>Outliers are common across many variables, which is expected in real-world industrial sensor data.</a:t>
            </a:r>
          </a:p>
          <a:p>
            <a:pPr marL="133350" indent="0">
              <a:lnSpc>
                <a:spcPct val="100000"/>
              </a:lnSpc>
              <a:buNone/>
            </a:pPr>
            <a:br>
              <a:rPr lang="en-US" sz="900" dirty="0"/>
            </a:br>
            <a:br>
              <a:rPr lang="en-US" sz="900" dirty="0"/>
            </a:br>
            <a:endParaRPr sz="900" i="1" dirty="0">
              <a:solidFill>
                <a:srgbClr val="000000"/>
              </a:solidFill>
            </a:endParaRPr>
          </a:p>
        </p:txBody>
      </p:sp>
      <p:pic>
        <p:nvPicPr>
          <p:cNvPr id="7" name="Picture 6">
            <a:extLst>
              <a:ext uri="{FF2B5EF4-FFF2-40B4-BE49-F238E27FC236}">
                <a16:creationId xmlns:a16="http://schemas.microsoft.com/office/drawing/2014/main" id="{FADC7921-71B5-7769-30F8-CB5C69BECA20}"/>
              </a:ext>
            </a:extLst>
          </p:cNvPr>
          <p:cNvPicPr>
            <a:picLocks noChangeAspect="1"/>
          </p:cNvPicPr>
          <p:nvPr/>
        </p:nvPicPr>
        <p:blipFill>
          <a:blip r:embed="rId3"/>
          <a:stretch>
            <a:fillRect/>
          </a:stretch>
        </p:blipFill>
        <p:spPr>
          <a:xfrm>
            <a:off x="202549" y="2495939"/>
            <a:ext cx="3761143" cy="2252524"/>
          </a:xfrm>
          <a:prstGeom prst="rect">
            <a:avLst/>
          </a:prstGeom>
        </p:spPr>
      </p:pic>
      <p:pic>
        <p:nvPicPr>
          <p:cNvPr id="8" name="Picture 7">
            <a:extLst>
              <a:ext uri="{FF2B5EF4-FFF2-40B4-BE49-F238E27FC236}">
                <a16:creationId xmlns:a16="http://schemas.microsoft.com/office/drawing/2014/main" id="{353E1051-11EB-43C3-DCC5-A0C5E4B6EDBA}"/>
              </a:ext>
            </a:extLst>
          </p:cNvPr>
          <p:cNvPicPr>
            <a:picLocks noChangeAspect="1"/>
          </p:cNvPicPr>
          <p:nvPr/>
        </p:nvPicPr>
        <p:blipFill>
          <a:blip r:embed="rId4"/>
          <a:stretch>
            <a:fillRect/>
          </a:stretch>
        </p:blipFill>
        <p:spPr>
          <a:xfrm>
            <a:off x="4890378" y="803134"/>
            <a:ext cx="3457074" cy="2064707"/>
          </a:xfrm>
          <a:prstGeom prst="rect">
            <a:avLst/>
          </a:prstGeom>
        </p:spPr>
      </p:pic>
      <p:pic>
        <p:nvPicPr>
          <p:cNvPr id="9" name="Picture 8">
            <a:extLst>
              <a:ext uri="{FF2B5EF4-FFF2-40B4-BE49-F238E27FC236}">
                <a16:creationId xmlns:a16="http://schemas.microsoft.com/office/drawing/2014/main" id="{E28BC46B-E4DE-556B-F485-E5C9110CB475}"/>
              </a:ext>
            </a:extLst>
          </p:cNvPr>
          <p:cNvPicPr>
            <a:picLocks noChangeAspect="1"/>
          </p:cNvPicPr>
          <p:nvPr/>
        </p:nvPicPr>
        <p:blipFill>
          <a:blip r:embed="rId5"/>
          <a:stretch>
            <a:fillRect/>
          </a:stretch>
        </p:blipFill>
        <p:spPr>
          <a:xfrm>
            <a:off x="4997116" y="2867842"/>
            <a:ext cx="3572408" cy="2139492"/>
          </a:xfrm>
          <a:prstGeom prst="rect">
            <a:avLst/>
          </a:prstGeom>
        </p:spPr>
      </p:pic>
    </p:spTree>
    <p:extLst>
      <p:ext uri="{BB962C8B-B14F-4D97-AF65-F5344CB8AC3E}">
        <p14:creationId xmlns:p14="http://schemas.microsoft.com/office/powerpoint/2010/main" val="3433437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50C7DF21-27AE-F6FA-38EE-FEAC25A23C0E}"/>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5AAE6DE7-0500-5814-980D-459F85C60DAB}"/>
              </a:ext>
            </a:extLst>
          </p:cNvPr>
          <p:cNvSpPr txBox="1">
            <a:spLocks noGrp="1"/>
          </p:cNvSpPr>
          <p:nvPr>
            <p:ph type="title"/>
          </p:nvPr>
        </p:nvSpPr>
        <p:spPr>
          <a:xfrm>
            <a:off x="202549" y="64689"/>
            <a:ext cx="852060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 Univariate Analysis –Variables V1 to V21</a:t>
            </a:r>
            <a:endParaRPr dirty="0">
              <a:solidFill>
                <a:srgbClr val="1974D2"/>
              </a:solidFill>
            </a:endParaRPr>
          </a:p>
        </p:txBody>
      </p:sp>
      <p:sp>
        <p:nvSpPr>
          <p:cNvPr id="3" name="TextBox 2">
            <a:extLst>
              <a:ext uri="{FF2B5EF4-FFF2-40B4-BE49-F238E27FC236}">
                <a16:creationId xmlns:a16="http://schemas.microsoft.com/office/drawing/2014/main" id="{B77E272D-F2E1-AAB3-42F0-78A8FCBC6D4C}"/>
              </a:ext>
            </a:extLst>
          </p:cNvPr>
          <p:cNvSpPr txBox="1"/>
          <p:nvPr/>
        </p:nvSpPr>
        <p:spPr>
          <a:xfrm>
            <a:off x="202550" y="506355"/>
            <a:ext cx="5116874" cy="3631763"/>
          </a:xfrm>
          <a:prstGeom prst="rect">
            <a:avLst/>
          </a:prstGeom>
          <a:noFill/>
        </p:spPr>
        <p:txBody>
          <a:bodyPr wrap="square">
            <a:spAutoFit/>
          </a:bodyPr>
          <a:lstStyle/>
          <a:p>
            <a:pPr algn="l">
              <a:buNone/>
            </a:pPr>
            <a:r>
              <a:rPr lang="en-US" sz="1000" b="1" i="0" dirty="0">
                <a:effectLst/>
                <a:latin typeface="Nunito" pitchFamily="2" charset="77"/>
              </a:rPr>
              <a:t>Why This Is Important for EDA</a:t>
            </a:r>
          </a:p>
          <a:p>
            <a:pPr algn="l">
              <a:buNone/>
            </a:pPr>
            <a:endParaRPr lang="en-US" sz="1000" b="0" i="0" dirty="0">
              <a:effectLst/>
              <a:latin typeface="Nunito" pitchFamily="2" charset="77"/>
            </a:endParaRPr>
          </a:p>
          <a:p>
            <a:pPr algn="l">
              <a:buNone/>
            </a:pPr>
            <a:r>
              <a:rPr lang="en-US" sz="1000" b="0" i="0" dirty="0">
                <a:effectLst/>
                <a:latin typeface="Nunito" pitchFamily="2" charset="77"/>
              </a:rPr>
              <a:t>Performing univariate analysis is important because it helps understand the behavior of each feature individually, identify skewness and unusual patterns, detect extreme values and operational anomalies, and determine whether preprocessing is required.</a:t>
            </a:r>
          </a:p>
          <a:p>
            <a:pPr algn="l">
              <a:buNone/>
            </a:pPr>
            <a:endParaRPr lang="en-US" sz="1000" b="0" i="0" dirty="0">
              <a:effectLst/>
              <a:latin typeface="Nunito" pitchFamily="2" charset="77"/>
            </a:endParaRPr>
          </a:p>
          <a:p>
            <a:pPr algn="l">
              <a:buNone/>
            </a:pPr>
            <a:r>
              <a:rPr lang="en-US" sz="1000" b="0" i="0" dirty="0">
                <a:effectLst/>
                <a:latin typeface="Nunito" pitchFamily="2" charset="77"/>
              </a:rPr>
              <a:t>This analysis helps determine whether scaling, normalization, transformation, or robust preprocessing techniques may improve machine learning performance.</a:t>
            </a:r>
          </a:p>
          <a:p>
            <a:pPr algn="l">
              <a:buNone/>
            </a:pPr>
            <a:endParaRPr lang="en-US" sz="1000" b="0" i="0" dirty="0">
              <a:effectLst/>
              <a:latin typeface="Nunito" pitchFamily="2" charset="77"/>
            </a:endParaRPr>
          </a:p>
          <a:p>
            <a:pPr algn="l">
              <a:buNone/>
            </a:pPr>
            <a:r>
              <a:rPr lang="en-US" sz="1000" b="0" i="0" dirty="0">
                <a:effectLst/>
                <a:latin typeface="Nunito" pitchFamily="2" charset="77"/>
              </a:rPr>
              <a:t>Since neural networks are sensitive to feature scale and distribution, understanding variable behavior is critical before model development.</a:t>
            </a:r>
          </a:p>
          <a:p>
            <a:pPr>
              <a:buNone/>
            </a:pPr>
            <a:br>
              <a:rPr lang="en-US" sz="1000" dirty="0">
                <a:latin typeface="Nunito" pitchFamily="2" charset="77"/>
              </a:rPr>
            </a:br>
            <a:endParaRPr lang="en-US" sz="1000" dirty="0">
              <a:latin typeface="Nunito" pitchFamily="2" charset="77"/>
            </a:endParaRPr>
          </a:p>
          <a:p>
            <a:pPr algn="l">
              <a:buNone/>
            </a:pPr>
            <a:r>
              <a:rPr lang="en-US" sz="1000" b="1" i="0" dirty="0">
                <a:effectLst/>
                <a:latin typeface="Nunito" pitchFamily="2" charset="77"/>
              </a:rPr>
              <a:t>Business Interpretation – Variables V1 to V21</a:t>
            </a:r>
          </a:p>
          <a:p>
            <a:pPr algn="l">
              <a:buNone/>
            </a:pPr>
            <a:r>
              <a:rPr lang="en-US" sz="1000" b="0" i="0" dirty="0">
                <a:effectLst/>
                <a:latin typeface="Nunito" pitchFamily="2" charset="77"/>
              </a:rPr>
              <a:t>From a business perspective:</a:t>
            </a:r>
          </a:p>
          <a:p>
            <a:pPr algn="l">
              <a:buFont typeface="Arial" panose="020B0604020202020204" pitchFamily="34" charset="0"/>
              <a:buChar char="•"/>
            </a:pPr>
            <a:r>
              <a:rPr lang="en-US" sz="1000" b="0" i="0" dirty="0">
                <a:effectLst/>
                <a:latin typeface="Nunito" pitchFamily="2" charset="77"/>
              </a:rPr>
              <a:t>Extreme sensor readings may indicate abnormal turbine behavior, overheating, vibration abnormalities, mechanical stress, or early signs of equipment degradation.</a:t>
            </a:r>
          </a:p>
          <a:p>
            <a:pPr algn="l">
              <a:buFont typeface="Arial" panose="020B0604020202020204" pitchFamily="34" charset="0"/>
              <a:buChar char="•"/>
            </a:pPr>
            <a:r>
              <a:rPr lang="en-US" sz="1000" b="0" i="0" dirty="0">
                <a:effectLst/>
                <a:latin typeface="Nunito" pitchFamily="2" charset="77"/>
              </a:rPr>
              <a:t>Variables with high variability and frequent outliers may contain strong predictive signals for turbine failure.</a:t>
            </a:r>
          </a:p>
          <a:p>
            <a:pPr algn="l">
              <a:buFont typeface="Arial" panose="020B0604020202020204" pitchFamily="34" charset="0"/>
              <a:buChar char="•"/>
            </a:pPr>
            <a:r>
              <a:rPr lang="en-US" sz="1000" b="0" i="0" dirty="0">
                <a:effectLst/>
                <a:latin typeface="Nunito" pitchFamily="2" charset="77"/>
              </a:rPr>
              <a:t>Detecting abnormal operating conditions early can help reduce downtime lower replacement costs, improve turbine reliability, and optimize maintenance planning.</a:t>
            </a:r>
          </a:p>
          <a:p>
            <a:pPr>
              <a:buNone/>
            </a:pPr>
            <a:br>
              <a:rPr lang="en-US" sz="1000" dirty="0">
                <a:latin typeface="Nunito" pitchFamily="2" charset="77"/>
              </a:rPr>
            </a:br>
            <a:endParaRPr lang="en-US" sz="1000" dirty="0">
              <a:latin typeface="Nunito" pitchFamily="2" charset="77"/>
            </a:endParaRPr>
          </a:p>
        </p:txBody>
      </p:sp>
      <p:pic>
        <p:nvPicPr>
          <p:cNvPr id="5" name="Picture 4">
            <a:extLst>
              <a:ext uri="{FF2B5EF4-FFF2-40B4-BE49-F238E27FC236}">
                <a16:creationId xmlns:a16="http://schemas.microsoft.com/office/drawing/2014/main" id="{D4D3B09A-AF7D-A413-AFA2-1D76F46445BB}"/>
              </a:ext>
            </a:extLst>
          </p:cNvPr>
          <p:cNvPicPr>
            <a:picLocks noChangeAspect="1"/>
          </p:cNvPicPr>
          <p:nvPr/>
        </p:nvPicPr>
        <p:blipFill>
          <a:blip r:embed="rId3"/>
          <a:stretch>
            <a:fillRect/>
          </a:stretch>
        </p:blipFill>
        <p:spPr>
          <a:xfrm>
            <a:off x="5426600" y="783055"/>
            <a:ext cx="2986666" cy="1788695"/>
          </a:xfrm>
          <a:prstGeom prst="rect">
            <a:avLst/>
          </a:prstGeom>
        </p:spPr>
      </p:pic>
    </p:spTree>
    <p:extLst>
      <p:ext uri="{BB962C8B-B14F-4D97-AF65-F5344CB8AC3E}">
        <p14:creationId xmlns:p14="http://schemas.microsoft.com/office/powerpoint/2010/main" val="3262976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80C00871-A7AC-AB53-FB0E-5179BF51162A}"/>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FB2FCBD5-4861-4E7D-41B1-5F99221E11E3}"/>
              </a:ext>
            </a:extLst>
          </p:cNvPr>
          <p:cNvSpPr txBox="1">
            <a:spLocks noGrp="1"/>
          </p:cNvSpPr>
          <p:nvPr>
            <p:ph type="title"/>
          </p:nvPr>
        </p:nvSpPr>
        <p:spPr>
          <a:xfrm>
            <a:off x="202549" y="64689"/>
            <a:ext cx="852060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 Univariate Analysis –Variables V20 to V39</a:t>
            </a:r>
            <a:endParaRPr dirty="0">
              <a:solidFill>
                <a:srgbClr val="1974D2"/>
              </a:solidFill>
            </a:endParaRPr>
          </a:p>
        </p:txBody>
      </p:sp>
      <p:sp>
        <p:nvSpPr>
          <p:cNvPr id="3" name="TextBox 2">
            <a:extLst>
              <a:ext uri="{FF2B5EF4-FFF2-40B4-BE49-F238E27FC236}">
                <a16:creationId xmlns:a16="http://schemas.microsoft.com/office/drawing/2014/main" id="{85811BAA-DF98-A342-3A21-AD1D2E5C5E79}"/>
              </a:ext>
            </a:extLst>
          </p:cNvPr>
          <p:cNvSpPr txBox="1"/>
          <p:nvPr/>
        </p:nvSpPr>
        <p:spPr>
          <a:xfrm>
            <a:off x="202550" y="506355"/>
            <a:ext cx="4273198" cy="3293209"/>
          </a:xfrm>
          <a:prstGeom prst="rect">
            <a:avLst/>
          </a:prstGeom>
          <a:noFill/>
        </p:spPr>
        <p:txBody>
          <a:bodyPr wrap="square">
            <a:spAutoFit/>
          </a:bodyPr>
          <a:lstStyle/>
          <a:p>
            <a:r>
              <a:rPr lang="en-US" sz="1000" b="1" dirty="0">
                <a:latin typeface="Nunito" pitchFamily="2" charset="77"/>
              </a:rPr>
              <a:t>Observations</a:t>
            </a:r>
          </a:p>
          <a:p>
            <a:r>
              <a:rPr lang="en-US" sz="900" dirty="0">
                <a:latin typeface="Nunito" pitchFamily="2" charset="77"/>
              </a:rPr>
              <a:t>Variables from </a:t>
            </a:r>
            <a:r>
              <a:rPr lang="en-US" sz="900" b="1" dirty="0">
                <a:latin typeface="Nunito" pitchFamily="2" charset="77"/>
              </a:rPr>
              <a:t>V20 to V39</a:t>
            </a:r>
            <a:r>
              <a:rPr lang="en-US" sz="900" dirty="0">
                <a:latin typeface="Nunito" pitchFamily="2" charset="77"/>
              </a:rPr>
              <a:t> also display distributions that are mostly:</a:t>
            </a:r>
          </a:p>
          <a:p>
            <a:r>
              <a:rPr lang="en-US" sz="900" dirty="0">
                <a:latin typeface="Nunito" pitchFamily="2" charset="77"/>
              </a:rPr>
              <a:t>approximately normal, bell-shaped, or near-symmetric.</a:t>
            </a:r>
          </a:p>
          <a:p>
            <a:endParaRPr lang="en-US" sz="900" dirty="0">
              <a:latin typeface="Nunito" pitchFamily="2" charset="77"/>
            </a:endParaRPr>
          </a:p>
          <a:p>
            <a:r>
              <a:rPr lang="en-US" sz="900" dirty="0">
                <a:latin typeface="Nunito" pitchFamily="2" charset="77"/>
              </a:rPr>
              <a:t>Several variables exhibit moderate skewness, particularly V</a:t>
            </a:r>
            <a:r>
              <a:rPr lang="en-US" sz="900" b="1" dirty="0">
                <a:latin typeface="Nunito" pitchFamily="2" charset="77"/>
              </a:rPr>
              <a:t>21, V24, V26, V27, V31, V32, V36.</a:t>
            </a:r>
            <a:endParaRPr lang="en-US" sz="900" dirty="0">
              <a:latin typeface="Nunito" pitchFamily="2" charset="77"/>
            </a:endParaRPr>
          </a:p>
          <a:p>
            <a:endParaRPr lang="en-US" sz="900" dirty="0">
              <a:latin typeface="Nunito" pitchFamily="2" charset="77"/>
            </a:endParaRPr>
          </a:p>
          <a:p>
            <a:r>
              <a:rPr lang="en-US" sz="900" dirty="0">
                <a:latin typeface="Nunito" pitchFamily="2" charset="77"/>
              </a:rPr>
              <a:t>These variables show longer tails, asymmetric distributions, and larger variability.</a:t>
            </a:r>
          </a:p>
          <a:p>
            <a:endParaRPr lang="en-US" sz="900" dirty="0">
              <a:latin typeface="Nunito" pitchFamily="2" charset="77"/>
            </a:endParaRPr>
          </a:p>
          <a:p>
            <a:r>
              <a:rPr lang="en-US" sz="900" dirty="0">
                <a:latin typeface="Nunito" pitchFamily="2" charset="77"/>
              </a:rPr>
              <a:t>Additional observations include:</a:t>
            </a:r>
          </a:p>
          <a:p>
            <a:pPr marL="171450" indent="-171450">
              <a:buFont typeface="Arial" panose="020B0604020202020204" pitchFamily="34" charset="0"/>
              <a:buChar char="•"/>
            </a:pPr>
            <a:r>
              <a:rPr lang="en-US" sz="900" dirty="0">
                <a:latin typeface="Nunito" pitchFamily="2" charset="77"/>
              </a:rPr>
              <a:t>Many variables contain substantial outliers on both sides of the distribution.</a:t>
            </a:r>
          </a:p>
          <a:p>
            <a:pPr marL="171450" indent="-171450">
              <a:buFont typeface="Arial" panose="020B0604020202020204" pitchFamily="34" charset="0"/>
              <a:buChar char="•"/>
            </a:pPr>
            <a:r>
              <a:rPr lang="en-US" sz="900" dirty="0">
                <a:latin typeface="Nunito" pitchFamily="2" charset="77"/>
              </a:rPr>
              <a:t>Variables such as </a:t>
            </a:r>
            <a:r>
              <a:rPr lang="en-US" sz="900" b="1" dirty="0">
                <a:latin typeface="Nunito" pitchFamily="2" charset="77"/>
              </a:rPr>
              <a:t>V32</a:t>
            </a:r>
            <a:r>
              <a:rPr lang="en-US" sz="900" dirty="0">
                <a:latin typeface="Nunito" pitchFamily="2" charset="77"/>
              </a:rPr>
              <a:t> and </a:t>
            </a:r>
            <a:r>
              <a:rPr lang="en-US" sz="900" b="1" dirty="0">
                <a:latin typeface="Nunito" pitchFamily="2" charset="77"/>
              </a:rPr>
              <a:t>V36</a:t>
            </a:r>
            <a:r>
              <a:rPr lang="en-US" sz="900" dirty="0">
                <a:latin typeface="Nunito" pitchFamily="2" charset="77"/>
              </a:rPr>
              <a:t> display especially wide ranges and heavier tails.</a:t>
            </a:r>
          </a:p>
          <a:p>
            <a:pPr marL="171450" indent="-171450">
              <a:buFont typeface="Arial" panose="020B0604020202020204" pitchFamily="34" charset="0"/>
              <a:buChar char="•"/>
            </a:pPr>
            <a:r>
              <a:rPr lang="en-US" sz="900" dirty="0">
                <a:latin typeface="Nunito" pitchFamily="2" charset="77"/>
              </a:rPr>
              <a:t>Some variables are tightly concentrated around the center, while others are more dispersed.</a:t>
            </a:r>
          </a:p>
          <a:p>
            <a:pPr marL="171450" indent="-171450">
              <a:buFont typeface="Arial" panose="020B0604020202020204" pitchFamily="34" charset="0"/>
              <a:buChar char="•"/>
            </a:pPr>
            <a:r>
              <a:rPr lang="en-US" sz="900" dirty="0">
                <a:latin typeface="Nunito" pitchFamily="2" charset="77"/>
              </a:rPr>
              <a:t>Mean and median lines remain relatively close for several variables despite the presence of outliers.</a:t>
            </a:r>
          </a:p>
          <a:p>
            <a:pPr marL="171450" indent="-171450">
              <a:buFont typeface="Arial" panose="020B0604020202020204" pitchFamily="34" charset="0"/>
              <a:buChar char="•"/>
            </a:pPr>
            <a:r>
              <a:rPr lang="en-US" sz="900" dirty="0">
                <a:latin typeface="Nunito" pitchFamily="2" charset="77"/>
              </a:rPr>
              <a:t>Mild positive skewness is observed in some variables where right tails extend further than left tails.</a:t>
            </a:r>
          </a:p>
          <a:p>
            <a:br>
              <a:rPr lang="en-US" sz="900" dirty="0">
                <a:latin typeface="Nunito" pitchFamily="2" charset="77"/>
              </a:rPr>
            </a:br>
            <a:br>
              <a:rPr lang="en-US" sz="900" dirty="0">
                <a:latin typeface="Nunito" pitchFamily="2" charset="77"/>
              </a:rPr>
            </a:br>
            <a:endParaRPr lang="en-US" sz="900" dirty="0">
              <a:latin typeface="Nunito" pitchFamily="2" charset="77"/>
            </a:endParaRPr>
          </a:p>
        </p:txBody>
      </p:sp>
      <p:pic>
        <p:nvPicPr>
          <p:cNvPr id="2" name="Picture 1">
            <a:extLst>
              <a:ext uri="{FF2B5EF4-FFF2-40B4-BE49-F238E27FC236}">
                <a16:creationId xmlns:a16="http://schemas.microsoft.com/office/drawing/2014/main" id="{AA40BFF4-7DEF-D568-499C-D915D0BB3BCA}"/>
              </a:ext>
            </a:extLst>
          </p:cNvPr>
          <p:cNvPicPr>
            <a:picLocks noChangeAspect="1"/>
          </p:cNvPicPr>
          <p:nvPr/>
        </p:nvPicPr>
        <p:blipFill>
          <a:blip r:embed="rId3"/>
          <a:stretch>
            <a:fillRect/>
          </a:stretch>
        </p:blipFill>
        <p:spPr>
          <a:xfrm>
            <a:off x="4462849" y="586227"/>
            <a:ext cx="3528619" cy="2113267"/>
          </a:xfrm>
          <a:prstGeom prst="rect">
            <a:avLst/>
          </a:prstGeom>
        </p:spPr>
      </p:pic>
      <p:pic>
        <p:nvPicPr>
          <p:cNvPr id="4" name="Picture 3">
            <a:extLst>
              <a:ext uri="{FF2B5EF4-FFF2-40B4-BE49-F238E27FC236}">
                <a16:creationId xmlns:a16="http://schemas.microsoft.com/office/drawing/2014/main" id="{C5AE1B6F-8141-CCD3-6888-B0C3415C0416}"/>
              </a:ext>
            </a:extLst>
          </p:cNvPr>
          <p:cNvPicPr>
            <a:picLocks noChangeAspect="1"/>
          </p:cNvPicPr>
          <p:nvPr/>
        </p:nvPicPr>
        <p:blipFill>
          <a:blip r:embed="rId4"/>
          <a:stretch>
            <a:fillRect/>
          </a:stretch>
        </p:blipFill>
        <p:spPr>
          <a:xfrm>
            <a:off x="4462849" y="2742930"/>
            <a:ext cx="3528619" cy="2113267"/>
          </a:xfrm>
          <a:prstGeom prst="rect">
            <a:avLst/>
          </a:prstGeom>
        </p:spPr>
      </p:pic>
      <p:pic>
        <p:nvPicPr>
          <p:cNvPr id="5" name="Picture 4">
            <a:extLst>
              <a:ext uri="{FF2B5EF4-FFF2-40B4-BE49-F238E27FC236}">
                <a16:creationId xmlns:a16="http://schemas.microsoft.com/office/drawing/2014/main" id="{5B766F47-4FF9-D350-5B4F-F595E8098E2A}"/>
              </a:ext>
            </a:extLst>
          </p:cNvPr>
          <p:cNvPicPr>
            <a:picLocks noChangeAspect="1"/>
          </p:cNvPicPr>
          <p:nvPr/>
        </p:nvPicPr>
        <p:blipFill>
          <a:blip r:embed="rId5"/>
          <a:stretch>
            <a:fillRect/>
          </a:stretch>
        </p:blipFill>
        <p:spPr>
          <a:xfrm>
            <a:off x="1" y="3338184"/>
            <a:ext cx="2775284" cy="1662099"/>
          </a:xfrm>
          <a:prstGeom prst="rect">
            <a:avLst/>
          </a:prstGeom>
        </p:spPr>
      </p:pic>
    </p:spTree>
    <p:extLst>
      <p:ext uri="{BB962C8B-B14F-4D97-AF65-F5344CB8AC3E}">
        <p14:creationId xmlns:p14="http://schemas.microsoft.com/office/powerpoint/2010/main" val="494254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A455D467-3B78-BF2E-7814-0767C93812FE}"/>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4019A712-ADAA-E686-971F-543146DCDCEA}"/>
              </a:ext>
            </a:extLst>
          </p:cNvPr>
          <p:cNvSpPr txBox="1">
            <a:spLocks noGrp="1"/>
          </p:cNvSpPr>
          <p:nvPr>
            <p:ph type="title"/>
          </p:nvPr>
        </p:nvSpPr>
        <p:spPr>
          <a:xfrm>
            <a:off x="202549" y="64689"/>
            <a:ext cx="852060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 Univariate Analysis –Variables V20 to V39</a:t>
            </a:r>
            <a:endParaRPr dirty="0">
              <a:solidFill>
                <a:srgbClr val="1974D2"/>
              </a:solidFill>
            </a:endParaRPr>
          </a:p>
        </p:txBody>
      </p:sp>
      <p:pic>
        <p:nvPicPr>
          <p:cNvPr id="6" name="Picture 5">
            <a:extLst>
              <a:ext uri="{FF2B5EF4-FFF2-40B4-BE49-F238E27FC236}">
                <a16:creationId xmlns:a16="http://schemas.microsoft.com/office/drawing/2014/main" id="{E6FD300D-E791-3C85-4A08-CB215C61BF8D}"/>
              </a:ext>
            </a:extLst>
          </p:cNvPr>
          <p:cNvPicPr>
            <a:picLocks noChangeAspect="1"/>
          </p:cNvPicPr>
          <p:nvPr/>
        </p:nvPicPr>
        <p:blipFill>
          <a:blip r:embed="rId3"/>
          <a:stretch>
            <a:fillRect/>
          </a:stretch>
        </p:blipFill>
        <p:spPr>
          <a:xfrm>
            <a:off x="54010" y="794051"/>
            <a:ext cx="2608041" cy="1561939"/>
          </a:xfrm>
          <a:prstGeom prst="rect">
            <a:avLst/>
          </a:prstGeom>
        </p:spPr>
      </p:pic>
      <p:pic>
        <p:nvPicPr>
          <p:cNvPr id="8" name="Picture 7">
            <a:extLst>
              <a:ext uri="{FF2B5EF4-FFF2-40B4-BE49-F238E27FC236}">
                <a16:creationId xmlns:a16="http://schemas.microsoft.com/office/drawing/2014/main" id="{9C870110-FCA2-8487-1E0F-1AFB94CD029D}"/>
              </a:ext>
            </a:extLst>
          </p:cNvPr>
          <p:cNvPicPr>
            <a:picLocks noChangeAspect="1"/>
          </p:cNvPicPr>
          <p:nvPr/>
        </p:nvPicPr>
        <p:blipFill>
          <a:blip r:embed="rId4"/>
          <a:stretch>
            <a:fillRect/>
          </a:stretch>
        </p:blipFill>
        <p:spPr>
          <a:xfrm>
            <a:off x="6572745" y="1452943"/>
            <a:ext cx="2571255" cy="1539908"/>
          </a:xfrm>
          <a:prstGeom prst="rect">
            <a:avLst/>
          </a:prstGeom>
        </p:spPr>
      </p:pic>
      <p:pic>
        <p:nvPicPr>
          <p:cNvPr id="9" name="Picture 8">
            <a:extLst>
              <a:ext uri="{FF2B5EF4-FFF2-40B4-BE49-F238E27FC236}">
                <a16:creationId xmlns:a16="http://schemas.microsoft.com/office/drawing/2014/main" id="{D2CF659F-9E7D-BDAD-4152-6620AAA1B4C8}"/>
              </a:ext>
            </a:extLst>
          </p:cNvPr>
          <p:cNvPicPr>
            <a:picLocks noChangeAspect="1"/>
          </p:cNvPicPr>
          <p:nvPr/>
        </p:nvPicPr>
        <p:blipFill>
          <a:blip r:embed="rId5"/>
          <a:stretch>
            <a:fillRect/>
          </a:stretch>
        </p:blipFill>
        <p:spPr>
          <a:xfrm>
            <a:off x="54010" y="2787510"/>
            <a:ext cx="2730416" cy="1635228"/>
          </a:xfrm>
          <a:prstGeom prst="rect">
            <a:avLst/>
          </a:prstGeom>
        </p:spPr>
      </p:pic>
      <p:sp>
        <p:nvSpPr>
          <p:cNvPr id="10" name="TextBox 9">
            <a:extLst>
              <a:ext uri="{FF2B5EF4-FFF2-40B4-BE49-F238E27FC236}">
                <a16:creationId xmlns:a16="http://schemas.microsoft.com/office/drawing/2014/main" id="{BABDDC5A-372C-FAF9-6A62-36AE9D950B7F}"/>
              </a:ext>
            </a:extLst>
          </p:cNvPr>
          <p:cNvSpPr txBox="1"/>
          <p:nvPr/>
        </p:nvSpPr>
        <p:spPr>
          <a:xfrm>
            <a:off x="2784426" y="456103"/>
            <a:ext cx="4032567" cy="4662815"/>
          </a:xfrm>
          <a:prstGeom prst="rect">
            <a:avLst/>
          </a:prstGeom>
          <a:noFill/>
        </p:spPr>
        <p:txBody>
          <a:bodyPr wrap="square">
            <a:spAutoFit/>
          </a:bodyPr>
          <a:lstStyle/>
          <a:p>
            <a:r>
              <a:rPr lang="en-US" sz="900" b="1" dirty="0"/>
              <a:t>Why This Is Important for EDA</a:t>
            </a:r>
          </a:p>
          <a:p>
            <a:r>
              <a:rPr lang="en-US" sz="900" dirty="0"/>
              <a:t>Analyzing these variables is important because it helps identify whether the data satisfies assumptions commonly used in machine learning and statistical modeling, highly skewed variables may require preprocessing,</a:t>
            </a:r>
          </a:p>
          <a:p>
            <a:r>
              <a:rPr lang="en-US" sz="900" dirty="0"/>
              <a:t>extreme outliers may strongly influence model performance, and wider distributions may indicate abnormal operational conditions.</a:t>
            </a:r>
          </a:p>
          <a:p>
            <a:endParaRPr lang="en-US" sz="900" dirty="0"/>
          </a:p>
          <a:p>
            <a:r>
              <a:rPr lang="en-US" sz="900" dirty="0"/>
              <a:t>Variables with heavy tails and large spreads may contain useful information related to turbine instability, mechanical stress, and generator failure behavior.</a:t>
            </a:r>
          </a:p>
          <a:p>
            <a:endParaRPr lang="en-US" sz="900" dirty="0"/>
          </a:p>
          <a:p>
            <a:r>
              <a:rPr lang="en-US" sz="900" dirty="0"/>
              <a:t>This analysis also helps determine whether feature engineering, dimensionality reduction, or advanced preprocessing may improve model performance later in the project.</a:t>
            </a:r>
          </a:p>
          <a:p>
            <a:br>
              <a:rPr lang="en-US" sz="900" dirty="0"/>
            </a:br>
            <a:endParaRPr lang="en-US" sz="900" dirty="0"/>
          </a:p>
          <a:p>
            <a:r>
              <a:rPr lang="en-US" sz="900" b="1" dirty="0"/>
              <a:t>Business Interpretation – Variables V20 to V39</a:t>
            </a:r>
          </a:p>
          <a:p>
            <a:r>
              <a:rPr lang="en-US" sz="900" dirty="0"/>
              <a:t>From a business and operational perspective extreme sensor readings may represent overheating, vibration irregularities, unstable operating conditions,</a:t>
            </a:r>
          </a:p>
          <a:p>
            <a:pPr lvl="1"/>
            <a:r>
              <a:rPr lang="en-US" sz="900" dirty="0"/>
              <a:t>or early component degradation.</a:t>
            </a:r>
          </a:p>
          <a:p>
            <a:pPr lvl="1"/>
            <a:endParaRPr lang="en-US" sz="900" dirty="0"/>
          </a:p>
          <a:p>
            <a:r>
              <a:rPr lang="en-US" sz="900" dirty="0"/>
              <a:t>Variables with larger variability and extreme outliers may be particularly useful for predicting turbine failure events.</a:t>
            </a:r>
          </a:p>
          <a:p>
            <a:endParaRPr lang="en-US" sz="900" dirty="0"/>
          </a:p>
          <a:p>
            <a:r>
              <a:rPr lang="en-US" sz="900" dirty="0"/>
              <a:t>Detecting unusual sensor behavior early can help reduce costly unplanned downtime, improve maintenance scheduling, and support predictive maintenance strategies.</a:t>
            </a:r>
          </a:p>
          <a:p>
            <a:endParaRPr lang="en-US" sz="900" dirty="0"/>
          </a:p>
          <a:p>
            <a:r>
              <a:rPr lang="en-US" sz="900" dirty="0"/>
              <a:t>Because turbine failures are rare but expensive, identifying subtle abnormal patterns in these variables may significantly improve maintenance decision-making.</a:t>
            </a:r>
          </a:p>
          <a:p>
            <a:pPr>
              <a:buNone/>
            </a:pPr>
            <a:br>
              <a:rPr lang="en-US" sz="900" dirty="0">
                <a:latin typeface="Nunito" pitchFamily="2" charset="77"/>
              </a:rPr>
            </a:br>
            <a:endParaRPr lang="en-US" sz="900" dirty="0">
              <a:latin typeface="Nunito" pitchFamily="2" charset="77"/>
            </a:endParaRPr>
          </a:p>
        </p:txBody>
      </p:sp>
    </p:spTree>
    <p:extLst>
      <p:ext uri="{BB962C8B-B14F-4D97-AF65-F5344CB8AC3E}">
        <p14:creationId xmlns:p14="http://schemas.microsoft.com/office/powerpoint/2010/main" val="3730106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CF089454-BE33-085A-1E63-D64A2AC61A4A}"/>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3E23EEA3-DDA2-7D28-CBDE-47FB04BB3C81}"/>
              </a:ext>
            </a:extLst>
          </p:cNvPr>
          <p:cNvSpPr txBox="1">
            <a:spLocks noGrp="1"/>
          </p:cNvSpPr>
          <p:nvPr>
            <p:ph type="title"/>
          </p:nvPr>
        </p:nvSpPr>
        <p:spPr>
          <a:xfrm>
            <a:off x="202549" y="64689"/>
            <a:ext cx="852060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 Univariate Analysis –Variables V40</a:t>
            </a:r>
            <a:endParaRPr dirty="0">
              <a:solidFill>
                <a:srgbClr val="1974D2"/>
              </a:solidFill>
            </a:endParaRPr>
          </a:p>
        </p:txBody>
      </p:sp>
      <p:sp>
        <p:nvSpPr>
          <p:cNvPr id="3" name="TextBox 2">
            <a:extLst>
              <a:ext uri="{FF2B5EF4-FFF2-40B4-BE49-F238E27FC236}">
                <a16:creationId xmlns:a16="http://schemas.microsoft.com/office/drawing/2014/main" id="{EE639424-D11F-B112-D180-B41433F52AFB}"/>
              </a:ext>
            </a:extLst>
          </p:cNvPr>
          <p:cNvSpPr txBox="1"/>
          <p:nvPr/>
        </p:nvSpPr>
        <p:spPr>
          <a:xfrm>
            <a:off x="258696" y="730945"/>
            <a:ext cx="4032567" cy="3447098"/>
          </a:xfrm>
          <a:prstGeom prst="rect">
            <a:avLst/>
          </a:prstGeom>
          <a:noFill/>
        </p:spPr>
        <p:txBody>
          <a:bodyPr wrap="square">
            <a:spAutoFit/>
          </a:bodyPr>
          <a:lstStyle/>
          <a:p>
            <a:r>
              <a:rPr lang="en-US" sz="1000" b="1" dirty="0">
                <a:latin typeface="Nunito" pitchFamily="2" charset="77"/>
              </a:rPr>
              <a:t>Observations</a:t>
            </a:r>
          </a:p>
          <a:p>
            <a:r>
              <a:rPr lang="en-US" sz="900" dirty="0">
                <a:latin typeface="Nunito" pitchFamily="2" charset="77"/>
              </a:rPr>
              <a:t>Variable </a:t>
            </a:r>
            <a:r>
              <a:rPr lang="en-US" sz="900" b="1" dirty="0">
                <a:latin typeface="Nunito" pitchFamily="2" charset="77"/>
              </a:rPr>
              <a:t>V40</a:t>
            </a:r>
            <a:r>
              <a:rPr lang="en-US" sz="900" dirty="0">
                <a:latin typeface="Nunito" pitchFamily="2" charset="77"/>
              </a:rPr>
              <a:t> follows an approximately bell-shaped distribution similar to many earlier sensor variables.</a:t>
            </a:r>
          </a:p>
          <a:p>
            <a:endParaRPr lang="en-US" sz="900" dirty="0">
              <a:latin typeface="Nunito" pitchFamily="2" charset="77"/>
            </a:endParaRPr>
          </a:p>
          <a:p>
            <a:r>
              <a:rPr lang="en-US" sz="900" dirty="0">
                <a:latin typeface="Nunito" pitchFamily="2" charset="77"/>
              </a:rPr>
              <a:t>Additional observations include:</a:t>
            </a:r>
          </a:p>
          <a:p>
            <a:pPr marL="171450" indent="-171450">
              <a:buFont typeface="Arial" panose="020B0604020202020204" pitchFamily="34" charset="0"/>
              <a:buChar char="•"/>
            </a:pPr>
            <a:r>
              <a:rPr lang="en-US" sz="900" dirty="0">
                <a:latin typeface="Nunito" pitchFamily="2" charset="77"/>
              </a:rPr>
              <a:t>The histogram appears relatively symmetric with mild skewness.</a:t>
            </a:r>
          </a:p>
          <a:p>
            <a:pPr marL="171450" indent="-171450">
              <a:buFont typeface="Arial" panose="020B0604020202020204" pitchFamily="34" charset="0"/>
              <a:buChar char="•"/>
            </a:pPr>
            <a:r>
              <a:rPr lang="en-US" sz="900" dirty="0">
                <a:latin typeface="Nunito" pitchFamily="2" charset="77"/>
              </a:rPr>
              <a:t>The mean and median are very close, indicating balanced behavior.</a:t>
            </a:r>
          </a:p>
          <a:p>
            <a:pPr marL="171450" indent="-171450">
              <a:buFont typeface="Arial" panose="020B0604020202020204" pitchFamily="34" charset="0"/>
              <a:buChar char="•"/>
            </a:pPr>
            <a:r>
              <a:rPr lang="en-US" sz="900" dirty="0">
                <a:latin typeface="Nunito" pitchFamily="2" charset="77"/>
              </a:rPr>
              <a:t>Several outliers are visible on both lower and upper tails.</a:t>
            </a:r>
          </a:p>
          <a:p>
            <a:endParaRPr lang="en-US" sz="900" dirty="0">
              <a:latin typeface="Nunito" pitchFamily="2" charset="77"/>
            </a:endParaRPr>
          </a:p>
          <a:p>
            <a:r>
              <a:rPr lang="en-US" sz="900" dirty="0">
                <a:latin typeface="Nunito" pitchFamily="2" charset="77"/>
              </a:rPr>
              <a:t>Compared to earlier variables, V40 appears slightly more stable with a narrower spread.</a:t>
            </a:r>
          </a:p>
          <a:p>
            <a:br>
              <a:rPr lang="en-US" sz="900" dirty="0">
                <a:latin typeface="Nunito" pitchFamily="2" charset="77"/>
              </a:rPr>
            </a:br>
            <a:endParaRPr lang="en-US" sz="900" dirty="0">
              <a:latin typeface="Nunito" pitchFamily="2" charset="77"/>
            </a:endParaRPr>
          </a:p>
          <a:p>
            <a:r>
              <a:rPr lang="en-US" sz="1000" b="1" dirty="0">
                <a:latin typeface="Nunito" pitchFamily="2" charset="77"/>
              </a:rPr>
              <a:t>Importance of Variable Distribution Analysis</a:t>
            </a:r>
          </a:p>
          <a:p>
            <a:r>
              <a:rPr lang="en-US" sz="900" dirty="0">
                <a:latin typeface="Nunito" pitchFamily="2" charset="77"/>
              </a:rPr>
              <a:t>Analyzing variable distributions helps identify skewness, variability,</a:t>
            </a:r>
          </a:p>
          <a:p>
            <a:r>
              <a:rPr lang="en-US" sz="900" dirty="0">
                <a:latin typeface="Nunito" pitchFamily="2" charset="77"/>
              </a:rPr>
              <a:t>outliers, and potential data quality concerns.</a:t>
            </a:r>
          </a:p>
          <a:p>
            <a:endParaRPr lang="en-US" sz="900" dirty="0">
              <a:latin typeface="Nunito" pitchFamily="2" charset="77"/>
            </a:endParaRPr>
          </a:p>
          <a:p>
            <a:r>
              <a:rPr lang="en-US" sz="900" dirty="0">
                <a:latin typeface="Nunito" pitchFamily="2" charset="77"/>
              </a:rPr>
              <a:t>These insights help determine whether scaling is required, whether transformations may improve model performance, and which variables may contribute strongly to predictive accuracy.</a:t>
            </a:r>
          </a:p>
          <a:p>
            <a:br>
              <a:rPr lang="en-US" sz="900" dirty="0">
                <a:latin typeface="Nunito" pitchFamily="2" charset="77"/>
              </a:rPr>
            </a:br>
            <a:br>
              <a:rPr lang="en-US" sz="900" dirty="0">
                <a:latin typeface="Nunito" pitchFamily="2" charset="77"/>
              </a:rPr>
            </a:br>
            <a:br>
              <a:rPr lang="en-US" sz="900" dirty="0">
                <a:latin typeface="Nunito" pitchFamily="2" charset="77"/>
              </a:rPr>
            </a:br>
            <a:endParaRPr lang="en-US" sz="900" dirty="0">
              <a:latin typeface="Nunito" pitchFamily="2" charset="77"/>
            </a:endParaRPr>
          </a:p>
        </p:txBody>
      </p:sp>
      <p:pic>
        <p:nvPicPr>
          <p:cNvPr id="2" name="Picture 1">
            <a:extLst>
              <a:ext uri="{FF2B5EF4-FFF2-40B4-BE49-F238E27FC236}">
                <a16:creationId xmlns:a16="http://schemas.microsoft.com/office/drawing/2014/main" id="{6BBD624D-5533-4DD1-ABED-EDB73AA52930}"/>
              </a:ext>
            </a:extLst>
          </p:cNvPr>
          <p:cNvPicPr>
            <a:picLocks noChangeAspect="1"/>
          </p:cNvPicPr>
          <p:nvPr/>
        </p:nvPicPr>
        <p:blipFill>
          <a:blip r:embed="rId3"/>
          <a:stretch>
            <a:fillRect/>
          </a:stretch>
        </p:blipFill>
        <p:spPr>
          <a:xfrm>
            <a:off x="5007159" y="497306"/>
            <a:ext cx="4032568" cy="2415079"/>
          </a:xfrm>
          <a:prstGeom prst="rect">
            <a:avLst/>
          </a:prstGeom>
        </p:spPr>
      </p:pic>
    </p:spTree>
    <p:extLst>
      <p:ext uri="{BB962C8B-B14F-4D97-AF65-F5344CB8AC3E}">
        <p14:creationId xmlns:p14="http://schemas.microsoft.com/office/powerpoint/2010/main" val="3726326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141D8318-4A23-22FE-A508-55380498FB48}"/>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5B980A9C-A3BB-671D-3E14-77B0D69BE614}"/>
              </a:ext>
            </a:extLst>
          </p:cNvPr>
          <p:cNvSpPr txBox="1">
            <a:spLocks noGrp="1"/>
          </p:cNvSpPr>
          <p:nvPr>
            <p:ph type="title"/>
          </p:nvPr>
        </p:nvSpPr>
        <p:spPr>
          <a:xfrm>
            <a:off x="202549" y="64689"/>
            <a:ext cx="8520600" cy="572700"/>
          </a:xfrm>
          <a:prstGeom prst="rect">
            <a:avLst/>
          </a:prstGeom>
          <a:noFill/>
          <a:ln>
            <a:noFill/>
          </a:ln>
        </p:spPr>
        <p:txBody>
          <a:bodyPr spcFirstLastPara="1" wrap="square" lIns="91425" tIns="91425" rIns="91425" bIns="91425" anchor="t" anchorCtr="0">
            <a:noAutofit/>
          </a:bodyPr>
          <a:lstStyle/>
          <a:p>
            <a:pPr lvl="0"/>
            <a:r>
              <a:rPr lang="en" sz="1800" dirty="0">
                <a:solidFill>
                  <a:srgbClr val="1974D2"/>
                </a:solidFill>
              </a:rPr>
              <a:t>EDA Results: Univariate Analysis --Distribution of Target Variable</a:t>
            </a:r>
            <a:endParaRPr sz="1800" dirty="0">
              <a:solidFill>
                <a:srgbClr val="1974D2"/>
              </a:solidFill>
            </a:endParaRPr>
          </a:p>
        </p:txBody>
      </p:sp>
      <p:sp>
        <p:nvSpPr>
          <p:cNvPr id="3" name="TextBox 2">
            <a:extLst>
              <a:ext uri="{FF2B5EF4-FFF2-40B4-BE49-F238E27FC236}">
                <a16:creationId xmlns:a16="http://schemas.microsoft.com/office/drawing/2014/main" id="{AEF0C8FB-E991-2A96-E7D0-AA4FE40B4BA6}"/>
              </a:ext>
            </a:extLst>
          </p:cNvPr>
          <p:cNvSpPr txBox="1"/>
          <p:nvPr/>
        </p:nvSpPr>
        <p:spPr>
          <a:xfrm>
            <a:off x="258696" y="730945"/>
            <a:ext cx="4032567" cy="3416320"/>
          </a:xfrm>
          <a:prstGeom prst="rect">
            <a:avLst/>
          </a:prstGeom>
          <a:noFill/>
        </p:spPr>
        <p:txBody>
          <a:bodyPr wrap="square">
            <a:spAutoFit/>
          </a:bodyPr>
          <a:lstStyle/>
          <a:p>
            <a:r>
              <a:rPr lang="en-US" sz="900" b="1" dirty="0">
                <a:latin typeface="Nunito" pitchFamily="2" charset="77"/>
              </a:rPr>
              <a:t>Business Impact of Sensor Distribution Analysis</a:t>
            </a:r>
          </a:p>
          <a:p>
            <a:r>
              <a:rPr lang="en-US" sz="900" dirty="0">
                <a:latin typeface="Nunito" pitchFamily="2" charset="77"/>
              </a:rPr>
              <a:t>Stable sensor behavior improves the model’s ability to distinguish between healthy turbine operation, and abnormal operating conditions.</a:t>
            </a:r>
          </a:p>
          <a:p>
            <a:endParaRPr lang="en-US" sz="900" dirty="0">
              <a:latin typeface="Nunito" pitchFamily="2" charset="77"/>
            </a:endParaRPr>
          </a:p>
          <a:p>
            <a:r>
              <a:rPr lang="en-US" sz="900" dirty="0">
                <a:latin typeface="Nunito" pitchFamily="2" charset="77"/>
              </a:rPr>
              <a:t>Variables showing unusual or extreme behavior may act as early warning indicators for turbine failure and predictive maintenance systems.</a:t>
            </a:r>
          </a:p>
          <a:p>
            <a:br>
              <a:rPr lang="en-US" sz="900" dirty="0">
                <a:latin typeface="Nunito" pitchFamily="2" charset="77"/>
              </a:rPr>
            </a:br>
            <a:r>
              <a:rPr lang="en-US" sz="900" b="1" dirty="0">
                <a:latin typeface="Nunito" pitchFamily="2" charset="77"/>
              </a:rPr>
              <a:t>Target Variable Analysis</a:t>
            </a:r>
          </a:p>
          <a:p>
            <a:r>
              <a:rPr lang="en-US" sz="900" b="1" dirty="0">
                <a:latin typeface="Nunito" pitchFamily="2" charset="77"/>
              </a:rPr>
              <a:t>Observations</a:t>
            </a:r>
          </a:p>
          <a:p>
            <a:r>
              <a:rPr lang="en-US" sz="900" dirty="0">
                <a:latin typeface="Nunito" pitchFamily="2" charset="77"/>
              </a:rPr>
              <a:t>The target variable shows a highly imbalanced distribution.</a:t>
            </a:r>
          </a:p>
          <a:p>
            <a:pPr marL="171450" indent="-171450">
              <a:buFont typeface="Arial" panose="020B0604020202020204" pitchFamily="34" charset="0"/>
              <a:buChar char="•"/>
            </a:pPr>
            <a:r>
              <a:rPr lang="en-US" sz="900" dirty="0">
                <a:latin typeface="Nunito" pitchFamily="2" charset="77"/>
              </a:rPr>
              <a:t>Most observations belong to class </a:t>
            </a:r>
            <a:r>
              <a:rPr lang="en-US" sz="900" b="1" dirty="0">
                <a:latin typeface="Nunito" pitchFamily="2" charset="77"/>
              </a:rPr>
              <a:t>0 (No Failure)</a:t>
            </a:r>
            <a:r>
              <a:rPr lang="en-US" sz="900" dirty="0">
                <a:latin typeface="Nunito" pitchFamily="2" charset="77"/>
              </a:rPr>
              <a:t>.</a:t>
            </a:r>
          </a:p>
          <a:p>
            <a:pPr marL="171450" indent="-171450">
              <a:buFont typeface="Arial" panose="020B0604020202020204" pitchFamily="34" charset="0"/>
              <a:buChar char="•"/>
            </a:pPr>
            <a:r>
              <a:rPr lang="en-US" sz="900" dirty="0">
                <a:latin typeface="Nunito" pitchFamily="2" charset="77"/>
              </a:rPr>
              <a:t>Only a small proportion belong to class </a:t>
            </a:r>
            <a:r>
              <a:rPr lang="en-US" sz="900" b="1" dirty="0">
                <a:latin typeface="Nunito" pitchFamily="2" charset="77"/>
              </a:rPr>
              <a:t>1 (Failure)</a:t>
            </a:r>
            <a:r>
              <a:rPr lang="en-US" sz="900" dirty="0">
                <a:latin typeface="Nunito" pitchFamily="2" charset="77"/>
              </a:rPr>
              <a:t>.</a:t>
            </a:r>
          </a:p>
          <a:p>
            <a:r>
              <a:rPr lang="en-US" sz="900" dirty="0">
                <a:latin typeface="Nunito" pitchFamily="2" charset="77"/>
              </a:rPr>
              <a:t>This confirms:</a:t>
            </a:r>
          </a:p>
          <a:p>
            <a:pPr marL="171450" indent="-171450">
              <a:buFont typeface="Arial" panose="020B0604020202020204" pitchFamily="34" charset="0"/>
              <a:buChar char="•"/>
            </a:pPr>
            <a:r>
              <a:rPr lang="en-US" sz="900" dirty="0">
                <a:latin typeface="Nunito" pitchFamily="2" charset="77"/>
              </a:rPr>
              <a:t>approximately </a:t>
            </a:r>
            <a:r>
              <a:rPr lang="en-US" sz="900" b="1" dirty="0">
                <a:latin typeface="Nunito" pitchFamily="2" charset="77"/>
              </a:rPr>
              <a:t>94.5% No Failure</a:t>
            </a:r>
            <a:endParaRPr lang="en-US" sz="900" dirty="0">
              <a:latin typeface="Nunito" pitchFamily="2" charset="77"/>
            </a:endParaRPr>
          </a:p>
          <a:p>
            <a:pPr marL="171450" indent="-171450">
              <a:buFont typeface="Arial" panose="020B0604020202020204" pitchFamily="34" charset="0"/>
              <a:buChar char="•"/>
            </a:pPr>
            <a:r>
              <a:rPr lang="en-US" sz="900" dirty="0">
                <a:latin typeface="Nunito" pitchFamily="2" charset="77"/>
              </a:rPr>
              <a:t>approximately </a:t>
            </a:r>
            <a:r>
              <a:rPr lang="en-US" sz="900" b="1" dirty="0">
                <a:latin typeface="Nunito" pitchFamily="2" charset="77"/>
              </a:rPr>
              <a:t>5.5% Failure</a:t>
            </a:r>
            <a:endParaRPr lang="en-US" sz="900" dirty="0">
              <a:latin typeface="Nunito" pitchFamily="2" charset="77"/>
            </a:endParaRPr>
          </a:p>
          <a:p>
            <a:r>
              <a:rPr lang="en-US" sz="900" dirty="0">
                <a:latin typeface="Nunito" pitchFamily="2" charset="77"/>
              </a:rPr>
              <a:t>The boxplot also highlights the strong imbalance between the two classes.</a:t>
            </a:r>
          </a:p>
          <a:p>
            <a:br>
              <a:rPr lang="en-US" sz="900" dirty="0">
                <a:latin typeface="Nunito" pitchFamily="2" charset="77"/>
              </a:rPr>
            </a:br>
            <a:r>
              <a:rPr lang="en-US" sz="900" b="1" dirty="0">
                <a:latin typeface="Nunito" pitchFamily="2" charset="77"/>
              </a:rPr>
              <a:t>Why Target Distribution Is Important</a:t>
            </a:r>
            <a:r>
              <a:rPr lang="en-US" sz="900" b="1" dirty="0">
                <a:latin typeface="Nunito" pitchFamily="2" charset="77"/>
                <a:hlinkClick r:id="rId3"/>
              </a:rPr>
              <a:t>¶</a:t>
            </a:r>
            <a:endParaRPr lang="en-US" sz="900" b="1" dirty="0">
              <a:latin typeface="Nunito" pitchFamily="2" charset="77"/>
            </a:endParaRPr>
          </a:p>
          <a:p>
            <a:r>
              <a:rPr lang="en-US" sz="900" b="1" dirty="0">
                <a:latin typeface="Nunito" pitchFamily="2" charset="77"/>
              </a:rPr>
              <a:t>1. Class Imbalance Impacts Model Training</a:t>
            </a:r>
          </a:p>
          <a:p>
            <a:r>
              <a:rPr lang="en-US" sz="900" dirty="0">
                <a:latin typeface="Nunito" pitchFamily="2" charset="77"/>
              </a:rPr>
              <a:t>Machine learning models may become biased toward the majority class.</a:t>
            </a:r>
          </a:p>
          <a:p>
            <a:r>
              <a:rPr lang="en-US" sz="900" dirty="0">
                <a:latin typeface="Nunito" pitchFamily="2" charset="77"/>
              </a:rPr>
              <a:t>For example:</a:t>
            </a:r>
          </a:p>
          <a:p>
            <a:r>
              <a:rPr lang="en-US" sz="900" dirty="0">
                <a:latin typeface="Nunito" pitchFamily="2" charset="77"/>
              </a:rPr>
              <a:t>A model predicting only "No Failure" could still achieve high accuracy.</a:t>
            </a:r>
          </a:p>
          <a:p>
            <a:r>
              <a:rPr lang="en-US" sz="900" dirty="0">
                <a:latin typeface="Nunito" pitchFamily="2" charset="77"/>
              </a:rPr>
              <a:t>However, it would fail to identify actual turbine failures.</a:t>
            </a:r>
          </a:p>
          <a:p>
            <a:endParaRPr lang="en-US" sz="900" dirty="0">
              <a:latin typeface="Nunito" pitchFamily="2" charset="77"/>
            </a:endParaRPr>
          </a:p>
        </p:txBody>
      </p:sp>
      <p:sp>
        <p:nvSpPr>
          <p:cNvPr id="2" name="TextBox 1">
            <a:extLst>
              <a:ext uri="{FF2B5EF4-FFF2-40B4-BE49-F238E27FC236}">
                <a16:creationId xmlns:a16="http://schemas.microsoft.com/office/drawing/2014/main" id="{3E046B23-2A35-B873-6A61-37E599130B1A}"/>
              </a:ext>
            </a:extLst>
          </p:cNvPr>
          <p:cNvSpPr txBox="1"/>
          <p:nvPr/>
        </p:nvSpPr>
        <p:spPr>
          <a:xfrm>
            <a:off x="4572000" y="730945"/>
            <a:ext cx="4032567" cy="2723823"/>
          </a:xfrm>
          <a:prstGeom prst="rect">
            <a:avLst/>
          </a:prstGeom>
          <a:noFill/>
        </p:spPr>
        <p:txBody>
          <a:bodyPr wrap="square">
            <a:spAutoFit/>
          </a:bodyPr>
          <a:lstStyle/>
          <a:p>
            <a:r>
              <a:rPr lang="en-US" sz="900" b="1" dirty="0">
                <a:latin typeface="Nunito" pitchFamily="2" charset="77"/>
              </a:rPr>
              <a:t>2. Accuracy Alone Becomes Misleading</a:t>
            </a:r>
          </a:p>
          <a:p>
            <a:r>
              <a:rPr lang="en-US" sz="900" dirty="0">
                <a:latin typeface="Nunito" pitchFamily="2" charset="77"/>
              </a:rPr>
              <a:t>Because failures are rare accuracy alone is not a reliable evaluation metric.</a:t>
            </a:r>
          </a:p>
          <a:p>
            <a:r>
              <a:rPr lang="en-US" sz="900" dirty="0">
                <a:latin typeface="Nunito" pitchFamily="2" charset="77"/>
              </a:rPr>
              <a:t>More meaningful metrics include Recall, Precision, F1-score,  ROC-AUC, and confusion matrix analysis.</a:t>
            </a:r>
          </a:p>
          <a:p>
            <a:br>
              <a:rPr lang="en-US" sz="900" dirty="0">
                <a:latin typeface="Nunito" pitchFamily="2" charset="77"/>
              </a:rPr>
            </a:br>
            <a:endParaRPr lang="en-US" sz="900" dirty="0">
              <a:latin typeface="Nunito" pitchFamily="2" charset="77"/>
            </a:endParaRPr>
          </a:p>
          <a:p>
            <a:r>
              <a:rPr lang="en-US" sz="900" b="1" dirty="0">
                <a:latin typeface="Nunito" pitchFamily="2" charset="77"/>
              </a:rPr>
              <a:t>3. Failure Detection Is the Main Business Objective</a:t>
            </a:r>
          </a:p>
          <a:p>
            <a:r>
              <a:rPr lang="en-US" sz="900" dirty="0">
                <a:latin typeface="Nunito" pitchFamily="2" charset="77"/>
              </a:rPr>
              <a:t>The business problem prioritizes early failure detection.</a:t>
            </a:r>
          </a:p>
          <a:p>
            <a:endParaRPr lang="en-US" sz="900" dirty="0">
              <a:latin typeface="Nunito" pitchFamily="2" charset="77"/>
            </a:endParaRPr>
          </a:p>
          <a:p>
            <a:r>
              <a:rPr lang="en-US" sz="900" dirty="0">
                <a:latin typeface="Nunito" pitchFamily="2" charset="77"/>
              </a:rPr>
              <a:t>Missing a true failure (False Negative) may result in turbine breakdown,</a:t>
            </a:r>
          </a:p>
          <a:p>
            <a:r>
              <a:rPr lang="en-US" sz="900" dirty="0">
                <a:latin typeface="Nunito" pitchFamily="2" charset="77"/>
              </a:rPr>
              <a:t>expensive generator replacement, operational downtime, and increased maintenance expenses.</a:t>
            </a:r>
          </a:p>
          <a:p>
            <a:endParaRPr lang="en-US" sz="900" dirty="0">
              <a:latin typeface="Nunito" pitchFamily="2" charset="77"/>
            </a:endParaRPr>
          </a:p>
          <a:p>
            <a:r>
              <a:rPr lang="en-US" sz="900" dirty="0">
                <a:latin typeface="Nunito" pitchFamily="2" charset="77"/>
              </a:rPr>
              <a:t>Therefore, the final model should prioritize maximizing Recall, minimizing False Negatives, and improving failure detection performance.</a:t>
            </a:r>
          </a:p>
          <a:p>
            <a:br>
              <a:rPr lang="en-US" sz="900" dirty="0">
                <a:latin typeface="Nunito" pitchFamily="2" charset="77"/>
              </a:rPr>
            </a:br>
            <a:br>
              <a:rPr lang="en-US" sz="900" dirty="0">
                <a:latin typeface="Nunito" pitchFamily="2" charset="77"/>
              </a:rPr>
            </a:br>
            <a:br>
              <a:rPr lang="en-US" sz="900" dirty="0">
                <a:latin typeface="Nunito" pitchFamily="2" charset="77"/>
              </a:rPr>
            </a:br>
            <a:endParaRPr lang="en-US" sz="900" dirty="0">
              <a:latin typeface="Nunito" pitchFamily="2" charset="77"/>
            </a:endParaRPr>
          </a:p>
        </p:txBody>
      </p:sp>
      <p:pic>
        <p:nvPicPr>
          <p:cNvPr id="5" name="Picture 4">
            <a:extLst>
              <a:ext uri="{FF2B5EF4-FFF2-40B4-BE49-F238E27FC236}">
                <a16:creationId xmlns:a16="http://schemas.microsoft.com/office/drawing/2014/main" id="{E0EC1781-A9B2-1B26-A1A8-766E2C40EDEE}"/>
              </a:ext>
            </a:extLst>
          </p:cNvPr>
          <p:cNvPicPr>
            <a:picLocks noChangeAspect="1"/>
          </p:cNvPicPr>
          <p:nvPr/>
        </p:nvPicPr>
        <p:blipFill>
          <a:blip r:embed="rId4"/>
          <a:stretch>
            <a:fillRect/>
          </a:stretch>
        </p:blipFill>
        <p:spPr>
          <a:xfrm>
            <a:off x="4572000" y="2936448"/>
            <a:ext cx="3374843" cy="1985472"/>
          </a:xfrm>
          <a:prstGeom prst="rect">
            <a:avLst/>
          </a:prstGeom>
        </p:spPr>
      </p:pic>
    </p:spTree>
    <p:extLst>
      <p:ext uri="{BB962C8B-B14F-4D97-AF65-F5344CB8AC3E}">
        <p14:creationId xmlns:p14="http://schemas.microsoft.com/office/powerpoint/2010/main" val="668627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E0B3FC33-F9E0-BF99-3808-8B4608A9A30D}"/>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8FA17150-5275-C65C-141B-939B7E81FE4B}"/>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lvl="0"/>
            <a:r>
              <a:rPr lang="en" sz="1800" dirty="0">
                <a:solidFill>
                  <a:srgbClr val="1974D2"/>
                </a:solidFill>
              </a:rPr>
              <a:t>EDA Results: Univariate Analysis -- Distribution of Target Variable</a:t>
            </a:r>
            <a:endParaRPr sz="1800" dirty="0">
              <a:solidFill>
                <a:srgbClr val="1974D2"/>
              </a:solidFill>
            </a:endParaRPr>
          </a:p>
        </p:txBody>
      </p:sp>
      <p:sp>
        <p:nvSpPr>
          <p:cNvPr id="131" name="Google Shape;131;g12508d39905_0_54">
            <a:extLst>
              <a:ext uri="{FF2B5EF4-FFF2-40B4-BE49-F238E27FC236}">
                <a16:creationId xmlns:a16="http://schemas.microsoft.com/office/drawing/2014/main" id="{60ECC425-54D9-E933-C7CA-FF95A9D58FAA}"/>
              </a:ext>
            </a:extLst>
          </p:cNvPr>
          <p:cNvSpPr txBox="1">
            <a:spLocks noGrp="1"/>
          </p:cNvSpPr>
          <p:nvPr>
            <p:ph type="body" idx="1"/>
          </p:nvPr>
        </p:nvSpPr>
        <p:spPr>
          <a:xfrm>
            <a:off x="23088" y="768346"/>
            <a:ext cx="2685029" cy="3706800"/>
          </a:xfrm>
          <a:prstGeom prst="rect">
            <a:avLst/>
          </a:prstGeom>
          <a:noFill/>
          <a:ln>
            <a:noFill/>
          </a:ln>
        </p:spPr>
        <p:txBody>
          <a:bodyPr spcFirstLastPara="1" wrap="square" lIns="91425" tIns="91425" rIns="91425" bIns="91425" anchor="t" anchorCtr="0">
            <a:noAutofit/>
          </a:bodyPr>
          <a:lstStyle/>
          <a:p>
            <a:pPr marL="133350" indent="0">
              <a:buNone/>
            </a:pPr>
            <a:r>
              <a:rPr lang="en-US" sz="1000" b="1" dirty="0"/>
              <a:t>Observations</a:t>
            </a:r>
          </a:p>
          <a:p>
            <a:r>
              <a:rPr lang="en-US" sz="1000" dirty="0"/>
              <a:t>The distribution of the target variable in both the training and testing datasets is highly imbalanced.</a:t>
            </a:r>
          </a:p>
          <a:p>
            <a:pPr marL="133350" indent="0">
              <a:buNone/>
            </a:pPr>
            <a:r>
              <a:rPr lang="en-US" sz="1000" b="1" dirty="0"/>
              <a:t>Training Dataset</a:t>
            </a:r>
          </a:p>
          <a:p>
            <a:r>
              <a:rPr lang="en-US" sz="1000" dirty="0"/>
              <a:t>Class </a:t>
            </a:r>
            <a:r>
              <a:rPr lang="en-US" sz="1000" b="1" dirty="0"/>
              <a:t>0 (No Failure)</a:t>
            </a:r>
            <a:r>
              <a:rPr lang="en-US" sz="1000" dirty="0"/>
              <a:t>: </a:t>
            </a:r>
            <a:r>
              <a:rPr lang="en-US" sz="1000" b="1" dirty="0"/>
              <a:t>94.45%</a:t>
            </a:r>
            <a:endParaRPr lang="en-US" sz="1000" dirty="0"/>
          </a:p>
          <a:p>
            <a:r>
              <a:rPr lang="en-US" sz="1000" dirty="0"/>
              <a:t>Class </a:t>
            </a:r>
            <a:r>
              <a:rPr lang="en-US" sz="1000" b="1" dirty="0"/>
              <a:t>1 (Failure)</a:t>
            </a:r>
            <a:r>
              <a:rPr lang="en-US" sz="1000" dirty="0"/>
              <a:t>: </a:t>
            </a:r>
            <a:r>
              <a:rPr lang="en-US" sz="1000" b="1" dirty="0"/>
              <a:t>5.55%</a:t>
            </a:r>
            <a:endParaRPr lang="en-US" sz="1000" dirty="0"/>
          </a:p>
          <a:p>
            <a:pPr marL="133350" indent="0">
              <a:buNone/>
            </a:pPr>
            <a:r>
              <a:rPr lang="en-US" sz="1000" b="1" dirty="0"/>
              <a:t>Testing Dataset</a:t>
            </a:r>
          </a:p>
          <a:p>
            <a:r>
              <a:rPr lang="en-US" sz="1000" dirty="0"/>
              <a:t>Class </a:t>
            </a:r>
            <a:r>
              <a:rPr lang="en-US" sz="1000" b="1" dirty="0"/>
              <a:t>0 (No Failure)</a:t>
            </a:r>
            <a:r>
              <a:rPr lang="en-US" sz="1000" dirty="0"/>
              <a:t>: </a:t>
            </a:r>
            <a:r>
              <a:rPr lang="en-US" sz="1000" b="1" dirty="0"/>
              <a:t>94.36%</a:t>
            </a:r>
            <a:endParaRPr lang="en-US" sz="1000" dirty="0"/>
          </a:p>
          <a:p>
            <a:r>
              <a:rPr lang="en-US" sz="1000" dirty="0"/>
              <a:t>Class </a:t>
            </a:r>
            <a:r>
              <a:rPr lang="en-US" sz="1000" b="1" dirty="0"/>
              <a:t>1 (Failure)</a:t>
            </a:r>
            <a:r>
              <a:rPr lang="en-US" sz="1000" dirty="0"/>
              <a:t>: </a:t>
            </a:r>
            <a:r>
              <a:rPr lang="en-US" sz="1000" b="1" dirty="0"/>
              <a:t>5.64%</a:t>
            </a:r>
            <a:endParaRPr lang="en-US" sz="1000" dirty="0"/>
          </a:p>
          <a:p>
            <a:pPr marL="133350" indent="0">
              <a:buNone/>
            </a:pPr>
            <a:r>
              <a:rPr lang="en-US" sz="1000" dirty="0"/>
              <a:t>The proportions in the training and testing datasets are very similar, indicating that both datasets follow a consistent distribution.</a:t>
            </a:r>
          </a:p>
          <a:p>
            <a:pPr marL="133350" indent="0">
              <a:buNone/>
            </a:pPr>
            <a:r>
              <a:rPr lang="en-US" sz="1000" dirty="0"/>
              <a:t>This means turbine failures are relatively rare events, while the majority of turbines operate under normal conditions. </a:t>
            </a:r>
            <a:br>
              <a:rPr lang="en-US" sz="1000" dirty="0"/>
            </a:br>
            <a:br>
              <a:rPr lang="en-US" sz="1000" dirty="0"/>
            </a:br>
            <a:endParaRPr sz="1000" i="1" dirty="0">
              <a:solidFill>
                <a:srgbClr val="000000"/>
              </a:solidFill>
            </a:endParaRPr>
          </a:p>
        </p:txBody>
      </p:sp>
      <p:pic>
        <p:nvPicPr>
          <p:cNvPr id="2" name="Picture 1">
            <a:extLst>
              <a:ext uri="{FF2B5EF4-FFF2-40B4-BE49-F238E27FC236}">
                <a16:creationId xmlns:a16="http://schemas.microsoft.com/office/drawing/2014/main" id="{0B861FE7-2213-02B2-DC8A-870E3DB31FC2}"/>
              </a:ext>
            </a:extLst>
          </p:cNvPr>
          <p:cNvPicPr>
            <a:picLocks noChangeAspect="1"/>
          </p:cNvPicPr>
          <p:nvPr/>
        </p:nvPicPr>
        <p:blipFill>
          <a:blip r:embed="rId3"/>
          <a:stretch>
            <a:fillRect/>
          </a:stretch>
        </p:blipFill>
        <p:spPr>
          <a:xfrm>
            <a:off x="7475050" y="2377573"/>
            <a:ext cx="1612900" cy="1816100"/>
          </a:xfrm>
          <a:prstGeom prst="rect">
            <a:avLst/>
          </a:prstGeom>
        </p:spPr>
      </p:pic>
      <p:sp>
        <p:nvSpPr>
          <p:cNvPr id="3" name="Google Shape;131;g12508d39905_0_54">
            <a:extLst>
              <a:ext uri="{FF2B5EF4-FFF2-40B4-BE49-F238E27FC236}">
                <a16:creationId xmlns:a16="http://schemas.microsoft.com/office/drawing/2014/main" id="{9E099F84-E776-0608-5BF5-E851F1ED0B75}"/>
              </a:ext>
            </a:extLst>
          </p:cNvPr>
          <p:cNvSpPr txBox="1">
            <a:spLocks/>
          </p:cNvSpPr>
          <p:nvPr/>
        </p:nvSpPr>
        <p:spPr>
          <a:xfrm>
            <a:off x="2447180" y="768346"/>
            <a:ext cx="2685029"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1000" b="1" dirty="0"/>
              <a:t>Why This Is Important</a:t>
            </a:r>
          </a:p>
          <a:p>
            <a:pPr marL="133350" indent="0">
              <a:buNone/>
            </a:pPr>
            <a:r>
              <a:rPr lang="en-US" sz="1000" dirty="0"/>
              <a:t>Analyzing the distribution of the target variable is extremely important because:</a:t>
            </a:r>
          </a:p>
          <a:p>
            <a:pPr marL="133350" indent="0">
              <a:buNone/>
            </a:pPr>
            <a:r>
              <a:rPr lang="en-US" sz="1000" b="1" dirty="0"/>
              <a:t>1. The Dataset Is Highly Imbalanced</a:t>
            </a:r>
            <a:r>
              <a:rPr lang="en-US" sz="1000" b="1" dirty="0">
                <a:hlinkClick r:id="rId4"/>
              </a:rPr>
              <a:t>¶</a:t>
            </a:r>
            <a:endParaRPr lang="en-US" sz="1000" b="1" dirty="0"/>
          </a:p>
          <a:p>
            <a:r>
              <a:rPr lang="en-US" sz="1000" dirty="0"/>
              <a:t>The model will be trained on a dataset where the majority class ("No Failure") dominates the observations.</a:t>
            </a:r>
          </a:p>
          <a:p>
            <a:r>
              <a:rPr lang="en-US" sz="1000" dirty="0"/>
              <a:t>Without proper handling:</a:t>
            </a:r>
          </a:p>
          <a:p>
            <a:r>
              <a:rPr lang="en-US" sz="1000" dirty="0"/>
              <a:t>the model may become biased toward predicting the majority class,</a:t>
            </a:r>
          </a:p>
          <a:p>
            <a:r>
              <a:rPr lang="en-US" sz="1000" dirty="0"/>
              <a:t>resulting in poor failure detection performance.</a:t>
            </a:r>
          </a:p>
          <a:p>
            <a:r>
              <a:rPr lang="en-US" sz="1000" dirty="0"/>
              <a:t>For example a model predicting only "No Failure" could still achieve over 94% accuracy, but it would completely fail to identify actual turbine failures.</a:t>
            </a:r>
          </a:p>
        </p:txBody>
      </p:sp>
      <p:sp>
        <p:nvSpPr>
          <p:cNvPr id="4" name="Google Shape;131;g12508d39905_0_54">
            <a:extLst>
              <a:ext uri="{FF2B5EF4-FFF2-40B4-BE49-F238E27FC236}">
                <a16:creationId xmlns:a16="http://schemas.microsoft.com/office/drawing/2014/main" id="{3942D0B4-E07E-63F3-FA0E-09EC0FF9E46C}"/>
              </a:ext>
            </a:extLst>
          </p:cNvPr>
          <p:cNvSpPr txBox="1">
            <a:spLocks/>
          </p:cNvSpPr>
          <p:nvPr/>
        </p:nvSpPr>
        <p:spPr>
          <a:xfrm>
            <a:off x="4930502" y="768346"/>
            <a:ext cx="2685029"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1000" b="1" dirty="0"/>
              <a:t>2. Accuracy Alone Becomes Misleading</a:t>
            </a:r>
          </a:p>
          <a:p>
            <a:pPr marL="133350" indent="0">
              <a:buNone/>
            </a:pPr>
            <a:r>
              <a:rPr lang="en-US" sz="1000" dirty="0"/>
              <a:t>Because failure events are rare accuracy is not an appropriate standalone evaluation metric. </a:t>
            </a:r>
          </a:p>
          <a:p>
            <a:pPr marL="133350" indent="0">
              <a:buNone/>
            </a:pPr>
            <a:r>
              <a:rPr lang="en-US" sz="1000" dirty="0"/>
              <a:t>Again, this shows that a more meaningful evaluation metrics include Recall, Precision, F1-score, ROC-AUC, and confusion matrix analysis.</a:t>
            </a:r>
          </a:p>
          <a:p>
            <a:pPr marL="133350" indent="0">
              <a:buNone/>
            </a:pPr>
            <a:r>
              <a:rPr lang="en-US" sz="1000" dirty="0"/>
              <a:t>These metrics provide a better understanding of how effectively the model identifies failures.</a:t>
            </a:r>
          </a:p>
          <a:p>
            <a:pPr marL="133350" indent="0">
              <a:buNone/>
            </a:pPr>
            <a:br>
              <a:rPr lang="en-US" sz="1000" dirty="0"/>
            </a:br>
            <a:r>
              <a:rPr lang="en-US" sz="1000" b="1" dirty="0"/>
              <a:t>3. Class Imbalance Affects Model Optimization</a:t>
            </a:r>
          </a:p>
          <a:p>
            <a:pPr marL="133350" indent="0">
              <a:buNone/>
            </a:pPr>
            <a:r>
              <a:rPr lang="en-US" sz="1000" dirty="0"/>
              <a:t>The imbalance suggests that additional techniques may be needed during model development, such as class weighting,</a:t>
            </a:r>
          </a:p>
          <a:p>
            <a:pPr marL="133350" indent="0">
              <a:buNone/>
            </a:pPr>
            <a:r>
              <a:rPr lang="en-US" sz="1000" dirty="0"/>
              <a:t>SMOTE (Synthetic Minority Oversampling), threshold tuning, or specialized evaluation strategies. </a:t>
            </a:r>
          </a:p>
          <a:p>
            <a:pPr marL="133350" indent="0">
              <a:buNone/>
            </a:pPr>
            <a:r>
              <a:rPr lang="en-US" sz="1000" dirty="0"/>
              <a:t>These methods help improve the model’s ability to detect rare failure events.</a:t>
            </a:r>
          </a:p>
          <a:p>
            <a:pPr marL="133350" indent="0">
              <a:buFont typeface="Nunito"/>
              <a:buNone/>
            </a:pPr>
            <a:br>
              <a:rPr lang="en-US" sz="1000" dirty="0"/>
            </a:br>
            <a:br>
              <a:rPr lang="en-US" sz="1000" dirty="0"/>
            </a:br>
            <a:endParaRPr lang="en-US" sz="1000" i="1" dirty="0">
              <a:solidFill>
                <a:srgbClr val="000000"/>
              </a:solidFill>
            </a:endParaRPr>
          </a:p>
        </p:txBody>
      </p:sp>
    </p:spTree>
    <p:extLst>
      <p:ext uri="{BB962C8B-B14F-4D97-AF65-F5344CB8AC3E}">
        <p14:creationId xmlns:p14="http://schemas.microsoft.com/office/powerpoint/2010/main" val="891285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0C07E40B-FB03-6C54-1EA7-07210C20C91D}"/>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73F7BB0A-38A3-45FA-AD56-BE3EDFD458E6}"/>
              </a:ext>
            </a:extLst>
          </p:cNvPr>
          <p:cNvSpPr txBox="1">
            <a:spLocks noGrp="1"/>
          </p:cNvSpPr>
          <p:nvPr>
            <p:ph type="title"/>
          </p:nvPr>
        </p:nvSpPr>
        <p:spPr>
          <a:xfrm>
            <a:off x="239711" y="96774"/>
            <a:ext cx="852060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 Bivariate Analysis – Correlation Heatmap</a:t>
            </a:r>
            <a:endParaRPr dirty="0">
              <a:solidFill>
                <a:srgbClr val="1974D2"/>
              </a:solidFill>
            </a:endParaRPr>
          </a:p>
        </p:txBody>
      </p:sp>
      <p:pic>
        <p:nvPicPr>
          <p:cNvPr id="2" name="Picture 1">
            <a:extLst>
              <a:ext uri="{FF2B5EF4-FFF2-40B4-BE49-F238E27FC236}">
                <a16:creationId xmlns:a16="http://schemas.microsoft.com/office/drawing/2014/main" id="{B5511FAC-873C-6720-A959-729968F11898}"/>
              </a:ext>
            </a:extLst>
          </p:cNvPr>
          <p:cNvPicPr>
            <a:picLocks noChangeAspect="1"/>
          </p:cNvPicPr>
          <p:nvPr/>
        </p:nvPicPr>
        <p:blipFill>
          <a:blip r:embed="rId3"/>
          <a:stretch>
            <a:fillRect/>
          </a:stretch>
        </p:blipFill>
        <p:spPr>
          <a:xfrm>
            <a:off x="294261" y="582367"/>
            <a:ext cx="3963321" cy="4229514"/>
          </a:xfrm>
          <a:prstGeom prst="rect">
            <a:avLst/>
          </a:prstGeom>
        </p:spPr>
      </p:pic>
      <p:sp>
        <p:nvSpPr>
          <p:cNvPr id="5" name="Google Shape;131;g12508d39905_0_54">
            <a:extLst>
              <a:ext uri="{FF2B5EF4-FFF2-40B4-BE49-F238E27FC236}">
                <a16:creationId xmlns:a16="http://schemas.microsoft.com/office/drawing/2014/main" id="{E0B0C0F5-1310-12ED-0F4C-4B6D6599B423}"/>
              </a:ext>
            </a:extLst>
          </p:cNvPr>
          <p:cNvSpPr txBox="1">
            <a:spLocks noGrp="1"/>
          </p:cNvSpPr>
          <p:nvPr>
            <p:ph type="body" idx="1"/>
          </p:nvPr>
        </p:nvSpPr>
        <p:spPr>
          <a:xfrm>
            <a:off x="4312132" y="582367"/>
            <a:ext cx="4592157" cy="4229514"/>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Observations from the Correlation Matrix</a:t>
            </a:r>
          </a:p>
          <a:p>
            <a:pPr marL="133350" indent="0">
              <a:buNone/>
            </a:pPr>
            <a:r>
              <a:rPr lang="en-US" sz="900" dirty="0"/>
              <a:t>The heatmap displays the pairwise correlation coefficients between all numerical variables (V1–V40).</a:t>
            </a:r>
          </a:p>
          <a:p>
            <a:pPr marL="133350" indent="0">
              <a:buNone/>
            </a:pPr>
            <a:r>
              <a:rPr lang="en-US" sz="900" dirty="0"/>
              <a:t>Correlation values range from:</a:t>
            </a:r>
          </a:p>
          <a:p>
            <a:r>
              <a:rPr lang="en-US" sz="900" b="1" dirty="0"/>
              <a:t>+1</a:t>
            </a:r>
            <a:r>
              <a:rPr lang="en-US" sz="900" dirty="0"/>
              <a:t> → strong positive relationship</a:t>
            </a:r>
          </a:p>
          <a:p>
            <a:r>
              <a:rPr lang="en-US" sz="900" b="1" dirty="0"/>
              <a:t>-1</a:t>
            </a:r>
            <a:r>
              <a:rPr lang="en-US" sz="900" dirty="0"/>
              <a:t> → strong negative relationship</a:t>
            </a:r>
          </a:p>
          <a:p>
            <a:r>
              <a:rPr lang="en-US" sz="900" b="1" dirty="0"/>
              <a:t>0</a:t>
            </a:r>
            <a:r>
              <a:rPr lang="en-US" sz="900" dirty="0"/>
              <a:t> → little or no linear relationship</a:t>
            </a:r>
          </a:p>
          <a:p>
            <a:pPr marL="133350" indent="0">
              <a:buNone/>
            </a:pPr>
            <a:endParaRPr lang="en-US" sz="900" b="1" dirty="0"/>
          </a:p>
          <a:p>
            <a:pPr marL="133350" indent="0">
              <a:buNone/>
            </a:pPr>
            <a:r>
              <a:rPr lang="en-US" sz="900" b="1" dirty="0"/>
              <a:t>Key Observations</a:t>
            </a:r>
          </a:p>
          <a:p>
            <a:pPr marL="133350" indent="0">
              <a:buNone/>
            </a:pPr>
            <a:r>
              <a:rPr lang="en-US" sz="900" dirty="0"/>
              <a:t>Most variables show weak to moderate correlations, indicating that many sensor variables capture different operational characteristics of the turbines.</a:t>
            </a:r>
          </a:p>
          <a:p>
            <a:pPr marL="133350" indent="0">
              <a:buNone/>
            </a:pPr>
            <a:endParaRPr lang="en-US" sz="900" dirty="0"/>
          </a:p>
          <a:p>
            <a:pPr marL="133350" indent="0">
              <a:buNone/>
            </a:pPr>
            <a:r>
              <a:rPr lang="en-US" sz="900" dirty="0"/>
              <a:t>Several variable pairs exhibit strong positive correlations, where variables increase together.</a:t>
            </a:r>
          </a:p>
          <a:p>
            <a:endParaRPr lang="en-US" sz="900" dirty="0"/>
          </a:p>
          <a:p>
            <a:pPr marL="133350" indent="0">
              <a:buNone/>
            </a:pPr>
            <a:r>
              <a:rPr lang="en-US" sz="900" dirty="0"/>
              <a:t>Examples include V1 with V25 and V27,  V11 with V29, V24 with V32, V30 with V33</a:t>
            </a:r>
          </a:p>
          <a:p>
            <a:pPr marL="133350" indent="0">
              <a:buNone/>
            </a:pPr>
            <a:endParaRPr lang="en-US" sz="900" dirty="0"/>
          </a:p>
          <a:p>
            <a:pPr marL="133350" indent="0">
              <a:buNone/>
            </a:pPr>
            <a:r>
              <a:rPr lang="en-US" sz="900" dirty="0"/>
              <a:t>Some variable pairs show strong negative correlations, meaning as one variable increases, the other decreases.</a:t>
            </a:r>
          </a:p>
          <a:p>
            <a:pPr marL="133350" indent="0">
              <a:buNone/>
            </a:pPr>
            <a:r>
              <a:rPr lang="en-US" sz="900" dirty="0"/>
              <a:t>Examples include: V2 with V14 , V18 with V35, V25 with V31</a:t>
            </a:r>
          </a:p>
          <a:p>
            <a:pPr marL="133350" indent="0">
              <a:buNone/>
            </a:pPr>
            <a:endParaRPr lang="en-US" sz="900" dirty="0"/>
          </a:p>
          <a:p>
            <a:pPr marL="133350" indent="0">
              <a:buNone/>
            </a:pPr>
            <a:r>
              <a:rPr lang="en-US" sz="900" dirty="0"/>
              <a:t>No extremely perfect correlations are observed between most variables, which is beneficial because  the dataset does not appear heavily dominated by duplicate information. Certain clusters of variables display similar correlation patterns, suggesting that some sensors may be monitoring related turbine behaviors or interconnected mechanical systems.</a:t>
            </a:r>
          </a:p>
          <a:p>
            <a:pPr marL="133350" indent="0">
              <a:buNone/>
            </a:pPr>
            <a:br>
              <a:rPr lang="en-US" sz="900" dirty="0"/>
            </a:br>
            <a:endParaRPr sz="900" i="1" dirty="0">
              <a:solidFill>
                <a:srgbClr val="000000"/>
              </a:solidFill>
            </a:endParaRPr>
          </a:p>
        </p:txBody>
      </p:sp>
    </p:spTree>
    <p:extLst>
      <p:ext uri="{BB962C8B-B14F-4D97-AF65-F5344CB8AC3E}">
        <p14:creationId xmlns:p14="http://schemas.microsoft.com/office/powerpoint/2010/main" val="3054919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D310427D-BAED-2E74-B334-F31259774652}"/>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E6970C61-43A0-B550-E69D-E03823EDCB28}"/>
              </a:ext>
            </a:extLst>
          </p:cNvPr>
          <p:cNvSpPr txBox="1">
            <a:spLocks noGrp="1"/>
          </p:cNvSpPr>
          <p:nvPr>
            <p:ph type="title"/>
          </p:nvPr>
        </p:nvSpPr>
        <p:spPr>
          <a:xfrm>
            <a:off x="239711" y="96774"/>
            <a:ext cx="852060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 Bivariate Analysis – Correlation Heatmap</a:t>
            </a:r>
            <a:endParaRPr dirty="0">
              <a:solidFill>
                <a:srgbClr val="1974D2"/>
              </a:solidFill>
            </a:endParaRPr>
          </a:p>
        </p:txBody>
      </p:sp>
      <p:sp>
        <p:nvSpPr>
          <p:cNvPr id="5" name="Google Shape;131;g12508d39905_0_54">
            <a:extLst>
              <a:ext uri="{FF2B5EF4-FFF2-40B4-BE49-F238E27FC236}">
                <a16:creationId xmlns:a16="http://schemas.microsoft.com/office/drawing/2014/main" id="{89D265D0-E166-812A-FDAD-B2E8DD2C1124}"/>
              </a:ext>
            </a:extLst>
          </p:cNvPr>
          <p:cNvSpPr txBox="1">
            <a:spLocks noGrp="1"/>
          </p:cNvSpPr>
          <p:nvPr>
            <p:ph type="body" idx="1"/>
          </p:nvPr>
        </p:nvSpPr>
        <p:spPr>
          <a:xfrm>
            <a:off x="239711" y="550283"/>
            <a:ext cx="4592157" cy="4229514"/>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Why Correlation Analysis Is Important in EDA</a:t>
            </a:r>
          </a:p>
          <a:p>
            <a:pPr marL="133350" indent="0">
              <a:buNone/>
            </a:pPr>
            <a:r>
              <a:rPr lang="en-US" sz="900" dirty="0"/>
              <a:t>Correlation analysis is one of the most important parts of Exploratory Data Analysis because it helps identify relationships between variables.</a:t>
            </a:r>
          </a:p>
          <a:p>
            <a:pPr marL="133350" indent="0">
              <a:buNone/>
            </a:pPr>
            <a:r>
              <a:rPr lang="en-US" sz="900" b="1" dirty="0"/>
              <a:t>1. Detecting Multicollinearity</a:t>
            </a:r>
          </a:p>
          <a:p>
            <a:pPr marL="133350" indent="0">
              <a:buNone/>
            </a:pPr>
            <a:r>
              <a:rPr lang="en-US" sz="900" dirty="0"/>
              <a:t>Highly correlated variables may contain redundant information.</a:t>
            </a:r>
          </a:p>
          <a:p>
            <a:pPr marL="133350" indent="0">
              <a:buNone/>
            </a:pPr>
            <a:r>
              <a:rPr lang="en-US" sz="900" dirty="0"/>
              <a:t>This is important because multicollinearity can negatively affect certain machine learning models, especially linear models such as Logistic Regression.</a:t>
            </a:r>
          </a:p>
          <a:p>
            <a:pPr marL="133350" indent="0">
              <a:buNone/>
            </a:pPr>
            <a:endParaRPr lang="en-US" sz="900" dirty="0"/>
          </a:p>
          <a:p>
            <a:pPr marL="133350" indent="0">
              <a:buNone/>
            </a:pPr>
            <a:r>
              <a:rPr lang="en-US" sz="900" dirty="0"/>
              <a:t>Strong multicollinearity may reduce model interpretability,  increase model instability, and inflate coefficient importance.</a:t>
            </a:r>
          </a:p>
          <a:p>
            <a:pPr marL="133350" indent="0">
              <a:buNone/>
            </a:pPr>
            <a:br>
              <a:rPr lang="en-US" sz="900" dirty="0"/>
            </a:br>
            <a:r>
              <a:rPr lang="en-US" sz="900" b="1" dirty="0"/>
              <a:t>2. Understanding Relationships Between Sensors</a:t>
            </a:r>
          </a:p>
          <a:p>
            <a:pPr marL="133350" indent="0">
              <a:buNone/>
            </a:pPr>
            <a:r>
              <a:rPr lang="en-US" sz="900" dirty="0"/>
              <a:t>Correlation analysis helps identify which turbine sensors move together, which variables behave independently, and which measurements may represent similar operational conditions.</a:t>
            </a:r>
          </a:p>
          <a:p>
            <a:pPr marL="133350" indent="0">
              <a:buNone/>
            </a:pPr>
            <a:endParaRPr lang="en-US" sz="900" dirty="0"/>
          </a:p>
          <a:p>
            <a:pPr marL="133350" indent="0">
              <a:buNone/>
            </a:pPr>
            <a:r>
              <a:rPr lang="en-US" sz="900" dirty="0"/>
              <a:t>This provides insight into turbine mechanics, operational dependencies, and system interactions.</a:t>
            </a:r>
          </a:p>
          <a:p>
            <a:pPr marL="133350" indent="0">
              <a:buNone/>
            </a:pPr>
            <a:br>
              <a:rPr lang="en-US" sz="900" dirty="0"/>
            </a:br>
            <a:r>
              <a:rPr lang="en-US" sz="900" b="1" dirty="0"/>
              <a:t>3. Supporting Feature Selection</a:t>
            </a:r>
          </a:p>
          <a:p>
            <a:pPr marL="133350" indent="0">
              <a:buNone/>
            </a:pPr>
            <a:r>
              <a:rPr lang="en-US" sz="900" dirty="0"/>
              <a:t>Highly correlated features may provide overlapping information, or contribute limited additional predictive value. </a:t>
            </a:r>
          </a:p>
          <a:p>
            <a:pPr marL="133350" indent="0">
              <a:buNone/>
            </a:pPr>
            <a:r>
              <a:rPr lang="en-US" sz="900" dirty="0"/>
              <a:t>This analysis helps determine whether feature reduction, dimensionality reduction, or feature engineering may improve model performance.</a:t>
            </a:r>
          </a:p>
        </p:txBody>
      </p:sp>
      <p:sp>
        <p:nvSpPr>
          <p:cNvPr id="3" name="Google Shape;131;g12508d39905_0_54">
            <a:extLst>
              <a:ext uri="{FF2B5EF4-FFF2-40B4-BE49-F238E27FC236}">
                <a16:creationId xmlns:a16="http://schemas.microsoft.com/office/drawing/2014/main" id="{A9FCD1EB-052F-3C69-F024-758273735AC9}"/>
              </a:ext>
            </a:extLst>
          </p:cNvPr>
          <p:cNvSpPr txBox="1">
            <a:spLocks/>
          </p:cNvSpPr>
          <p:nvPr/>
        </p:nvSpPr>
        <p:spPr>
          <a:xfrm>
            <a:off x="4572000" y="550283"/>
            <a:ext cx="4592157" cy="422951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t>4. Improving Machine Learning Performance</a:t>
            </a:r>
          </a:p>
          <a:p>
            <a:pPr marL="133350" indent="0">
              <a:buNone/>
            </a:pPr>
            <a:r>
              <a:rPr lang="en-US" sz="900" dirty="0"/>
              <a:t>Understanding variable relationships helps reduce noise, improve model stability, </a:t>
            </a:r>
          </a:p>
          <a:p>
            <a:pPr marL="133350" indent="0">
              <a:buNone/>
            </a:pPr>
            <a:r>
              <a:rPr lang="en-US" sz="900" dirty="0"/>
              <a:t>and optimize preprocessing decisions.</a:t>
            </a:r>
          </a:p>
          <a:p>
            <a:pPr marL="133350" indent="0">
              <a:buNone/>
            </a:pPr>
            <a:endParaRPr lang="en-US" sz="900" dirty="0"/>
          </a:p>
          <a:p>
            <a:pPr marL="133350" indent="0">
              <a:buNone/>
            </a:pPr>
            <a:r>
              <a:rPr lang="en-US" sz="900" dirty="0"/>
              <a:t>For example, strongly correlated features may benefit tree-based models, while redundant variables may hurt simpler linear models.</a:t>
            </a:r>
          </a:p>
          <a:p>
            <a:pPr marL="133350" indent="0">
              <a:buFont typeface="Nunito"/>
              <a:buNone/>
            </a:pPr>
            <a:br>
              <a:rPr lang="en-US" sz="900" dirty="0"/>
            </a:br>
            <a:endParaRPr lang="en-US" sz="900" i="1" dirty="0">
              <a:solidFill>
                <a:srgbClr val="000000"/>
              </a:solidFill>
            </a:endParaRPr>
          </a:p>
        </p:txBody>
      </p:sp>
    </p:spTree>
    <p:extLst>
      <p:ext uri="{BB962C8B-B14F-4D97-AF65-F5344CB8AC3E}">
        <p14:creationId xmlns:p14="http://schemas.microsoft.com/office/powerpoint/2010/main" val="23134592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EDC54D46-E68C-7B4B-D4E6-D76FDFAF5844}"/>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B2A9A092-F9AB-D762-9B7E-20404D775403}"/>
              </a:ext>
            </a:extLst>
          </p:cNvPr>
          <p:cNvSpPr txBox="1">
            <a:spLocks noGrp="1"/>
          </p:cNvSpPr>
          <p:nvPr>
            <p:ph type="title"/>
          </p:nvPr>
        </p:nvSpPr>
        <p:spPr>
          <a:xfrm>
            <a:off x="239711" y="96774"/>
            <a:ext cx="852060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 Bivariate Analysis – Correlation Heatmap</a:t>
            </a:r>
            <a:endParaRPr dirty="0">
              <a:solidFill>
                <a:srgbClr val="1974D2"/>
              </a:solidFill>
            </a:endParaRPr>
          </a:p>
        </p:txBody>
      </p:sp>
      <p:sp>
        <p:nvSpPr>
          <p:cNvPr id="5" name="Google Shape;131;g12508d39905_0_54">
            <a:extLst>
              <a:ext uri="{FF2B5EF4-FFF2-40B4-BE49-F238E27FC236}">
                <a16:creationId xmlns:a16="http://schemas.microsoft.com/office/drawing/2014/main" id="{D2AD79C4-B649-1882-6EAA-EF386AB52D28}"/>
              </a:ext>
            </a:extLst>
          </p:cNvPr>
          <p:cNvSpPr txBox="1">
            <a:spLocks noGrp="1"/>
          </p:cNvSpPr>
          <p:nvPr>
            <p:ph type="body" idx="1"/>
          </p:nvPr>
        </p:nvSpPr>
        <p:spPr>
          <a:xfrm>
            <a:off x="73783" y="590388"/>
            <a:ext cx="4592157" cy="4229514"/>
          </a:xfrm>
          <a:prstGeom prst="rect">
            <a:avLst/>
          </a:prstGeom>
          <a:noFill/>
          <a:ln>
            <a:noFill/>
          </a:ln>
        </p:spPr>
        <p:txBody>
          <a:bodyPr spcFirstLastPara="1" wrap="square" lIns="91425" tIns="91425" rIns="91425" bIns="91425" anchor="t" anchorCtr="0">
            <a:noAutofit/>
          </a:bodyPr>
          <a:lstStyle/>
          <a:p>
            <a:pPr marL="133350" indent="0">
              <a:buNone/>
            </a:pPr>
            <a:r>
              <a:rPr lang="en-US" sz="1000" b="1" dirty="0"/>
              <a:t>Business Interpretation</a:t>
            </a:r>
          </a:p>
          <a:p>
            <a:pPr marL="133350" indent="0">
              <a:buNone/>
            </a:pPr>
            <a:r>
              <a:rPr lang="en-US" sz="1000" dirty="0"/>
              <a:t>From a business and operational perspective correlated variables may represent connected turbine subsystems such as temperature,  pressure, vibration, rotational speed, or generator load.</a:t>
            </a:r>
          </a:p>
          <a:p>
            <a:pPr marL="133350" indent="0">
              <a:buNone/>
            </a:pPr>
            <a:endParaRPr lang="en-US" sz="1000" dirty="0"/>
          </a:p>
          <a:p>
            <a:pPr marL="133350" indent="0">
              <a:buNone/>
            </a:pPr>
            <a:r>
              <a:rPr lang="en-US" sz="1000" dirty="0"/>
              <a:t>Strong positive correlations may indicate components that react together during normal operation, or shared operational behavior across turbine systems.</a:t>
            </a:r>
          </a:p>
          <a:p>
            <a:pPr marL="133350" indent="0">
              <a:buNone/>
            </a:pPr>
            <a:endParaRPr lang="en-US" sz="1000" dirty="0"/>
          </a:p>
          <a:p>
            <a:pPr marL="133350" indent="0">
              <a:buNone/>
            </a:pPr>
            <a:r>
              <a:rPr lang="en-US" sz="1000" dirty="0"/>
              <a:t>Strong negative correlations may indicate balancing mechanisms, inverse operational relationships, or compensating system responses.</a:t>
            </a:r>
          </a:p>
          <a:p>
            <a:pPr marL="133350" indent="0">
              <a:buNone/>
            </a:pPr>
            <a:endParaRPr lang="en-US" sz="1000" dirty="0"/>
          </a:p>
          <a:p>
            <a:pPr marL="133350" indent="0">
              <a:buNone/>
            </a:pPr>
            <a:r>
              <a:rPr lang="en-US" sz="1000" dirty="0"/>
              <a:t>Changes in correlated sensor groups may help identify abnormal turbine conditions, mechanical degradation, or early failure patterns.</a:t>
            </a:r>
          </a:p>
          <a:p>
            <a:pPr marL="133350" indent="0">
              <a:buNone/>
            </a:pPr>
            <a:endParaRPr lang="en-US" sz="1000" dirty="0"/>
          </a:p>
          <a:p>
            <a:pPr marL="133350" indent="0">
              <a:buNone/>
            </a:pPr>
            <a:r>
              <a:rPr lang="en-US" sz="1000" b="1" dirty="0"/>
              <a:t>Business Impact</a:t>
            </a:r>
          </a:p>
          <a:p>
            <a:pPr marL="133350" indent="0">
              <a:buNone/>
            </a:pPr>
            <a:r>
              <a:rPr lang="en-US" sz="1000" dirty="0"/>
              <a:t>Understanding correlations between turbine sensors can significantly improve predictive maintenance strategies.</a:t>
            </a:r>
          </a:p>
          <a:p>
            <a:pPr marL="133350" indent="0">
              <a:buNone/>
            </a:pPr>
            <a:endParaRPr lang="en-US" sz="1000" b="1" dirty="0"/>
          </a:p>
          <a:p>
            <a:pPr marL="133350" indent="0">
              <a:buNone/>
            </a:pPr>
            <a:r>
              <a:rPr lang="en-US" sz="1000" b="1" dirty="0"/>
              <a:t>Operational Benefits</a:t>
            </a:r>
          </a:p>
          <a:p>
            <a:pPr marL="133350" indent="0">
              <a:buNone/>
            </a:pPr>
            <a:r>
              <a:rPr lang="en-US" sz="1000" dirty="0"/>
              <a:t>A better understanding of sensor relationships can help detect abnormal operating conditions earlier, improve failure prediction accuracy, reduce unnecessary maintenance inspections, and optimize monitoring systems.</a:t>
            </a:r>
          </a:p>
          <a:p>
            <a:pPr marL="133350" indent="0">
              <a:buNone/>
            </a:pPr>
            <a:endParaRPr lang="en-US" sz="1000" dirty="0"/>
          </a:p>
          <a:p>
            <a:pPr marL="133350" indent="0">
              <a:buNone/>
            </a:pPr>
            <a:br>
              <a:rPr lang="en-US" sz="1000" dirty="0"/>
            </a:br>
            <a:br>
              <a:rPr lang="en-US" sz="1000" dirty="0"/>
            </a:br>
            <a:endParaRPr sz="1000" i="1" dirty="0">
              <a:solidFill>
                <a:srgbClr val="000000"/>
              </a:solidFill>
            </a:endParaRPr>
          </a:p>
        </p:txBody>
      </p:sp>
      <p:sp>
        <p:nvSpPr>
          <p:cNvPr id="6" name="Google Shape;131;g12508d39905_0_54">
            <a:extLst>
              <a:ext uri="{FF2B5EF4-FFF2-40B4-BE49-F238E27FC236}">
                <a16:creationId xmlns:a16="http://schemas.microsoft.com/office/drawing/2014/main" id="{8E31E670-AA69-AA9E-135D-F5A42AC14574}"/>
              </a:ext>
            </a:extLst>
          </p:cNvPr>
          <p:cNvSpPr txBox="1">
            <a:spLocks/>
          </p:cNvSpPr>
          <p:nvPr/>
        </p:nvSpPr>
        <p:spPr>
          <a:xfrm>
            <a:off x="4500011" y="590388"/>
            <a:ext cx="4592157" cy="422951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1000" b="1" dirty="0"/>
              <a:t>Maintenance Optimization</a:t>
            </a:r>
          </a:p>
          <a:p>
            <a:pPr marL="133350" indent="0">
              <a:buNone/>
            </a:pPr>
            <a:r>
              <a:rPr lang="en-US" sz="1000" dirty="0"/>
              <a:t>Correlation analysis may help engineers identify which sensors provide the most useful operational information, reduce redundant monitoring, and focus attention on high-risk turbine components.</a:t>
            </a:r>
            <a:br>
              <a:rPr lang="en-US" sz="1000" dirty="0"/>
            </a:br>
            <a:endParaRPr lang="en-US" sz="1000" dirty="0"/>
          </a:p>
          <a:p>
            <a:pPr marL="133350" indent="0">
              <a:buNone/>
            </a:pPr>
            <a:r>
              <a:rPr lang="en-US" sz="1000" b="1" dirty="0"/>
              <a:t>Cost Reduction</a:t>
            </a:r>
          </a:p>
          <a:p>
            <a:pPr marL="133350" indent="0">
              <a:buNone/>
            </a:pPr>
            <a:r>
              <a:rPr lang="en-US" sz="1000" dirty="0"/>
              <a:t>Improved predictive modeling can help reduce generator replacement costs, unplanned downtime, operational interruptions, and maintenance expenses.</a:t>
            </a:r>
          </a:p>
          <a:p>
            <a:pPr marL="133350" indent="0">
              <a:buNone/>
            </a:pPr>
            <a:endParaRPr lang="en-US" sz="1000" dirty="0"/>
          </a:p>
          <a:p>
            <a:pPr marL="133350" indent="0">
              <a:buNone/>
            </a:pPr>
            <a:r>
              <a:rPr lang="en-US" sz="1000" b="1" dirty="0"/>
              <a:t>Overall Conclusion</a:t>
            </a:r>
          </a:p>
          <a:p>
            <a:pPr marL="133350" indent="0">
              <a:buNone/>
            </a:pPr>
            <a:r>
              <a:rPr lang="en-US" sz="1000" dirty="0"/>
              <a:t>The correlation heatmap suggests that the dataset contains meaningful relationships between turbine sensor variables, moderate-to-strong correlations exist between several features, and the data appears suitable for machine learning modeling.</a:t>
            </a:r>
          </a:p>
          <a:p>
            <a:endParaRPr lang="en-US" sz="1000" dirty="0"/>
          </a:p>
          <a:p>
            <a:pPr marL="133350" indent="0">
              <a:buNone/>
            </a:pPr>
            <a:r>
              <a:rPr lang="en-US" sz="1000" dirty="0"/>
              <a:t>The absence of excessive perfect correlations is beneficial because the model is less likely to suffer from severe redundancy issues, while still retaining useful inter-variable relationships that may improve turbine failure prediction.</a:t>
            </a:r>
          </a:p>
          <a:p>
            <a:pPr marL="133350" indent="0">
              <a:buFont typeface="Nunito"/>
              <a:buNone/>
            </a:pPr>
            <a:br>
              <a:rPr lang="en-US" sz="1000" dirty="0"/>
            </a:br>
            <a:br>
              <a:rPr lang="en-US" sz="1000" dirty="0"/>
            </a:br>
            <a:endParaRPr lang="en-US" sz="1000" i="1" dirty="0">
              <a:solidFill>
                <a:srgbClr val="000000"/>
              </a:solidFill>
            </a:endParaRPr>
          </a:p>
        </p:txBody>
      </p:sp>
    </p:spTree>
    <p:extLst>
      <p:ext uri="{BB962C8B-B14F-4D97-AF65-F5344CB8AC3E}">
        <p14:creationId xmlns:p14="http://schemas.microsoft.com/office/powerpoint/2010/main" val="3355789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12508d39905_0_10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Data Preprocessing: Data Preparation for Modeling</a:t>
            </a:r>
            <a:endParaRPr dirty="0">
              <a:solidFill>
                <a:srgbClr val="1974D2"/>
              </a:solidFill>
            </a:endParaRPr>
          </a:p>
        </p:txBody>
      </p:sp>
      <p:sp>
        <p:nvSpPr>
          <p:cNvPr id="138" name="Google Shape;138;g12508d39905_0_109"/>
          <p:cNvSpPr txBox="1">
            <a:spLocks noGrp="1"/>
          </p:cNvSpPr>
          <p:nvPr>
            <p:ph type="body" idx="1"/>
          </p:nvPr>
        </p:nvSpPr>
        <p:spPr>
          <a:xfrm>
            <a:off x="202550" y="861975"/>
            <a:ext cx="4000482" cy="3706800"/>
          </a:xfrm>
          <a:prstGeom prst="rect">
            <a:avLst/>
          </a:prstGeom>
          <a:noFill/>
          <a:ln>
            <a:noFill/>
          </a:ln>
        </p:spPr>
        <p:txBody>
          <a:bodyPr spcFirstLastPara="1" wrap="square" lIns="91425" tIns="91425" rIns="91425" bIns="91425" anchor="t" anchorCtr="0">
            <a:noAutofit/>
          </a:bodyPr>
          <a:lstStyle/>
          <a:p>
            <a:pPr marL="133350" indent="0">
              <a:buNone/>
            </a:pPr>
            <a:r>
              <a:rPr lang="en-US" sz="1000" b="1" dirty="0">
                <a:highlight>
                  <a:srgbClr val="FFFFFF"/>
                </a:highlight>
              </a:rPr>
              <a:t>Observations</a:t>
            </a:r>
          </a:p>
          <a:p>
            <a:pPr marL="133350" indent="0">
              <a:buNone/>
            </a:pPr>
            <a:r>
              <a:rPr lang="en-US" sz="1000" dirty="0">
                <a:highlight>
                  <a:srgbClr val="FFFFFF"/>
                </a:highlight>
              </a:rPr>
              <a:t>The dataset was successfully divided into training, validation, and testing datasets for machine learning model development.</a:t>
            </a:r>
          </a:p>
          <a:p>
            <a:pPr marL="133350" indent="0">
              <a:buNone/>
            </a:pPr>
            <a:endParaRPr lang="en-US" sz="1000" b="1" dirty="0">
              <a:highlight>
                <a:srgbClr val="FFFFFF"/>
              </a:highlight>
            </a:endParaRPr>
          </a:p>
          <a:p>
            <a:pPr marL="133350" indent="0">
              <a:buNone/>
            </a:pPr>
            <a:r>
              <a:rPr lang="en-US" sz="1000" b="1" dirty="0">
                <a:highlight>
                  <a:srgbClr val="FFFFFF"/>
                </a:highlight>
              </a:rPr>
              <a:t>Training Dataset</a:t>
            </a:r>
          </a:p>
          <a:p>
            <a:pPr marL="133350" indent="0">
              <a:buNone/>
            </a:pPr>
            <a:r>
              <a:rPr lang="en-US" sz="1000" dirty="0">
                <a:highlight>
                  <a:srgbClr val="FFFFFF"/>
                </a:highlight>
              </a:rPr>
              <a:t>Shape: </a:t>
            </a:r>
            <a:r>
              <a:rPr lang="en-US" sz="1000" b="1" dirty="0">
                <a:highlight>
                  <a:srgbClr val="FFFFFF"/>
                </a:highlight>
              </a:rPr>
              <a:t>(16000, 40)</a:t>
            </a:r>
            <a:endParaRPr lang="en-US" sz="1000" dirty="0">
              <a:highlight>
                <a:srgbClr val="FFFFFF"/>
              </a:highlight>
            </a:endParaRPr>
          </a:p>
          <a:p>
            <a:pPr marL="133350" indent="0">
              <a:buNone/>
            </a:pPr>
            <a:r>
              <a:rPr lang="en-US" sz="1000" dirty="0">
                <a:highlight>
                  <a:srgbClr val="FFFFFF"/>
                </a:highlight>
              </a:rPr>
              <a:t>Contains  16,000 observations and 40 predictor variables</a:t>
            </a:r>
          </a:p>
          <a:p>
            <a:pPr marL="133350" indent="0">
              <a:buNone/>
            </a:pPr>
            <a:endParaRPr lang="en-US" sz="1000" b="1" dirty="0">
              <a:highlight>
                <a:srgbClr val="FFFFFF"/>
              </a:highlight>
            </a:endParaRPr>
          </a:p>
          <a:p>
            <a:pPr marL="133350" indent="0">
              <a:buNone/>
            </a:pPr>
            <a:r>
              <a:rPr lang="en-US" sz="1000" b="1" dirty="0">
                <a:highlight>
                  <a:srgbClr val="FFFFFF"/>
                </a:highlight>
              </a:rPr>
              <a:t>Validation Dataset</a:t>
            </a:r>
          </a:p>
          <a:p>
            <a:pPr marL="133350" indent="0">
              <a:buNone/>
            </a:pPr>
            <a:r>
              <a:rPr lang="en-US" sz="1000" dirty="0">
                <a:highlight>
                  <a:srgbClr val="FFFFFF"/>
                </a:highlight>
              </a:rPr>
              <a:t>Shape: </a:t>
            </a:r>
            <a:r>
              <a:rPr lang="en-US" sz="1000" b="1" dirty="0">
                <a:highlight>
                  <a:srgbClr val="FFFFFF"/>
                </a:highlight>
              </a:rPr>
              <a:t>(4000, 40)</a:t>
            </a:r>
            <a:endParaRPr lang="en-US" sz="1000" dirty="0">
              <a:highlight>
                <a:srgbClr val="FFFFFF"/>
              </a:highlight>
            </a:endParaRPr>
          </a:p>
          <a:p>
            <a:pPr marL="133350" indent="0">
              <a:buNone/>
            </a:pPr>
            <a:r>
              <a:rPr lang="en-US" sz="1000" dirty="0">
                <a:highlight>
                  <a:srgbClr val="FFFFFF"/>
                </a:highlight>
              </a:rPr>
              <a:t>Contains 4,000 observations and 40 predictor variables</a:t>
            </a:r>
          </a:p>
          <a:p>
            <a:endParaRPr lang="en-US" sz="1000" b="1" dirty="0">
              <a:highlight>
                <a:srgbClr val="FFFFFF"/>
              </a:highlight>
            </a:endParaRPr>
          </a:p>
          <a:p>
            <a:pPr marL="133350" indent="0">
              <a:buNone/>
            </a:pPr>
            <a:r>
              <a:rPr lang="en-US" sz="1000" b="1" dirty="0">
                <a:highlight>
                  <a:srgbClr val="FFFFFF"/>
                </a:highlight>
              </a:rPr>
              <a:t>Testing Dataset</a:t>
            </a:r>
          </a:p>
          <a:p>
            <a:pPr marL="133350" indent="0">
              <a:buNone/>
            </a:pPr>
            <a:r>
              <a:rPr lang="en-US" sz="1000" dirty="0">
                <a:highlight>
                  <a:srgbClr val="FFFFFF"/>
                </a:highlight>
              </a:rPr>
              <a:t>Shape: </a:t>
            </a:r>
            <a:r>
              <a:rPr lang="en-US" sz="1000" b="1" dirty="0">
                <a:highlight>
                  <a:srgbClr val="FFFFFF"/>
                </a:highlight>
              </a:rPr>
              <a:t>(5000, 40)</a:t>
            </a:r>
            <a:endParaRPr lang="en-US" sz="1000" dirty="0">
              <a:highlight>
                <a:srgbClr val="FFFFFF"/>
              </a:highlight>
            </a:endParaRPr>
          </a:p>
          <a:p>
            <a:pPr marL="133350" indent="0">
              <a:buNone/>
            </a:pPr>
            <a:r>
              <a:rPr lang="en-US" sz="1000" dirty="0">
                <a:highlight>
                  <a:srgbClr val="FFFFFF"/>
                </a:highlight>
              </a:rPr>
              <a:t>Contains: 5,000 observations and 40 predictor variables</a:t>
            </a:r>
          </a:p>
          <a:p>
            <a:pPr marL="133350" indent="0">
              <a:buNone/>
            </a:pPr>
            <a:r>
              <a:rPr lang="en-US" sz="1000" dirty="0">
                <a:highlight>
                  <a:srgbClr val="FFFFFF"/>
                </a:highlight>
              </a:rPr>
              <a:t>The target variable (Target) was successfully separated from the predictor variables before model training.</a:t>
            </a:r>
          </a:p>
          <a:p>
            <a:pPr marL="133350" indent="0">
              <a:buNone/>
            </a:pPr>
            <a:br>
              <a:rPr lang="en-US" sz="1000" dirty="0">
                <a:highlight>
                  <a:srgbClr val="FFFFFF"/>
                </a:highlight>
              </a:rPr>
            </a:br>
            <a:endParaRPr sz="1000" dirty="0">
              <a:solidFill>
                <a:srgbClr val="2D3B45"/>
              </a:solidFill>
              <a:highlight>
                <a:srgbClr val="FFFFFF"/>
              </a:highlight>
            </a:endParaRPr>
          </a:p>
        </p:txBody>
      </p:sp>
      <p:pic>
        <p:nvPicPr>
          <p:cNvPr id="3" name="Picture 2">
            <a:extLst>
              <a:ext uri="{FF2B5EF4-FFF2-40B4-BE49-F238E27FC236}">
                <a16:creationId xmlns:a16="http://schemas.microsoft.com/office/drawing/2014/main" id="{C5E812B9-6D46-18DC-1358-C40D437CFDD6}"/>
              </a:ext>
            </a:extLst>
          </p:cNvPr>
          <p:cNvPicPr>
            <a:picLocks noChangeAspect="1"/>
          </p:cNvPicPr>
          <p:nvPr/>
        </p:nvPicPr>
        <p:blipFill>
          <a:blip r:embed="rId3"/>
          <a:stretch>
            <a:fillRect/>
          </a:stretch>
        </p:blipFill>
        <p:spPr>
          <a:xfrm>
            <a:off x="4102100" y="861975"/>
            <a:ext cx="5041900" cy="3352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1E4122CA-4347-655A-AC0A-71F9828CB841}"/>
            </a:ext>
          </a:extLst>
        </p:cNvPr>
        <p:cNvGrpSpPr/>
        <p:nvPr/>
      </p:nvGrpSpPr>
      <p:grpSpPr>
        <a:xfrm>
          <a:off x="0" y="0"/>
          <a:ext cx="0" cy="0"/>
          <a:chOff x="0" y="0"/>
          <a:chExt cx="0" cy="0"/>
        </a:xfrm>
      </p:grpSpPr>
      <p:sp>
        <p:nvSpPr>
          <p:cNvPr id="137" name="Google Shape;137;g12508d39905_0_109">
            <a:extLst>
              <a:ext uri="{FF2B5EF4-FFF2-40B4-BE49-F238E27FC236}">
                <a16:creationId xmlns:a16="http://schemas.microsoft.com/office/drawing/2014/main" id="{5E69DE7C-ABEC-3B4C-2F89-D4D7C7619465}"/>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Data Preprocessing: Data Preparation for Modeling</a:t>
            </a:r>
            <a:endParaRPr dirty="0">
              <a:solidFill>
                <a:srgbClr val="1974D2"/>
              </a:solidFill>
            </a:endParaRPr>
          </a:p>
        </p:txBody>
      </p:sp>
      <p:sp>
        <p:nvSpPr>
          <p:cNvPr id="138" name="Google Shape;138;g12508d39905_0_109">
            <a:extLst>
              <a:ext uri="{FF2B5EF4-FFF2-40B4-BE49-F238E27FC236}">
                <a16:creationId xmlns:a16="http://schemas.microsoft.com/office/drawing/2014/main" id="{B936AA05-3E5F-8CDC-DF80-64087BF7D439}"/>
              </a:ext>
            </a:extLst>
          </p:cNvPr>
          <p:cNvSpPr txBox="1">
            <a:spLocks noGrp="1"/>
          </p:cNvSpPr>
          <p:nvPr>
            <p:ph type="body" idx="1"/>
          </p:nvPr>
        </p:nvSpPr>
        <p:spPr>
          <a:xfrm>
            <a:off x="202550" y="861975"/>
            <a:ext cx="4000482"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highlight>
                  <a:srgbClr val="FFFFFF"/>
                </a:highlight>
              </a:rPr>
              <a:t>Why This Is Important</a:t>
            </a:r>
          </a:p>
          <a:p>
            <a:pPr marL="133350" indent="0">
              <a:buNone/>
            </a:pPr>
            <a:r>
              <a:rPr lang="en-US" sz="900" dirty="0">
                <a:highlight>
                  <a:srgbClr val="FFFFFF"/>
                </a:highlight>
              </a:rPr>
              <a:t>Preparing the data correctly before modeling is one of the most critical steps in machine learning.</a:t>
            </a:r>
          </a:p>
          <a:p>
            <a:pPr marL="133350" indent="0">
              <a:buNone/>
            </a:pPr>
            <a:endParaRPr lang="en-US" sz="900" b="1" dirty="0">
              <a:highlight>
                <a:srgbClr val="FFFFFF"/>
              </a:highlight>
            </a:endParaRPr>
          </a:p>
          <a:p>
            <a:pPr marL="133350" indent="0">
              <a:buNone/>
            </a:pPr>
            <a:r>
              <a:rPr lang="en-US" sz="900" b="1" dirty="0">
                <a:highlight>
                  <a:srgbClr val="FFFFFF"/>
                </a:highlight>
              </a:rPr>
              <a:t>1. Separation of Features and Target Variable</a:t>
            </a:r>
          </a:p>
          <a:p>
            <a:pPr marL="133350" indent="0">
              <a:buNone/>
            </a:pPr>
            <a:r>
              <a:rPr lang="en-US" sz="900" dirty="0">
                <a:highlight>
                  <a:srgbClr val="FFFFFF"/>
                </a:highlight>
              </a:rPr>
              <a:t>The predictor variables (X) and target variable (y) were separated to allow the model to learn relationships between sensor readings and turbine failures, avoid including the target variable as an input feature, and ensure proper supervised learning. This is necessary because the target variable represents the output the model is trying to predict.</a:t>
            </a:r>
            <a:br>
              <a:rPr lang="en-US" sz="900" dirty="0">
                <a:highlight>
                  <a:srgbClr val="FFFFFF"/>
                </a:highlight>
              </a:rPr>
            </a:br>
            <a:endParaRPr lang="en-US" sz="900" dirty="0">
              <a:highlight>
                <a:srgbClr val="FFFFFF"/>
              </a:highlight>
            </a:endParaRPr>
          </a:p>
          <a:p>
            <a:pPr marL="133350" indent="0">
              <a:buNone/>
            </a:pPr>
            <a:r>
              <a:rPr lang="en-US" sz="900" b="1" dirty="0">
                <a:highlight>
                  <a:srgbClr val="FFFFFF"/>
                </a:highlight>
              </a:rPr>
              <a:t>2. Splitting the Dataset</a:t>
            </a:r>
          </a:p>
          <a:p>
            <a:pPr marL="133350" indent="0">
              <a:buNone/>
            </a:pPr>
            <a:r>
              <a:rPr lang="en-US" sz="900" dirty="0">
                <a:highlight>
                  <a:srgbClr val="FFFFFF"/>
                </a:highlight>
              </a:rPr>
              <a:t>The training dataset was split into training data (80%) and validation data (20%).  This is important because with the </a:t>
            </a:r>
            <a:r>
              <a:rPr lang="en-US" sz="900" b="1" dirty="0">
                <a:highlight>
                  <a:srgbClr val="FFFFFF"/>
                </a:highlight>
              </a:rPr>
              <a:t>Training Data, </a:t>
            </a:r>
            <a:r>
              <a:rPr lang="en-US" sz="900" dirty="0">
                <a:highlight>
                  <a:srgbClr val="FFFFFF"/>
                </a:highlight>
              </a:rPr>
              <a:t>the</a:t>
            </a:r>
            <a:r>
              <a:rPr lang="en-US" sz="900" b="1" dirty="0">
                <a:highlight>
                  <a:srgbClr val="FFFFFF"/>
                </a:highlight>
              </a:rPr>
              <a:t> </a:t>
            </a:r>
            <a:r>
              <a:rPr lang="en-US" sz="900" dirty="0">
                <a:highlight>
                  <a:srgbClr val="FFFFFF"/>
                </a:highlight>
              </a:rPr>
              <a:t>model learns patterns from the training dataset.  With the </a:t>
            </a:r>
            <a:r>
              <a:rPr lang="en-US" sz="900" b="1" dirty="0">
                <a:highlight>
                  <a:srgbClr val="FFFFFF"/>
                </a:highlight>
              </a:rPr>
              <a:t>Validation Data  t</a:t>
            </a:r>
            <a:r>
              <a:rPr lang="en-US" sz="900" dirty="0">
                <a:highlight>
                  <a:srgbClr val="FFFFFF"/>
                </a:highlight>
              </a:rPr>
              <a:t>he validation dataset is used to evaluate model performance during training, tune hyperparameters, compare models, and prevent overfitting. The separate testing dataset is reserved for final unbiased model evaluation.</a:t>
            </a:r>
          </a:p>
          <a:p>
            <a:pPr marL="133350" indent="0">
              <a:buNone/>
            </a:pPr>
            <a:endParaRPr lang="en-US" sz="900" dirty="0">
              <a:highlight>
                <a:srgbClr val="FFFFFF"/>
              </a:highlight>
            </a:endParaRPr>
          </a:p>
          <a:p>
            <a:pPr marL="133350" indent="0">
              <a:buNone/>
            </a:pPr>
            <a:r>
              <a:rPr lang="en-US" sz="900" b="1" dirty="0"/>
              <a:t>3. Stratified Sampling</a:t>
            </a:r>
          </a:p>
          <a:p>
            <a:pPr marL="133350" indent="0">
              <a:buNone/>
            </a:pPr>
            <a:r>
              <a:rPr lang="en-US" sz="900" dirty="0"/>
              <a:t>The parameter  </a:t>
            </a:r>
            <a:r>
              <a:rPr lang="en-US" sz="900" b="1" dirty="0"/>
              <a:t>stratify=y  </a:t>
            </a:r>
            <a:r>
              <a:rPr lang="en-US" sz="900" dirty="0"/>
              <a:t>ensures that the class distribution remains consistent across training, validation,  and testing datasets.</a:t>
            </a:r>
          </a:p>
          <a:p>
            <a:pPr marL="133350" indent="0">
              <a:buNone/>
            </a:pPr>
            <a:r>
              <a:rPr lang="en-US" sz="900" dirty="0"/>
              <a:t>This is especially important because the target variable is highly imbalanced.</a:t>
            </a:r>
          </a:p>
          <a:p>
            <a:endParaRPr lang="en-US" sz="900" dirty="0"/>
          </a:p>
          <a:p>
            <a:pPr marL="133350" indent="0">
              <a:buNone/>
            </a:pPr>
            <a:endParaRPr lang="en-US" sz="900" dirty="0">
              <a:highlight>
                <a:srgbClr val="FFFFFF"/>
              </a:highlight>
            </a:endParaRPr>
          </a:p>
          <a:p>
            <a:pPr marL="133350" indent="0">
              <a:buNone/>
            </a:pPr>
            <a:br>
              <a:rPr lang="en-US" sz="900" dirty="0">
                <a:highlight>
                  <a:srgbClr val="FFFFFF"/>
                </a:highlight>
              </a:rPr>
            </a:br>
            <a:br>
              <a:rPr lang="en-US" sz="900" dirty="0">
                <a:highlight>
                  <a:srgbClr val="FFFFFF"/>
                </a:highlight>
              </a:rPr>
            </a:br>
            <a:endParaRPr sz="900" dirty="0">
              <a:solidFill>
                <a:srgbClr val="2D3B45"/>
              </a:solidFill>
              <a:highlight>
                <a:srgbClr val="FFFFFF"/>
              </a:highlight>
            </a:endParaRPr>
          </a:p>
        </p:txBody>
      </p:sp>
      <p:sp>
        <p:nvSpPr>
          <p:cNvPr id="2" name="Google Shape;138;g12508d39905_0_109">
            <a:extLst>
              <a:ext uri="{FF2B5EF4-FFF2-40B4-BE49-F238E27FC236}">
                <a16:creationId xmlns:a16="http://schemas.microsoft.com/office/drawing/2014/main" id="{5D30DD70-2666-6505-CFB0-DD12DF3F0AC9}"/>
              </a:ext>
            </a:extLst>
          </p:cNvPr>
          <p:cNvSpPr txBox="1">
            <a:spLocks/>
          </p:cNvSpPr>
          <p:nvPr/>
        </p:nvSpPr>
        <p:spPr>
          <a:xfrm>
            <a:off x="4203032" y="861975"/>
            <a:ext cx="4000482"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dirty="0">
                <a:highlight>
                  <a:srgbClr val="FFFFFF"/>
                </a:highlight>
              </a:rPr>
              <a:t>Without stratification  one dataset might contain too few failure cases,  leading to unreliable model evaluation and poor generalization.</a:t>
            </a:r>
          </a:p>
          <a:p>
            <a:pPr marL="133350" indent="0">
              <a:buNone/>
            </a:pPr>
            <a:endParaRPr lang="en-US" sz="900" dirty="0">
              <a:highlight>
                <a:srgbClr val="FFFFFF"/>
              </a:highlight>
            </a:endParaRPr>
          </a:p>
          <a:p>
            <a:pPr marL="133350" indent="0">
              <a:buNone/>
            </a:pPr>
            <a:r>
              <a:rPr lang="en-US" sz="900" dirty="0">
                <a:highlight>
                  <a:srgbClr val="FFFFFF"/>
                </a:highlight>
              </a:rPr>
              <a:t>Maintaining similar class distributions across datasets helps ensure that  the model learns realistic patterns,  evaluation metrics remain reliable,  and model performance reflects real-world operating conditions.</a:t>
            </a:r>
          </a:p>
          <a:p>
            <a:pPr marL="133350" indent="0">
              <a:buNone/>
            </a:pPr>
            <a:endParaRPr lang="en-US" sz="900" dirty="0">
              <a:highlight>
                <a:srgbClr val="FFFFFF"/>
              </a:highlight>
            </a:endParaRPr>
          </a:p>
          <a:p>
            <a:pPr marL="133350" indent="0">
              <a:buNone/>
            </a:pPr>
            <a:r>
              <a:rPr lang="en-US" sz="900" b="1" i="1" dirty="0"/>
              <a:t>4. Preventing Data Leakage</a:t>
            </a:r>
            <a:endParaRPr lang="en-US" sz="900" b="1" dirty="0"/>
          </a:p>
          <a:p>
            <a:pPr marL="133350" indent="0">
              <a:buNone/>
            </a:pPr>
            <a:r>
              <a:rPr lang="en-US" sz="900" dirty="0"/>
              <a:t>The testing dataset was kept completely separate from the training and validation process. This is important because  the model should never learn from unseen test data during training,  and the testing dataset should only be used for final evaluation.</a:t>
            </a:r>
          </a:p>
          <a:p>
            <a:pPr marL="133350" indent="0">
              <a:buNone/>
            </a:pPr>
            <a:endParaRPr lang="en-US" sz="900" dirty="0"/>
          </a:p>
          <a:p>
            <a:pPr marL="133350" indent="0">
              <a:buNone/>
            </a:pPr>
            <a:r>
              <a:rPr lang="en-US" sz="900" dirty="0"/>
              <a:t>Preventing data leakage ensures  unbiased model evaluation, realistic performance measurement, and better generalization to future turbine data.</a:t>
            </a:r>
          </a:p>
          <a:p>
            <a:pPr marL="133350" indent="0">
              <a:buNone/>
            </a:pPr>
            <a:endParaRPr lang="en-US" sz="900" dirty="0">
              <a:highlight>
                <a:srgbClr val="FFFFFF"/>
              </a:highlight>
            </a:endParaRPr>
          </a:p>
          <a:p>
            <a:pPr marL="133350" indent="0">
              <a:buNone/>
            </a:pPr>
            <a:endParaRPr lang="en-US" sz="900" dirty="0">
              <a:highlight>
                <a:srgbClr val="FFFFFF"/>
              </a:highlight>
            </a:endParaRPr>
          </a:p>
          <a:p>
            <a:pPr marL="133350" indent="0">
              <a:buNone/>
            </a:pPr>
            <a:endParaRPr lang="en-US" sz="900" b="1" dirty="0">
              <a:highlight>
                <a:srgbClr val="FFFFFF"/>
              </a:highlight>
            </a:endParaRPr>
          </a:p>
          <a:p>
            <a:pPr marL="133350" indent="0">
              <a:buNone/>
            </a:pPr>
            <a:endParaRPr lang="en-US" sz="900" dirty="0">
              <a:highlight>
                <a:srgbClr val="FFFFFF"/>
              </a:highlight>
            </a:endParaRPr>
          </a:p>
        </p:txBody>
      </p:sp>
    </p:spTree>
    <p:extLst>
      <p:ext uri="{BB962C8B-B14F-4D97-AF65-F5344CB8AC3E}">
        <p14:creationId xmlns:p14="http://schemas.microsoft.com/office/powerpoint/2010/main" val="1335937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A8C02A02-B29F-527B-DCCB-872E6FDA900E}"/>
            </a:ext>
          </a:extLst>
        </p:cNvPr>
        <p:cNvGrpSpPr/>
        <p:nvPr/>
      </p:nvGrpSpPr>
      <p:grpSpPr>
        <a:xfrm>
          <a:off x="0" y="0"/>
          <a:ext cx="0" cy="0"/>
          <a:chOff x="0" y="0"/>
          <a:chExt cx="0" cy="0"/>
        </a:xfrm>
      </p:grpSpPr>
      <p:sp>
        <p:nvSpPr>
          <p:cNvPr id="137" name="Google Shape;137;g12508d39905_0_109">
            <a:extLst>
              <a:ext uri="{FF2B5EF4-FFF2-40B4-BE49-F238E27FC236}">
                <a16:creationId xmlns:a16="http://schemas.microsoft.com/office/drawing/2014/main" id="{844760F5-8BE1-ABC8-5786-A3C36E81B90C}"/>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Data Preprocessing: Data Preparation for Modeling</a:t>
            </a:r>
            <a:endParaRPr dirty="0">
              <a:solidFill>
                <a:srgbClr val="1974D2"/>
              </a:solidFill>
            </a:endParaRPr>
          </a:p>
        </p:txBody>
      </p:sp>
      <p:sp>
        <p:nvSpPr>
          <p:cNvPr id="138" name="Google Shape;138;g12508d39905_0_109">
            <a:extLst>
              <a:ext uri="{FF2B5EF4-FFF2-40B4-BE49-F238E27FC236}">
                <a16:creationId xmlns:a16="http://schemas.microsoft.com/office/drawing/2014/main" id="{81FB64D7-49F4-0323-F844-FBFB2F72E50A}"/>
              </a:ext>
            </a:extLst>
          </p:cNvPr>
          <p:cNvSpPr txBox="1">
            <a:spLocks noGrp="1"/>
          </p:cNvSpPr>
          <p:nvPr>
            <p:ph type="body" idx="1"/>
          </p:nvPr>
        </p:nvSpPr>
        <p:spPr>
          <a:xfrm>
            <a:off x="202550" y="861975"/>
            <a:ext cx="4000482"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i="1" dirty="0">
                <a:highlight>
                  <a:srgbClr val="FFFFFF"/>
                </a:highlight>
              </a:rPr>
              <a:t>Business Impact</a:t>
            </a:r>
            <a:endParaRPr lang="en-US" sz="900" b="1" dirty="0">
              <a:highlight>
                <a:srgbClr val="FFFFFF"/>
              </a:highlight>
            </a:endParaRPr>
          </a:p>
          <a:p>
            <a:pPr marL="133350" indent="0">
              <a:buNone/>
            </a:pPr>
            <a:r>
              <a:rPr lang="en-US" sz="900" dirty="0">
                <a:highlight>
                  <a:srgbClr val="FFFFFF"/>
                </a:highlight>
              </a:rPr>
              <a:t>Proper data preparation directly impacts the reliability and effectiveness of the predictive maintenance system.</a:t>
            </a:r>
          </a:p>
          <a:p>
            <a:endParaRPr lang="en-US" sz="900" dirty="0">
              <a:highlight>
                <a:srgbClr val="FFFFFF"/>
              </a:highlight>
            </a:endParaRPr>
          </a:p>
          <a:p>
            <a:pPr marL="133350" indent="0">
              <a:buNone/>
            </a:pPr>
            <a:r>
              <a:rPr lang="en-US" sz="900" b="1" i="1" dirty="0">
                <a:highlight>
                  <a:srgbClr val="FFFFFF"/>
                </a:highlight>
              </a:rPr>
              <a:t>1. Improved Failure Detection</a:t>
            </a:r>
            <a:endParaRPr lang="en-US" sz="900" b="1" dirty="0">
              <a:highlight>
                <a:srgbClr val="FFFFFF"/>
              </a:highlight>
            </a:endParaRPr>
          </a:p>
          <a:p>
            <a:pPr marL="133350" indent="0">
              <a:buNone/>
            </a:pPr>
            <a:r>
              <a:rPr lang="en-US" sz="900" dirty="0">
                <a:highlight>
                  <a:srgbClr val="FFFFFF"/>
                </a:highlight>
              </a:rPr>
              <a:t>Well-structured training and validation datasets help the model  learn meaningful turbine behavior patterns, identify abnormal operating conditions, and improve failure prediction accuracy.</a:t>
            </a:r>
          </a:p>
          <a:p>
            <a:pPr marL="133350" indent="0">
              <a:buNone/>
            </a:pPr>
            <a:endParaRPr lang="en-US" sz="900" dirty="0">
              <a:highlight>
                <a:srgbClr val="FFFFFF"/>
              </a:highlight>
            </a:endParaRPr>
          </a:p>
          <a:p>
            <a:pPr marL="133350" indent="0">
              <a:buNone/>
            </a:pPr>
            <a:r>
              <a:rPr lang="en-US" sz="900" b="1" i="1" dirty="0">
                <a:highlight>
                  <a:srgbClr val="FFFFFF"/>
                </a:highlight>
              </a:rPr>
              <a:t>2. Reliable Model Evaluation</a:t>
            </a:r>
            <a:endParaRPr lang="en-US" sz="900" b="1" dirty="0">
              <a:highlight>
                <a:srgbClr val="FFFFFF"/>
              </a:highlight>
            </a:endParaRPr>
          </a:p>
          <a:p>
            <a:pPr marL="133350" indent="0">
              <a:buNone/>
            </a:pPr>
            <a:r>
              <a:rPr lang="en-US" sz="900" dirty="0">
                <a:highlight>
                  <a:srgbClr val="FFFFFF"/>
                </a:highlight>
              </a:rPr>
              <a:t>Using separate validation and testing datasets ensures fair model evaluation, reliable performance measurement, and stronger confidence in deployment readiness.</a:t>
            </a:r>
          </a:p>
          <a:p>
            <a:pPr marL="133350" indent="0">
              <a:buNone/>
            </a:pPr>
            <a:endParaRPr lang="en-US" sz="900" dirty="0">
              <a:highlight>
                <a:srgbClr val="FFFFFF"/>
              </a:highlight>
            </a:endParaRPr>
          </a:p>
          <a:p>
            <a:pPr marL="133350" indent="0">
              <a:buNone/>
            </a:pPr>
            <a:r>
              <a:rPr lang="en-US" sz="900" dirty="0">
                <a:highlight>
                  <a:srgbClr val="FFFFFF"/>
                </a:highlight>
              </a:rPr>
              <a:t>This </a:t>
            </a:r>
            <a:r>
              <a:rPr lang="en-US" sz="900" b="1" dirty="0">
                <a:highlight>
                  <a:srgbClr val="FFFFFF"/>
                </a:highlight>
              </a:rPr>
              <a:t>is</a:t>
            </a:r>
            <a:r>
              <a:rPr lang="en-US" sz="900" dirty="0">
                <a:highlight>
                  <a:srgbClr val="FFFFFF"/>
                </a:highlight>
              </a:rPr>
              <a:t> critical because predictive maintenance systems must perform consistently on unseen real</a:t>
            </a:r>
            <a:r>
              <a:rPr lang="en-US" sz="900" b="1" dirty="0">
                <a:highlight>
                  <a:srgbClr val="FFFFFF"/>
                </a:highlight>
              </a:rPr>
              <a:t>-</a:t>
            </a:r>
            <a:r>
              <a:rPr lang="en-US" sz="900" dirty="0">
                <a:highlight>
                  <a:srgbClr val="FFFFFF"/>
                </a:highlight>
              </a:rPr>
              <a:t>world turbine data.</a:t>
            </a:r>
          </a:p>
          <a:p>
            <a:pPr marL="133350" indent="0">
              <a:buNone/>
            </a:pPr>
            <a:endParaRPr lang="en-US" sz="900" dirty="0">
              <a:highlight>
                <a:srgbClr val="FFFFFF"/>
              </a:highlight>
            </a:endParaRPr>
          </a:p>
          <a:p>
            <a:pPr marL="133350" indent="0">
              <a:buNone/>
            </a:pPr>
            <a:r>
              <a:rPr lang="en-US" sz="900" b="1" i="1" dirty="0">
                <a:highlight>
                  <a:srgbClr val="FFFFFF"/>
                </a:highlight>
              </a:rPr>
              <a:t>3.  Reduced Operational Risk</a:t>
            </a:r>
            <a:endParaRPr lang="en-US" sz="900" b="1" dirty="0">
              <a:highlight>
                <a:srgbClr val="FFFFFF"/>
              </a:highlight>
            </a:endParaRPr>
          </a:p>
          <a:p>
            <a:pPr marL="133350" indent="0">
              <a:buNone/>
            </a:pPr>
            <a:r>
              <a:rPr lang="en-US" sz="900" dirty="0">
                <a:highlight>
                  <a:srgbClr val="FFFFFF"/>
                </a:highlight>
              </a:rPr>
              <a:t>Accurate failure prediction can help </a:t>
            </a:r>
            <a:r>
              <a:rPr lang="en-US" sz="900" dirty="0" err="1">
                <a:highlight>
                  <a:srgbClr val="FFFFFF"/>
                </a:highlight>
              </a:rPr>
              <a:t>ReneWind</a:t>
            </a:r>
            <a:r>
              <a:rPr lang="en-US" sz="900" dirty="0">
                <a:highlight>
                  <a:srgbClr val="FFFFFF"/>
                </a:highlight>
              </a:rPr>
              <a:t> reduce unexpected turbine breakdowns, minimize operational downtime, lower replacement costs,  and improve maintenance scheduling efficiency.</a:t>
            </a:r>
          </a:p>
          <a:p>
            <a:pPr marL="133350" indent="0">
              <a:buNone/>
            </a:pPr>
            <a:endParaRPr lang="en-US" sz="900" dirty="0">
              <a:highlight>
                <a:srgbClr val="FFFFFF"/>
              </a:highlight>
            </a:endParaRPr>
          </a:p>
        </p:txBody>
      </p:sp>
      <p:sp>
        <p:nvSpPr>
          <p:cNvPr id="2" name="Google Shape;138;g12508d39905_0_109">
            <a:extLst>
              <a:ext uri="{FF2B5EF4-FFF2-40B4-BE49-F238E27FC236}">
                <a16:creationId xmlns:a16="http://schemas.microsoft.com/office/drawing/2014/main" id="{F2E5A183-BDA9-FB57-A97E-88A7D6A63039}"/>
              </a:ext>
            </a:extLst>
          </p:cNvPr>
          <p:cNvSpPr txBox="1">
            <a:spLocks/>
          </p:cNvSpPr>
          <p:nvPr/>
        </p:nvSpPr>
        <p:spPr>
          <a:xfrm>
            <a:off x="4203032" y="861975"/>
            <a:ext cx="4000482"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i="1" dirty="0">
                <a:highlight>
                  <a:srgbClr val="FFFFFF"/>
                </a:highlight>
              </a:rPr>
              <a:t>4. Support for Predictive Maintenance Strategy</a:t>
            </a:r>
            <a:endParaRPr lang="en-US" sz="900" b="1" dirty="0">
              <a:highlight>
                <a:srgbClr val="FFFFFF"/>
              </a:highlight>
            </a:endParaRPr>
          </a:p>
          <a:p>
            <a:endParaRPr lang="en-US" sz="900" dirty="0">
              <a:highlight>
                <a:srgbClr val="FFFFFF"/>
              </a:highlight>
            </a:endParaRPr>
          </a:p>
          <a:p>
            <a:pPr marL="133350" indent="0">
              <a:buNone/>
            </a:pPr>
            <a:r>
              <a:rPr lang="en-US" sz="900" dirty="0">
                <a:highlight>
                  <a:srgbClr val="FFFFFF"/>
                </a:highlight>
              </a:rPr>
              <a:t>Properly prepared data increases the likelihood of building a robust predictive maintenance system capable of  detecting failures early,  reducing costly emergency repairs,  extending turbine lifespan, and improving operational reliability.</a:t>
            </a:r>
          </a:p>
          <a:p>
            <a:endParaRPr lang="en-US" sz="900" dirty="0">
              <a:highlight>
                <a:srgbClr val="FFFFFF"/>
              </a:highlight>
            </a:endParaRPr>
          </a:p>
          <a:p>
            <a:pPr marL="133350" indent="0">
              <a:buNone/>
            </a:pPr>
            <a:r>
              <a:rPr lang="en-US" sz="900" dirty="0">
                <a:highlight>
                  <a:srgbClr val="FFFFFF"/>
                </a:highlight>
              </a:rPr>
              <a:t>The ultimate business goal is to transition from  reactive maintenance to  proactive predictive maintenance.</a:t>
            </a:r>
          </a:p>
          <a:p>
            <a:endParaRPr lang="en-US" sz="900" dirty="0">
              <a:highlight>
                <a:srgbClr val="FFFFFF"/>
              </a:highlight>
            </a:endParaRPr>
          </a:p>
          <a:p>
            <a:pPr marL="133350" indent="0">
              <a:buNone/>
            </a:pPr>
            <a:endParaRPr lang="en-US" sz="900" dirty="0">
              <a:highlight>
                <a:srgbClr val="FFFFFF"/>
              </a:highlight>
            </a:endParaRPr>
          </a:p>
          <a:p>
            <a:pPr marL="133350" indent="0">
              <a:buNone/>
            </a:pPr>
            <a:br>
              <a:rPr lang="en-US" sz="900" dirty="0">
                <a:highlight>
                  <a:srgbClr val="FFFFFF"/>
                </a:highlight>
              </a:rPr>
            </a:br>
            <a:br>
              <a:rPr lang="en-US" sz="900" dirty="0">
                <a:highlight>
                  <a:srgbClr val="FFFFFF"/>
                </a:highlight>
              </a:rPr>
            </a:br>
            <a:endParaRPr lang="en-US" sz="900" dirty="0">
              <a:solidFill>
                <a:srgbClr val="2D3B45"/>
              </a:solidFill>
              <a:highlight>
                <a:srgbClr val="FFFFFF"/>
              </a:highlight>
            </a:endParaRPr>
          </a:p>
          <a:p>
            <a:pPr marL="133350" indent="0">
              <a:buNone/>
            </a:pPr>
            <a:endParaRPr lang="en-US" sz="900" dirty="0">
              <a:highlight>
                <a:srgbClr val="FFFFFF"/>
              </a:highlight>
            </a:endParaRPr>
          </a:p>
          <a:p>
            <a:pPr marL="133350" indent="0">
              <a:buNone/>
            </a:pPr>
            <a:endParaRPr lang="en-US" sz="900" dirty="0">
              <a:highlight>
                <a:srgbClr val="FFFFFF"/>
              </a:highlight>
            </a:endParaRPr>
          </a:p>
          <a:p>
            <a:pPr marL="133350" indent="0">
              <a:buNone/>
            </a:pPr>
            <a:endParaRPr lang="en-US" sz="900" b="1" dirty="0">
              <a:highlight>
                <a:srgbClr val="FFFFFF"/>
              </a:highlight>
            </a:endParaRPr>
          </a:p>
          <a:p>
            <a:pPr marL="133350" indent="0">
              <a:buNone/>
            </a:pPr>
            <a:endParaRPr lang="en-US" sz="900" dirty="0">
              <a:highlight>
                <a:srgbClr val="FFFFFF"/>
              </a:highlight>
            </a:endParaRPr>
          </a:p>
        </p:txBody>
      </p:sp>
    </p:spTree>
    <p:extLst>
      <p:ext uri="{BB962C8B-B14F-4D97-AF65-F5344CB8AC3E}">
        <p14:creationId xmlns:p14="http://schemas.microsoft.com/office/powerpoint/2010/main" val="17647702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C78960EF-5B50-CE25-3D52-427AF647B340}"/>
            </a:ext>
          </a:extLst>
        </p:cNvPr>
        <p:cNvGrpSpPr/>
        <p:nvPr/>
      </p:nvGrpSpPr>
      <p:grpSpPr>
        <a:xfrm>
          <a:off x="0" y="0"/>
          <a:ext cx="0" cy="0"/>
          <a:chOff x="0" y="0"/>
          <a:chExt cx="0" cy="0"/>
        </a:xfrm>
      </p:grpSpPr>
      <p:sp>
        <p:nvSpPr>
          <p:cNvPr id="137" name="Google Shape;137;g12508d39905_0_109">
            <a:extLst>
              <a:ext uri="{FF2B5EF4-FFF2-40B4-BE49-F238E27FC236}">
                <a16:creationId xmlns:a16="http://schemas.microsoft.com/office/drawing/2014/main" id="{D9D747AD-7296-FD52-A59A-5E1E4CB218B2}"/>
              </a:ext>
            </a:extLst>
          </p:cNvPr>
          <p:cNvSpPr txBox="1">
            <a:spLocks noGrp="1"/>
          </p:cNvSpPr>
          <p:nvPr>
            <p:ph type="title"/>
          </p:nvPr>
        </p:nvSpPr>
        <p:spPr>
          <a:xfrm>
            <a:off x="202550" y="2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Data Preprocessing: Duplicate Value Check </a:t>
            </a:r>
            <a:endParaRPr dirty="0">
              <a:solidFill>
                <a:srgbClr val="1974D2"/>
              </a:solidFill>
            </a:endParaRPr>
          </a:p>
        </p:txBody>
      </p:sp>
      <p:sp>
        <p:nvSpPr>
          <p:cNvPr id="138" name="Google Shape;138;g12508d39905_0_109">
            <a:extLst>
              <a:ext uri="{FF2B5EF4-FFF2-40B4-BE49-F238E27FC236}">
                <a16:creationId xmlns:a16="http://schemas.microsoft.com/office/drawing/2014/main" id="{39A0C71B-E8A7-E948-394A-B1128A30F467}"/>
              </a:ext>
            </a:extLst>
          </p:cNvPr>
          <p:cNvSpPr txBox="1">
            <a:spLocks noGrp="1"/>
          </p:cNvSpPr>
          <p:nvPr>
            <p:ph type="body" idx="1"/>
          </p:nvPr>
        </p:nvSpPr>
        <p:spPr>
          <a:xfrm>
            <a:off x="202550" y="574725"/>
            <a:ext cx="8629800"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highlight>
                  <a:srgbClr val="FFFFFF"/>
                </a:highlight>
              </a:rPr>
              <a:t>Objective</a:t>
            </a:r>
          </a:p>
          <a:p>
            <a:pPr marL="133350" indent="0">
              <a:buNone/>
            </a:pPr>
            <a:r>
              <a:rPr lang="en-US" sz="900" dirty="0">
                <a:highlight>
                  <a:srgbClr val="FFFFFF"/>
                </a:highlight>
              </a:rPr>
              <a:t>To identify and remove duplicate records from the dataset before model development.</a:t>
            </a:r>
          </a:p>
          <a:p>
            <a:pPr marL="133350" indent="0">
              <a:buNone/>
            </a:pPr>
            <a:endParaRPr lang="en-US" sz="900" dirty="0">
              <a:highlight>
                <a:srgbClr val="FFFFFF"/>
              </a:highlight>
            </a:endParaRPr>
          </a:p>
          <a:p>
            <a:pPr marL="133350" indent="0">
              <a:buNone/>
            </a:pPr>
            <a:r>
              <a:rPr lang="en-US" sz="900" b="1" dirty="0">
                <a:highlight>
                  <a:srgbClr val="FFFFFF"/>
                </a:highlight>
              </a:rPr>
              <a:t>Observations</a:t>
            </a:r>
          </a:p>
          <a:p>
            <a:r>
              <a:rPr lang="en-US" sz="900" dirty="0">
                <a:highlight>
                  <a:srgbClr val="FFFFFF"/>
                </a:highlight>
              </a:rPr>
              <a:t>The dataset was checked for duplicate observations.</a:t>
            </a:r>
          </a:p>
          <a:p>
            <a:r>
              <a:rPr lang="en-US" sz="900" dirty="0">
                <a:highlight>
                  <a:srgbClr val="FFFFFF"/>
                </a:highlight>
              </a:rPr>
              <a:t>Duplicate records can negatively affect model training by biasing the learning process, inflating model performance, and reducing generalization capability.</a:t>
            </a:r>
          </a:p>
          <a:p>
            <a:r>
              <a:rPr lang="en-US" sz="900" dirty="0">
                <a:highlight>
                  <a:srgbClr val="FFFFFF"/>
                </a:highlight>
              </a:rPr>
              <a:t>No significant duplicate records were identified in the dataset.</a:t>
            </a:r>
          </a:p>
          <a:p>
            <a:r>
              <a:rPr lang="en-US" sz="900" dirty="0">
                <a:highlight>
                  <a:srgbClr val="FFFFFF"/>
                </a:highlight>
              </a:rPr>
              <a:t>Therefore, no duplicate removal treatment was required.</a:t>
            </a:r>
          </a:p>
          <a:p>
            <a:pPr marL="133350" indent="0">
              <a:buNone/>
            </a:pPr>
            <a:endParaRPr lang="en-US" sz="900" dirty="0">
              <a:highlight>
                <a:srgbClr val="FFFFFF"/>
              </a:highlight>
            </a:endParaRPr>
          </a:p>
          <a:p>
            <a:pPr marL="133350" indent="0">
              <a:buNone/>
            </a:pPr>
            <a:r>
              <a:rPr lang="en-US" sz="900" b="1" dirty="0">
                <a:highlight>
                  <a:srgbClr val="FFFFFF"/>
                </a:highlight>
              </a:rPr>
              <a:t>Why This Is Important</a:t>
            </a:r>
          </a:p>
          <a:p>
            <a:pPr marL="133350" indent="0">
              <a:buNone/>
            </a:pPr>
            <a:r>
              <a:rPr lang="en-US" sz="900" b="1" dirty="0">
                <a:highlight>
                  <a:srgbClr val="FFFFFF"/>
                </a:highlight>
              </a:rPr>
              <a:t>1. Prevents Model Bias</a:t>
            </a:r>
          </a:p>
          <a:p>
            <a:r>
              <a:rPr lang="en-US" sz="900" dirty="0">
                <a:highlight>
                  <a:srgbClr val="FFFFFF"/>
                </a:highlight>
              </a:rPr>
              <a:t>Duplicate observations can cause the model to repeatedly learn the same patterns, leading to biased predictions.</a:t>
            </a:r>
          </a:p>
          <a:p>
            <a:pPr marL="133350" indent="0">
              <a:buNone/>
            </a:pPr>
            <a:endParaRPr lang="en-US" sz="900" dirty="0">
              <a:highlight>
                <a:srgbClr val="FFFFFF"/>
              </a:highlight>
            </a:endParaRPr>
          </a:p>
          <a:p>
            <a:pPr marL="133350" indent="0">
              <a:buNone/>
            </a:pPr>
            <a:r>
              <a:rPr lang="en-US" sz="900" b="1" dirty="0">
                <a:highlight>
                  <a:srgbClr val="FFFFFF"/>
                </a:highlight>
              </a:rPr>
              <a:t>2. Improves Model Reliability</a:t>
            </a:r>
          </a:p>
          <a:p>
            <a:r>
              <a:rPr lang="en-US" sz="900" dirty="0">
                <a:highlight>
                  <a:srgbClr val="FFFFFF"/>
                </a:highlight>
              </a:rPr>
              <a:t>Removing duplicates ensures the neural network learns from unique operational conditions rather than repeated sensor readings.</a:t>
            </a:r>
          </a:p>
          <a:p>
            <a:pPr marL="133350" indent="0">
              <a:buNone/>
            </a:pPr>
            <a:endParaRPr lang="en-US" sz="900" dirty="0">
              <a:highlight>
                <a:srgbClr val="FFFFFF"/>
              </a:highlight>
            </a:endParaRPr>
          </a:p>
          <a:p>
            <a:pPr marL="133350" indent="0">
              <a:buNone/>
            </a:pPr>
            <a:r>
              <a:rPr lang="en-US" sz="900" b="1" dirty="0">
                <a:highlight>
                  <a:srgbClr val="FFFFFF"/>
                </a:highlight>
              </a:rPr>
              <a:t>3. Supports Better Generalization</a:t>
            </a:r>
          </a:p>
          <a:p>
            <a:r>
              <a:rPr lang="en-US" sz="900" dirty="0">
                <a:highlight>
                  <a:srgbClr val="FFFFFF"/>
                </a:highlight>
              </a:rPr>
              <a:t>A clean dataset helps the model perform more effectively on unseen turbine data during real-world deployment.</a:t>
            </a:r>
          </a:p>
          <a:p>
            <a:pPr marL="133350" indent="0">
              <a:buNone/>
            </a:pPr>
            <a:endParaRPr lang="en-US" sz="900" dirty="0">
              <a:highlight>
                <a:srgbClr val="FFFFFF"/>
              </a:highlight>
            </a:endParaRPr>
          </a:p>
          <a:p>
            <a:pPr marL="133350" indent="0">
              <a:buNone/>
            </a:pPr>
            <a:r>
              <a:rPr lang="en-US" sz="900" b="1" dirty="0">
                <a:highlight>
                  <a:srgbClr val="FFFFFF"/>
                </a:highlight>
              </a:rPr>
              <a:t>Business Impact</a:t>
            </a:r>
          </a:p>
          <a:p>
            <a:r>
              <a:rPr lang="en-US" sz="900" dirty="0">
                <a:highlight>
                  <a:srgbClr val="FFFFFF"/>
                </a:highlight>
              </a:rPr>
              <a:t>Improves the trustworthiness of predictive maintenance predictions.</a:t>
            </a:r>
          </a:p>
          <a:p>
            <a:r>
              <a:rPr lang="en-US" sz="900" dirty="0">
                <a:highlight>
                  <a:srgbClr val="FFFFFF"/>
                </a:highlight>
              </a:rPr>
              <a:t>Reduces the risk of misleading model accuracy caused by repeated records.</a:t>
            </a:r>
          </a:p>
          <a:p>
            <a:r>
              <a:rPr lang="en-US" sz="900" dirty="0">
                <a:highlight>
                  <a:srgbClr val="FFFFFF"/>
                </a:highlight>
              </a:rPr>
              <a:t>Supports more reliable failure detection for wind turbine operations.</a:t>
            </a:r>
          </a:p>
          <a:p>
            <a:r>
              <a:rPr lang="en-US" sz="900" dirty="0">
                <a:highlight>
                  <a:srgbClr val="FFFFFF"/>
                </a:highlight>
              </a:rPr>
              <a:t>Helps ensure maintenance decisions are based on genuine operational patterns rather than duplicated historical events.</a:t>
            </a:r>
          </a:p>
          <a:p>
            <a:pPr marL="133350" indent="0">
              <a:buNone/>
            </a:pPr>
            <a:endParaRPr lang="en-US" sz="900" dirty="0">
              <a:highlight>
                <a:srgbClr val="FFFFFF"/>
              </a:highlight>
            </a:endParaRPr>
          </a:p>
          <a:p>
            <a:pPr marL="133350" indent="0">
              <a:buNone/>
            </a:pPr>
            <a:r>
              <a:rPr lang="en-US" sz="900" b="1" dirty="0">
                <a:highlight>
                  <a:srgbClr val="FFFFFF"/>
                </a:highlight>
              </a:rPr>
              <a:t>Conclusion</a:t>
            </a:r>
          </a:p>
          <a:p>
            <a:r>
              <a:rPr lang="en-US" sz="900" dirty="0">
                <a:highlight>
                  <a:srgbClr val="FFFFFF"/>
                </a:highlight>
              </a:rPr>
              <a:t>The duplicate value check confirmed that the dataset quality was strong and suitable for machine learning model development. No major duplicate-related data quality issues were found.</a:t>
            </a:r>
          </a:p>
          <a:p>
            <a:pPr marL="139700" lvl="0" indent="0">
              <a:buClr>
                <a:srgbClr val="2D3B45"/>
              </a:buClr>
              <a:buSzPts val="1400"/>
              <a:buNone/>
            </a:pPr>
            <a:endParaRPr sz="900" dirty="0">
              <a:solidFill>
                <a:srgbClr val="2D3B45"/>
              </a:solidFill>
              <a:highlight>
                <a:srgbClr val="FFFFFF"/>
              </a:highlight>
            </a:endParaRPr>
          </a:p>
        </p:txBody>
      </p:sp>
    </p:spTree>
    <p:extLst>
      <p:ext uri="{BB962C8B-B14F-4D97-AF65-F5344CB8AC3E}">
        <p14:creationId xmlns:p14="http://schemas.microsoft.com/office/powerpoint/2010/main" val="17078476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78842779-E228-5696-AB98-BFA5FCA30352}"/>
            </a:ext>
          </a:extLst>
        </p:cNvPr>
        <p:cNvGrpSpPr/>
        <p:nvPr/>
      </p:nvGrpSpPr>
      <p:grpSpPr>
        <a:xfrm>
          <a:off x="0" y="0"/>
          <a:ext cx="0" cy="0"/>
          <a:chOff x="0" y="0"/>
          <a:chExt cx="0" cy="0"/>
        </a:xfrm>
      </p:grpSpPr>
      <p:sp>
        <p:nvSpPr>
          <p:cNvPr id="137" name="Google Shape;137;g12508d39905_0_109">
            <a:extLst>
              <a:ext uri="{FF2B5EF4-FFF2-40B4-BE49-F238E27FC236}">
                <a16:creationId xmlns:a16="http://schemas.microsoft.com/office/drawing/2014/main" id="{CD795571-AE54-2ABE-229B-F500CBA20894}"/>
              </a:ext>
            </a:extLst>
          </p:cNvPr>
          <p:cNvSpPr txBox="1">
            <a:spLocks noGrp="1"/>
          </p:cNvSpPr>
          <p:nvPr>
            <p:ph type="title"/>
          </p:nvPr>
        </p:nvSpPr>
        <p:spPr>
          <a:xfrm>
            <a:off x="202550" y="-24904"/>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Data Preprocessing: Missing Value Treatment </a:t>
            </a:r>
            <a:endParaRPr dirty="0">
              <a:solidFill>
                <a:srgbClr val="1974D2"/>
              </a:solidFill>
            </a:endParaRPr>
          </a:p>
        </p:txBody>
      </p:sp>
      <p:sp>
        <p:nvSpPr>
          <p:cNvPr id="138" name="Google Shape;138;g12508d39905_0_109">
            <a:extLst>
              <a:ext uri="{FF2B5EF4-FFF2-40B4-BE49-F238E27FC236}">
                <a16:creationId xmlns:a16="http://schemas.microsoft.com/office/drawing/2014/main" id="{D0E6312F-F659-BB49-347B-4675609EA664}"/>
              </a:ext>
            </a:extLst>
          </p:cNvPr>
          <p:cNvSpPr txBox="1">
            <a:spLocks noGrp="1"/>
          </p:cNvSpPr>
          <p:nvPr>
            <p:ph type="body" idx="1"/>
          </p:nvPr>
        </p:nvSpPr>
        <p:spPr>
          <a:xfrm>
            <a:off x="202550" y="432605"/>
            <a:ext cx="3375537"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highlight>
                  <a:srgbClr val="FFFFFF"/>
                </a:highlight>
              </a:rPr>
              <a:t>What This Output Says</a:t>
            </a:r>
          </a:p>
          <a:p>
            <a:pPr marL="133350" indent="0">
              <a:buNone/>
            </a:pPr>
            <a:r>
              <a:rPr lang="en-US" sz="900" dirty="0">
                <a:highlight>
                  <a:srgbClr val="FFFFFF"/>
                </a:highlight>
              </a:rPr>
              <a:t>The missing values in the dataset were handled using </a:t>
            </a:r>
            <a:r>
              <a:rPr lang="en-US" sz="900" b="1" dirty="0">
                <a:highlight>
                  <a:srgbClr val="FFFFFF"/>
                </a:highlight>
              </a:rPr>
              <a:t>median imputation</a:t>
            </a:r>
            <a:r>
              <a:rPr lang="en-US" sz="900" dirty="0">
                <a:highlight>
                  <a:srgbClr val="FFFFFF"/>
                </a:highlight>
              </a:rPr>
              <a:t>.</a:t>
            </a:r>
          </a:p>
          <a:p>
            <a:pPr marL="133350" indent="0">
              <a:buNone/>
            </a:pPr>
            <a:r>
              <a:rPr lang="en-US" sz="900" dirty="0">
                <a:highlight>
                  <a:srgbClr val="FFFFFF"/>
                </a:highlight>
              </a:rPr>
              <a:t>Earlier analysis showed that only </a:t>
            </a:r>
            <a:r>
              <a:rPr lang="en-US" sz="900" b="1" dirty="0">
                <a:highlight>
                  <a:srgbClr val="FFFFFF"/>
                </a:highlight>
              </a:rPr>
              <a:t>V1</a:t>
            </a:r>
            <a:r>
              <a:rPr lang="en-US" sz="900" dirty="0">
                <a:highlight>
                  <a:srgbClr val="FFFFFF"/>
                </a:highlight>
              </a:rPr>
              <a:t> and </a:t>
            </a:r>
            <a:r>
              <a:rPr lang="en-US" sz="900" b="1" dirty="0">
                <a:highlight>
                  <a:srgbClr val="FFFFFF"/>
                </a:highlight>
              </a:rPr>
              <a:t>V2</a:t>
            </a:r>
            <a:r>
              <a:rPr lang="en-US" sz="900" dirty="0">
                <a:highlight>
                  <a:srgbClr val="FFFFFF"/>
                </a:highlight>
              </a:rPr>
              <a:t> had missing values. After applying the imputer, the output shows that every column in the training, validation, and test datasets now has </a:t>
            </a:r>
            <a:r>
              <a:rPr lang="en-US" sz="900" b="1" dirty="0">
                <a:highlight>
                  <a:srgbClr val="FFFFFF"/>
                </a:highlight>
              </a:rPr>
              <a:t>0 missing values</a:t>
            </a:r>
            <a:r>
              <a:rPr lang="en-US" sz="900" dirty="0">
                <a:highlight>
                  <a:srgbClr val="FFFFFF"/>
                </a:highlight>
              </a:rPr>
              <a:t>.</a:t>
            </a:r>
          </a:p>
          <a:p>
            <a:pPr marL="133350" indent="0">
              <a:buNone/>
            </a:pPr>
            <a:r>
              <a:rPr lang="en-US" sz="900" dirty="0">
                <a:highlight>
                  <a:srgbClr val="FFFFFF"/>
                </a:highlight>
              </a:rPr>
              <a:t>This confirms that missing value treatment was completed successfully.</a:t>
            </a:r>
          </a:p>
          <a:p>
            <a:pPr marL="133350" indent="0">
              <a:buNone/>
            </a:pPr>
            <a:endParaRPr lang="en-US" sz="900" dirty="0">
              <a:highlight>
                <a:srgbClr val="FFFFFF"/>
              </a:highlight>
            </a:endParaRPr>
          </a:p>
          <a:p>
            <a:pPr marL="133350" indent="0">
              <a:buNone/>
            </a:pPr>
            <a:r>
              <a:rPr lang="en-US" sz="900" b="1" dirty="0">
                <a:highlight>
                  <a:srgbClr val="FFFFFF"/>
                </a:highlight>
              </a:rPr>
              <a:t>Why This Is Important</a:t>
            </a:r>
          </a:p>
          <a:p>
            <a:pPr marL="133350" indent="0">
              <a:buNone/>
            </a:pPr>
            <a:r>
              <a:rPr lang="en-US" sz="900" dirty="0">
                <a:highlight>
                  <a:srgbClr val="FFFFFF"/>
                </a:highlight>
              </a:rPr>
              <a:t>Missing value treatment is important because most machine learning models cannot process missing values directly, missing values can cause errors during model training, incomplete data can reduce model performance, and proper imputation helps maintain consistency across train, validation, and test datasets.</a:t>
            </a:r>
          </a:p>
          <a:p>
            <a:pPr marL="133350" indent="0">
              <a:buNone/>
            </a:pPr>
            <a:r>
              <a:rPr lang="en-US" sz="900" dirty="0">
                <a:highlight>
                  <a:srgbClr val="FFFFFF"/>
                </a:highlight>
              </a:rPr>
              <a:t>Median imputation was used because it is more robust to outliers than mean imputation. This is useful here because the EDA showed that several sensor variables contain outliers.</a:t>
            </a:r>
          </a:p>
          <a:p>
            <a:pPr marL="0" lvl="0" indent="0" algn="l" rtl="0">
              <a:lnSpc>
                <a:spcPct val="115000"/>
              </a:lnSpc>
              <a:spcBef>
                <a:spcPts val="1000"/>
              </a:spcBef>
              <a:spcAft>
                <a:spcPts val="1000"/>
              </a:spcAft>
              <a:buSzPts val="1500"/>
              <a:buNone/>
            </a:pPr>
            <a:endParaRPr sz="900" dirty="0">
              <a:solidFill>
                <a:srgbClr val="2D3B45"/>
              </a:solidFill>
              <a:highlight>
                <a:srgbClr val="FFFFFF"/>
              </a:highlight>
            </a:endParaRPr>
          </a:p>
        </p:txBody>
      </p:sp>
      <p:sp>
        <p:nvSpPr>
          <p:cNvPr id="2" name="Google Shape;138;g12508d39905_0_109">
            <a:extLst>
              <a:ext uri="{FF2B5EF4-FFF2-40B4-BE49-F238E27FC236}">
                <a16:creationId xmlns:a16="http://schemas.microsoft.com/office/drawing/2014/main" id="{2FFAE277-888B-9D8C-931E-A1790D50871A}"/>
              </a:ext>
            </a:extLst>
          </p:cNvPr>
          <p:cNvSpPr txBox="1">
            <a:spLocks/>
          </p:cNvSpPr>
          <p:nvPr/>
        </p:nvSpPr>
        <p:spPr>
          <a:xfrm>
            <a:off x="3578087" y="361043"/>
            <a:ext cx="5363363"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highlight>
                  <a:srgbClr val="FFFFFF"/>
                </a:highlight>
              </a:rPr>
              <a:t>Preventing Data Leakage</a:t>
            </a:r>
          </a:p>
          <a:p>
            <a:pPr marL="133350" indent="0">
              <a:buNone/>
            </a:pPr>
            <a:r>
              <a:rPr lang="en-US" sz="900" dirty="0">
                <a:highlight>
                  <a:srgbClr val="FFFFFF"/>
                </a:highlight>
              </a:rPr>
              <a:t>The imputer was fitted only on the training data using:</a:t>
            </a:r>
          </a:p>
          <a:p>
            <a:pPr marL="133350" indent="0">
              <a:buNone/>
            </a:pPr>
            <a:r>
              <a:rPr lang="en-US" sz="900" dirty="0" err="1">
                <a:highlight>
                  <a:srgbClr val="FFFFFF"/>
                </a:highlight>
              </a:rPr>
              <a:t>imputer.fit_transform</a:t>
            </a:r>
            <a:r>
              <a:rPr lang="en-US" sz="900" dirty="0">
                <a:highlight>
                  <a:srgbClr val="FFFFFF"/>
                </a:highlight>
              </a:rPr>
              <a:t>(</a:t>
            </a:r>
            <a:r>
              <a:rPr lang="en-US" sz="900" dirty="0" err="1">
                <a:highlight>
                  <a:srgbClr val="FFFFFF"/>
                </a:highlight>
              </a:rPr>
              <a:t>X_train</a:t>
            </a:r>
            <a:r>
              <a:rPr lang="en-US" sz="900" dirty="0">
                <a:highlight>
                  <a:srgbClr val="FFFFFF"/>
                </a:highlight>
              </a:rPr>
              <a:t>)</a:t>
            </a:r>
          </a:p>
          <a:p>
            <a:pPr marL="133350" indent="0">
              <a:buNone/>
            </a:pPr>
            <a:endParaRPr lang="en-US" sz="900" dirty="0">
              <a:highlight>
                <a:srgbClr val="FFFFFF"/>
              </a:highlight>
            </a:endParaRPr>
          </a:p>
          <a:p>
            <a:pPr marL="133350" indent="0">
              <a:buNone/>
            </a:pPr>
            <a:r>
              <a:rPr lang="en-US" sz="900" dirty="0"/>
              <a:t>Then the same fitted imputer was applied to the validation and test datasets using:</a:t>
            </a:r>
          </a:p>
          <a:p>
            <a:pPr marL="133350" indent="0">
              <a:buNone/>
            </a:pPr>
            <a:r>
              <a:rPr lang="en-US" sz="900" dirty="0" err="1"/>
              <a:t>imputer.transform</a:t>
            </a:r>
            <a:r>
              <a:rPr lang="en-US" sz="900" dirty="0"/>
              <a:t>(</a:t>
            </a:r>
            <a:r>
              <a:rPr lang="en-US" sz="900" dirty="0" err="1"/>
              <a:t>X_val</a:t>
            </a:r>
            <a:r>
              <a:rPr lang="en-US" sz="900" dirty="0"/>
              <a:t>)</a:t>
            </a:r>
            <a:br>
              <a:rPr lang="en-US" sz="900" dirty="0"/>
            </a:br>
            <a:r>
              <a:rPr lang="en-US" sz="900" dirty="0" err="1"/>
              <a:t>imputer.transform</a:t>
            </a:r>
            <a:r>
              <a:rPr lang="en-US" sz="900" dirty="0"/>
              <a:t>(</a:t>
            </a:r>
            <a:r>
              <a:rPr lang="en-US" sz="900" dirty="0" err="1"/>
              <a:t>X_test</a:t>
            </a:r>
            <a:r>
              <a:rPr lang="en-US" sz="900" dirty="0"/>
              <a:t>)</a:t>
            </a:r>
          </a:p>
          <a:p>
            <a:pPr marL="133350" indent="0">
              <a:buNone/>
            </a:pPr>
            <a:endParaRPr lang="en-US" sz="900" dirty="0"/>
          </a:p>
          <a:p>
            <a:pPr marL="133350" indent="0">
              <a:buNone/>
            </a:pPr>
            <a:r>
              <a:rPr lang="en-US" sz="900" dirty="0"/>
              <a:t>This is important because the validation and test data should not influence preprocessing decisions. Fitting the imputer only on the training data prevents data leakage and gives a more realistic estimate of model performance.</a:t>
            </a:r>
            <a:br>
              <a:rPr lang="en-US" sz="900" dirty="0"/>
            </a:br>
            <a:endParaRPr lang="en-US" sz="900" dirty="0"/>
          </a:p>
          <a:p>
            <a:pPr marL="133350" indent="0">
              <a:buNone/>
            </a:pPr>
            <a:r>
              <a:rPr lang="en-US" sz="900" b="1" dirty="0"/>
              <a:t>Business Impact</a:t>
            </a:r>
          </a:p>
          <a:p>
            <a:pPr marL="133350" indent="0">
              <a:buNone/>
            </a:pPr>
            <a:r>
              <a:rPr lang="en-US" sz="900" dirty="0"/>
              <a:t>Proper missing value treatment helps </a:t>
            </a:r>
            <a:r>
              <a:rPr lang="en-US" sz="900" dirty="0" err="1"/>
              <a:t>ReneWind</a:t>
            </a:r>
            <a:r>
              <a:rPr lang="en-US" sz="900" dirty="0"/>
              <a:t> build a more reliable predictive maintenance model. From a business perspective, this supports more accurate failure prediction, fewer model errors caused by incomplete sensor readings, better identification of abnormal turbine behavior, improved maintenance planning, and reduced risk of unexpected generator breakdown.</a:t>
            </a:r>
          </a:p>
          <a:p>
            <a:pPr marL="133350" indent="0">
              <a:buNone/>
            </a:pPr>
            <a:r>
              <a:rPr lang="en-US" sz="900" dirty="0"/>
              <a:t>Because missed failures can lead to expensive replacement costs and downtime, clean and leakage-free preprocessing is essential for building a model that can be trusted in real-world turbine operations.</a:t>
            </a:r>
          </a:p>
          <a:p>
            <a:pPr marL="133350" indent="0">
              <a:buNone/>
            </a:pPr>
            <a:endParaRPr lang="en-US" sz="900" dirty="0"/>
          </a:p>
          <a:p>
            <a:pPr marL="133350" indent="0">
              <a:buNone/>
            </a:pPr>
            <a:r>
              <a:rPr lang="en-US" sz="900" b="1" dirty="0"/>
              <a:t>Additional Note</a:t>
            </a:r>
          </a:p>
          <a:p>
            <a:pPr marL="133350" indent="0">
              <a:buNone/>
            </a:pPr>
            <a:r>
              <a:rPr lang="en-US" sz="900" dirty="0"/>
              <a:t>The target variables were also converted to NumPy arrays:</a:t>
            </a:r>
          </a:p>
          <a:p>
            <a:pPr marL="133350" indent="0">
              <a:buNone/>
            </a:pPr>
            <a:r>
              <a:rPr lang="en-US" sz="900" dirty="0" err="1"/>
              <a:t>y_train</a:t>
            </a:r>
            <a:r>
              <a:rPr lang="en-US" sz="900" dirty="0"/>
              <a:t> = </a:t>
            </a:r>
            <a:r>
              <a:rPr lang="en-US" sz="900" dirty="0" err="1"/>
              <a:t>y_train.to_numpy</a:t>
            </a:r>
            <a:r>
              <a:rPr lang="en-US" sz="900" dirty="0"/>
              <a:t>()</a:t>
            </a:r>
            <a:br>
              <a:rPr lang="en-US" sz="900" dirty="0"/>
            </a:br>
            <a:r>
              <a:rPr lang="en-US" sz="900" dirty="0" err="1"/>
              <a:t>y_val</a:t>
            </a:r>
            <a:r>
              <a:rPr lang="en-US" sz="900" dirty="0"/>
              <a:t> = </a:t>
            </a:r>
            <a:r>
              <a:rPr lang="en-US" sz="900" dirty="0" err="1"/>
              <a:t>y_val.to_numpy</a:t>
            </a:r>
            <a:r>
              <a:rPr lang="en-US" sz="900" dirty="0"/>
              <a:t>()</a:t>
            </a:r>
            <a:br>
              <a:rPr lang="en-US" sz="900" dirty="0"/>
            </a:br>
            <a:r>
              <a:rPr lang="en-US" sz="900" dirty="0" err="1"/>
              <a:t>y_test</a:t>
            </a:r>
            <a:r>
              <a:rPr lang="en-US" sz="900" dirty="0"/>
              <a:t> = </a:t>
            </a:r>
            <a:r>
              <a:rPr lang="en-US" sz="900" dirty="0" err="1"/>
              <a:t>y_test.to_numpy</a:t>
            </a:r>
            <a:r>
              <a:rPr lang="en-US" sz="900" dirty="0"/>
              <a:t>()</a:t>
            </a:r>
          </a:p>
          <a:p>
            <a:pPr marL="133350" indent="0">
              <a:buNone/>
            </a:pPr>
            <a:endParaRPr lang="en-US" sz="900" dirty="0"/>
          </a:p>
          <a:p>
            <a:pPr marL="133350" indent="0">
              <a:buNone/>
            </a:pPr>
            <a:r>
              <a:rPr lang="en-US" sz="900" dirty="0"/>
              <a:t>This prepares the target values for model training in TensorFlow/</a:t>
            </a:r>
            <a:r>
              <a:rPr lang="en-US" sz="900" dirty="0" err="1"/>
              <a:t>Keras</a:t>
            </a:r>
            <a:r>
              <a:rPr lang="en-US" sz="900" dirty="0"/>
              <a:t>, which commonly expects NumPy arrays as input.</a:t>
            </a:r>
          </a:p>
          <a:p>
            <a:pPr marL="133350" indent="0">
              <a:buNone/>
            </a:pPr>
            <a:endParaRPr lang="en-US" sz="900" dirty="0"/>
          </a:p>
          <a:p>
            <a:pPr marL="133350" indent="0">
              <a:buNone/>
            </a:pPr>
            <a:endParaRPr lang="en-US" sz="900" dirty="0">
              <a:highlight>
                <a:srgbClr val="FFFFFF"/>
              </a:highlight>
            </a:endParaRPr>
          </a:p>
          <a:p>
            <a:pPr marL="0" indent="0">
              <a:spcBef>
                <a:spcPts val="1000"/>
              </a:spcBef>
              <a:spcAft>
                <a:spcPts val="1000"/>
              </a:spcAft>
              <a:buFont typeface="Nunito"/>
              <a:buNone/>
            </a:pPr>
            <a:endParaRPr lang="en-US" sz="900" dirty="0">
              <a:solidFill>
                <a:srgbClr val="2D3B45"/>
              </a:solidFill>
              <a:highlight>
                <a:srgbClr val="FFFFFF"/>
              </a:highlight>
            </a:endParaRPr>
          </a:p>
        </p:txBody>
      </p:sp>
    </p:spTree>
    <p:extLst>
      <p:ext uri="{BB962C8B-B14F-4D97-AF65-F5344CB8AC3E}">
        <p14:creationId xmlns:p14="http://schemas.microsoft.com/office/powerpoint/2010/main" val="15813169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45BE641B-114E-F7C7-A593-05649A9EA8FD}"/>
            </a:ext>
          </a:extLst>
        </p:cNvPr>
        <p:cNvGrpSpPr/>
        <p:nvPr/>
      </p:nvGrpSpPr>
      <p:grpSpPr>
        <a:xfrm>
          <a:off x="0" y="0"/>
          <a:ext cx="0" cy="0"/>
          <a:chOff x="0" y="0"/>
          <a:chExt cx="0" cy="0"/>
        </a:xfrm>
      </p:grpSpPr>
      <p:sp>
        <p:nvSpPr>
          <p:cNvPr id="137" name="Google Shape;137;g12508d39905_0_109">
            <a:extLst>
              <a:ext uri="{FF2B5EF4-FFF2-40B4-BE49-F238E27FC236}">
                <a16:creationId xmlns:a16="http://schemas.microsoft.com/office/drawing/2014/main" id="{78EC85FB-23DE-7E52-E05E-AA4D2FEC4FB6}"/>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Data Preprocessing: Outlier Check</a:t>
            </a:r>
            <a:endParaRPr dirty="0">
              <a:solidFill>
                <a:srgbClr val="1974D2"/>
              </a:solidFill>
            </a:endParaRPr>
          </a:p>
        </p:txBody>
      </p:sp>
      <p:sp>
        <p:nvSpPr>
          <p:cNvPr id="138" name="Google Shape;138;g12508d39905_0_109">
            <a:extLst>
              <a:ext uri="{FF2B5EF4-FFF2-40B4-BE49-F238E27FC236}">
                <a16:creationId xmlns:a16="http://schemas.microsoft.com/office/drawing/2014/main" id="{A46A10DD-26D2-2A13-D60A-315974BC657A}"/>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3350" indent="0">
              <a:buNone/>
            </a:pPr>
            <a:r>
              <a:rPr lang="en-US" sz="1000" dirty="0">
                <a:highlight>
                  <a:srgbClr val="FFFFFF"/>
                </a:highlight>
              </a:rPr>
              <a:t>Boxplots and histograms showed outliers across many sensor variables.</a:t>
            </a:r>
          </a:p>
          <a:p>
            <a:r>
              <a:rPr lang="en-US" sz="1000" dirty="0">
                <a:highlight>
                  <a:srgbClr val="FFFFFF"/>
                </a:highlight>
              </a:rPr>
              <a:t>Variables such as V16, V21, V24, V31, V32, and V36 showed especially large ranges and extreme values.</a:t>
            </a:r>
          </a:p>
          <a:p>
            <a:r>
              <a:rPr lang="en-US" sz="1000" dirty="0">
                <a:highlight>
                  <a:srgbClr val="FFFFFF"/>
                </a:highlight>
              </a:rPr>
              <a:t>Outliers were retained initially because they may represent abnormal turbine behavior, early warning signs of failure, or equipment degradation.</a:t>
            </a:r>
          </a:p>
          <a:p>
            <a:pPr marL="133350" indent="0">
              <a:buNone/>
            </a:pPr>
            <a:endParaRPr lang="en-US" sz="1000" b="1" dirty="0">
              <a:highlight>
                <a:srgbClr val="FFFFFF"/>
              </a:highlight>
            </a:endParaRPr>
          </a:p>
          <a:p>
            <a:pPr marL="133350" indent="0">
              <a:buNone/>
            </a:pPr>
            <a:r>
              <a:rPr lang="en-US" sz="1000" b="1" dirty="0">
                <a:highlight>
                  <a:srgbClr val="FFFFFF"/>
                </a:highlight>
              </a:rPr>
              <a:t>Business Impact:</a:t>
            </a:r>
            <a:endParaRPr lang="en-US" sz="1000" dirty="0">
              <a:highlight>
                <a:srgbClr val="FFFFFF"/>
              </a:highlight>
            </a:endParaRPr>
          </a:p>
          <a:p>
            <a:r>
              <a:rPr lang="en-US" sz="1000" dirty="0">
                <a:highlight>
                  <a:srgbClr val="FFFFFF"/>
                </a:highlight>
              </a:rPr>
              <a:t>Extreme sensor readings may contain critical predictive information for identifying turbine failures early.</a:t>
            </a:r>
          </a:p>
          <a:p>
            <a:r>
              <a:rPr lang="en-US" sz="1000" dirty="0">
                <a:highlight>
                  <a:srgbClr val="FFFFFF"/>
                </a:highlight>
              </a:rPr>
              <a:t>Removing all outliers could eliminate valuable failure-related patterns.</a:t>
            </a:r>
          </a:p>
          <a:p>
            <a:pPr marL="0" lvl="0" indent="0" algn="l" rtl="0">
              <a:lnSpc>
                <a:spcPct val="115000"/>
              </a:lnSpc>
              <a:spcBef>
                <a:spcPts val="1000"/>
              </a:spcBef>
              <a:spcAft>
                <a:spcPts val="1000"/>
              </a:spcAft>
              <a:buSzPts val="1500"/>
              <a:buNone/>
            </a:pPr>
            <a:endParaRPr sz="1000" dirty="0">
              <a:solidFill>
                <a:srgbClr val="2D3B45"/>
              </a:solidFill>
              <a:highlight>
                <a:srgbClr val="FFFFFF"/>
              </a:highlight>
            </a:endParaRPr>
          </a:p>
        </p:txBody>
      </p:sp>
    </p:spTree>
    <p:extLst>
      <p:ext uri="{BB962C8B-B14F-4D97-AF65-F5344CB8AC3E}">
        <p14:creationId xmlns:p14="http://schemas.microsoft.com/office/powerpoint/2010/main" val="32536152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F52A07B2-351A-EC26-7EBD-FE7C3C727943}"/>
            </a:ext>
          </a:extLst>
        </p:cNvPr>
        <p:cNvGrpSpPr/>
        <p:nvPr/>
      </p:nvGrpSpPr>
      <p:grpSpPr>
        <a:xfrm>
          <a:off x="0" y="0"/>
          <a:ext cx="0" cy="0"/>
          <a:chOff x="0" y="0"/>
          <a:chExt cx="0" cy="0"/>
        </a:xfrm>
      </p:grpSpPr>
      <p:sp>
        <p:nvSpPr>
          <p:cNvPr id="137" name="Google Shape;137;g12508d39905_0_109">
            <a:extLst>
              <a:ext uri="{FF2B5EF4-FFF2-40B4-BE49-F238E27FC236}">
                <a16:creationId xmlns:a16="http://schemas.microsoft.com/office/drawing/2014/main" id="{C06CDA8D-7721-F00A-F31F-D8C36947BD8B}"/>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Data Preprocessing: Feature Engineering </a:t>
            </a:r>
            <a:endParaRPr dirty="0">
              <a:solidFill>
                <a:srgbClr val="1974D2"/>
              </a:solidFill>
            </a:endParaRPr>
          </a:p>
        </p:txBody>
      </p:sp>
      <p:sp>
        <p:nvSpPr>
          <p:cNvPr id="138" name="Google Shape;138;g12508d39905_0_109">
            <a:extLst>
              <a:ext uri="{FF2B5EF4-FFF2-40B4-BE49-F238E27FC236}">
                <a16:creationId xmlns:a16="http://schemas.microsoft.com/office/drawing/2014/main" id="{C4AB22D9-E178-D275-0CBC-15BEA61F38B5}"/>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highlight>
                  <a:srgbClr val="FFFFFF"/>
                </a:highlight>
              </a:rPr>
              <a:t>Feature Engineering</a:t>
            </a:r>
          </a:p>
          <a:p>
            <a:r>
              <a:rPr lang="en-US" sz="900" dirty="0">
                <a:highlight>
                  <a:srgbClr val="FFFFFF"/>
                </a:highlight>
              </a:rPr>
              <a:t>Target variable separated from predictor variables.</a:t>
            </a:r>
          </a:p>
          <a:p>
            <a:r>
              <a:rPr lang="en-US" sz="900" dirty="0">
                <a:highlight>
                  <a:srgbClr val="FFFFFF"/>
                </a:highlight>
              </a:rPr>
              <a:t>Sensor variables prepared for neural network modeling.</a:t>
            </a:r>
          </a:p>
          <a:p>
            <a:r>
              <a:rPr lang="en-US" sz="900" dirty="0">
                <a:highlight>
                  <a:srgbClr val="FFFFFF"/>
                </a:highlight>
              </a:rPr>
              <a:t>Additional preprocessing steps such as scaling and class imbalance handling were identified as important next steps.</a:t>
            </a:r>
          </a:p>
          <a:p>
            <a:pPr marL="133350" indent="0">
              <a:buNone/>
            </a:pPr>
            <a:endParaRPr lang="en-US" sz="900" b="1" dirty="0">
              <a:highlight>
                <a:srgbClr val="FFFFFF"/>
              </a:highlight>
            </a:endParaRPr>
          </a:p>
          <a:p>
            <a:pPr marL="133350" indent="0">
              <a:buNone/>
            </a:pPr>
            <a:r>
              <a:rPr lang="en-US" sz="900" b="1" dirty="0">
                <a:highlight>
                  <a:srgbClr val="FFFFFF"/>
                </a:highlight>
              </a:rPr>
              <a:t>Business Impact:</a:t>
            </a:r>
            <a:endParaRPr lang="en-US" sz="900" dirty="0">
              <a:highlight>
                <a:srgbClr val="FFFFFF"/>
              </a:highlight>
            </a:endParaRPr>
          </a:p>
          <a:p>
            <a:r>
              <a:rPr lang="en-US" sz="900" dirty="0">
                <a:highlight>
                  <a:srgbClr val="FFFFFF"/>
                </a:highlight>
              </a:rPr>
              <a:t>Proper feature preparation improves model learning and predictive performance.</a:t>
            </a:r>
          </a:p>
          <a:p>
            <a:pPr marL="0" lvl="0" indent="0" algn="l" rtl="0">
              <a:lnSpc>
                <a:spcPct val="115000"/>
              </a:lnSpc>
              <a:spcBef>
                <a:spcPts val="1000"/>
              </a:spcBef>
              <a:spcAft>
                <a:spcPts val="1000"/>
              </a:spcAft>
              <a:buSzPts val="1500"/>
              <a:buNone/>
            </a:pPr>
            <a:endParaRPr sz="900" dirty="0">
              <a:solidFill>
                <a:srgbClr val="2D3B45"/>
              </a:solidFill>
              <a:highlight>
                <a:srgbClr val="FFFFFF"/>
              </a:highlight>
            </a:endParaRPr>
          </a:p>
        </p:txBody>
      </p:sp>
    </p:spTree>
    <p:extLst>
      <p:ext uri="{BB962C8B-B14F-4D97-AF65-F5344CB8AC3E}">
        <p14:creationId xmlns:p14="http://schemas.microsoft.com/office/powerpoint/2010/main" val="7868310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32685eae676_1_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Model Evaluation Criterion</a:t>
            </a:r>
            <a:endParaRPr>
              <a:solidFill>
                <a:srgbClr val="1974D2"/>
              </a:solidFill>
            </a:endParaRPr>
          </a:p>
        </p:txBody>
      </p:sp>
      <p:sp>
        <p:nvSpPr>
          <p:cNvPr id="144" name="Google Shape;144;g32685eae676_1_1"/>
          <p:cNvSpPr txBox="1">
            <a:spLocks noGrp="1"/>
          </p:cNvSpPr>
          <p:nvPr>
            <p:ph type="body" idx="1"/>
          </p:nvPr>
        </p:nvSpPr>
        <p:spPr>
          <a:xfrm>
            <a:off x="202550" y="870750"/>
            <a:ext cx="8629800" cy="3051574"/>
          </a:xfrm>
          <a:prstGeom prst="rect">
            <a:avLst/>
          </a:prstGeom>
          <a:solidFill>
            <a:schemeClr val="lt1"/>
          </a:solidFill>
          <a:ln>
            <a:noFill/>
          </a:ln>
        </p:spPr>
        <p:txBody>
          <a:bodyPr spcFirstLastPara="1" wrap="square" lIns="91425" tIns="91425" rIns="91425" bIns="91425" anchor="t" anchorCtr="0">
            <a:spAutoFit/>
          </a:bodyPr>
          <a:lstStyle/>
          <a:p>
            <a:pPr marL="133350" indent="0">
              <a:buNone/>
            </a:pPr>
            <a:r>
              <a:rPr lang="en-US" sz="900" b="1" dirty="0">
                <a:highlight>
                  <a:schemeClr val="lt1"/>
                </a:highlight>
              </a:rPr>
              <a:t>Primary Metric: Recall</a:t>
            </a:r>
            <a:endParaRPr lang="en-US" sz="900" dirty="0">
              <a:highlight>
                <a:schemeClr val="lt1"/>
              </a:highlight>
            </a:endParaRPr>
          </a:p>
          <a:p>
            <a:pPr marL="133350" indent="0">
              <a:buNone/>
            </a:pPr>
            <a:r>
              <a:rPr lang="en-US" sz="900" dirty="0">
                <a:highlight>
                  <a:schemeClr val="lt1"/>
                </a:highlight>
              </a:rPr>
              <a:t>Recall was selected as the primary evaluation metric because the main business objective is to correctly identify turbine failures before breakdown occurs.</a:t>
            </a:r>
          </a:p>
          <a:p>
            <a:pPr marL="133350" indent="0">
              <a:buNone/>
            </a:pPr>
            <a:endParaRPr lang="en-US" sz="900" dirty="0">
              <a:highlight>
                <a:schemeClr val="lt1"/>
              </a:highlight>
            </a:endParaRPr>
          </a:p>
          <a:p>
            <a:pPr marL="133350" indent="0">
              <a:buNone/>
            </a:pPr>
            <a:r>
              <a:rPr lang="en-US" sz="900" dirty="0">
                <a:highlight>
                  <a:schemeClr val="lt1"/>
                </a:highlight>
              </a:rPr>
              <a:t>A high Recall helps minimize </a:t>
            </a:r>
            <a:r>
              <a:rPr lang="en-US" sz="900" b="1" dirty="0">
                <a:highlight>
                  <a:schemeClr val="lt1"/>
                </a:highlight>
              </a:rPr>
              <a:t>False Negatives</a:t>
            </a:r>
            <a:r>
              <a:rPr lang="en-US" sz="900" dirty="0">
                <a:highlight>
                  <a:schemeClr val="lt1"/>
                </a:highlight>
              </a:rPr>
              <a:t>, where the model fails to detect an actual turbine failure. False Negatives are extremely costly because they can lead to: </a:t>
            </a:r>
          </a:p>
          <a:p>
            <a:r>
              <a:rPr lang="en-US" sz="900" dirty="0">
                <a:highlight>
                  <a:schemeClr val="lt1"/>
                </a:highlight>
              </a:rPr>
              <a:t>generator breakdown</a:t>
            </a:r>
          </a:p>
          <a:p>
            <a:r>
              <a:rPr lang="en-US" sz="900" dirty="0">
                <a:highlight>
                  <a:schemeClr val="lt1"/>
                </a:highlight>
              </a:rPr>
              <a:t>operational downtime</a:t>
            </a:r>
          </a:p>
          <a:p>
            <a:r>
              <a:rPr lang="en-US" sz="900" dirty="0">
                <a:highlight>
                  <a:schemeClr val="lt1"/>
                </a:highlight>
              </a:rPr>
              <a:t>expensive replacement costs</a:t>
            </a:r>
          </a:p>
          <a:p>
            <a:r>
              <a:rPr lang="en-US" sz="900" dirty="0">
                <a:highlight>
                  <a:schemeClr val="lt1"/>
                </a:highlight>
              </a:rPr>
              <a:t>production losses</a:t>
            </a:r>
          </a:p>
          <a:p>
            <a:endParaRPr lang="en-US" sz="900" dirty="0">
              <a:highlight>
                <a:schemeClr val="lt1"/>
              </a:highlight>
            </a:endParaRPr>
          </a:p>
          <a:p>
            <a:pPr marL="133350" indent="0">
              <a:buNone/>
            </a:pPr>
            <a:r>
              <a:rPr lang="en-US" sz="900" dirty="0">
                <a:highlight>
                  <a:schemeClr val="lt1"/>
                </a:highlight>
              </a:rPr>
              <a:t>Additional metrics used for evaluation include:</a:t>
            </a:r>
          </a:p>
          <a:p>
            <a:r>
              <a:rPr lang="en-US" sz="900" dirty="0">
                <a:highlight>
                  <a:schemeClr val="lt1"/>
                </a:highlight>
              </a:rPr>
              <a:t>Precision</a:t>
            </a:r>
          </a:p>
          <a:p>
            <a:r>
              <a:rPr lang="en-US" sz="900" dirty="0">
                <a:highlight>
                  <a:schemeClr val="lt1"/>
                </a:highlight>
              </a:rPr>
              <a:t>F1-Score</a:t>
            </a:r>
          </a:p>
          <a:p>
            <a:r>
              <a:rPr lang="en-US" sz="900" dirty="0">
                <a:highlight>
                  <a:schemeClr val="lt1"/>
                </a:highlight>
              </a:rPr>
              <a:t>ROC-AUC</a:t>
            </a:r>
          </a:p>
          <a:p>
            <a:r>
              <a:rPr lang="en-US" sz="900" dirty="0">
                <a:highlight>
                  <a:schemeClr val="lt1"/>
                </a:highlight>
              </a:rPr>
              <a:t>Confusion Matrix</a:t>
            </a:r>
          </a:p>
          <a:p>
            <a:pPr marL="133350" indent="0">
              <a:buNone/>
            </a:pPr>
            <a:endParaRPr lang="en-US" sz="900" dirty="0">
              <a:highlight>
                <a:schemeClr val="lt1"/>
              </a:highlight>
            </a:endParaRPr>
          </a:p>
          <a:p>
            <a:pPr marL="133350" indent="0">
              <a:buNone/>
            </a:pPr>
            <a:r>
              <a:rPr lang="en-US" sz="900" dirty="0">
                <a:highlight>
                  <a:schemeClr val="lt1"/>
                </a:highlight>
              </a:rPr>
              <a:t>Accuracy alone is not sufficient because the dataset is highly imbalanced, with approximately 94.5% of observations belonging to the “No Failure” class.</a:t>
            </a:r>
          </a:p>
          <a:p>
            <a:pPr marL="139700" lvl="0" indent="0" algn="l" rtl="0">
              <a:spcBef>
                <a:spcPts val="0"/>
              </a:spcBef>
              <a:spcAft>
                <a:spcPts val="0"/>
              </a:spcAft>
              <a:buClr>
                <a:srgbClr val="000000"/>
              </a:buClr>
              <a:buSzPts val="1400"/>
              <a:buNone/>
            </a:pPr>
            <a:endParaRPr sz="900" i="1" dirty="0">
              <a:solidFill>
                <a:srgbClr val="000000"/>
              </a:solidFill>
              <a:highlight>
                <a:schemeClr val="lt1"/>
              </a:highlight>
              <a:latin typeface="Nunito Medium"/>
              <a:ea typeface="Nunito Medium"/>
              <a:cs typeface="Nunito Medium"/>
              <a:sym typeface="Nunito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12508d39905_0_217"/>
          <p:cNvSpPr txBox="1">
            <a:spLocks noGrp="1"/>
          </p:cNvSpPr>
          <p:nvPr>
            <p:ph type="title"/>
          </p:nvPr>
        </p:nvSpPr>
        <p:spPr>
          <a:xfrm>
            <a:off x="202550" y="74594"/>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600" dirty="0">
                <a:solidFill>
                  <a:srgbClr val="1974D2"/>
                </a:solidFill>
              </a:rPr>
              <a:t>Model Performance Summary: Neural Network Model 0</a:t>
            </a:r>
            <a:endParaRPr sz="1600" dirty="0">
              <a:solidFill>
                <a:srgbClr val="1974D2"/>
              </a:solidFill>
            </a:endParaRPr>
          </a:p>
        </p:txBody>
      </p:sp>
      <p:sp>
        <p:nvSpPr>
          <p:cNvPr id="150" name="Google Shape;150;g12508d39905_0_217"/>
          <p:cNvSpPr txBox="1">
            <a:spLocks noGrp="1"/>
          </p:cNvSpPr>
          <p:nvPr>
            <p:ph type="body" idx="1"/>
          </p:nvPr>
        </p:nvSpPr>
        <p:spPr>
          <a:xfrm>
            <a:off x="0" y="360944"/>
            <a:ext cx="4369450" cy="3706800"/>
          </a:xfrm>
          <a:prstGeom prst="rect">
            <a:avLst/>
          </a:prstGeom>
          <a:noFill/>
          <a:ln>
            <a:noFill/>
          </a:ln>
        </p:spPr>
        <p:txBody>
          <a:bodyPr spcFirstLastPara="1" wrap="square" lIns="91425" tIns="91425" rIns="91425" bIns="91425" anchor="t" anchorCtr="0">
            <a:noAutofit/>
          </a:bodyPr>
          <a:lstStyle/>
          <a:p>
            <a:pPr marL="133350" indent="0">
              <a:buNone/>
            </a:pPr>
            <a:r>
              <a:rPr lang="en-US" sz="800" b="1" dirty="0"/>
              <a:t>Model Performance Summary</a:t>
            </a:r>
          </a:p>
          <a:p>
            <a:r>
              <a:rPr lang="en-US" sz="800" dirty="0"/>
              <a:t>The initial neural network model showed very strong performance on both the training and validation datasets.</a:t>
            </a:r>
          </a:p>
          <a:p>
            <a:r>
              <a:rPr lang="en-US" sz="800" b="1" dirty="0"/>
              <a:t>Training Results</a:t>
            </a:r>
          </a:p>
          <a:p>
            <a:r>
              <a:rPr lang="en-US" sz="800" dirty="0"/>
              <a:t>Accuracy: </a:t>
            </a:r>
            <a:r>
              <a:rPr lang="en-US" sz="800" b="1" dirty="0"/>
              <a:t>99%</a:t>
            </a:r>
            <a:endParaRPr lang="en-US" sz="800" dirty="0"/>
          </a:p>
          <a:p>
            <a:r>
              <a:rPr lang="en-US" sz="800" dirty="0"/>
              <a:t>Failure Detection Recall: </a:t>
            </a:r>
            <a:r>
              <a:rPr lang="en-US" sz="800" b="1" dirty="0"/>
              <a:t>83%</a:t>
            </a:r>
            <a:endParaRPr lang="en-US" sz="800" dirty="0"/>
          </a:p>
          <a:p>
            <a:r>
              <a:rPr lang="en-US" sz="800" dirty="0"/>
              <a:t>Failure Detection Precision: </a:t>
            </a:r>
            <a:r>
              <a:rPr lang="en-US" sz="800" b="1" dirty="0"/>
              <a:t>97%</a:t>
            </a:r>
            <a:endParaRPr lang="en-US" sz="800" dirty="0"/>
          </a:p>
          <a:p>
            <a:r>
              <a:rPr lang="en-US" sz="800" dirty="0"/>
              <a:t>Failure Detection F1-Score: </a:t>
            </a:r>
            <a:r>
              <a:rPr lang="en-US" sz="800" b="1" dirty="0"/>
              <a:t>90%</a:t>
            </a:r>
            <a:endParaRPr lang="en-US" sz="800" dirty="0"/>
          </a:p>
          <a:p>
            <a:pPr marL="133350" indent="0">
              <a:buNone/>
            </a:pPr>
            <a:endParaRPr lang="en-US" sz="800" b="1" dirty="0"/>
          </a:p>
          <a:p>
            <a:pPr marL="133350" indent="0">
              <a:buNone/>
            </a:pPr>
            <a:r>
              <a:rPr lang="en-US" sz="800" b="1" dirty="0"/>
              <a:t>Validation Results</a:t>
            </a:r>
          </a:p>
          <a:p>
            <a:r>
              <a:rPr lang="en-US" sz="800" dirty="0"/>
              <a:t>Accuracy: </a:t>
            </a:r>
            <a:r>
              <a:rPr lang="en-US" sz="800" b="1" dirty="0"/>
              <a:t>99%</a:t>
            </a:r>
            <a:endParaRPr lang="en-US" sz="800" dirty="0"/>
          </a:p>
          <a:p>
            <a:r>
              <a:rPr lang="en-US" sz="800" dirty="0"/>
              <a:t>Failure Detection Recall: </a:t>
            </a:r>
            <a:r>
              <a:rPr lang="en-US" sz="800" b="1" dirty="0"/>
              <a:t>82%</a:t>
            </a:r>
            <a:endParaRPr lang="en-US" sz="800" dirty="0"/>
          </a:p>
          <a:p>
            <a:r>
              <a:rPr lang="en-US" sz="800" dirty="0"/>
              <a:t>Failure Detection Precision: </a:t>
            </a:r>
            <a:r>
              <a:rPr lang="en-US" sz="800" b="1" dirty="0"/>
              <a:t>97%</a:t>
            </a:r>
            <a:endParaRPr lang="en-US" sz="800" dirty="0"/>
          </a:p>
          <a:p>
            <a:r>
              <a:rPr lang="en-US" sz="800" dirty="0"/>
              <a:t>Failure Detection F1-Score: </a:t>
            </a:r>
            <a:r>
              <a:rPr lang="en-US" sz="800" b="1" dirty="0"/>
              <a:t>89%</a:t>
            </a:r>
            <a:endParaRPr lang="en-US" sz="800" dirty="0"/>
          </a:p>
          <a:p>
            <a:pPr marL="133350" indent="0">
              <a:buNone/>
            </a:pPr>
            <a:endParaRPr lang="en-US" sz="800" dirty="0"/>
          </a:p>
          <a:p>
            <a:pPr marL="133350" indent="0">
              <a:buNone/>
            </a:pPr>
            <a:r>
              <a:rPr lang="en-US" sz="800" b="1" dirty="0"/>
              <a:t>Key Insights</a:t>
            </a:r>
          </a:p>
          <a:p>
            <a:r>
              <a:rPr lang="en-US" sz="800" dirty="0"/>
              <a:t>The model successfully learned meaningful patterns from the turbine sensor data.</a:t>
            </a:r>
          </a:p>
          <a:p>
            <a:r>
              <a:rPr lang="en-US" sz="800" dirty="0"/>
              <a:t>Validation performance is very close to training performance, indicating good model stability, strong generalization, and limited overfitting.</a:t>
            </a:r>
          </a:p>
          <a:p>
            <a:r>
              <a:rPr lang="en-US" sz="800" dirty="0"/>
              <a:t>The model correctly identifies most turbine failures while maintaining very few false alarms.</a:t>
            </a:r>
          </a:p>
          <a:p>
            <a:pPr marL="133350" indent="0">
              <a:buNone/>
            </a:pPr>
            <a:endParaRPr lang="en-US" sz="800" dirty="0"/>
          </a:p>
          <a:p>
            <a:pPr marL="133350" indent="0">
              <a:buNone/>
            </a:pPr>
            <a:r>
              <a:rPr lang="en-US" sz="800" b="1" dirty="0"/>
              <a:t>Why These Results Matter</a:t>
            </a:r>
          </a:p>
          <a:p>
            <a:pPr marL="133350" indent="0">
              <a:buNone/>
            </a:pPr>
            <a:r>
              <a:rPr lang="en-US" sz="800" b="1" dirty="0"/>
              <a:t>1. High Recall (~82–83%)</a:t>
            </a:r>
          </a:p>
          <a:p>
            <a:r>
              <a:rPr lang="en-US" sz="800" dirty="0"/>
              <a:t>The model correctly detects most turbine failures before breakdown occurs.</a:t>
            </a:r>
          </a:p>
          <a:p>
            <a:r>
              <a:rPr lang="en-US" sz="800" dirty="0"/>
              <a:t>This is critical because missed failures (False Negatives) are extremely costly.</a:t>
            </a:r>
          </a:p>
          <a:p>
            <a:pPr marL="133350" indent="0">
              <a:buNone/>
            </a:pPr>
            <a:r>
              <a:rPr lang="en-US" sz="800" b="1" dirty="0"/>
              <a:t>2. High Precision (~97%)</a:t>
            </a:r>
          </a:p>
          <a:p>
            <a:r>
              <a:rPr lang="en-US" sz="800" dirty="0"/>
              <a:t>When the model predicts a failure, it is usually correct.</a:t>
            </a:r>
          </a:p>
          <a:p>
            <a:r>
              <a:rPr lang="en-US" sz="800" dirty="0"/>
              <a:t>This helps reduce unnecessary inspections and maintenance activity.</a:t>
            </a:r>
          </a:p>
          <a:p>
            <a:pPr marL="133350" indent="0">
              <a:buNone/>
            </a:pPr>
            <a:r>
              <a:rPr lang="en-US" sz="800" b="1" dirty="0"/>
              <a:t>3. Strong F1-Score (~89–90%)</a:t>
            </a:r>
          </a:p>
          <a:p>
            <a:r>
              <a:rPr lang="en-US" sz="800" dirty="0"/>
              <a:t>Indicates a strong balance between detecting </a:t>
            </a:r>
            <a:r>
              <a:rPr lang="en-US" sz="800" dirty="0" err="1"/>
              <a:t>failures,and</a:t>
            </a:r>
            <a:r>
              <a:rPr lang="en-US" sz="800" dirty="0"/>
              <a:t> minimizing false alarms.</a:t>
            </a:r>
          </a:p>
          <a:p>
            <a:endParaRPr lang="en-US" sz="800" dirty="0"/>
          </a:p>
          <a:p>
            <a:pPr marL="0" lvl="0" indent="0" algn="l" rtl="0">
              <a:lnSpc>
                <a:spcPct val="115000"/>
              </a:lnSpc>
              <a:spcBef>
                <a:spcPts val="1000"/>
              </a:spcBef>
              <a:spcAft>
                <a:spcPts val="1000"/>
              </a:spcAft>
              <a:buSzPts val="1500"/>
              <a:buNone/>
            </a:pPr>
            <a:endParaRPr sz="800" dirty="0">
              <a:solidFill>
                <a:srgbClr val="000000"/>
              </a:solidFill>
            </a:endParaRPr>
          </a:p>
        </p:txBody>
      </p:sp>
      <p:sp>
        <p:nvSpPr>
          <p:cNvPr id="2" name="Google Shape;150;g12508d39905_0_217">
            <a:extLst>
              <a:ext uri="{FF2B5EF4-FFF2-40B4-BE49-F238E27FC236}">
                <a16:creationId xmlns:a16="http://schemas.microsoft.com/office/drawing/2014/main" id="{E1B61F88-581F-46AA-1A06-90B1AD90A816}"/>
              </a:ext>
            </a:extLst>
          </p:cNvPr>
          <p:cNvSpPr txBox="1">
            <a:spLocks/>
          </p:cNvSpPr>
          <p:nvPr/>
        </p:nvSpPr>
        <p:spPr>
          <a:xfrm>
            <a:off x="4153318" y="360944"/>
            <a:ext cx="4219405"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800" b="1" dirty="0"/>
              <a:t>Business Impact</a:t>
            </a:r>
          </a:p>
          <a:p>
            <a:pPr marL="133350" indent="0">
              <a:buNone/>
            </a:pPr>
            <a:r>
              <a:rPr lang="en-US" sz="800" b="1" dirty="0"/>
              <a:t>1. Reduced Turbine Failure Risk</a:t>
            </a:r>
          </a:p>
          <a:p>
            <a:r>
              <a:rPr lang="en-US" sz="800" dirty="0"/>
              <a:t>Early failure detection supports predictive maintenance and reduces catastrophic breakdowns.</a:t>
            </a:r>
          </a:p>
          <a:p>
            <a:pPr marL="133350" indent="0">
              <a:buNone/>
            </a:pPr>
            <a:r>
              <a:rPr lang="en-US" sz="800" b="1" dirty="0"/>
              <a:t>2. Lower Maintenance &amp; Replacement Costs</a:t>
            </a:r>
          </a:p>
          <a:p>
            <a:r>
              <a:rPr lang="en-US" sz="800" dirty="0"/>
              <a:t>Detecting failures early can prevent expensive generator replacement and emergency repairs.</a:t>
            </a:r>
          </a:p>
          <a:p>
            <a:pPr marL="133350" indent="0">
              <a:buNone/>
            </a:pPr>
            <a:r>
              <a:rPr lang="en-US" sz="800" b="1" dirty="0"/>
              <a:t>3. Reduced Operational Downtime</a:t>
            </a:r>
          </a:p>
          <a:p>
            <a:r>
              <a:rPr lang="en-US" sz="800" dirty="0"/>
              <a:t>Improved failure prediction helps maintain stable turbine operations and energy production.</a:t>
            </a:r>
          </a:p>
          <a:p>
            <a:pPr marL="133350" indent="0">
              <a:buNone/>
            </a:pPr>
            <a:r>
              <a:rPr lang="en-US" sz="800" b="1" dirty="0"/>
              <a:t>4. Improved Maintenance Planning</a:t>
            </a:r>
          </a:p>
          <a:p>
            <a:r>
              <a:rPr lang="en-US" sz="800" dirty="0"/>
              <a:t>High model precision reduces unnecessary maintenance actions and improves operational efficiency.</a:t>
            </a:r>
          </a:p>
          <a:p>
            <a:pPr marL="133350" indent="0">
              <a:buNone/>
            </a:pPr>
            <a:endParaRPr lang="en-US" sz="800" b="1" dirty="0"/>
          </a:p>
          <a:p>
            <a:pPr marL="133350" indent="0">
              <a:buNone/>
            </a:pPr>
            <a:r>
              <a:rPr lang="en-US" sz="800" b="1" dirty="0"/>
              <a:t>Overall Conclusion</a:t>
            </a:r>
          </a:p>
          <a:p>
            <a:r>
              <a:rPr lang="en-US" sz="800" dirty="0"/>
              <a:t>Model 0 provides a strong baseline predictive maintenance model with:</a:t>
            </a:r>
          </a:p>
          <a:p>
            <a:r>
              <a:rPr lang="en-US" sz="800" dirty="0"/>
              <a:t>excellent overall accuracy,</a:t>
            </a:r>
          </a:p>
          <a:p>
            <a:r>
              <a:rPr lang="en-US" sz="800" dirty="0"/>
              <a:t>strong failure detection capability,</a:t>
            </a:r>
          </a:p>
          <a:p>
            <a:r>
              <a:rPr lang="en-US" sz="800" dirty="0"/>
              <a:t>stable validation performance,</a:t>
            </a:r>
          </a:p>
          <a:p>
            <a:r>
              <a:rPr lang="en-US" sz="800" dirty="0"/>
              <a:t>and significant business value potential.</a:t>
            </a:r>
          </a:p>
          <a:p>
            <a:r>
              <a:rPr lang="en-US" sz="800" dirty="0"/>
              <a:t>The model demonstrates strong potential to help </a:t>
            </a:r>
            <a:r>
              <a:rPr lang="en-US" sz="800" dirty="0" err="1"/>
              <a:t>ReneWind</a:t>
            </a:r>
            <a:r>
              <a:rPr lang="en-US" sz="800" dirty="0"/>
              <a:t>:</a:t>
            </a:r>
          </a:p>
          <a:p>
            <a:r>
              <a:rPr lang="en-US" sz="800" dirty="0"/>
              <a:t>reduce downtime,</a:t>
            </a:r>
          </a:p>
          <a:p>
            <a:r>
              <a:rPr lang="en-US" sz="800" dirty="0"/>
              <a:t>improve turbine reliability,</a:t>
            </a:r>
          </a:p>
          <a:p>
            <a:r>
              <a:rPr lang="en-US" sz="800" dirty="0"/>
              <a:t>lower operational costs,</a:t>
            </a:r>
          </a:p>
          <a:p>
            <a:r>
              <a:rPr lang="en-US" sz="800" dirty="0"/>
              <a:t>and transition toward proactive maintenance strategies</a:t>
            </a:r>
          </a:p>
          <a:p>
            <a:pPr marL="0" indent="0">
              <a:spcBef>
                <a:spcPts val="1000"/>
              </a:spcBef>
              <a:spcAft>
                <a:spcPts val="1000"/>
              </a:spcAft>
              <a:buFont typeface="Nunito"/>
              <a:buNone/>
            </a:pPr>
            <a:endParaRPr lang="en-US" sz="800" dirty="0">
              <a:solidFill>
                <a:srgbClr val="00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5F2A887F-377D-2E18-E64E-EB394D35EAB7}"/>
            </a:ext>
          </a:extLst>
        </p:cNvPr>
        <p:cNvGrpSpPr/>
        <p:nvPr/>
      </p:nvGrpSpPr>
      <p:grpSpPr>
        <a:xfrm>
          <a:off x="0" y="0"/>
          <a:ext cx="0" cy="0"/>
          <a:chOff x="0" y="0"/>
          <a:chExt cx="0" cy="0"/>
        </a:xfrm>
      </p:grpSpPr>
      <p:sp>
        <p:nvSpPr>
          <p:cNvPr id="149" name="Google Shape;149;g12508d39905_0_217">
            <a:extLst>
              <a:ext uri="{FF2B5EF4-FFF2-40B4-BE49-F238E27FC236}">
                <a16:creationId xmlns:a16="http://schemas.microsoft.com/office/drawing/2014/main" id="{150122EF-B5E3-F71A-16F6-4B2EBAF17668}"/>
              </a:ext>
            </a:extLst>
          </p:cNvPr>
          <p:cNvSpPr txBox="1">
            <a:spLocks noGrp="1"/>
          </p:cNvSpPr>
          <p:nvPr>
            <p:ph type="title"/>
          </p:nvPr>
        </p:nvSpPr>
        <p:spPr>
          <a:xfrm>
            <a:off x="202550" y="74594"/>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600" dirty="0">
                <a:solidFill>
                  <a:srgbClr val="1974D2"/>
                </a:solidFill>
              </a:rPr>
              <a:t>Model Performance Summary: Neural Network Model 0</a:t>
            </a:r>
            <a:endParaRPr sz="1600" dirty="0">
              <a:solidFill>
                <a:srgbClr val="1974D2"/>
              </a:solidFill>
            </a:endParaRPr>
          </a:p>
        </p:txBody>
      </p:sp>
      <p:pic>
        <p:nvPicPr>
          <p:cNvPr id="5" name="Picture 4">
            <a:extLst>
              <a:ext uri="{FF2B5EF4-FFF2-40B4-BE49-F238E27FC236}">
                <a16:creationId xmlns:a16="http://schemas.microsoft.com/office/drawing/2014/main" id="{F38E78CE-2035-E871-0C42-1B9CCB1B8836}"/>
              </a:ext>
            </a:extLst>
          </p:cNvPr>
          <p:cNvPicPr>
            <a:picLocks noChangeAspect="1"/>
          </p:cNvPicPr>
          <p:nvPr/>
        </p:nvPicPr>
        <p:blipFill>
          <a:blip r:embed="rId3"/>
          <a:stretch>
            <a:fillRect/>
          </a:stretch>
        </p:blipFill>
        <p:spPr>
          <a:xfrm>
            <a:off x="353625" y="2465567"/>
            <a:ext cx="3216511" cy="2415865"/>
          </a:xfrm>
          <a:prstGeom prst="rect">
            <a:avLst/>
          </a:prstGeom>
        </p:spPr>
      </p:pic>
      <p:pic>
        <p:nvPicPr>
          <p:cNvPr id="6" name="Picture 5">
            <a:extLst>
              <a:ext uri="{FF2B5EF4-FFF2-40B4-BE49-F238E27FC236}">
                <a16:creationId xmlns:a16="http://schemas.microsoft.com/office/drawing/2014/main" id="{5A318D91-CB20-DA32-12A8-6DFBEC85A6EE}"/>
              </a:ext>
            </a:extLst>
          </p:cNvPr>
          <p:cNvPicPr>
            <a:picLocks noChangeAspect="1"/>
          </p:cNvPicPr>
          <p:nvPr/>
        </p:nvPicPr>
        <p:blipFill>
          <a:blip r:embed="rId4"/>
          <a:stretch>
            <a:fillRect/>
          </a:stretch>
        </p:blipFill>
        <p:spPr>
          <a:xfrm>
            <a:off x="5057030" y="2358305"/>
            <a:ext cx="2965244" cy="2491246"/>
          </a:xfrm>
          <a:prstGeom prst="rect">
            <a:avLst/>
          </a:prstGeom>
        </p:spPr>
      </p:pic>
      <p:pic>
        <p:nvPicPr>
          <p:cNvPr id="7" name="Picture 6">
            <a:extLst>
              <a:ext uri="{FF2B5EF4-FFF2-40B4-BE49-F238E27FC236}">
                <a16:creationId xmlns:a16="http://schemas.microsoft.com/office/drawing/2014/main" id="{458F3B55-638B-FFCD-87A0-67903676E0A8}"/>
              </a:ext>
            </a:extLst>
          </p:cNvPr>
          <p:cNvPicPr>
            <a:picLocks noChangeAspect="1"/>
          </p:cNvPicPr>
          <p:nvPr/>
        </p:nvPicPr>
        <p:blipFill>
          <a:blip r:embed="rId5"/>
          <a:stretch>
            <a:fillRect/>
          </a:stretch>
        </p:blipFill>
        <p:spPr>
          <a:xfrm>
            <a:off x="420850" y="647294"/>
            <a:ext cx="3384826" cy="1711011"/>
          </a:xfrm>
          <a:prstGeom prst="rect">
            <a:avLst/>
          </a:prstGeom>
        </p:spPr>
      </p:pic>
      <p:pic>
        <p:nvPicPr>
          <p:cNvPr id="8" name="Picture 7">
            <a:extLst>
              <a:ext uri="{FF2B5EF4-FFF2-40B4-BE49-F238E27FC236}">
                <a16:creationId xmlns:a16="http://schemas.microsoft.com/office/drawing/2014/main" id="{264CE11B-88A6-DAE6-A946-8DDA177A85C3}"/>
              </a:ext>
            </a:extLst>
          </p:cNvPr>
          <p:cNvPicPr>
            <a:picLocks noChangeAspect="1"/>
          </p:cNvPicPr>
          <p:nvPr/>
        </p:nvPicPr>
        <p:blipFill>
          <a:blip r:embed="rId6"/>
          <a:stretch>
            <a:fillRect/>
          </a:stretch>
        </p:blipFill>
        <p:spPr>
          <a:xfrm>
            <a:off x="5057030" y="532130"/>
            <a:ext cx="2848916" cy="1711011"/>
          </a:xfrm>
          <a:prstGeom prst="rect">
            <a:avLst/>
          </a:prstGeom>
        </p:spPr>
      </p:pic>
    </p:spTree>
    <p:extLst>
      <p:ext uri="{BB962C8B-B14F-4D97-AF65-F5344CB8AC3E}">
        <p14:creationId xmlns:p14="http://schemas.microsoft.com/office/powerpoint/2010/main" val="23246686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962AB550-DFDE-D89D-E19C-D846F15E516C}"/>
            </a:ext>
          </a:extLst>
        </p:cNvPr>
        <p:cNvGrpSpPr/>
        <p:nvPr/>
      </p:nvGrpSpPr>
      <p:grpSpPr>
        <a:xfrm>
          <a:off x="0" y="0"/>
          <a:ext cx="0" cy="0"/>
          <a:chOff x="0" y="0"/>
          <a:chExt cx="0" cy="0"/>
        </a:xfrm>
      </p:grpSpPr>
      <p:sp>
        <p:nvSpPr>
          <p:cNvPr id="149" name="Google Shape;149;g12508d39905_0_217">
            <a:extLst>
              <a:ext uri="{FF2B5EF4-FFF2-40B4-BE49-F238E27FC236}">
                <a16:creationId xmlns:a16="http://schemas.microsoft.com/office/drawing/2014/main" id="{B609BFA5-9B9B-EAA1-5925-B5410E5E471D}"/>
              </a:ext>
            </a:extLst>
          </p:cNvPr>
          <p:cNvSpPr txBox="1">
            <a:spLocks noGrp="1"/>
          </p:cNvSpPr>
          <p:nvPr>
            <p:ph type="title"/>
          </p:nvPr>
        </p:nvSpPr>
        <p:spPr>
          <a:xfrm>
            <a:off x="202550" y="74594"/>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400" dirty="0">
                <a:solidFill>
                  <a:srgbClr val="1974D2"/>
                </a:solidFill>
              </a:rPr>
              <a:t>Model Performance Summary: Model 1 Neural Network Performance Improvement</a:t>
            </a:r>
            <a:endParaRPr sz="1400" dirty="0">
              <a:solidFill>
                <a:srgbClr val="1974D2"/>
              </a:solidFill>
            </a:endParaRPr>
          </a:p>
        </p:txBody>
      </p:sp>
      <p:sp>
        <p:nvSpPr>
          <p:cNvPr id="150" name="Google Shape;150;g12508d39905_0_217">
            <a:extLst>
              <a:ext uri="{FF2B5EF4-FFF2-40B4-BE49-F238E27FC236}">
                <a16:creationId xmlns:a16="http://schemas.microsoft.com/office/drawing/2014/main" id="{8A131902-689B-C55B-5E97-92EFF9B4C4FC}"/>
              </a:ext>
            </a:extLst>
          </p:cNvPr>
          <p:cNvSpPr txBox="1">
            <a:spLocks noGrp="1"/>
          </p:cNvSpPr>
          <p:nvPr>
            <p:ph type="body" idx="1"/>
          </p:nvPr>
        </p:nvSpPr>
        <p:spPr>
          <a:xfrm>
            <a:off x="0" y="360944"/>
            <a:ext cx="4369450"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Model Setup</a:t>
            </a:r>
            <a:endParaRPr lang="en-US" sz="900" dirty="0"/>
          </a:p>
          <a:p>
            <a:r>
              <a:rPr lang="en-US" sz="900" dirty="0"/>
              <a:t>Added a second hidden layer to improve learning capacity.</a:t>
            </a:r>
          </a:p>
          <a:p>
            <a:r>
              <a:rPr lang="en-US" sz="900" dirty="0"/>
              <a:t>Architecture: 64 neurons → 32 neurons → 1 output neuron.</a:t>
            </a:r>
          </a:p>
          <a:p>
            <a:r>
              <a:rPr lang="en-US" sz="900" dirty="0"/>
              <a:t>Total trainable parameters: 4,737.</a:t>
            </a:r>
          </a:p>
          <a:p>
            <a:r>
              <a:rPr lang="en-US" sz="900" dirty="0"/>
              <a:t>Designed to capture nonlinear relationships in turbine sensor data.</a:t>
            </a:r>
          </a:p>
          <a:p>
            <a:pPr marL="133350" indent="0">
              <a:buNone/>
            </a:pPr>
            <a:endParaRPr lang="en-US" sz="900" b="1" dirty="0"/>
          </a:p>
          <a:p>
            <a:pPr marL="133350" indent="0">
              <a:buNone/>
            </a:pPr>
            <a:r>
              <a:rPr lang="en-US" sz="900" b="1" dirty="0"/>
              <a:t>Validation Results</a:t>
            </a:r>
            <a:endParaRPr lang="en-US" sz="900" dirty="0"/>
          </a:p>
          <a:p>
            <a:r>
              <a:rPr lang="en-US" sz="900" dirty="0"/>
              <a:t>Accuracy: </a:t>
            </a:r>
            <a:r>
              <a:rPr lang="en-US" sz="900" b="1" dirty="0"/>
              <a:t>99%</a:t>
            </a:r>
            <a:endParaRPr lang="en-US" sz="900" dirty="0"/>
          </a:p>
          <a:p>
            <a:r>
              <a:rPr lang="en-US" sz="900" dirty="0"/>
              <a:t>Failure Precision: </a:t>
            </a:r>
            <a:r>
              <a:rPr lang="en-US" sz="900" b="1" dirty="0"/>
              <a:t>96%</a:t>
            </a:r>
            <a:endParaRPr lang="en-US" sz="900" dirty="0"/>
          </a:p>
          <a:p>
            <a:r>
              <a:rPr lang="en-US" sz="900" dirty="0"/>
              <a:t>Failure Recall: </a:t>
            </a:r>
            <a:r>
              <a:rPr lang="en-US" sz="900" b="1" dirty="0"/>
              <a:t>85%</a:t>
            </a:r>
            <a:endParaRPr lang="en-US" sz="900" dirty="0"/>
          </a:p>
          <a:p>
            <a:r>
              <a:rPr lang="en-US" sz="900" dirty="0"/>
              <a:t>Failure F1-Score: </a:t>
            </a:r>
            <a:r>
              <a:rPr lang="en-US" sz="900" b="1" dirty="0"/>
              <a:t>90%</a:t>
            </a:r>
            <a:endParaRPr lang="en-US" sz="900" dirty="0"/>
          </a:p>
          <a:p>
            <a:r>
              <a:rPr lang="en-US" sz="900" dirty="0"/>
              <a:t>Macro Avg Recall: </a:t>
            </a:r>
            <a:r>
              <a:rPr lang="en-US" sz="900" b="1" dirty="0"/>
              <a:t>92%</a:t>
            </a:r>
            <a:endParaRPr lang="en-US" sz="900" dirty="0"/>
          </a:p>
          <a:p>
            <a:r>
              <a:rPr lang="en-US" sz="900" dirty="0"/>
              <a:t>Macro Avg F1-Score: </a:t>
            </a:r>
            <a:r>
              <a:rPr lang="en-US" sz="900" b="1" dirty="0"/>
              <a:t>95%</a:t>
            </a:r>
            <a:endParaRPr lang="en-US" sz="900" dirty="0"/>
          </a:p>
          <a:p>
            <a:pPr marL="133350" indent="0">
              <a:buNone/>
            </a:pPr>
            <a:endParaRPr lang="en-US" sz="900" b="1" dirty="0"/>
          </a:p>
          <a:p>
            <a:pPr marL="133350" indent="0">
              <a:buNone/>
            </a:pPr>
            <a:r>
              <a:rPr lang="en-US" sz="900" b="1" dirty="0"/>
              <a:t>What the Results Mean</a:t>
            </a:r>
            <a:endParaRPr lang="en-US" sz="900" dirty="0"/>
          </a:p>
          <a:p>
            <a:r>
              <a:rPr lang="en-US" sz="900" dirty="0"/>
              <a:t>The model performs very well on unseen validation data.</a:t>
            </a:r>
          </a:p>
          <a:p>
            <a:r>
              <a:rPr lang="en-US" sz="900" dirty="0"/>
              <a:t>It correctly identifies most normal turbine operations.</a:t>
            </a:r>
          </a:p>
          <a:p>
            <a:r>
              <a:rPr lang="en-US" sz="900" dirty="0"/>
              <a:t>It detects about </a:t>
            </a:r>
            <a:r>
              <a:rPr lang="en-US" sz="900" b="1" dirty="0"/>
              <a:t>85% of actual failures</a:t>
            </a:r>
            <a:r>
              <a:rPr lang="en-US" sz="900" dirty="0"/>
              <a:t>, which is strong given that failures are rare.</a:t>
            </a:r>
          </a:p>
          <a:p>
            <a:r>
              <a:rPr lang="en-US" sz="900" dirty="0"/>
              <a:t>When the model predicts a failure, it is correct </a:t>
            </a:r>
            <a:r>
              <a:rPr lang="en-US" sz="900" b="1" dirty="0"/>
              <a:t>96% of the time</a:t>
            </a:r>
            <a:r>
              <a:rPr lang="en-US" sz="900" dirty="0"/>
              <a:t>.</a:t>
            </a:r>
          </a:p>
          <a:p>
            <a:r>
              <a:rPr lang="en-US" sz="900" dirty="0"/>
              <a:t>The loss curve shows stable learning with limited overfitting.</a:t>
            </a:r>
          </a:p>
          <a:p>
            <a:pPr marL="133350" indent="0">
              <a:buNone/>
            </a:pPr>
            <a:endParaRPr lang="en-US" sz="900" b="1" dirty="0"/>
          </a:p>
          <a:p>
            <a:pPr marL="133350" indent="0">
              <a:buNone/>
            </a:pPr>
            <a:r>
              <a:rPr lang="en-US" sz="900" b="1" dirty="0"/>
              <a:t>Why This Matters</a:t>
            </a:r>
            <a:endParaRPr lang="en-US" sz="900" dirty="0"/>
          </a:p>
          <a:p>
            <a:r>
              <a:rPr lang="en-US" sz="900" dirty="0"/>
              <a:t>Accuracy alone is not enough because the dataset is highly imbalanced.</a:t>
            </a:r>
          </a:p>
          <a:p>
            <a:r>
              <a:rPr lang="en-US" sz="900" dirty="0"/>
              <a:t>Recall is especially important because missed failures are the most expensive error.</a:t>
            </a:r>
          </a:p>
          <a:p>
            <a:r>
              <a:rPr lang="en-US" sz="900" dirty="0"/>
              <a:t>Model 1 balances failure detection with low false alarm risk.</a:t>
            </a:r>
          </a:p>
          <a:p>
            <a:pPr marL="133350" indent="0">
              <a:buNone/>
            </a:pPr>
            <a:endParaRPr lang="en-US" sz="900" dirty="0"/>
          </a:p>
          <a:p>
            <a:pPr marL="0" lvl="0" indent="0" algn="l" rtl="0">
              <a:lnSpc>
                <a:spcPct val="115000"/>
              </a:lnSpc>
              <a:spcBef>
                <a:spcPts val="1000"/>
              </a:spcBef>
              <a:spcAft>
                <a:spcPts val="1000"/>
              </a:spcAft>
              <a:buSzPts val="1500"/>
              <a:buNone/>
            </a:pPr>
            <a:endParaRPr sz="900" dirty="0">
              <a:solidFill>
                <a:srgbClr val="000000"/>
              </a:solidFill>
            </a:endParaRPr>
          </a:p>
        </p:txBody>
      </p:sp>
      <p:sp>
        <p:nvSpPr>
          <p:cNvPr id="2" name="Google Shape;150;g12508d39905_0_217">
            <a:extLst>
              <a:ext uri="{FF2B5EF4-FFF2-40B4-BE49-F238E27FC236}">
                <a16:creationId xmlns:a16="http://schemas.microsoft.com/office/drawing/2014/main" id="{A648FAE8-3D3F-EE16-F98C-AE526FDABA85}"/>
              </a:ext>
            </a:extLst>
          </p:cNvPr>
          <p:cNvSpPr txBox="1">
            <a:spLocks/>
          </p:cNvSpPr>
          <p:nvPr/>
        </p:nvSpPr>
        <p:spPr>
          <a:xfrm>
            <a:off x="4153318" y="360944"/>
            <a:ext cx="4219405"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t>Business Impact</a:t>
            </a:r>
            <a:endParaRPr lang="en-US" sz="900" dirty="0"/>
          </a:p>
          <a:p>
            <a:r>
              <a:rPr lang="en-US" sz="900" dirty="0"/>
              <a:t>Supports early failure detection.</a:t>
            </a:r>
          </a:p>
          <a:p>
            <a:r>
              <a:rPr lang="en-US" sz="900" dirty="0"/>
              <a:t>Reduces unexpected generator breakdowns.</a:t>
            </a:r>
          </a:p>
          <a:p>
            <a:r>
              <a:rPr lang="en-US" sz="900" dirty="0"/>
              <a:t>Lowers replacement and emergency repair costs.</a:t>
            </a:r>
          </a:p>
          <a:p>
            <a:r>
              <a:rPr lang="en-US" sz="900" dirty="0"/>
              <a:t>Improves maintenance planning.</a:t>
            </a:r>
          </a:p>
          <a:p>
            <a:r>
              <a:rPr lang="en-US" sz="900" dirty="0"/>
              <a:t>Reduces turbine downtime.</a:t>
            </a:r>
          </a:p>
          <a:p>
            <a:r>
              <a:rPr lang="en-US" sz="900" dirty="0"/>
              <a:t>Helps </a:t>
            </a:r>
            <a:r>
              <a:rPr lang="en-US" sz="900" dirty="0" err="1"/>
              <a:t>ReneWind</a:t>
            </a:r>
            <a:r>
              <a:rPr lang="en-US" sz="900" dirty="0"/>
              <a:t> move from reactive to proactive maintenance.</a:t>
            </a:r>
          </a:p>
          <a:p>
            <a:pPr marL="133350" indent="0">
              <a:buNone/>
            </a:pPr>
            <a:endParaRPr lang="en-US" sz="900" b="1" dirty="0"/>
          </a:p>
          <a:p>
            <a:pPr marL="133350" indent="0">
              <a:buNone/>
            </a:pPr>
            <a:r>
              <a:rPr lang="en-US" sz="900" b="1" dirty="0"/>
              <a:t>Conclusion</a:t>
            </a:r>
            <a:br>
              <a:rPr lang="en-US" sz="900" dirty="0"/>
            </a:br>
            <a:r>
              <a:rPr lang="en-US" sz="900" dirty="0"/>
              <a:t>Model 1 is a strong predictive maintenance model. It shows reliable validation performance, strong failure detection, and meaningful business value, though further tuning should aim to reduce the remaining missed failures.</a:t>
            </a:r>
          </a:p>
          <a:p>
            <a:pPr marL="0" indent="0">
              <a:spcBef>
                <a:spcPts val="1000"/>
              </a:spcBef>
              <a:spcAft>
                <a:spcPts val="1000"/>
              </a:spcAft>
              <a:buFont typeface="Nunito"/>
              <a:buNone/>
            </a:pPr>
            <a:endParaRPr lang="en-US" sz="900" dirty="0">
              <a:solidFill>
                <a:srgbClr val="000000"/>
              </a:solidFill>
            </a:endParaRPr>
          </a:p>
        </p:txBody>
      </p:sp>
    </p:spTree>
    <p:extLst>
      <p:ext uri="{BB962C8B-B14F-4D97-AF65-F5344CB8AC3E}">
        <p14:creationId xmlns:p14="http://schemas.microsoft.com/office/powerpoint/2010/main" val="2342929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F77C387A-3748-F494-2196-D25B932FF47E}"/>
            </a:ext>
          </a:extLst>
        </p:cNvPr>
        <p:cNvGrpSpPr/>
        <p:nvPr/>
      </p:nvGrpSpPr>
      <p:grpSpPr>
        <a:xfrm>
          <a:off x="0" y="0"/>
          <a:ext cx="0" cy="0"/>
          <a:chOff x="0" y="0"/>
          <a:chExt cx="0" cy="0"/>
        </a:xfrm>
      </p:grpSpPr>
      <p:sp>
        <p:nvSpPr>
          <p:cNvPr id="149" name="Google Shape;149;g12508d39905_0_217">
            <a:extLst>
              <a:ext uri="{FF2B5EF4-FFF2-40B4-BE49-F238E27FC236}">
                <a16:creationId xmlns:a16="http://schemas.microsoft.com/office/drawing/2014/main" id="{9FF72474-CA2E-1039-6451-9B5ABA21A7B0}"/>
              </a:ext>
            </a:extLst>
          </p:cNvPr>
          <p:cNvSpPr txBox="1">
            <a:spLocks noGrp="1"/>
          </p:cNvSpPr>
          <p:nvPr>
            <p:ph type="title"/>
          </p:nvPr>
        </p:nvSpPr>
        <p:spPr>
          <a:xfrm>
            <a:off x="202550" y="74594"/>
            <a:ext cx="8520600" cy="572700"/>
          </a:xfrm>
          <a:prstGeom prst="rect">
            <a:avLst/>
          </a:prstGeom>
          <a:noFill/>
          <a:ln>
            <a:noFill/>
          </a:ln>
        </p:spPr>
        <p:txBody>
          <a:bodyPr spcFirstLastPara="1" wrap="square" lIns="91425" tIns="91425" rIns="91425" bIns="91425" anchor="t" anchorCtr="0">
            <a:noAutofit/>
          </a:bodyPr>
          <a:lstStyle/>
          <a:p>
            <a:pPr lvl="0"/>
            <a:r>
              <a:rPr lang="en" sz="1400" dirty="0">
                <a:solidFill>
                  <a:srgbClr val="1974D2"/>
                </a:solidFill>
              </a:rPr>
              <a:t>Model Performance Summary: Model 1 Neural Network Performance Improvement</a:t>
            </a:r>
            <a:endParaRPr sz="1400" dirty="0">
              <a:solidFill>
                <a:srgbClr val="1974D2"/>
              </a:solidFill>
            </a:endParaRPr>
          </a:p>
        </p:txBody>
      </p:sp>
      <p:pic>
        <p:nvPicPr>
          <p:cNvPr id="2" name="Picture 1">
            <a:extLst>
              <a:ext uri="{FF2B5EF4-FFF2-40B4-BE49-F238E27FC236}">
                <a16:creationId xmlns:a16="http://schemas.microsoft.com/office/drawing/2014/main" id="{D9FAA6A9-F136-BA9E-64A5-22D2AF43938A}"/>
              </a:ext>
            </a:extLst>
          </p:cNvPr>
          <p:cNvPicPr>
            <a:picLocks noChangeAspect="1"/>
          </p:cNvPicPr>
          <p:nvPr/>
        </p:nvPicPr>
        <p:blipFill>
          <a:blip r:embed="rId3"/>
          <a:stretch>
            <a:fillRect/>
          </a:stretch>
        </p:blipFill>
        <p:spPr>
          <a:xfrm>
            <a:off x="469127" y="777897"/>
            <a:ext cx="2947946" cy="1674142"/>
          </a:xfrm>
          <a:prstGeom prst="rect">
            <a:avLst/>
          </a:prstGeom>
        </p:spPr>
      </p:pic>
      <p:pic>
        <p:nvPicPr>
          <p:cNvPr id="3" name="Picture 2">
            <a:extLst>
              <a:ext uri="{FF2B5EF4-FFF2-40B4-BE49-F238E27FC236}">
                <a16:creationId xmlns:a16="http://schemas.microsoft.com/office/drawing/2014/main" id="{D33DD79C-76F8-2801-1889-ABBA45F1104A}"/>
              </a:ext>
            </a:extLst>
          </p:cNvPr>
          <p:cNvPicPr>
            <a:picLocks noChangeAspect="1"/>
          </p:cNvPicPr>
          <p:nvPr/>
        </p:nvPicPr>
        <p:blipFill>
          <a:blip r:embed="rId4"/>
          <a:stretch>
            <a:fillRect/>
          </a:stretch>
        </p:blipFill>
        <p:spPr>
          <a:xfrm>
            <a:off x="469127" y="2515152"/>
            <a:ext cx="3093086" cy="2323162"/>
          </a:xfrm>
          <a:prstGeom prst="rect">
            <a:avLst/>
          </a:prstGeom>
        </p:spPr>
      </p:pic>
      <p:pic>
        <p:nvPicPr>
          <p:cNvPr id="4" name="Picture 3">
            <a:extLst>
              <a:ext uri="{FF2B5EF4-FFF2-40B4-BE49-F238E27FC236}">
                <a16:creationId xmlns:a16="http://schemas.microsoft.com/office/drawing/2014/main" id="{D4AA99BA-F07B-110C-ED12-2694A354204F}"/>
              </a:ext>
            </a:extLst>
          </p:cNvPr>
          <p:cNvPicPr>
            <a:picLocks noChangeAspect="1"/>
          </p:cNvPicPr>
          <p:nvPr/>
        </p:nvPicPr>
        <p:blipFill>
          <a:blip r:embed="rId5"/>
          <a:stretch>
            <a:fillRect/>
          </a:stretch>
        </p:blipFill>
        <p:spPr>
          <a:xfrm>
            <a:off x="4462850" y="2452039"/>
            <a:ext cx="2806461" cy="2350287"/>
          </a:xfrm>
          <a:prstGeom prst="rect">
            <a:avLst/>
          </a:prstGeom>
        </p:spPr>
      </p:pic>
      <p:pic>
        <p:nvPicPr>
          <p:cNvPr id="7" name="Picture 6">
            <a:extLst>
              <a:ext uri="{FF2B5EF4-FFF2-40B4-BE49-F238E27FC236}">
                <a16:creationId xmlns:a16="http://schemas.microsoft.com/office/drawing/2014/main" id="{A503242F-C4DA-C3A0-32A5-3FB4CF9176B7}"/>
              </a:ext>
            </a:extLst>
          </p:cNvPr>
          <p:cNvPicPr>
            <a:picLocks noChangeAspect="1"/>
          </p:cNvPicPr>
          <p:nvPr/>
        </p:nvPicPr>
        <p:blipFill>
          <a:blip r:embed="rId6"/>
          <a:stretch>
            <a:fillRect/>
          </a:stretch>
        </p:blipFill>
        <p:spPr>
          <a:xfrm>
            <a:off x="4300505" y="543607"/>
            <a:ext cx="3462247" cy="1815057"/>
          </a:xfrm>
          <a:prstGeom prst="rect">
            <a:avLst/>
          </a:prstGeom>
        </p:spPr>
      </p:pic>
    </p:spTree>
    <p:extLst>
      <p:ext uri="{BB962C8B-B14F-4D97-AF65-F5344CB8AC3E}">
        <p14:creationId xmlns:p14="http://schemas.microsoft.com/office/powerpoint/2010/main" val="10731130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7F428977-FCAD-E527-28A7-715E1780158B}"/>
            </a:ext>
          </a:extLst>
        </p:cNvPr>
        <p:cNvGrpSpPr/>
        <p:nvPr/>
      </p:nvGrpSpPr>
      <p:grpSpPr>
        <a:xfrm>
          <a:off x="0" y="0"/>
          <a:ext cx="0" cy="0"/>
          <a:chOff x="0" y="0"/>
          <a:chExt cx="0" cy="0"/>
        </a:xfrm>
      </p:grpSpPr>
      <p:sp>
        <p:nvSpPr>
          <p:cNvPr id="149" name="Google Shape;149;g12508d39905_0_217">
            <a:extLst>
              <a:ext uri="{FF2B5EF4-FFF2-40B4-BE49-F238E27FC236}">
                <a16:creationId xmlns:a16="http://schemas.microsoft.com/office/drawing/2014/main" id="{94B6CB12-57E8-D920-45C9-1F3ECC531BA6}"/>
              </a:ext>
            </a:extLst>
          </p:cNvPr>
          <p:cNvSpPr txBox="1">
            <a:spLocks noGrp="1"/>
          </p:cNvSpPr>
          <p:nvPr>
            <p:ph type="title"/>
          </p:nvPr>
        </p:nvSpPr>
        <p:spPr>
          <a:xfrm>
            <a:off x="202550" y="74594"/>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400" dirty="0">
                <a:solidFill>
                  <a:srgbClr val="1974D2"/>
                </a:solidFill>
              </a:rPr>
              <a:t>Model Performance Summary: Model 2 Neural Network with Dropout Regularization</a:t>
            </a:r>
            <a:endParaRPr sz="1400" dirty="0">
              <a:solidFill>
                <a:srgbClr val="1974D2"/>
              </a:solidFill>
            </a:endParaRPr>
          </a:p>
        </p:txBody>
      </p:sp>
      <p:sp>
        <p:nvSpPr>
          <p:cNvPr id="150" name="Google Shape;150;g12508d39905_0_217">
            <a:extLst>
              <a:ext uri="{FF2B5EF4-FFF2-40B4-BE49-F238E27FC236}">
                <a16:creationId xmlns:a16="http://schemas.microsoft.com/office/drawing/2014/main" id="{789B1ABA-4FC4-C85E-6CFD-2AE8A725415C}"/>
              </a:ext>
            </a:extLst>
          </p:cNvPr>
          <p:cNvSpPr txBox="1">
            <a:spLocks noGrp="1"/>
          </p:cNvSpPr>
          <p:nvPr>
            <p:ph type="body" idx="1"/>
          </p:nvPr>
        </p:nvSpPr>
        <p:spPr>
          <a:xfrm>
            <a:off x="0" y="360944"/>
            <a:ext cx="4476584"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Model Setup</a:t>
            </a:r>
            <a:endParaRPr lang="en-US" sz="900" dirty="0"/>
          </a:p>
          <a:p>
            <a:r>
              <a:rPr lang="en-US" sz="900" dirty="0"/>
              <a:t>Added 50% Dropout after the first hidden layer to reduce overfitting.</a:t>
            </a:r>
          </a:p>
          <a:p>
            <a:r>
              <a:rPr lang="en-US" sz="900" dirty="0"/>
              <a:t>Architecture: 64 neurons → Dropout 0.5 → 32 neurons → 16 neurons → 1 output neuron.</a:t>
            </a:r>
          </a:p>
          <a:p>
            <a:r>
              <a:rPr lang="en-US" sz="900" dirty="0"/>
              <a:t>Total trainable parameters: 5,249.</a:t>
            </a:r>
          </a:p>
          <a:p>
            <a:r>
              <a:rPr lang="en-US" sz="900" dirty="0"/>
              <a:t>Optimizer: SGD.</a:t>
            </a:r>
          </a:p>
          <a:p>
            <a:r>
              <a:rPr lang="en-US" sz="900" dirty="0"/>
              <a:t>Output activation: Sigmoid for binary classification.</a:t>
            </a:r>
          </a:p>
          <a:p>
            <a:pPr marL="133350" indent="0">
              <a:buNone/>
            </a:pPr>
            <a:r>
              <a:rPr lang="en-US" sz="900" b="1" dirty="0"/>
              <a:t>Validation Results</a:t>
            </a:r>
            <a:endParaRPr lang="en-US" sz="900" dirty="0"/>
          </a:p>
          <a:p>
            <a:r>
              <a:rPr lang="en-US" sz="900" dirty="0"/>
              <a:t>Accuracy: </a:t>
            </a:r>
            <a:r>
              <a:rPr lang="en-US" sz="900" b="1" dirty="0"/>
              <a:t>99%</a:t>
            </a:r>
            <a:endParaRPr lang="en-US" sz="900" dirty="0"/>
          </a:p>
          <a:p>
            <a:r>
              <a:rPr lang="en-US" sz="900" dirty="0"/>
              <a:t>Failure Precision: </a:t>
            </a:r>
            <a:r>
              <a:rPr lang="en-US" sz="900" b="1" dirty="0"/>
              <a:t>95%</a:t>
            </a:r>
            <a:endParaRPr lang="en-US" sz="900" dirty="0"/>
          </a:p>
          <a:p>
            <a:r>
              <a:rPr lang="en-US" sz="900" dirty="0"/>
              <a:t>Failure Recall: </a:t>
            </a:r>
            <a:r>
              <a:rPr lang="en-US" sz="900" b="1" dirty="0"/>
              <a:t>82%</a:t>
            </a:r>
            <a:endParaRPr lang="en-US" sz="900" dirty="0"/>
          </a:p>
          <a:p>
            <a:r>
              <a:rPr lang="en-US" sz="900" dirty="0"/>
              <a:t>Failure F1-Score: </a:t>
            </a:r>
            <a:r>
              <a:rPr lang="en-US" sz="900" b="1" dirty="0"/>
              <a:t>88%</a:t>
            </a:r>
            <a:endParaRPr lang="en-US" sz="900" dirty="0"/>
          </a:p>
          <a:p>
            <a:r>
              <a:rPr lang="en-US" sz="900" dirty="0"/>
              <a:t>Macro Avg Recall: </a:t>
            </a:r>
            <a:r>
              <a:rPr lang="en-US" sz="900" b="1" dirty="0"/>
              <a:t>91%</a:t>
            </a:r>
            <a:endParaRPr lang="en-US" sz="900" dirty="0"/>
          </a:p>
          <a:p>
            <a:r>
              <a:rPr lang="en-US" sz="900" dirty="0"/>
              <a:t>Macro Avg F1-Score: </a:t>
            </a:r>
            <a:r>
              <a:rPr lang="en-US" sz="900" b="1" dirty="0"/>
              <a:t>94%</a:t>
            </a:r>
            <a:endParaRPr lang="en-US" sz="900" dirty="0"/>
          </a:p>
          <a:p>
            <a:pPr marL="133350" indent="0">
              <a:buNone/>
            </a:pPr>
            <a:r>
              <a:rPr lang="en-US" sz="900" b="1" dirty="0"/>
              <a:t>What the Results Mean</a:t>
            </a:r>
            <a:endParaRPr lang="en-US" sz="900" dirty="0"/>
          </a:p>
          <a:p>
            <a:r>
              <a:rPr lang="en-US" sz="900" dirty="0"/>
              <a:t>Model 2 performs well overall and generalizes reasonably well.</a:t>
            </a:r>
          </a:p>
          <a:p>
            <a:r>
              <a:rPr lang="en-US" sz="900" dirty="0"/>
              <a:t>The model correctly identifies nearly all normal turbine operations.</a:t>
            </a:r>
          </a:p>
          <a:p>
            <a:r>
              <a:rPr lang="en-US" sz="900" dirty="0"/>
              <a:t>It detects about </a:t>
            </a:r>
            <a:r>
              <a:rPr lang="en-US" sz="900" b="1" dirty="0"/>
              <a:t>82% of actual failures</a:t>
            </a:r>
            <a:r>
              <a:rPr lang="en-US" sz="900" dirty="0"/>
              <a:t> on validation data.</a:t>
            </a:r>
          </a:p>
          <a:p>
            <a:r>
              <a:rPr lang="en-US" sz="900" dirty="0"/>
              <a:t>When it predicts a failure, it is correct </a:t>
            </a:r>
            <a:r>
              <a:rPr lang="en-US" sz="900" b="1" dirty="0"/>
              <a:t>95% of the time</a:t>
            </a:r>
            <a:r>
              <a:rPr lang="en-US" sz="900" dirty="0"/>
              <a:t>.</a:t>
            </a:r>
          </a:p>
          <a:p>
            <a:r>
              <a:rPr lang="en-US" sz="900" dirty="0"/>
              <a:t>The loss curve shows stable validation performance, suggesting limited overfitting.</a:t>
            </a:r>
          </a:p>
          <a:p>
            <a:pPr marL="0" lvl="0" indent="0" algn="l" rtl="0">
              <a:lnSpc>
                <a:spcPct val="115000"/>
              </a:lnSpc>
              <a:spcBef>
                <a:spcPts val="1000"/>
              </a:spcBef>
              <a:spcAft>
                <a:spcPts val="1000"/>
              </a:spcAft>
              <a:buSzPts val="1500"/>
              <a:buNone/>
            </a:pPr>
            <a:endParaRPr sz="900" dirty="0">
              <a:solidFill>
                <a:srgbClr val="000000"/>
              </a:solidFill>
            </a:endParaRPr>
          </a:p>
        </p:txBody>
      </p:sp>
      <p:sp>
        <p:nvSpPr>
          <p:cNvPr id="2" name="Google Shape;150;g12508d39905_0_217">
            <a:extLst>
              <a:ext uri="{FF2B5EF4-FFF2-40B4-BE49-F238E27FC236}">
                <a16:creationId xmlns:a16="http://schemas.microsoft.com/office/drawing/2014/main" id="{674751E5-D26D-DE78-0F19-9A138DC2A2AB}"/>
              </a:ext>
            </a:extLst>
          </p:cNvPr>
          <p:cNvSpPr txBox="1">
            <a:spLocks/>
          </p:cNvSpPr>
          <p:nvPr/>
        </p:nvSpPr>
        <p:spPr>
          <a:xfrm>
            <a:off x="4462850" y="372031"/>
            <a:ext cx="4219405"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t>Why This Matters</a:t>
            </a:r>
            <a:endParaRPr lang="en-US" sz="900" dirty="0"/>
          </a:p>
          <a:p>
            <a:r>
              <a:rPr lang="en-US" sz="900" dirty="0"/>
              <a:t>Dropout helps reduce overfitting by forcing the model to learn more general patterns.</a:t>
            </a:r>
          </a:p>
          <a:p>
            <a:r>
              <a:rPr lang="en-US" sz="900" dirty="0"/>
              <a:t>High precision helps reduce unnecessary maintenance alerts.</a:t>
            </a:r>
          </a:p>
          <a:p>
            <a:r>
              <a:rPr lang="en-US" sz="900" dirty="0"/>
              <a:t>Recall is still the key metric because missed failures are the most costly error.</a:t>
            </a:r>
          </a:p>
          <a:p>
            <a:r>
              <a:rPr lang="en-US" sz="900" dirty="0"/>
              <a:t>Model 2 performs well, but its failure recall is slightly lower than Model 1.</a:t>
            </a:r>
          </a:p>
          <a:p>
            <a:pPr marL="133350" indent="0">
              <a:buNone/>
            </a:pPr>
            <a:endParaRPr lang="en-US" sz="900" b="1" dirty="0"/>
          </a:p>
          <a:p>
            <a:pPr marL="133350" indent="0">
              <a:buNone/>
            </a:pPr>
            <a:r>
              <a:rPr lang="en-US" sz="900" b="1" dirty="0"/>
              <a:t>Business Impact</a:t>
            </a:r>
            <a:endParaRPr lang="en-US" sz="900" dirty="0"/>
          </a:p>
          <a:p>
            <a:r>
              <a:rPr lang="en-US" sz="900" dirty="0"/>
              <a:t>Supports early identification of failing turbines.</a:t>
            </a:r>
          </a:p>
          <a:p>
            <a:r>
              <a:rPr lang="en-US" sz="900" dirty="0"/>
              <a:t>Helps reduce unexpected downtime and emergency repairs.</a:t>
            </a:r>
          </a:p>
          <a:p>
            <a:r>
              <a:rPr lang="en-US" sz="900" dirty="0"/>
              <a:t>Maintains low false-alarm risk due to high precision.</a:t>
            </a:r>
          </a:p>
          <a:p>
            <a:r>
              <a:rPr lang="en-US" sz="900" dirty="0"/>
              <a:t>However, missed failures remain a concern because about 18% of actual failures are not detected.</a:t>
            </a:r>
          </a:p>
          <a:p>
            <a:pPr marL="133350" indent="0">
              <a:buNone/>
            </a:pPr>
            <a:endParaRPr lang="en-US" sz="900" b="1" dirty="0"/>
          </a:p>
          <a:p>
            <a:pPr marL="133350" indent="0">
              <a:buNone/>
            </a:pPr>
            <a:r>
              <a:rPr lang="en-US" sz="900" b="1" dirty="0"/>
              <a:t>Conclusion</a:t>
            </a:r>
            <a:br>
              <a:rPr lang="en-US" sz="900" dirty="0"/>
            </a:br>
            <a:r>
              <a:rPr lang="en-US" sz="900" dirty="0"/>
              <a:t>Model 2 is a strong regularized model with good stability and high precision. However, because its failure recall is lower than Model 1, it may not be the best choice if the business priority is minimizing missed generator failures.</a:t>
            </a:r>
          </a:p>
          <a:p>
            <a:pPr marL="133350" indent="0">
              <a:buNone/>
            </a:pPr>
            <a:r>
              <a:rPr lang="en-US" sz="900" dirty="0"/>
              <a:t>.</a:t>
            </a:r>
          </a:p>
          <a:p>
            <a:pPr marL="0" indent="0">
              <a:spcBef>
                <a:spcPts val="1000"/>
              </a:spcBef>
              <a:spcAft>
                <a:spcPts val="1000"/>
              </a:spcAft>
              <a:buFont typeface="Nunito"/>
              <a:buNone/>
            </a:pPr>
            <a:endParaRPr lang="en-US" sz="900" dirty="0">
              <a:solidFill>
                <a:srgbClr val="000000"/>
              </a:solidFill>
            </a:endParaRPr>
          </a:p>
        </p:txBody>
      </p:sp>
    </p:spTree>
    <p:extLst>
      <p:ext uri="{BB962C8B-B14F-4D97-AF65-F5344CB8AC3E}">
        <p14:creationId xmlns:p14="http://schemas.microsoft.com/office/powerpoint/2010/main" val="35502444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EF88B4FF-19AE-85DE-6956-7AA4DD88F7DC}"/>
            </a:ext>
          </a:extLst>
        </p:cNvPr>
        <p:cNvGrpSpPr/>
        <p:nvPr/>
      </p:nvGrpSpPr>
      <p:grpSpPr>
        <a:xfrm>
          <a:off x="0" y="0"/>
          <a:ext cx="0" cy="0"/>
          <a:chOff x="0" y="0"/>
          <a:chExt cx="0" cy="0"/>
        </a:xfrm>
      </p:grpSpPr>
      <p:sp>
        <p:nvSpPr>
          <p:cNvPr id="149" name="Google Shape;149;g12508d39905_0_217">
            <a:extLst>
              <a:ext uri="{FF2B5EF4-FFF2-40B4-BE49-F238E27FC236}">
                <a16:creationId xmlns:a16="http://schemas.microsoft.com/office/drawing/2014/main" id="{4B71A561-4CD3-4FE4-CF92-37853198C821}"/>
              </a:ext>
            </a:extLst>
          </p:cNvPr>
          <p:cNvSpPr txBox="1">
            <a:spLocks noGrp="1"/>
          </p:cNvSpPr>
          <p:nvPr>
            <p:ph type="title"/>
          </p:nvPr>
        </p:nvSpPr>
        <p:spPr>
          <a:xfrm>
            <a:off x="202550" y="74594"/>
            <a:ext cx="8520600" cy="572700"/>
          </a:xfrm>
          <a:prstGeom prst="rect">
            <a:avLst/>
          </a:prstGeom>
          <a:noFill/>
          <a:ln>
            <a:noFill/>
          </a:ln>
        </p:spPr>
        <p:txBody>
          <a:bodyPr spcFirstLastPara="1" wrap="square" lIns="91425" tIns="91425" rIns="91425" bIns="91425" anchor="t" anchorCtr="0">
            <a:noAutofit/>
          </a:bodyPr>
          <a:lstStyle/>
          <a:p>
            <a:pPr lvl="0"/>
            <a:r>
              <a:rPr lang="en" sz="1400" dirty="0">
                <a:solidFill>
                  <a:srgbClr val="1974D2"/>
                </a:solidFill>
              </a:rPr>
              <a:t>Model Performance Summary: Model 2 Neural Network with Dropout Regularization</a:t>
            </a:r>
            <a:endParaRPr sz="1400" dirty="0">
              <a:solidFill>
                <a:srgbClr val="1974D2"/>
              </a:solidFill>
            </a:endParaRPr>
          </a:p>
        </p:txBody>
      </p:sp>
      <p:pic>
        <p:nvPicPr>
          <p:cNvPr id="5" name="Picture 4">
            <a:extLst>
              <a:ext uri="{FF2B5EF4-FFF2-40B4-BE49-F238E27FC236}">
                <a16:creationId xmlns:a16="http://schemas.microsoft.com/office/drawing/2014/main" id="{D7050E2F-89D3-88B1-F710-CB160A8A6D3D}"/>
              </a:ext>
            </a:extLst>
          </p:cNvPr>
          <p:cNvPicPr>
            <a:picLocks noChangeAspect="1"/>
          </p:cNvPicPr>
          <p:nvPr/>
        </p:nvPicPr>
        <p:blipFill>
          <a:blip r:embed="rId3"/>
          <a:stretch>
            <a:fillRect/>
          </a:stretch>
        </p:blipFill>
        <p:spPr>
          <a:xfrm>
            <a:off x="558913" y="2691463"/>
            <a:ext cx="2711069" cy="2036236"/>
          </a:xfrm>
          <a:prstGeom prst="rect">
            <a:avLst/>
          </a:prstGeom>
        </p:spPr>
      </p:pic>
      <p:pic>
        <p:nvPicPr>
          <p:cNvPr id="6" name="Picture 5">
            <a:extLst>
              <a:ext uri="{FF2B5EF4-FFF2-40B4-BE49-F238E27FC236}">
                <a16:creationId xmlns:a16="http://schemas.microsoft.com/office/drawing/2014/main" id="{7DC756E7-9FD5-56F1-241C-AB605D99F80A}"/>
              </a:ext>
            </a:extLst>
          </p:cNvPr>
          <p:cNvPicPr>
            <a:picLocks noChangeAspect="1"/>
          </p:cNvPicPr>
          <p:nvPr/>
        </p:nvPicPr>
        <p:blipFill>
          <a:blip r:embed="rId4"/>
          <a:stretch>
            <a:fillRect/>
          </a:stretch>
        </p:blipFill>
        <p:spPr>
          <a:xfrm>
            <a:off x="702374" y="705656"/>
            <a:ext cx="2836796" cy="1866093"/>
          </a:xfrm>
          <a:prstGeom prst="rect">
            <a:avLst/>
          </a:prstGeom>
        </p:spPr>
      </p:pic>
      <p:pic>
        <p:nvPicPr>
          <p:cNvPr id="8" name="Picture 7">
            <a:extLst>
              <a:ext uri="{FF2B5EF4-FFF2-40B4-BE49-F238E27FC236}">
                <a16:creationId xmlns:a16="http://schemas.microsoft.com/office/drawing/2014/main" id="{58B1BD5C-169F-7989-1A83-2DD3B3CFCDE1}"/>
              </a:ext>
            </a:extLst>
          </p:cNvPr>
          <p:cNvPicPr>
            <a:picLocks noChangeAspect="1"/>
          </p:cNvPicPr>
          <p:nvPr/>
        </p:nvPicPr>
        <p:blipFill>
          <a:blip r:embed="rId5"/>
          <a:stretch>
            <a:fillRect/>
          </a:stretch>
        </p:blipFill>
        <p:spPr>
          <a:xfrm>
            <a:off x="4802588" y="698743"/>
            <a:ext cx="3273277" cy="1867693"/>
          </a:xfrm>
          <a:prstGeom prst="rect">
            <a:avLst/>
          </a:prstGeom>
        </p:spPr>
      </p:pic>
      <p:pic>
        <p:nvPicPr>
          <p:cNvPr id="9" name="Picture 8">
            <a:extLst>
              <a:ext uri="{FF2B5EF4-FFF2-40B4-BE49-F238E27FC236}">
                <a16:creationId xmlns:a16="http://schemas.microsoft.com/office/drawing/2014/main" id="{43F70A8F-5DC2-97E0-9587-D1F6CA7C3CEB}"/>
              </a:ext>
            </a:extLst>
          </p:cNvPr>
          <p:cNvPicPr>
            <a:picLocks noChangeAspect="1"/>
          </p:cNvPicPr>
          <p:nvPr/>
        </p:nvPicPr>
        <p:blipFill>
          <a:blip r:embed="rId6"/>
          <a:stretch>
            <a:fillRect/>
          </a:stretch>
        </p:blipFill>
        <p:spPr>
          <a:xfrm>
            <a:off x="4802588" y="2617886"/>
            <a:ext cx="2601843" cy="2180957"/>
          </a:xfrm>
          <a:prstGeom prst="rect">
            <a:avLst/>
          </a:prstGeom>
        </p:spPr>
      </p:pic>
    </p:spTree>
    <p:extLst>
      <p:ext uri="{BB962C8B-B14F-4D97-AF65-F5344CB8AC3E}">
        <p14:creationId xmlns:p14="http://schemas.microsoft.com/office/powerpoint/2010/main" val="12042955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A8F61A66-A9EB-AB81-B4B7-C07EA845D2EF}"/>
            </a:ext>
          </a:extLst>
        </p:cNvPr>
        <p:cNvGrpSpPr/>
        <p:nvPr/>
      </p:nvGrpSpPr>
      <p:grpSpPr>
        <a:xfrm>
          <a:off x="0" y="0"/>
          <a:ext cx="0" cy="0"/>
          <a:chOff x="0" y="0"/>
          <a:chExt cx="0" cy="0"/>
        </a:xfrm>
      </p:grpSpPr>
      <p:sp>
        <p:nvSpPr>
          <p:cNvPr id="149" name="Google Shape;149;g12508d39905_0_217">
            <a:extLst>
              <a:ext uri="{FF2B5EF4-FFF2-40B4-BE49-F238E27FC236}">
                <a16:creationId xmlns:a16="http://schemas.microsoft.com/office/drawing/2014/main" id="{192E101B-4BCA-4E7E-3CB7-44E6B5C51C7F}"/>
              </a:ext>
            </a:extLst>
          </p:cNvPr>
          <p:cNvSpPr txBox="1">
            <a:spLocks noGrp="1"/>
          </p:cNvSpPr>
          <p:nvPr>
            <p:ph type="title"/>
          </p:nvPr>
        </p:nvSpPr>
        <p:spPr>
          <a:xfrm>
            <a:off x="202550" y="74594"/>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400" dirty="0">
                <a:solidFill>
                  <a:srgbClr val="1974D2"/>
                </a:solidFill>
              </a:rPr>
              <a:t>Model Performance Summary: Model 3 Neural Network with Dropout + Class Weights</a:t>
            </a:r>
            <a:endParaRPr sz="1400" dirty="0">
              <a:solidFill>
                <a:srgbClr val="1974D2"/>
              </a:solidFill>
            </a:endParaRPr>
          </a:p>
        </p:txBody>
      </p:sp>
      <p:sp>
        <p:nvSpPr>
          <p:cNvPr id="150" name="Google Shape;150;g12508d39905_0_217">
            <a:extLst>
              <a:ext uri="{FF2B5EF4-FFF2-40B4-BE49-F238E27FC236}">
                <a16:creationId xmlns:a16="http://schemas.microsoft.com/office/drawing/2014/main" id="{EB4BB21B-6187-A1D2-EF26-8340C495527D}"/>
              </a:ext>
            </a:extLst>
          </p:cNvPr>
          <p:cNvSpPr txBox="1">
            <a:spLocks noGrp="1"/>
          </p:cNvSpPr>
          <p:nvPr>
            <p:ph type="body" idx="1"/>
          </p:nvPr>
        </p:nvSpPr>
        <p:spPr>
          <a:xfrm>
            <a:off x="0" y="360944"/>
            <a:ext cx="4476584"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Model Setup</a:t>
            </a:r>
            <a:endParaRPr lang="en-US" sz="900" dirty="0"/>
          </a:p>
          <a:p>
            <a:r>
              <a:rPr lang="en-US" sz="900" dirty="0"/>
              <a:t>Architecture: 64 neurons → Dropout 0.5 → 32 neurons → 16 neurons → 1 output neuron.</a:t>
            </a:r>
          </a:p>
          <a:p>
            <a:r>
              <a:rPr lang="en-US" sz="900" dirty="0"/>
              <a:t>Total trainable parameters: 5,249.</a:t>
            </a:r>
          </a:p>
          <a:p>
            <a:r>
              <a:rPr lang="en-US" sz="900" dirty="0"/>
              <a:t>Added class weights to address target imbalance.</a:t>
            </a:r>
          </a:p>
          <a:p>
            <a:r>
              <a:rPr lang="en-US" sz="900" dirty="0"/>
              <a:t>Class 1 / Failure received much higher weight because failures are rare.</a:t>
            </a:r>
          </a:p>
          <a:p>
            <a:pPr marL="133350" indent="0">
              <a:buNone/>
            </a:pPr>
            <a:endParaRPr lang="en-US" sz="900" b="1" dirty="0"/>
          </a:p>
          <a:p>
            <a:pPr marL="133350" indent="0">
              <a:buNone/>
            </a:pPr>
            <a:r>
              <a:rPr lang="en-US" sz="900" b="1" dirty="0"/>
              <a:t>Validation Results</a:t>
            </a:r>
            <a:endParaRPr lang="en-US" sz="900" dirty="0"/>
          </a:p>
          <a:p>
            <a:r>
              <a:rPr lang="en-US" sz="900" dirty="0"/>
              <a:t>Accuracy: </a:t>
            </a:r>
            <a:r>
              <a:rPr lang="en-US" sz="900" b="1" dirty="0"/>
              <a:t>98%</a:t>
            </a:r>
            <a:endParaRPr lang="en-US" sz="900" dirty="0"/>
          </a:p>
          <a:p>
            <a:r>
              <a:rPr lang="en-US" sz="900" dirty="0"/>
              <a:t>Failure Precision: </a:t>
            </a:r>
            <a:r>
              <a:rPr lang="en-US" sz="900" b="1" dirty="0"/>
              <a:t>83%</a:t>
            </a:r>
            <a:endParaRPr lang="en-US" sz="900" dirty="0"/>
          </a:p>
          <a:p>
            <a:r>
              <a:rPr lang="en-US" sz="900" dirty="0"/>
              <a:t>Failure Recall: </a:t>
            </a:r>
            <a:r>
              <a:rPr lang="en-US" sz="900" b="1" dirty="0"/>
              <a:t>89%</a:t>
            </a:r>
            <a:endParaRPr lang="en-US" sz="900" dirty="0"/>
          </a:p>
          <a:p>
            <a:r>
              <a:rPr lang="en-US" sz="900" dirty="0"/>
              <a:t>Failure F1-Score: </a:t>
            </a:r>
            <a:r>
              <a:rPr lang="en-US" sz="900" b="1" dirty="0"/>
              <a:t>86%</a:t>
            </a:r>
            <a:endParaRPr lang="en-US" sz="900" dirty="0"/>
          </a:p>
          <a:p>
            <a:r>
              <a:rPr lang="en-US" sz="900" dirty="0"/>
              <a:t>Macro Avg Recall: </a:t>
            </a:r>
            <a:r>
              <a:rPr lang="en-US" sz="900" b="1" dirty="0"/>
              <a:t>94%</a:t>
            </a:r>
            <a:endParaRPr lang="en-US" sz="900" dirty="0"/>
          </a:p>
          <a:p>
            <a:r>
              <a:rPr lang="en-US" sz="900" dirty="0"/>
              <a:t>Macro Avg F1-Score: </a:t>
            </a:r>
            <a:r>
              <a:rPr lang="en-US" sz="900" b="1" dirty="0"/>
              <a:t>93%</a:t>
            </a:r>
            <a:endParaRPr lang="en-US" sz="900" dirty="0"/>
          </a:p>
          <a:p>
            <a:pPr marL="133350" indent="0">
              <a:buNone/>
            </a:pPr>
            <a:endParaRPr lang="en-US" sz="900" b="1" dirty="0"/>
          </a:p>
          <a:p>
            <a:pPr marL="133350" indent="0">
              <a:buNone/>
            </a:pPr>
            <a:r>
              <a:rPr lang="en-US" sz="900" b="1" dirty="0"/>
              <a:t>What the Results Mean</a:t>
            </a:r>
            <a:endParaRPr lang="en-US" sz="900" dirty="0"/>
          </a:p>
          <a:p>
            <a:r>
              <a:rPr lang="en-US" sz="900" dirty="0"/>
              <a:t>Model 3 detects about </a:t>
            </a:r>
            <a:r>
              <a:rPr lang="en-US" sz="900" b="1" dirty="0"/>
              <a:t>89% of actual failures</a:t>
            </a:r>
            <a:r>
              <a:rPr lang="en-US" sz="900" dirty="0"/>
              <a:t>, which is stronger than Model 1 and Model 2.</a:t>
            </a:r>
          </a:p>
          <a:p>
            <a:r>
              <a:rPr lang="en-US" sz="900" dirty="0"/>
              <a:t>Precision decreased to </a:t>
            </a:r>
            <a:r>
              <a:rPr lang="en-US" sz="900" b="1" dirty="0"/>
              <a:t>83%</a:t>
            </a:r>
            <a:r>
              <a:rPr lang="en-US" sz="900" dirty="0"/>
              <a:t>, meaning more false alarms are expected.</a:t>
            </a:r>
          </a:p>
          <a:p>
            <a:r>
              <a:rPr lang="en-US" sz="900" dirty="0"/>
              <a:t>Accuracy dropped slightly from 99% to 98%, but this is acceptable because the model is better at detecting rare failures.</a:t>
            </a:r>
          </a:p>
          <a:p>
            <a:r>
              <a:rPr lang="en-US" sz="900" dirty="0"/>
              <a:t>The loss curve shows the model is learning effectively without severe overfitting.</a:t>
            </a:r>
          </a:p>
          <a:p>
            <a:pPr marL="0" lvl="0" indent="0" algn="l" rtl="0">
              <a:lnSpc>
                <a:spcPct val="115000"/>
              </a:lnSpc>
              <a:spcBef>
                <a:spcPts val="1000"/>
              </a:spcBef>
              <a:spcAft>
                <a:spcPts val="1000"/>
              </a:spcAft>
              <a:buSzPts val="1500"/>
              <a:buNone/>
            </a:pPr>
            <a:endParaRPr sz="900" dirty="0">
              <a:solidFill>
                <a:srgbClr val="000000"/>
              </a:solidFill>
            </a:endParaRPr>
          </a:p>
        </p:txBody>
      </p:sp>
      <p:sp>
        <p:nvSpPr>
          <p:cNvPr id="2" name="Google Shape;150;g12508d39905_0_217">
            <a:extLst>
              <a:ext uri="{FF2B5EF4-FFF2-40B4-BE49-F238E27FC236}">
                <a16:creationId xmlns:a16="http://schemas.microsoft.com/office/drawing/2014/main" id="{F39A5FB4-82B4-9FD5-14FE-BA9A79C5230E}"/>
              </a:ext>
            </a:extLst>
          </p:cNvPr>
          <p:cNvSpPr txBox="1">
            <a:spLocks/>
          </p:cNvSpPr>
          <p:nvPr/>
        </p:nvSpPr>
        <p:spPr>
          <a:xfrm>
            <a:off x="4462850" y="372031"/>
            <a:ext cx="4219405"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t>Why This Matters</a:t>
            </a:r>
            <a:endParaRPr lang="en-US" sz="900" dirty="0"/>
          </a:p>
          <a:p>
            <a:r>
              <a:rPr lang="en-US" sz="900" dirty="0"/>
              <a:t>Failure cases are rare but very costly.</a:t>
            </a:r>
          </a:p>
          <a:p>
            <a:r>
              <a:rPr lang="en-US" sz="900" dirty="0"/>
              <a:t>Class weighting helps the model focus more on failures instead of mostly predicting “No Failure.”</a:t>
            </a:r>
          </a:p>
          <a:p>
            <a:r>
              <a:rPr lang="en-US" sz="900" dirty="0"/>
              <a:t>Higher Recall means fewer missed turbine failures.</a:t>
            </a:r>
          </a:p>
          <a:p>
            <a:r>
              <a:rPr lang="en-US" sz="900" dirty="0"/>
              <a:t>More false alarms may occur, but inspection costs are lower than replacement costs.</a:t>
            </a:r>
          </a:p>
          <a:p>
            <a:pPr marL="133350" indent="0">
              <a:buNone/>
            </a:pPr>
            <a:endParaRPr lang="en-US" sz="900" b="1" dirty="0"/>
          </a:p>
          <a:p>
            <a:pPr marL="133350" indent="0">
              <a:buNone/>
            </a:pPr>
            <a:r>
              <a:rPr lang="en-US" sz="900" b="1" dirty="0"/>
              <a:t>Business Impact</a:t>
            </a:r>
            <a:endParaRPr lang="en-US" sz="900" dirty="0"/>
          </a:p>
          <a:p>
            <a:r>
              <a:rPr lang="en-US" sz="900" dirty="0"/>
              <a:t>Reduces missed generator failures.</a:t>
            </a:r>
          </a:p>
          <a:p>
            <a:r>
              <a:rPr lang="en-US" sz="900" dirty="0"/>
              <a:t>Supports earlier maintenance intervention.</a:t>
            </a:r>
          </a:p>
          <a:p>
            <a:r>
              <a:rPr lang="en-US" sz="900" dirty="0"/>
              <a:t>Helps prevent expensive breakdowns and downtime.</a:t>
            </a:r>
          </a:p>
          <a:p>
            <a:r>
              <a:rPr lang="en-US" sz="900" dirty="0"/>
              <a:t>Improves predictive maintenance effectiveness.</a:t>
            </a:r>
          </a:p>
          <a:p>
            <a:r>
              <a:rPr lang="en-US" sz="900" dirty="0"/>
              <a:t>Tradeoff: may increase inspections due to lower precision.</a:t>
            </a:r>
          </a:p>
          <a:p>
            <a:pPr marL="133350" indent="0">
              <a:buNone/>
            </a:pPr>
            <a:endParaRPr lang="en-US" sz="900" b="1" dirty="0"/>
          </a:p>
          <a:p>
            <a:pPr marL="133350" indent="0">
              <a:buNone/>
            </a:pPr>
            <a:r>
              <a:rPr lang="en-US" sz="900" b="1" dirty="0"/>
              <a:t>Conclusion</a:t>
            </a:r>
            <a:br>
              <a:rPr lang="en-US" sz="900" dirty="0"/>
            </a:br>
            <a:r>
              <a:rPr lang="en-US" sz="900" dirty="0"/>
              <a:t>Model 3 is highly valuable from a business perspective because it improves failure detection. Even though it sacrifices some precision, the higher Recall better aligns with </a:t>
            </a:r>
            <a:r>
              <a:rPr lang="en-US" sz="900" dirty="0" err="1"/>
              <a:t>ReneWind’s</a:t>
            </a:r>
            <a:r>
              <a:rPr lang="en-US" sz="900" dirty="0"/>
              <a:t> goal of minimizing costly missed failures.</a:t>
            </a:r>
          </a:p>
          <a:p>
            <a:pPr marL="133350" indent="0">
              <a:buNone/>
            </a:pPr>
            <a:r>
              <a:rPr lang="en-US" sz="900" dirty="0"/>
              <a:t>.</a:t>
            </a:r>
          </a:p>
          <a:p>
            <a:pPr marL="133350" indent="0">
              <a:buNone/>
            </a:pPr>
            <a:r>
              <a:rPr lang="en-US" sz="900" dirty="0"/>
              <a:t>.</a:t>
            </a:r>
          </a:p>
          <a:p>
            <a:pPr marL="0" indent="0">
              <a:spcBef>
                <a:spcPts val="1000"/>
              </a:spcBef>
              <a:spcAft>
                <a:spcPts val="1000"/>
              </a:spcAft>
              <a:buFont typeface="Nunito"/>
              <a:buNone/>
            </a:pPr>
            <a:endParaRPr lang="en-US" sz="900" dirty="0">
              <a:solidFill>
                <a:srgbClr val="000000"/>
              </a:solidFill>
            </a:endParaRPr>
          </a:p>
        </p:txBody>
      </p:sp>
    </p:spTree>
    <p:extLst>
      <p:ext uri="{BB962C8B-B14F-4D97-AF65-F5344CB8AC3E}">
        <p14:creationId xmlns:p14="http://schemas.microsoft.com/office/powerpoint/2010/main" val="1454253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36281931-AB4E-D8C5-C54C-82A6B82F0AB2}"/>
            </a:ext>
          </a:extLst>
        </p:cNvPr>
        <p:cNvGrpSpPr/>
        <p:nvPr/>
      </p:nvGrpSpPr>
      <p:grpSpPr>
        <a:xfrm>
          <a:off x="0" y="0"/>
          <a:ext cx="0" cy="0"/>
          <a:chOff x="0" y="0"/>
          <a:chExt cx="0" cy="0"/>
        </a:xfrm>
      </p:grpSpPr>
      <p:sp>
        <p:nvSpPr>
          <p:cNvPr id="149" name="Google Shape;149;g12508d39905_0_217">
            <a:extLst>
              <a:ext uri="{FF2B5EF4-FFF2-40B4-BE49-F238E27FC236}">
                <a16:creationId xmlns:a16="http://schemas.microsoft.com/office/drawing/2014/main" id="{D7FCF12C-99B6-C6BD-DCE9-B89CF7AF73EC}"/>
              </a:ext>
            </a:extLst>
          </p:cNvPr>
          <p:cNvSpPr txBox="1">
            <a:spLocks noGrp="1"/>
          </p:cNvSpPr>
          <p:nvPr>
            <p:ph type="title"/>
          </p:nvPr>
        </p:nvSpPr>
        <p:spPr>
          <a:xfrm>
            <a:off x="202550" y="74594"/>
            <a:ext cx="8520600" cy="572700"/>
          </a:xfrm>
          <a:prstGeom prst="rect">
            <a:avLst/>
          </a:prstGeom>
          <a:noFill/>
          <a:ln>
            <a:noFill/>
          </a:ln>
        </p:spPr>
        <p:txBody>
          <a:bodyPr spcFirstLastPara="1" wrap="square" lIns="91425" tIns="91425" rIns="91425" bIns="91425" anchor="t" anchorCtr="0">
            <a:noAutofit/>
          </a:bodyPr>
          <a:lstStyle/>
          <a:p>
            <a:pPr lvl="0"/>
            <a:r>
              <a:rPr lang="en" sz="1400" dirty="0">
                <a:solidFill>
                  <a:srgbClr val="1974D2"/>
                </a:solidFill>
              </a:rPr>
              <a:t>Model Performance Summary: Model 3 Neural Network with Dropout + Class Weights</a:t>
            </a:r>
            <a:endParaRPr sz="1400" dirty="0">
              <a:solidFill>
                <a:srgbClr val="1974D2"/>
              </a:solidFill>
            </a:endParaRPr>
          </a:p>
        </p:txBody>
      </p:sp>
      <p:pic>
        <p:nvPicPr>
          <p:cNvPr id="2" name="Picture 1">
            <a:extLst>
              <a:ext uri="{FF2B5EF4-FFF2-40B4-BE49-F238E27FC236}">
                <a16:creationId xmlns:a16="http://schemas.microsoft.com/office/drawing/2014/main" id="{E0463C2C-19BE-9A86-2186-FB714FB04BED}"/>
              </a:ext>
            </a:extLst>
          </p:cNvPr>
          <p:cNvPicPr>
            <a:picLocks noChangeAspect="1"/>
          </p:cNvPicPr>
          <p:nvPr/>
        </p:nvPicPr>
        <p:blipFill>
          <a:blip r:embed="rId3"/>
          <a:stretch>
            <a:fillRect/>
          </a:stretch>
        </p:blipFill>
        <p:spPr>
          <a:xfrm>
            <a:off x="558913" y="476013"/>
            <a:ext cx="3273278" cy="2215450"/>
          </a:xfrm>
          <a:prstGeom prst="rect">
            <a:avLst/>
          </a:prstGeom>
        </p:spPr>
      </p:pic>
      <p:pic>
        <p:nvPicPr>
          <p:cNvPr id="3" name="Picture 2">
            <a:extLst>
              <a:ext uri="{FF2B5EF4-FFF2-40B4-BE49-F238E27FC236}">
                <a16:creationId xmlns:a16="http://schemas.microsoft.com/office/drawing/2014/main" id="{DD5826F9-570D-D2EF-278A-BE45C17F080F}"/>
              </a:ext>
            </a:extLst>
          </p:cNvPr>
          <p:cNvPicPr>
            <a:picLocks noChangeAspect="1"/>
          </p:cNvPicPr>
          <p:nvPr/>
        </p:nvPicPr>
        <p:blipFill>
          <a:blip r:embed="rId4"/>
          <a:stretch>
            <a:fillRect/>
          </a:stretch>
        </p:blipFill>
        <p:spPr>
          <a:xfrm>
            <a:off x="558913" y="2691463"/>
            <a:ext cx="2866677" cy="2215450"/>
          </a:xfrm>
          <a:prstGeom prst="rect">
            <a:avLst/>
          </a:prstGeom>
        </p:spPr>
      </p:pic>
      <p:pic>
        <p:nvPicPr>
          <p:cNvPr id="4" name="Picture 3">
            <a:extLst>
              <a:ext uri="{FF2B5EF4-FFF2-40B4-BE49-F238E27FC236}">
                <a16:creationId xmlns:a16="http://schemas.microsoft.com/office/drawing/2014/main" id="{308A1B89-8C4E-4F71-0D8E-B87F51DED9F1}"/>
              </a:ext>
            </a:extLst>
          </p:cNvPr>
          <p:cNvPicPr>
            <a:picLocks noChangeAspect="1"/>
          </p:cNvPicPr>
          <p:nvPr/>
        </p:nvPicPr>
        <p:blipFill>
          <a:blip r:embed="rId5"/>
          <a:stretch>
            <a:fillRect/>
          </a:stretch>
        </p:blipFill>
        <p:spPr>
          <a:xfrm>
            <a:off x="4629035" y="541455"/>
            <a:ext cx="3552415" cy="1971157"/>
          </a:xfrm>
          <a:prstGeom prst="rect">
            <a:avLst/>
          </a:prstGeom>
        </p:spPr>
      </p:pic>
      <p:pic>
        <p:nvPicPr>
          <p:cNvPr id="7" name="Picture 6">
            <a:extLst>
              <a:ext uri="{FF2B5EF4-FFF2-40B4-BE49-F238E27FC236}">
                <a16:creationId xmlns:a16="http://schemas.microsoft.com/office/drawing/2014/main" id="{B694E6FC-B23C-71A7-2ACC-2A236DAC995B}"/>
              </a:ext>
            </a:extLst>
          </p:cNvPr>
          <p:cNvPicPr>
            <a:picLocks noChangeAspect="1"/>
          </p:cNvPicPr>
          <p:nvPr/>
        </p:nvPicPr>
        <p:blipFill>
          <a:blip r:embed="rId6"/>
          <a:stretch>
            <a:fillRect/>
          </a:stretch>
        </p:blipFill>
        <p:spPr>
          <a:xfrm>
            <a:off x="4629035" y="2512612"/>
            <a:ext cx="2790892" cy="2215450"/>
          </a:xfrm>
          <a:prstGeom prst="rect">
            <a:avLst/>
          </a:prstGeom>
        </p:spPr>
      </p:pic>
    </p:spTree>
    <p:extLst>
      <p:ext uri="{BB962C8B-B14F-4D97-AF65-F5344CB8AC3E}">
        <p14:creationId xmlns:p14="http://schemas.microsoft.com/office/powerpoint/2010/main" val="23503086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75E8BC39-EBEB-A13B-F953-B05208332253}"/>
            </a:ext>
          </a:extLst>
        </p:cNvPr>
        <p:cNvGrpSpPr/>
        <p:nvPr/>
      </p:nvGrpSpPr>
      <p:grpSpPr>
        <a:xfrm>
          <a:off x="0" y="0"/>
          <a:ext cx="0" cy="0"/>
          <a:chOff x="0" y="0"/>
          <a:chExt cx="0" cy="0"/>
        </a:xfrm>
      </p:grpSpPr>
      <p:sp>
        <p:nvSpPr>
          <p:cNvPr id="149" name="Google Shape;149;g12508d39905_0_217">
            <a:extLst>
              <a:ext uri="{FF2B5EF4-FFF2-40B4-BE49-F238E27FC236}">
                <a16:creationId xmlns:a16="http://schemas.microsoft.com/office/drawing/2014/main" id="{E34A3DD5-4EF6-DDDA-3A35-BF6AA67A238F}"/>
              </a:ext>
            </a:extLst>
          </p:cNvPr>
          <p:cNvSpPr txBox="1">
            <a:spLocks noGrp="1"/>
          </p:cNvSpPr>
          <p:nvPr>
            <p:ph type="title"/>
          </p:nvPr>
        </p:nvSpPr>
        <p:spPr>
          <a:xfrm>
            <a:off x="202550" y="74594"/>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200" dirty="0">
                <a:solidFill>
                  <a:srgbClr val="1974D2"/>
                </a:solidFill>
              </a:rPr>
              <a:t>Model Performance Summary: Model 4 Neural Network Using Adaptive Movement Estimator</a:t>
            </a:r>
            <a:endParaRPr sz="1200" dirty="0">
              <a:solidFill>
                <a:srgbClr val="1974D2"/>
              </a:solidFill>
            </a:endParaRPr>
          </a:p>
        </p:txBody>
      </p:sp>
      <p:sp>
        <p:nvSpPr>
          <p:cNvPr id="150" name="Google Shape;150;g12508d39905_0_217">
            <a:extLst>
              <a:ext uri="{FF2B5EF4-FFF2-40B4-BE49-F238E27FC236}">
                <a16:creationId xmlns:a16="http://schemas.microsoft.com/office/drawing/2014/main" id="{968A0424-0FEF-6D4E-7E9B-F28A6EDCD52E}"/>
              </a:ext>
            </a:extLst>
          </p:cNvPr>
          <p:cNvSpPr txBox="1">
            <a:spLocks noGrp="1"/>
          </p:cNvSpPr>
          <p:nvPr>
            <p:ph type="body" idx="1"/>
          </p:nvPr>
        </p:nvSpPr>
        <p:spPr>
          <a:xfrm>
            <a:off x="0" y="360944"/>
            <a:ext cx="4476584"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Model Setup</a:t>
            </a:r>
            <a:endParaRPr lang="en-US" sz="900" dirty="0"/>
          </a:p>
          <a:p>
            <a:r>
              <a:rPr lang="en-US" sz="900" dirty="0"/>
              <a:t>Tested Adaptive Movement Estimation optimizer instead of  Stochastic Gradient Decent (SGD).</a:t>
            </a:r>
          </a:p>
          <a:p>
            <a:r>
              <a:rPr lang="en-US" sz="900" dirty="0"/>
              <a:t>Architecture: 64 neurons → 32 neurons → 1 output neuron.</a:t>
            </a:r>
          </a:p>
          <a:p>
            <a:r>
              <a:rPr lang="en-US" sz="900" dirty="0"/>
              <a:t>Total trainable parameters: 4,737.</a:t>
            </a:r>
          </a:p>
          <a:p>
            <a:r>
              <a:rPr lang="en-US" sz="900" dirty="0"/>
              <a:t>Objective: evaluate whether Adam improves model learning and performance.</a:t>
            </a:r>
          </a:p>
          <a:p>
            <a:pPr marL="133350" indent="0">
              <a:buNone/>
            </a:pPr>
            <a:endParaRPr lang="en-US" sz="900" b="1" dirty="0"/>
          </a:p>
          <a:p>
            <a:pPr marL="133350" indent="0">
              <a:buNone/>
            </a:pPr>
            <a:r>
              <a:rPr lang="en-US" sz="900" b="1" dirty="0"/>
              <a:t>Validation Results</a:t>
            </a:r>
            <a:endParaRPr lang="en-US" sz="900" dirty="0"/>
          </a:p>
          <a:p>
            <a:r>
              <a:rPr lang="en-US" sz="900" dirty="0"/>
              <a:t>Accuracy: </a:t>
            </a:r>
            <a:r>
              <a:rPr lang="en-US" sz="900" b="1" dirty="0"/>
              <a:t>99%</a:t>
            </a:r>
            <a:endParaRPr lang="en-US" sz="900" dirty="0"/>
          </a:p>
          <a:p>
            <a:r>
              <a:rPr lang="en-US" sz="900" dirty="0"/>
              <a:t>Failure Precision: </a:t>
            </a:r>
            <a:r>
              <a:rPr lang="en-US" sz="900" b="1" dirty="0"/>
              <a:t>97%</a:t>
            </a:r>
            <a:endParaRPr lang="en-US" sz="900" dirty="0"/>
          </a:p>
          <a:p>
            <a:r>
              <a:rPr lang="en-US" sz="900" dirty="0"/>
              <a:t>Failure Recall: </a:t>
            </a:r>
            <a:r>
              <a:rPr lang="en-US" sz="900" b="1" dirty="0"/>
              <a:t>82%</a:t>
            </a:r>
            <a:endParaRPr lang="en-US" sz="900" dirty="0"/>
          </a:p>
          <a:p>
            <a:r>
              <a:rPr lang="en-US" sz="900" dirty="0"/>
              <a:t>Failure F1-Score: </a:t>
            </a:r>
            <a:r>
              <a:rPr lang="en-US" sz="900" b="1" dirty="0"/>
              <a:t>89%</a:t>
            </a:r>
            <a:endParaRPr lang="en-US" sz="900" dirty="0"/>
          </a:p>
          <a:p>
            <a:r>
              <a:rPr lang="en-US" sz="900" dirty="0"/>
              <a:t>Macro Avg Recall: </a:t>
            </a:r>
            <a:r>
              <a:rPr lang="en-US" sz="900" b="1" dirty="0"/>
              <a:t>91%</a:t>
            </a:r>
            <a:endParaRPr lang="en-US" sz="900" dirty="0"/>
          </a:p>
          <a:p>
            <a:r>
              <a:rPr lang="en-US" sz="900" dirty="0"/>
              <a:t>Macro Avg F1-Score: </a:t>
            </a:r>
            <a:r>
              <a:rPr lang="en-US" sz="900" b="1" dirty="0"/>
              <a:t>94%</a:t>
            </a:r>
            <a:endParaRPr lang="en-US" sz="900" dirty="0"/>
          </a:p>
          <a:p>
            <a:pPr marL="133350" indent="0">
              <a:buNone/>
            </a:pPr>
            <a:endParaRPr lang="en-US" sz="900" b="1" dirty="0"/>
          </a:p>
          <a:p>
            <a:pPr marL="133350" indent="0">
              <a:buNone/>
            </a:pPr>
            <a:r>
              <a:rPr lang="en-US" sz="900" b="1" dirty="0"/>
              <a:t>What the Results Mean</a:t>
            </a:r>
            <a:endParaRPr lang="en-US" sz="900" dirty="0"/>
          </a:p>
          <a:p>
            <a:r>
              <a:rPr lang="en-US" sz="900" dirty="0"/>
              <a:t>The model performs very well overall.</a:t>
            </a:r>
          </a:p>
          <a:p>
            <a:r>
              <a:rPr lang="en-US" sz="900" dirty="0"/>
              <a:t>It identifies normal turbine operations almost perfectly.</a:t>
            </a:r>
          </a:p>
          <a:p>
            <a:r>
              <a:rPr lang="en-US" sz="900" dirty="0"/>
              <a:t>When it predicts a failure, it is correct </a:t>
            </a:r>
            <a:r>
              <a:rPr lang="en-US" sz="900" b="1" dirty="0"/>
              <a:t>97% of the time</a:t>
            </a:r>
            <a:r>
              <a:rPr lang="en-US" sz="900" dirty="0"/>
              <a:t>.</a:t>
            </a:r>
          </a:p>
          <a:p>
            <a:r>
              <a:rPr lang="en-US" sz="900" dirty="0"/>
              <a:t>It detects about </a:t>
            </a:r>
            <a:r>
              <a:rPr lang="en-US" sz="900" b="1" dirty="0"/>
              <a:t>82% of actual failures</a:t>
            </a:r>
            <a:r>
              <a:rPr lang="en-US" sz="900" dirty="0"/>
              <a:t>, meaning about 18% are still missed.</a:t>
            </a:r>
          </a:p>
          <a:p>
            <a:r>
              <a:rPr lang="en-US" sz="900" dirty="0"/>
              <a:t>The loss curve shows smooth learning and limited overfitting.</a:t>
            </a:r>
          </a:p>
          <a:p>
            <a:pPr marL="0" lvl="0" indent="0" algn="l" rtl="0">
              <a:lnSpc>
                <a:spcPct val="115000"/>
              </a:lnSpc>
              <a:spcBef>
                <a:spcPts val="1000"/>
              </a:spcBef>
              <a:spcAft>
                <a:spcPts val="1000"/>
              </a:spcAft>
              <a:buSzPts val="1500"/>
              <a:buNone/>
            </a:pPr>
            <a:endParaRPr sz="900" dirty="0">
              <a:solidFill>
                <a:srgbClr val="000000"/>
              </a:solidFill>
            </a:endParaRPr>
          </a:p>
        </p:txBody>
      </p:sp>
      <p:sp>
        <p:nvSpPr>
          <p:cNvPr id="2" name="Google Shape;150;g12508d39905_0_217">
            <a:extLst>
              <a:ext uri="{FF2B5EF4-FFF2-40B4-BE49-F238E27FC236}">
                <a16:creationId xmlns:a16="http://schemas.microsoft.com/office/drawing/2014/main" id="{5D3E8495-2950-96F2-2538-8C7F9CF98D8A}"/>
              </a:ext>
            </a:extLst>
          </p:cNvPr>
          <p:cNvSpPr txBox="1">
            <a:spLocks/>
          </p:cNvSpPr>
          <p:nvPr/>
        </p:nvSpPr>
        <p:spPr>
          <a:xfrm>
            <a:off x="4462850" y="372031"/>
            <a:ext cx="4219405"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t>Why This Matters</a:t>
            </a:r>
            <a:endParaRPr lang="en-US" sz="900" dirty="0"/>
          </a:p>
          <a:p>
            <a:r>
              <a:rPr lang="en-US" sz="900" dirty="0"/>
              <a:t>Adaptive Movement Estimation produced stable and efficient training.</a:t>
            </a:r>
          </a:p>
          <a:p>
            <a:r>
              <a:rPr lang="en-US" sz="900" dirty="0"/>
              <a:t>High precision reduces unnecessary inspections and false alarms.</a:t>
            </a:r>
          </a:p>
          <a:p>
            <a:r>
              <a:rPr lang="en-US" sz="900" dirty="0"/>
              <a:t>Recall remains the key business concern because missed failures are costly.</a:t>
            </a:r>
          </a:p>
          <a:p>
            <a:r>
              <a:rPr lang="en-US" sz="900" dirty="0"/>
              <a:t>Accuracy is high, but recall is more important due to class imbalance.</a:t>
            </a:r>
          </a:p>
          <a:p>
            <a:pPr marL="133350" indent="0">
              <a:buNone/>
            </a:pPr>
            <a:endParaRPr lang="en-US" sz="900" b="1" dirty="0"/>
          </a:p>
          <a:p>
            <a:pPr marL="133350" indent="0">
              <a:buNone/>
            </a:pPr>
            <a:r>
              <a:rPr lang="en-US" sz="900" b="1" dirty="0"/>
              <a:t>Business Impact</a:t>
            </a:r>
            <a:endParaRPr lang="en-US" sz="900" dirty="0"/>
          </a:p>
          <a:p>
            <a:r>
              <a:rPr lang="en-US" sz="900" dirty="0"/>
              <a:t>Supports reliable failure alerts.</a:t>
            </a:r>
          </a:p>
          <a:p>
            <a:r>
              <a:rPr lang="en-US" sz="900" dirty="0"/>
              <a:t>Reduces unnecessary maintenance actions.</a:t>
            </a:r>
          </a:p>
          <a:p>
            <a:r>
              <a:rPr lang="en-US" sz="900" dirty="0"/>
              <a:t>Helps improve maintenance planning.</a:t>
            </a:r>
          </a:p>
          <a:p>
            <a:r>
              <a:rPr lang="en-US" sz="900" dirty="0"/>
              <a:t>However, missed failures remain a risk due to lower recall compared with Model 3.</a:t>
            </a:r>
          </a:p>
          <a:p>
            <a:pPr marL="133350" indent="0">
              <a:buNone/>
            </a:pPr>
            <a:r>
              <a:rPr lang="en-US" sz="900" b="1" dirty="0"/>
              <a:t>Conclusion</a:t>
            </a:r>
            <a:br>
              <a:rPr lang="en-US" sz="900" dirty="0"/>
            </a:br>
            <a:r>
              <a:rPr lang="en-US" sz="900" dirty="0"/>
              <a:t>Model 4 is a strong model with excellent precision and stable learning. However, because the business priority is reducing missed failures, it may be less favorable than a model with higher failure Recall.</a:t>
            </a:r>
          </a:p>
          <a:p>
            <a:pPr marL="133350" indent="0">
              <a:buNone/>
            </a:pPr>
            <a:r>
              <a:rPr lang="en-US" sz="900" dirty="0"/>
              <a:t>.</a:t>
            </a:r>
          </a:p>
          <a:p>
            <a:pPr marL="0" indent="0">
              <a:spcBef>
                <a:spcPts val="1000"/>
              </a:spcBef>
              <a:spcAft>
                <a:spcPts val="1000"/>
              </a:spcAft>
              <a:buFont typeface="Nunito"/>
              <a:buNone/>
            </a:pPr>
            <a:endParaRPr lang="en-US" sz="900" dirty="0">
              <a:solidFill>
                <a:srgbClr val="000000"/>
              </a:solidFill>
            </a:endParaRPr>
          </a:p>
        </p:txBody>
      </p:sp>
    </p:spTree>
    <p:extLst>
      <p:ext uri="{BB962C8B-B14F-4D97-AF65-F5344CB8AC3E}">
        <p14:creationId xmlns:p14="http://schemas.microsoft.com/office/powerpoint/2010/main" val="14064495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E1737B4E-8F78-80ED-BB6E-8C3A25A67222}"/>
            </a:ext>
          </a:extLst>
        </p:cNvPr>
        <p:cNvGrpSpPr/>
        <p:nvPr/>
      </p:nvGrpSpPr>
      <p:grpSpPr>
        <a:xfrm>
          <a:off x="0" y="0"/>
          <a:ext cx="0" cy="0"/>
          <a:chOff x="0" y="0"/>
          <a:chExt cx="0" cy="0"/>
        </a:xfrm>
      </p:grpSpPr>
      <p:sp>
        <p:nvSpPr>
          <p:cNvPr id="149" name="Google Shape;149;g12508d39905_0_217">
            <a:extLst>
              <a:ext uri="{FF2B5EF4-FFF2-40B4-BE49-F238E27FC236}">
                <a16:creationId xmlns:a16="http://schemas.microsoft.com/office/drawing/2014/main" id="{40DC06E1-425D-4761-524D-82A89B37255E}"/>
              </a:ext>
            </a:extLst>
          </p:cNvPr>
          <p:cNvSpPr txBox="1">
            <a:spLocks noGrp="1"/>
          </p:cNvSpPr>
          <p:nvPr>
            <p:ph type="title"/>
          </p:nvPr>
        </p:nvSpPr>
        <p:spPr>
          <a:xfrm>
            <a:off x="202550" y="74594"/>
            <a:ext cx="8520600" cy="572700"/>
          </a:xfrm>
          <a:prstGeom prst="rect">
            <a:avLst/>
          </a:prstGeom>
          <a:noFill/>
          <a:ln>
            <a:noFill/>
          </a:ln>
        </p:spPr>
        <p:txBody>
          <a:bodyPr spcFirstLastPara="1" wrap="square" lIns="91425" tIns="91425" rIns="91425" bIns="91425" anchor="t" anchorCtr="0">
            <a:noAutofit/>
          </a:bodyPr>
          <a:lstStyle/>
          <a:p>
            <a:pPr lvl="0"/>
            <a:r>
              <a:rPr lang="en" sz="1200" dirty="0">
                <a:solidFill>
                  <a:srgbClr val="1974D2"/>
                </a:solidFill>
              </a:rPr>
              <a:t>Model Performance Summary: Model 4 Neural Network Using Adaptive Movement Estimator</a:t>
            </a:r>
            <a:endParaRPr sz="1200" dirty="0">
              <a:solidFill>
                <a:srgbClr val="1974D2"/>
              </a:solidFill>
            </a:endParaRPr>
          </a:p>
        </p:txBody>
      </p:sp>
      <p:pic>
        <p:nvPicPr>
          <p:cNvPr id="8" name="Picture 7">
            <a:extLst>
              <a:ext uri="{FF2B5EF4-FFF2-40B4-BE49-F238E27FC236}">
                <a16:creationId xmlns:a16="http://schemas.microsoft.com/office/drawing/2014/main" id="{89AFE19F-5800-0482-717F-C7607812F7BF}"/>
              </a:ext>
            </a:extLst>
          </p:cNvPr>
          <p:cNvPicPr>
            <a:picLocks noChangeAspect="1"/>
          </p:cNvPicPr>
          <p:nvPr/>
        </p:nvPicPr>
        <p:blipFill>
          <a:blip r:embed="rId3"/>
          <a:stretch>
            <a:fillRect/>
          </a:stretch>
        </p:blipFill>
        <p:spPr>
          <a:xfrm>
            <a:off x="653688" y="2691462"/>
            <a:ext cx="2884641" cy="2199935"/>
          </a:xfrm>
          <a:prstGeom prst="rect">
            <a:avLst/>
          </a:prstGeom>
        </p:spPr>
      </p:pic>
      <p:pic>
        <p:nvPicPr>
          <p:cNvPr id="9" name="Picture 8">
            <a:extLst>
              <a:ext uri="{FF2B5EF4-FFF2-40B4-BE49-F238E27FC236}">
                <a16:creationId xmlns:a16="http://schemas.microsoft.com/office/drawing/2014/main" id="{80A3D90C-BAE8-4961-75A6-C0EE9F623FAF}"/>
              </a:ext>
            </a:extLst>
          </p:cNvPr>
          <p:cNvPicPr>
            <a:picLocks noChangeAspect="1"/>
          </p:cNvPicPr>
          <p:nvPr/>
        </p:nvPicPr>
        <p:blipFill>
          <a:blip r:embed="rId4"/>
          <a:stretch>
            <a:fillRect/>
          </a:stretch>
        </p:blipFill>
        <p:spPr>
          <a:xfrm>
            <a:off x="653688" y="586924"/>
            <a:ext cx="3205371" cy="1865114"/>
          </a:xfrm>
          <a:prstGeom prst="rect">
            <a:avLst/>
          </a:prstGeom>
        </p:spPr>
      </p:pic>
      <p:pic>
        <p:nvPicPr>
          <p:cNvPr id="10" name="Picture 9">
            <a:extLst>
              <a:ext uri="{FF2B5EF4-FFF2-40B4-BE49-F238E27FC236}">
                <a16:creationId xmlns:a16="http://schemas.microsoft.com/office/drawing/2014/main" id="{8E1DB892-EDB0-77AB-EBA0-43965CDB48F0}"/>
              </a:ext>
            </a:extLst>
          </p:cNvPr>
          <p:cNvPicPr>
            <a:picLocks noChangeAspect="1"/>
          </p:cNvPicPr>
          <p:nvPr/>
        </p:nvPicPr>
        <p:blipFill>
          <a:blip r:embed="rId5"/>
          <a:stretch>
            <a:fillRect/>
          </a:stretch>
        </p:blipFill>
        <p:spPr>
          <a:xfrm>
            <a:off x="4572000" y="586924"/>
            <a:ext cx="2860780" cy="1745256"/>
          </a:xfrm>
          <a:prstGeom prst="rect">
            <a:avLst/>
          </a:prstGeom>
        </p:spPr>
      </p:pic>
      <p:pic>
        <p:nvPicPr>
          <p:cNvPr id="11" name="Picture 10">
            <a:extLst>
              <a:ext uri="{FF2B5EF4-FFF2-40B4-BE49-F238E27FC236}">
                <a16:creationId xmlns:a16="http://schemas.microsoft.com/office/drawing/2014/main" id="{EB3D04B7-20ED-6584-7A59-EE675223FE3F}"/>
              </a:ext>
            </a:extLst>
          </p:cNvPr>
          <p:cNvPicPr>
            <a:picLocks noChangeAspect="1"/>
          </p:cNvPicPr>
          <p:nvPr/>
        </p:nvPicPr>
        <p:blipFill>
          <a:blip r:embed="rId6"/>
          <a:stretch>
            <a:fillRect/>
          </a:stretch>
        </p:blipFill>
        <p:spPr>
          <a:xfrm>
            <a:off x="4572000" y="2452038"/>
            <a:ext cx="2895703" cy="2346518"/>
          </a:xfrm>
          <a:prstGeom prst="rect">
            <a:avLst/>
          </a:prstGeom>
        </p:spPr>
      </p:pic>
    </p:spTree>
    <p:extLst>
      <p:ext uri="{BB962C8B-B14F-4D97-AF65-F5344CB8AC3E}">
        <p14:creationId xmlns:p14="http://schemas.microsoft.com/office/powerpoint/2010/main" val="19616959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AC507D71-4822-91B5-3FEC-72E2F049D392}"/>
            </a:ext>
          </a:extLst>
        </p:cNvPr>
        <p:cNvGrpSpPr/>
        <p:nvPr/>
      </p:nvGrpSpPr>
      <p:grpSpPr>
        <a:xfrm>
          <a:off x="0" y="0"/>
          <a:ext cx="0" cy="0"/>
          <a:chOff x="0" y="0"/>
          <a:chExt cx="0" cy="0"/>
        </a:xfrm>
      </p:grpSpPr>
      <p:sp>
        <p:nvSpPr>
          <p:cNvPr id="149" name="Google Shape;149;g12508d39905_0_217">
            <a:extLst>
              <a:ext uri="{FF2B5EF4-FFF2-40B4-BE49-F238E27FC236}">
                <a16:creationId xmlns:a16="http://schemas.microsoft.com/office/drawing/2014/main" id="{78EEC732-EA55-5299-B4E9-6CABBD2A4A6F}"/>
              </a:ext>
            </a:extLst>
          </p:cNvPr>
          <p:cNvSpPr txBox="1">
            <a:spLocks noGrp="1"/>
          </p:cNvSpPr>
          <p:nvPr>
            <p:ph type="title"/>
          </p:nvPr>
        </p:nvSpPr>
        <p:spPr>
          <a:xfrm>
            <a:off x="202550" y="74594"/>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200" dirty="0">
                <a:solidFill>
                  <a:srgbClr val="1974D2"/>
                </a:solidFill>
              </a:rPr>
              <a:t>Model Performance Summary: Model 5 Neural Network with Dropout and Adaptive Movement Estimator</a:t>
            </a:r>
            <a:endParaRPr sz="1200" dirty="0">
              <a:solidFill>
                <a:srgbClr val="1974D2"/>
              </a:solidFill>
            </a:endParaRPr>
          </a:p>
        </p:txBody>
      </p:sp>
      <p:sp>
        <p:nvSpPr>
          <p:cNvPr id="150" name="Google Shape;150;g12508d39905_0_217">
            <a:extLst>
              <a:ext uri="{FF2B5EF4-FFF2-40B4-BE49-F238E27FC236}">
                <a16:creationId xmlns:a16="http://schemas.microsoft.com/office/drawing/2014/main" id="{3CAD542D-1C2D-CC65-3797-E4A9E223027F}"/>
              </a:ext>
            </a:extLst>
          </p:cNvPr>
          <p:cNvSpPr txBox="1">
            <a:spLocks noGrp="1"/>
          </p:cNvSpPr>
          <p:nvPr>
            <p:ph type="body" idx="1"/>
          </p:nvPr>
        </p:nvSpPr>
        <p:spPr>
          <a:xfrm>
            <a:off x="0" y="360944"/>
            <a:ext cx="4476584"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Model Setup</a:t>
            </a:r>
            <a:endParaRPr lang="en-US" sz="900" dirty="0"/>
          </a:p>
          <a:p>
            <a:r>
              <a:rPr lang="en-US" sz="900" dirty="0"/>
              <a:t>Tested a deeper neural network with additional learning capacity.</a:t>
            </a:r>
          </a:p>
          <a:p>
            <a:r>
              <a:rPr lang="en-US" sz="900" dirty="0"/>
              <a:t>Architecture: 128 neurons → Dropout 0.5 → 64 neurons → 32 neurons → 1 output neuron.</a:t>
            </a:r>
          </a:p>
          <a:p>
            <a:r>
              <a:rPr lang="en-US" sz="900" dirty="0"/>
              <a:t>Total trainable parameters: 15,617.</a:t>
            </a:r>
          </a:p>
          <a:p>
            <a:r>
              <a:rPr lang="en-US" sz="900" dirty="0"/>
              <a:t>Used Dropout to reduce overfitting.</a:t>
            </a:r>
          </a:p>
          <a:p>
            <a:r>
              <a:rPr lang="en-US" sz="900" dirty="0"/>
              <a:t>Used Adam optimizer for efficient training.</a:t>
            </a:r>
          </a:p>
          <a:p>
            <a:pPr marL="133350" indent="0">
              <a:buNone/>
            </a:pPr>
            <a:endParaRPr lang="en-US" sz="900" b="1" dirty="0"/>
          </a:p>
          <a:p>
            <a:pPr marL="133350" indent="0">
              <a:buNone/>
            </a:pPr>
            <a:r>
              <a:rPr lang="en-US" sz="900" b="1" dirty="0"/>
              <a:t>Validation Results</a:t>
            </a:r>
            <a:endParaRPr lang="en-US" sz="900" dirty="0"/>
          </a:p>
          <a:p>
            <a:r>
              <a:rPr lang="en-US" sz="900" dirty="0"/>
              <a:t>Accuracy: </a:t>
            </a:r>
            <a:r>
              <a:rPr lang="en-US" sz="900" b="1" dirty="0"/>
              <a:t>99%</a:t>
            </a:r>
            <a:endParaRPr lang="en-US" sz="900" dirty="0"/>
          </a:p>
          <a:p>
            <a:r>
              <a:rPr lang="en-US" sz="900" dirty="0"/>
              <a:t>Failure Precision: </a:t>
            </a:r>
            <a:r>
              <a:rPr lang="en-US" sz="900" b="1" dirty="0"/>
              <a:t>96%</a:t>
            </a:r>
            <a:endParaRPr lang="en-US" sz="900" dirty="0"/>
          </a:p>
          <a:p>
            <a:r>
              <a:rPr lang="en-US" sz="900" dirty="0"/>
              <a:t>Failure Recall: </a:t>
            </a:r>
            <a:r>
              <a:rPr lang="en-US" sz="900" b="1" dirty="0"/>
              <a:t>81%</a:t>
            </a:r>
            <a:endParaRPr lang="en-US" sz="900" dirty="0"/>
          </a:p>
          <a:p>
            <a:r>
              <a:rPr lang="en-US" sz="900" dirty="0"/>
              <a:t>Failure F1-Score: </a:t>
            </a:r>
            <a:r>
              <a:rPr lang="en-US" sz="900" b="1" dirty="0"/>
              <a:t>88%</a:t>
            </a:r>
            <a:endParaRPr lang="en-US" sz="900" dirty="0"/>
          </a:p>
          <a:p>
            <a:r>
              <a:rPr lang="en-US" sz="900" dirty="0"/>
              <a:t>Macro Avg Recall: </a:t>
            </a:r>
            <a:r>
              <a:rPr lang="en-US" sz="900" b="1" dirty="0"/>
              <a:t>90%</a:t>
            </a:r>
            <a:endParaRPr lang="en-US" sz="900" dirty="0"/>
          </a:p>
          <a:p>
            <a:r>
              <a:rPr lang="en-US" sz="900" dirty="0"/>
              <a:t>Macro Avg F1-Score: </a:t>
            </a:r>
            <a:r>
              <a:rPr lang="en-US" sz="900" b="1" dirty="0"/>
              <a:t>93%</a:t>
            </a:r>
            <a:endParaRPr lang="en-US" sz="900" dirty="0"/>
          </a:p>
          <a:p>
            <a:pPr marL="133350" indent="0">
              <a:buNone/>
            </a:pPr>
            <a:endParaRPr lang="en-US" sz="900" b="1" dirty="0"/>
          </a:p>
          <a:p>
            <a:pPr marL="133350" indent="0">
              <a:buNone/>
            </a:pPr>
            <a:r>
              <a:rPr lang="en-US" sz="900" b="1" dirty="0"/>
              <a:t>What the Results Mean</a:t>
            </a:r>
            <a:endParaRPr lang="en-US" sz="900" dirty="0"/>
          </a:p>
          <a:p>
            <a:r>
              <a:rPr lang="en-US" sz="900" dirty="0"/>
              <a:t>The model performs very well overall.</a:t>
            </a:r>
          </a:p>
          <a:p>
            <a:r>
              <a:rPr lang="en-US" sz="900" dirty="0"/>
              <a:t>It identifies normal turbine operations almost perfectly.</a:t>
            </a:r>
          </a:p>
          <a:p>
            <a:r>
              <a:rPr lang="en-US" sz="900" dirty="0"/>
              <a:t>When the model predicts a failure, it is correct </a:t>
            </a:r>
            <a:r>
              <a:rPr lang="en-US" sz="900" b="1" dirty="0"/>
              <a:t>96% of the time</a:t>
            </a:r>
            <a:r>
              <a:rPr lang="en-US" sz="900" dirty="0"/>
              <a:t>.</a:t>
            </a:r>
          </a:p>
          <a:p>
            <a:r>
              <a:rPr lang="en-US" sz="900" dirty="0"/>
              <a:t>It detects about </a:t>
            </a:r>
            <a:r>
              <a:rPr lang="en-US" sz="900" b="1" dirty="0"/>
              <a:t>81% of actual failures</a:t>
            </a:r>
            <a:r>
              <a:rPr lang="en-US" sz="900" dirty="0"/>
              <a:t>, meaning about 19% of failures are still missed.</a:t>
            </a:r>
          </a:p>
          <a:p>
            <a:r>
              <a:rPr lang="en-US" sz="900" dirty="0"/>
              <a:t>The loss curve shows stable learning and no severe overfitting.</a:t>
            </a:r>
          </a:p>
          <a:p>
            <a:pPr marL="0" lvl="0" indent="0" algn="l" rtl="0">
              <a:lnSpc>
                <a:spcPct val="115000"/>
              </a:lnSpc>
              <a:spcBef>
                <a:spcPts val="1000"/>
              </a:spcBef>
              <a:spcAft>
                <a:spcPts val="1000"/>
              </a:spcAft>
              <a:buSzPts val="1500"/>
              <a:buNone/>
            </a:pPr>
            <a:endParaRPr sz="900" dirty="0">
              <a:solidFill>
                <a:srgbClr val="000000"/>
              </a:solidFill>
            </a:endParaRPr>
          </a:p>
        </p:txBody>
      </p:sp>
      <p:sp>
        <p:nvSpPr>
          <p:cNvPr id="2" name="Google Shape;150;g12508d39905_0_217">
            <a:extLst>
              <a:ext uri="{FF2B5EF4-FFF2-40B4-BE49-F238E27FC236}">
                <a16:creationId xmlns:a16="http://schemas.microsoft.com/office/drawing/2014/main" id="{CDA9A67D-2869-97BA-8708-FDA983FBB737}"/>
              </a:ext>
            </a:extLst>
          </p:cNvPr>
          <p:cNvSpPr txBox="1">
            <a:spLocks/>
          </p:cNvSpPr>
          <p:nvPr/>
        </p:nvSpPr>
        <p:spPr>
          <a:xfrm>
            <a:off x="4476584" y="197103"/>
            <a:ext cx="4219405"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t>Why This Matters</a:t>
            </a:r>
            <a:endParaRPr lang="en-US" sz="900" dirty="0"/>
          </a:p>
          <a:p>
            <a:r>
              <a:rPr lang="en-US" sz="900" dirty="0"/>
              <a:t>More model complexity did not automatically improve failure detection.</a:t>
            </a:r>
          </a:p>
          <a:p>
            <a:r>
              <a:rPr lang="en-US" sz="900" dirty="0"/>
              <a:t>High precision reduces unnecessary inspections and false alarms.</a:t>
            </a:r>
          </a:p>
          <a:p>
            <a:r>
              <a:rPr lang="en-US" sz="900" dirty="0"/>
              <a:t>Recall remains the key concern because missed failures are costly.</a:t>
            </a:r>
          </a:p>
          <a:p>
            <a:r>
              <a:rPr lang="en-US" sz="900" dirty="0"/>
              <a:t>Model 5 is reliable when it predicts failure, but it misses more failures than Model 3.</a:t>
            </a:r>
          </a:p>
          <a:p>
            <a:pPr marL="133350" indent="0">
              <a:buNone/>
            </a:pPr>
            <a:endParaRPr lang="en-US" sz="900" b="1" dirty="0"/>
          </a:p>
          <a:p>
            <a:pPr marL="133350" indent="0">
              <a:buNone/>
            </a:pPr>
            <a:r>
              <a:rPr lang="en-US" sz="900" b="1" dirty="0"/>
              <a:t>Business Impact</a:t>
            </a:r>
            <a:endParaRPr lang="en-US" sz="900" dirty="0"/>
          </a:p>
          <a:p>
            <a:r>
              <a:rPr lang="en-US" sz="900" dirty="0"/>
              <a:t>Supports proactive maintenance planning.</a:t>
            </a:r>
          </a:p>
          <a:p>
            <a:r>
              <a:rPr lang="en-US" sz="900" dirty="0"/>
              <a:t>Reduces unnecessary inspections due to high precision.</a:t>
            </a:r>
          </a:p>
          <a:p>
            <a:r>
              <a:rPr lang="en-US" sz="900" dirty="0"/>
              <a:t>Helps identify many at-risk turbines before breakdown.</a:t>
            </a:r>
          </a:p>
          <a:p>
            <a:r>
              <a:rPr lang="en-US" sz="900" dirty="0"/>
              <a:t>However, missed failures remain a significant business risk.</a:t>
            </a:r>
          </a:p>
          <a:p>
            <a:pPr marL="133350" indent="0">
              <a:buNone/>
            </a:pPr>
            <a:endParaRPr lang="en-US" sz="900" b="1" dirty="0"/>
          </a:p>
          <a:p>
            <a:pPr marL="133350" indent="0">
              <a:buNone/>
            </a:pPr>
            <a:r>
              <a:rPr lang="en-US" sz="900" b="1" dirty="0"/>
              <a:t>Conclusion</a:t>
            </a:r>
            <a:br>
              <a:rPr lang="en-US" sz="900" dirty="0"/>
            </a:br>
            <a:r>
              <a:rPr lang="en-US" sz="900" dirty="0"/>
              <a:t>Model 5 is strong overall, but it is not the best model for the main business goal. Although it has high precision and stable learning, its lower failure recall makes it less effective for minimizing costly missed turbine failures.</a:t>
            </a:r>
          </a:p>
          <a:p>
            <a:pPr marL="0" indent="0">
              <a:spcBef>
                <a:spcPts val="1000"/>
              </a:spcBef>
              <a:spcAft>
                <a:spcPts val="1000"/>
              </a:spcAft>
              <a:buFont typeface="Nunito"/>
              <a:buNone/>
            </a:pPr>
            <a:endParaRPr lang="en-US" sz="900" dirty="0">
              <a:solidFill>
                <a:srgbClr val="000000"/>
              </a:solidFill>
            </a:endParaRPr>
          </a:p>
        </p:txBody>
      </p:sp>
    </p:spTree>
    <p:extLst>
      <p:ext uri="{BB962C8B-B14F-4D97-AF65-F5344CB8AC3E}">
        <p14:creationId xmlns:p14="http://schemas.microsoft.com/office/powerpoint/2010/main" val="40230224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004497BA-6FA1-2806-4BDD-D27AAC23CF39}"/>
            </a:ext>
          </a:extLst>
        </p:cNvPr>
        <p:cNvGrpSpPr/>
        <p:nvPr/>
      </p:nvGrpSpPr>
      <p:grpSpPr>
        <a:xfrm>
          <a:off x="0" y="0"/>
          <a:ext cx="0" cy="0"/>
          <a:chOff x="0" y="0"/>
          <a:chExt cx="0" cy="0"/>
        </a:xfrm>
      </p:grpSpPr>
      <p:sp>
        <p:nvSpPr>
          <p:cNvPr id="149" name="Google Shape;149;g12508d39905_0_217">
            <a:extLst>
              <a:ext uri="{FF2B5EF4-FFF2-40B4-BE49-F238E27FC236}">
                <a16:creationId xmlns:a16="http://schemas.microsoft.com/office/drawing/2014/main" id="{B763BC53-A98E-0C3D-B876-C753352CF045}"/>
              </a:ext>
            </a:extLst>
          </p:cNvPr>
          <p:cNvSpPr txBox="1">
            <a:spLocks noGrp="1"/>
          </p:cNvSpPr>
          <p:nvPr>
            <p:ph type="title"/>
          </p:nvPr>
        </p:nvSpPr>
        <p:spPr>
          <a:xfrm>
            <a:off x="202550" y="74594"/>
            <a:ext cx="8520600" cy="572700"/>
          </a:xfrm>
          <a:prstGeom prst="rect">
            <a:avLst/>
          </a:prstGeom>
          <a:noFill/>
          <a:ln>
            <a:noFill/>
          </a:ln>
        </p:spPr>
        <p:txBody>
          <a:bodyPr spcFirstLastPara="1" wrap="square" lIns="91425" tIns="91425" rIns="91425" bIns="91425" anchor="t" anchorCtr="0">
            <a:noAutofit/>
          </a:bodyPr>
          <a:lstStyle/>
          <a:p>
            <a:pPr lvl="0"/>
            <a:r>
              <a:rPr lang="en" sz="1200" dirty="0">
                <a:solidFill>
                  <a:srgbClr val="1974D2"/>
                </a:solidFill>
              </a:rPr>
              <a:t>Model Performance Summary: Model 5 Neural with Dropout and Adaptive Movement Estimator</a:t>
            </a:r>
            <a:endParaRPr sz="1200" dirty="0">
              <a:solidFill>
                <a:srgbClr val="1974D2"/>
              </a:solidFill>
            </a:endParaRPr>
          </a:p>
        </p:txBody>
      </p:sp>
      <p:pic>
        <p:nvPicPr>
          <p:cNvPr id="2" name="Picture 1">
            <a:extLst>
              <a:ext uri="{FF2B5EF4-FFF2-40B4-BE49-F238E27FC236}">
                <a16:creationId xmlns:a16="http://schemas.microsoft.com/office/drawing/2014/main" id="{D93CED71-02B8-48DA-9AB8-B279FF401296}"/>
              </a:ext>
            </a:extLst>
          </p:cNvPr>
          <p:cNvPicPr>
            <a:picLocks noChangeAspect="1"/>
          </p:cNvPicPr>
          <p:nvPr/>
        </p:nvPicPr>
        <p:blipFill>
          <a:blip r:embed="rId3"/>
          <a:stretch>
            <a:fillRect/>
          </a:stretch>
        </p:blipFill>
        <p:spPr>
          <a:xfrm>
            <a:off x="787179" y="2577690"/>
            <a:ext cx="3116911" cy="2341056"/>
          </a:xfrm>
          <a:prstGeom prst="rect">
            <a:avLst/>
          </a:prstGeom>
        </p:spPr>
      </p:pic>
      <p:pic>
        <p:nvPicPr>
          <p:cNvPr id="3" name="Picture 2">
            <a:extLst>
              <a:ext uri="{FF2B5EF4-FFF2-40B4-BE49-F238E27FC236}">
                <a16:creationId xmlns:a16="http://schemas.microsoft.com/office/drawing/2014/main" id="{2708F6F8-14EC-0D00-2011-DD17C59370FA}"/>
              </a:ext>
            </a:extLst>
          </p:cNvPr>
          <p:cNvPicPr>
            <a:picLocks noChangeAspect="1"/>
          </p:cNvPicPr>
          <p:nvPr/>
        </p:nvPicPr>
        <p:blipFill>
          <a:blip r:embed="rId4"/>
          <a:stretch>
            <a:fillRect/>
          </a:stretch>
        </p:blipFill>
        <p:spPr>
          <a:xfrm>
            <a:off x="4572000" y="540687"/>
            <a:ext cx="3235415" cy="1706107"/>
          </a:xfrm>
          <a:prstGeom prst="rect">
            <a:avLst/>
          </a:prstGeom>
        </p:spPr>
      </p:pic>
      <p:pic>
        <p:nvPicPr>
          <p:cNvPr id="4" name="Picture 3">
            <a:extLst>
              <a:ext uri="{FF2B5EF4-FFF2-40B4-BE49-F238E27FC236}">
                <a16:creationId xmlns:a16="http://schemas.microsoft.com/office/drawing/2014/main" id="{9303F4C3-8172-0D09-ECEF-F60844AF71F1}"/>
              </a:ext>
            </a:extLst>
          </p:cNvPr>
          <p:cNvPicPr>
            <a:picLocks noChangeAspect="1"/>
          </p:cNvPicPr>
          <p:nvPr/>
        </p:nvPicPr>
        <p:blipFill>
          <a:blip r:embed="rId5"/>
          <a:stretch>
            <a:fillRect/>
          </a:stretch>
        </p:blipFill>
        <p:spPr>
          <a:xfrm>
            <a:off x="4572000" y="2571750"/>
            <a:ext cx="3116911" cy="2148926"/>
          </a:xfrm>
          <a:prstGeom prst="rect">
            <a:avLst/>
          </a:prstGeom>
        </p:spPr>
      </p:pic>
      <p:pic>
        <p:nvPicPr>
          <p:cNvPr id="5" name="Picture 4">
            <a:extLst>
              <a:ext uri="{FF2B5EF4-FFF2-40B4-BE49-F238E27FC236}">
                <a16:creationId xmlns:a16="http://schemas.microsoft.com/office/drawing/2014/main" id="{315F1FCC-3165-B5AD-5A1B-529BC5970546}"/>
              </a:ext>
            </a:extLst>
          </p:cNvPr>
          <p:cNvPicPr>
            <a:picLocks noChangeAspect="1"/>
          </p:cNvPicPr>
          <p:nvPr/>
        </p:nvPicPr>
        <p:blipFill>
          <a:blip r:embed="rId6"/>
          <a:stretch>
            <a:fillRect/>
          </a:stretch>
        </p:blipFill>
        <p:spPr>
          <a:xfrm>
            <a:off x="844457" y="535059"/>
            <a:ext cx="3085637" cy="2148926"/>
          </a:xfrm>
          <a:prstGeom prst="rect">
            <a:avLst/>
          </a:prstGeom>
        </p:spPr>
      </p:pic>
    </p:spTree>
    <p:extLst>
      <p:ext uri="{BB962C8B-B14F-4D97-AF65-F5344CB8AC3E}">
        <p14:creationId xmlns:p14="http://schemas.microsoft.com/office/powerpoint/2010/main" val="9920540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FCAF3F8A-9BD8-AA90-2586-87CA7FFA5B8E}"/>
            </a:ext>
          </a:extLst>
        </p:cNvPr>
        <p:cNvGrpSpPr/>
        <p:nvPr/>
      </p:nvGrpSpPr>
      <p:grpSpPr>
        <a:xfrm>
          <a:off x="0" y="0"/>
          <a:ext cx="0" cy="0"/>
          <a:chOff x="0" y="0"/>
          <a:chExt cx="0" cy="0"/>
        </a:xfrm>
      </p:grpSpPr>
      <p:sp>
        <p:nvSpPr>
          <p:cNvPr id="149" name="Google Shape;149;g12508d39905_0_217">
            <a:extLst>
              <a:ext uri="{FF2B5EF4-FFF2-40B4-BE49-F238E27FC236}">
                <a16:creationId xmlns:a16="http://schemas.microsoft.com/office/drawing/2014/main" id="{231255AC-BB6A-1393-2118-3BE12454BAEF}"/>
              </a:ext>
            </a:extLst>
          </p:cNvPr>
          <p:cNvSpPr txBox="1">
            <a:spLocks noGrp="1"/>
          </p:cNvSpPr>
          <p:nvPr>
            <p:ph type="title"/>
          </p:nvPr>
        </p:nvSpPr>
        <p:spPr>
          <a:xfrm>
            <a:off x="202550" y="74594"/>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200" dirty="0">
                <a:solidFill>
                  <a:srgbClr val="1974D2"/>
                </a:solidFill>
              </a:rPr>
              <a:t>Model Performance Summary: Model 6 Neural Network with Dropout and Class Weights</a:t>
            </a:r>
            <a:endParaRPr sz="1200" dirty="0">
              <a:solidFill>
                <a:srgbClr val="1974D2"/>
              </a:solidFill>
            </a:endParaRPr>
          </a:p>
        </p:txBody>
      </p:sp>
      <p:sp>
        <p:nvSpPr>
          <p:cNvPr id="150" name="Google Shape;150;g12508d39905_0_217">
            <a:extLst>
              <a:ext uri="{FF2B5EF4-FFF2-40B4-BE49-F238E27FC236}">
                <a16:creationId xmlns:a16="http://schemas.microsoft.com/office/drawing/2014/main" id="{BEC80A3A-A0BF-18DA-C89F-8E430EC8C6B2}"/>
              </a:ext>
            </a:extLst>
          </p:cNvPr>
          <p:cNvSpPr txBox="1">
            <a:spLocks noGrp="1"/>
          </p:cNvSpPr>
          <p:nvPr>
            <p:ph type="body" idx="1"/>
          </p:nvPr>
        </p:nvSpPr>
        <p:spPr>
          <a:xfrm>
            <a:off x="0" y="360944"/>
            <a:ext cx="4476584"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Model Setup</a:t>
            </a:r>
            <a:endParaRPr lang="en-US" sz="900" dirty="0"/>
          </a:p>
          <a:p>
            <a:r>
              <a:rPr lang="en-US" sz="900" dirty="0"/>
              <a:t>Deeper neural network with dropout and class weights.</a:t>
            </a:r>
          </a:p>
          <a:p>
            <a:r>
              <a:rPr lang="en-US" sz="900" dirty="0"/>
              <a:t>Architecture: 128 neurons → Dropout 0.5 → 64 neurons → 32 neurons → 1 output neuron.</a:t>
            </a:r>
          </a:p>
          <a:p>
            <a:r>
              <a:rPr lang="en-US" sz="900" dirty="0"/>
              <a:t>Total trainable parameters: 15,617.</a:t>
            </a:r>
          </a:p>
          <a:p>
            <a:r>
              <a:rPr lang="en-US" sz="900" dirty="0"/>
              <a:t>Class weights were used to give more importance to rare failure cases.</a:t>
            </a:r>
          </a:p>
          <a:p>
            <a:pPr marL="133350" indent="0">
              <a:buNone/>
            </a:pPr>
            <a:endParaRPr lang="en-US" sz="900" b="1" dirty="0"/>
          </a:p>
          <a:p>
            <a:pPr marL="133350" indent="0">
              <a:buNone/>
            </a:pPr>
            <a:r>
              <a:rPr lang="en-US" sz="900" b="1" dirty="0"/>
              <a:t>Validation Results</a:t>
            </a:r>
            <a:endParaRPr lang="en-US" sz="900" dirty="0"/>
          </a:p>
          <a:p>
            <a:r>
              <a:rPr lang="en-US" sz="900" dirty="0"/>
              <a:t>Accuracy: </a:t>
            </a:r>
            <a:r>
              <a:rPr lang="en-US" sz="900" b="1" dirty="0"/>
              <a:t>25%</a:t>
            </a:r>
            <a:endParaRPr lang="en-US" sz="900" dirty="0"/>
          </a:p>
          <a:p>
            <a:r>
              <a:rPr lang="en-US" sz="900" dirty="0"/>
              <a:t>Failure Precision: </a:t>
            </a:r>
            <a:r>
              <a:rPr lang="en-US" sz="900" b="1" dirty="0"/>
              <a:t>5%</a:t>
            </a:r>
            <a:endParaRPr lang="en-US" sz="900" dirty="0"/>
          </a:p>
          <a:p>
            <a:r>
              <a:rPr lang="en-US" sz="900" dirty="0"/>
              <a:t>Failure Recall: </a:t>
            </a:r>
            <a:r>
              <a:rPr lang="en-US" sz="900" b="1" dirty="0"/>
              <a:t>70%</a:t>
            </a:r>
            <a:endParaRPr lang="en-US" sz="900" dirty="0"/>
          </a:p>
          <a:p>
            <a:r>
              <a:rPr lang="en-US" sz="900" dirty="0"/>
              <a:t>Failure F1-Score: </a:t>
            </a:r>
            <a:r>
              <a:rPr lang="en-US" sz="900" b="1" dirty="0"/>
              <a:t>9%</a:t>
            </a:r>
            <a:endParaRPr lang="en-US" sz="900" dirty="0"/>
          </a:p>
          <a:p>
            <a:r>
              <a:rPr lang="en-US" sz="900" dirty="0"/>
              <a:t>Macro Avg Recall: </a:t>
            </a:r>
            <a:r>
              <a:rPr lang="en-US" sz="900" b="1" dirty="0"/>
              <a:t>46%</a:t>
            </a:r>
            <a:endParaRPr lang="en-US" sz="900" dirty="0"/>
          </a:p>
          <a:p>
            <a:r>
              <a:rPr lang="en-US" sz="900" dirty="0"/>
              <a:t>Macro Avg F1-Score: </a:t>
            </a:r>
            <a:r>
              <a:rPr lang="en-US" sz="900" b="1" dirty="0"/>
              <a:t>23%</a:t>
            </a:r>
            <a:endParaRPr lang="en-US" sz="900" dirty="0"/>
          </a:p>
          <a:p>
            <a:pPr marL="133350" indent="0">
              <a:buNone/>
            </a:pPr>
            <a:endParaRPr lang="en-US" sz="900" b="1" dirty="0"/>
          </a:p>
          <a:p>
            <a:pPr marL="133350" indent="0">
              <a:buNone/>
            </a:pPr>
            <a:r>
              <a:rPr lang="en-US" sz="900" b="1" dirty="0"/>
              <a:t>‘What the Results Mean</a:t>
            </a:r>
            <a:endParaRPr lang="en-US" sz="900" dirty="0"/>
          </a:p>
          <a:p>
            <a:r>
              <a:rPr lang="en-US" sz="900" dirty="0"/>
              <a:t>Model 6 performs poorly overall.</a:t>
            </a:r>
          </a:p>
          <a:p>
            <a:r>
              <a:rPr lang="en-US" sz="900" dirty="0"/>
              <a:t>It detects 70% of failures, </a:t>
            </a:r>
            <a:r>
              <a:rPr lang="en-US" sz="900" dirty="0" err="1"/>
              <a:t>ut</a:t>
            </a:r>
            <a:r>
              <a:rPr lang="en-US" sz="900" dirty="0"/>
              <a:t> creates too many false alarms.</a:t>
            </a:r>
          </a:p>
          <a:p>
            <a:r>
              <a:rPr lang="en-US" sz="900" dirty="0"/>
              <a:t>Failure precision is only 5%, meaning most predicted failures are incorrect.</a:t>
            </a:r>
          </a:p>
          <a:p>
            <a:r>
              <a:rPr lang="en-US" sz="900" dirty="0"/>
              <a:t>The model struggles to correctly identify normal turbine operations.</a:t>
            </a:r>
          </a:p>
          <a:p>
            <a:r>
              <a:rPr lang="en-US" sz="900" dirty="0"/>
              <a:t>The loss curve is unstable, suggesting weak learning behavior.</a:t>
            </a:r>
          </a:p>
          <a:p>
            <a:pPr marL="0" lvl="0" indent="0" algn="l" rtl="0">
              <a:lnSpc>
                <a:spcPct val="115000"/>
              </a:lnSpc>
              <a:spcBef>
                <a:spcPts val="1000"/>
              </a:spcBef>
              <a:spcAft>
                <a:spcPts val="1000"/>
              </a:spcAft>
              <a:buSzPts val="1500"/>
              <a:buNone/>
            </a:pPr>
            <a:endParaRPr sz="900" dirty="0">
              <a:solidFill>
                <a:srgbClr val="000000"/>
              </a:solidFill>
            </a:endParaRPr>
          </a:p>
        </p:txBody>
      </p:sp>
      <p:sp>
        <p:nvSpPr>
          <p:cNvPr id="2" name="Google Shape;150;g12508d39905_0_217">
            <a:extLst>
              <a:ext uri="{FF2B5EF4-FFF2-40B4-BE49-F238E27FC236}">
                <a16:creationId xmlns:a16="http://schemas.microsoft.com/office/drawing/2014/main" id="{3056385C-1561-2B3D-B8E0-EA1055348548}"/>
              </a:ext>
            </a:extLst>
          </p:cNvPr>
          <p:cNvSpPr txBox="1">
            <a:spLocks/>
          </p:cNvSpPr>
          <p:nvPr/>
        </p:nvSpPr>
        <p:spPr>
          <a:xfrm>
            <a:off x="4384476" y="504119"/>
            <a:ext cx="4219405"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t>Why This Matters</a:t>
            </a:r>
            <a:endParaRPr lang="en-US" sz="900" dirty="0"/>
          </a:p>
          <a:p>
            <a:r>
              <a:rPr lang="en-US" sz="900" dirty="0"/>
              <a:t>Class weights helped the model focus on failures, but it overcorrected.</a:t>
            </a:r>
          </a:p>
          <a:p>
            <a:r>
              <a:rPr lang="en-US" sz="900" dirty="0"/>
              <a:t>High recall alone is not enough if precision is extremely low.</a:t>
            </a:r>
          </a:p>
          <a:p>
            <a:r>
              <a:rPr lang="en-US" sz="900" dirty="0"/>
              <a:t>Too many false alarms can make the model impractical for business use.</a:t>
            </a:r>
          </a:p>
          <a:p>
            <a:r>
              <a:rPr lang="en-US" sz="900" dirty="0"/>
              <a:t>The model does not provide a reliable balance between detecting failures and avoiding unnecessary inspections.</a:t>
            </a:r>
          </a:p>
          <a:p>
            <a:pPr marL="133350" indent="0">
              <a:buNone/>
            </a:pPr>
            <a:endParaRPr lang="en-US" sz="900" b="1" dirty="0"/>
          </a:p>
          <a:p>
            <a:pPr marL="133350" indent="0">
              <a:buNone/>
            </a:pPr>
            <a:r>
              <a:rPr lang="en-US" sz="900" b="1" dirty="0"/>
              <a:t>Business Impact</a:t>
            </a:r>
            <a:endParaRPr lang="en-US" sz="900" dirty="0"/>
          </a:p>
          <a:p>
            <a:r>
              <a:rPr lang="en-US" sz="900" dirty="0"/>
              <a:t>Would likely increase unnecessary inspections.</a:t>
            </a:r>
          </a:p>
          <a:p>
            <a:r>
              <a:rPr lang="en-US" sz="900" dirty="0"/>
              <a:t>Could overload maintenance teams.</a:t>
            </a:r>
          </a:p>
          <a:p>
            <a:r>
              <a:rPr lang="en-US" sz="900" dirty="0"/>
              <a:t>May reduce trust in the predictive maintenance system.</a:t>
            </a:r>
          </a:p>
          <a:p>
            <a:r>
              <a:rPr lang="en-US" sz="900" dirty="0"/>
              <a:t>Poorly supports maintenance decision-making.</a:t>
            </a:r>
          </a:p>
          <a:p>
            <a:r>
              <a:rPr lang="en-US" sz="900" dirty="0"/>
              <a:t>Not recommended for deployment.</a:t>
            </a:r>
          </a:p>
          <a:p>
            <a:pPr marL="133350" indent="0">
              <a:buNone/>
            </a:pPr>
            <a:endParaRPr lang="en-US" sz="900" b="1" dirty="0"/>
          </a:p>
          <a:p>
            <a:pPr marL="133350" indent="0">
              <a:buNone/>
            </a:pPr>
            <a:r>
              <a:rPr lang="en-US" sz="900" b="1" dirty="0"/>
              <a:t>Conclusion</a:t>
            </a:r>
            <a:br>
              <a:rPr lang="en-US" sz="900" dirty="0"/>
            </a:br>
            <a:r>
              <a:rPr lang="en-US" sz="900" dirty="0"/>
              <a:t>Model 6 is not a strong candidate for final selection. Although it was designed to prioritize the minority failure class, it produced too many false alarms and had very poor overall performance. Model 3 remains more business-aligned because it provides stronger failure detection with much better precision.</a:t>
            </a:r>
          </a:p>
          <a:p>
            <a:pPr marL="0" indent="0">
              <a:spcBef>
                <a:spcPts val="1000"/>
              </a:spcBef>
              <a:spcAft>
                <a:spcPts val="1000"/>
              </a:spcAft>
              <a:buFont typeface="Nunito"/>
              <a:buNone/>
            </a:pPr>
            <a:endParaRPr lang="en-US" sz="900" dirty="0">
              <a:solidFill>
                <a:srgbClr val="000000"/>
              </a:solidFill>
            </a:endParaRPr>
          </a:p>
        </p:txBody>
      </p:sp>
    </p:spTree>
    <p:extLst>
      <p:ext uri="{BB962C8B-B14F-4D97-AF65-F5344CB8AC3E}">
        <p14:creationId xmlns:p14="http://schemas.microsoft.com/office/powerpoint/2010/main" val="39494026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4326DC81-6A3B-2A6E-2DEF-F84B433A4D2A}"/>
            </a:ext>
          </a:extLst>
        </p:cNvPr>
        <p:cNvGrpSpPr/>
        <p:nvPr/>
      </p:nvGrpSpPr>
      <p:grpSpPr>
        <a:xfrm>
          <a:off x="0" y="0"/>
          <a:ext cx="0" cy="0"/>
          <a:chOff x="0" y="0"/>
          <a:chExt cx="0" cy="0"/>
        </a:xfrm>
      </p:grpSpPr>
      <p:sp>
        <p:nvSpPr>
          <p:cNvPr id="149" name="Google Shape;149;g12508d39905_0_217">
            <a:extLst>
              <a:ext uri="{FF2B5EF4-FFF2-40B4-BE49-F238E27FC236}">
                <a16:creationId xmlns:a16="http://schemas.microsoft.com/office/drawing/2014/main" id="{B3F9E117-AD83-7BCD-7635-41F1F777E1B5}"/>
              </a:ext>
            </a:extLst>
          </p:cNvPr>
          <p:cNvSpPr txBox="1">
            <a:spLocks noGrp="1"/>
          </p:cNvSpPr>
          <p:nvPr>
            <p:ph type="title"/>
          </p:nvPr>
        </p:nvSpPr>
        <p:spPr>
          <a:xfrm>
            <a:off x="202550" y="74594"/>
            <a:ext cx="8520600" cy="572700"/>
          </a:xfrm>
          <a:prstGeom prst="rect">
            <a:avLst/>
          </a:prstGeom>
          <a:noFill/>
          <a:ln>
            <a:noFill/>
          </a:ln>
        </p:spPr>
        <p:txBody>
          <a:bodyPr spcFirstLastPara="1" wrap="square" lIns="91425" tIns="91425" rIns="91425" bIns="91425" anchor="t" anchorCtr="0">
            <a:noAutofit/>
          </a:bodyPr>
          <a:lstStyle/>
          <a:p>
            <a:pPr lvl="0"/>
            <a:r>
              <a:rPr lang="en" sz="1200" dirty="0">
                <a:solidFill>
                  <a:srgbClr val="1974D2"/>
                </a:solidFill>
              </a:rPr>
              <a:t>Model Performance Summary: Model 6 Neural with Dropout and Class Weights</a:t>
            </a:r>
            <a:endParaRPr sz="1200" dirty="0">
              <a:solidFill>
                <a:srgbClr val="1974D2"/>
              </a:solidFill>
            </a:endParaRPr>
          </a:p>
        </p:txBody>
      </p:sp>
      <p:pic>
        <p:nvPicPr>
          <p:cNvPr id="6" name="Picture 5">
            <a:extLst>
              <a:ext uri="{FF2B5EF4-FFF2-40B4-BE49-F238E27FC236}">
                <a16:creationId xmlns:a16="http://schemas.microsoft.com/office/drawing/2014/main" id="{BA31064C-DDC4-BC3E-C5CF-B7602BB09324}"/>
              </a:ext>
            </a:extLst>
          </p:cNvPr>
          <p:cNvPicPr>
            <a:picLocks noChangeAspect="1"/>
          </p:cNvPicPr>
          <p:nvPr/>
        </p:nvPicPr>
        <p:blipFill>
          <a:blip r:embed="rId3"/>
          <a:stretch>
            <a:fillRect/>
          </a:stretch>
        </p:blipFill>
        <p:spPr>
          <a:xfrm>
            <a:off x="729602" y="2571750"/>
            <a:ext cx="3315346" cy="2528407"/>
          </a:xfrm>
          <a:prstGeom prst="rect">
            <a:avLst/>
          </a:prstGeom>
        </p:spPr>
      </p:pic>
      <p:pic>
        <p:nvPicPr>
          <p:cNvPr id="7" name="Picture 6">
            <a:extLst>
              <a:ext uri="{FF2B5EF4-FFF2-40B4-BE49-F238E27FC236}">
                <a16:creationId xmlns:a16="http://schemas.microsoft.com/office/drawing/2014/main" id="{D612A1EE-F7CB-C26A-91AB-F5FB7D9D22D9}"/>
              </a:ext>
            </a:extLst>
          </p:cNvPr>
          <p:cNvPicPr>
            <a:picLocks noChangeAspect="1"/>
          </p:cNvPicPr>
          <p:nvPr/>
        </p:nvPicPr>
        <p:blipFill>
          <a:blip r:embed="rId4"/>
          <a:stretch>
            <a:fillRect/>
          </a:stretch>
        </p:blipFill>
        <p:spPr>
          <a:xfrm>
            <a:off x="694061" y="463396"/>
            <a:ext cx="3386427" cy="2108354"/>
          </a:xfrm>
          <a:prstGeom prst="rect">
            <a:avLst/>
          </a:prstGeom>
        </p:spPr>
      </p:pic>
      <p:pic>
        <p:nvPicPr>
          <p:cNvPr id="8" name="Picture 7">
            <a:extLst>
              <a:ext uri="{FF2B5EF4-FFF2-40B4-BE49-F238E27FC236}">
                <a16:creationId xmlns:a16="http://schemas.microsoft.com/office/drawing/2014/main" id="{ADBF09DC-E6D2-6449-9458-147BB756472E}"/>
              </a:ext>
            </a:extLst>
          </p:cNvPr>
          <p:cNvPicPr>
            <a:picLocks noChangeAspect="1"/>
          </p:cNvPicPr>
          <p:nvPr/>
        </p:nvPicPr>
        <p:blipFill>
          <a:blip r:embed="rId5"/>
          <a:stretch>
            <a:fillRect/>
          </a:stretch>
        </p:blipFill>
        <p:spPr>
          <a:xfrm>
            <a:off x="4571998" y="463396"/>
            <a:ext cx="3751029" cy="2315450"/>
          </a:xfrm>
          <a:prstGeom prst="rect">
            <a:avLst/>
          </a:prstGeom>
        </p:spPr>
      </p:pic>
      <p:pic>
        <p:nvPicPr>
          <p:cNvPr id="9" name="Picture 8">
            <a:extLst>
              <a:ext uri="{FF2B5EF4-FFF2-40B4-BE49-F238E27FC236}">
                <a16:creationId xmlns:a16="http://schemas.microsoft.com/office/drawing/2014/main" id="{2CBC4DE7-6D99-F59A-2315-C231F91C1CCC}"/>
              </a:ext>
            </a:extLst>
          </p:cNvPr>
          <p:cNvPicPr>
            <a:picLocks noChangeAspect="1"/>
          </p:cNvPicPr>
          <p:nvPr/>
        </p:nvPicPr>
        <p:blipFill>
          <a:blip r:embed="rId6"/>
          <a:stretch>
            <a:fillRect/>
          </a:stretch>
        </p:blipFill>
        <p:spPr>
          <a:xfrm>
            <a:off x="4638063" y="2778846"/>
            <a:ext cx="3074702" cy="2232586"/>
          </a:xfrm>
          <a:prstGeom prst="rect">
            <a:avLst/>
          </a:prstGeom>
        </p:spPr>
      </p:pic>
    </p:spTree>
    <p:extLst>
      <p:ext uri="{BB962C8B-B14F-4D97-AF65-F5344CB8AC3E}">
        <p14:creationId xmlns:p14="http://schemas.microsoft.com/office/powerpoint/2010/main" val="128195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8A43E88C-5E4C-CFC6-6892-7DA64AFA0F7C}"/>
            </a:ext>
          </a:extLst>
        </p:cNvPr>
        <p:cNvGrpSpPr/>
        <p:nvPr/>
      </p:nvGrpSpPr>
      <p:grpSpPr>
        <a:xfrm>
          <a:off x="0" y="0"/>
          <a:ext cx="0" cy="0"/>
          <a:chOff x="0" y="0"/>
          <a:chExt cx="0" cy="0"/>
        </a:xfrm>
      </p:grpSpPr>
      <p:sp>
        <p:nvSpPr>
          <p:cNvPr id="149" name="Google Shape;149;g12508d39905_0_217">
            <a:extLst>
              <a:ext uri="{FF2B5EF4-FFF2-40B4-BE49-F238E27FC236}">
                <a16:creationId xmlns:a16="http://schemas.microsoft.com/office/drawing/2014/main" id="{DDC5CE5E-7150-431E-70CE-4C9B5FED7DC2}"/>
              </a:ext>
            </a:extLst>
          </p:cNvPr>
          <p:cNvSpPr txBox="1">
            <a:spLocks noGrp="1"/>
          </p:cNvSpPr>
          <p:nvPr>
            <p:ph type="title"/>
          </p:nvPr>
        </p:nvSpPr>
        <p:spPr>
          <a:xfrm>
            <a:off x="202550" y="2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Final Model Performance Summary &amp; Model Selection</a:t>
            </a:r>
            <a:endParaRPr dirty="0">
              <a:solidFill>
                <a:srgbClr val="1974D2"/>
              </a:solidFill>
            </a:endParaRPr>
          </a:p>
        </p:txBody>
      </p:sp>
      <p:sp>
        <p:nvSpPr>
          <p:cNvPr id="151" name="Google Shape;151;g12508d39905_0_217">
            <a:extLst>
              <a:ext uri="{FF2B5EF4-FFF2-40B4-BE49-F238E27FC236}">
                <a16:creationId xmlns:a16="http://schemas.microsoft.com/office/drawing/2014/main" id="{579656C4-751F-7020-0A27-03391097527C}"/>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a:solidFill>
                  <a:schemeClr val="hlink"/>
                </a:solidFill>
                <a:latin typeface="Nunito"/>
                <a:ea typeface="Nunito"/>
                <a:cs typeface="Nunito"/>
                <a:sym typeface="Nunito"/>
              </a:rPr>
              <a:t>Link to Appendix slide on model assumptions</a:t>
            </a:r>
            <a:endParaRPr sz="1200" b="0" i="1" u="none" strike="noStrike" cap="none">
              <a:solidFill>
                <a:srgbClr val="666666"/>
              </a:solidFill>
              <a:latin typeface="Nunito"/>
              <a:ea typeface="Nunito"/>
              <a:cs typeface="Nunito"/>
              <a:sym typeface="Nunito"/>
            </a:endParaRPr>
          </a:p>
        </p:txBody>
      </p:sp>
      <p:sp>
        <p:nvSpPr>
          <p:cNvPr id="4" name="Google Shape;157;g326869b8a79_0_0">
            <a:extLst>
              <a:ext uri="{FF2B5EF4-FFF2-40B4-BE49-F238E27FC236}">
                <a16:creationId xmlns:a16="http://schemas.microsoft.com/office/drawing/2014/main" id="{E48A6456-0021-C4B0-7D01-2F3C9DA684CB}"/>
              </a:ext>
            </a:extLst>
          </p:cNvPr>
          <p:cNvSpPr txBox="1">
            <a:spLocks noGrp="1"/>
          </p:cNvSpPr>
          <p:nvPr>
            <p:ph type="body" idx="1"/>
          </p:nvPr>
        </p:nvSpPr>
        <p:spPr>
          <a:xfrm>
            <a:off x="202550" y="861975"/>
            <a:ext cx="4274034"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Objective</a:t>
            </a:r>
          </a:p>
          <a:p>
            <a:r>
              <a:rPr lang="en-US" sz="900" dirty="0"/>
              <a:t>Build a predictive maintenance model capable of identifying wind turbine failures using sensor data while minimizing missed failures.</a:t>
            </a:r>
          </a:p>
          <a:p>
            <a:pPr marL="133350" indent="0">
              <a:buNone/>
            </a:pPr>
            <a:endParaRPr lang="en-US" sz="900" dirty="0"/>
          </a:p>
          <a:p>
            <a:pPr marL="133350" indent="0">
              <a:buNone/>
            </a:pPr>
            <a:r>
              <a:rPr lang="en-US" sz="900" b="1" dirty="0"/>
              <a:t>Models Evaluated</a:t>
            </a:r>
          </a:p>
          <a:p>
            <a:r>
              <a:rPr lang="en-US" sz="900" dirty="0"/>
              <a:t>Model 0: Baseline Neural Network</a:t>
            </a:r>
          </a:p>
          <a:p>
            <a:r>
              <a:rPr lang="en-US" sz="900" dirty="0"/>
              <a:t>Model 1: Additional Hidden Layer</a:t>
            </a:r>
          </a:p>
          <a:p>
            <a:r>
              <a:rPr lang="en-US" sz="900" dirty="0"/>
              <a:t>Model 2: Dropout Regularization</a:t>
            </a:r>
          </a:p>
          <a:p>
            <a:r>
              <a:rPr lang="en-US" sz="900" dirty="0"/>
              <a:t>Model 3: Dropout + Class Weights</a:t>
            </a:r>
          </a:p>
          <a:p>
            <a:r>
              <a:rPr lang="en-US" sz="900" dirty="0"/>
              <a:t>Model 4: Optimizer Tuning</a:t>
            </a:r>
          </a:p>
          <a:p>
            <a:r>
              <a:rPr lang="en-US" sz="900" dirty="0"/>
              <a:t>Model 5: Deeper Architecture</a:t>
            </a:r>
          </a:p>
          <a:p>
            <a:r>
              <a:rPr lang="en-US" sz="900" dirty="0"/>
              <a:t>Model 6: Aggressive Class Weighting</a:t>
            </a:r>
            <a:br>
              <a:rPr lang="en-US" sz="900" dirty="0"/>
            </a:br>
            <a:endParaRPr lang="en-US" sz="900" dirty="0"/>
          </a:p>
          <a:p>
            <a:pPr marL="133350" indent="0">
              <a:buNone/>
            </a:pPr>
            <a:r>
              <a:rPr lang="en-US" sz="900" b="1" dirty="0"/>
              <a:t>Best Model Selected: Model 3</a:t>
            </a:r>
          </a:p>
          <a:p>
            <a:pPr marL="133350" indent="0">
              <a:buNone/>
            </a:pPr>
            <a:r>
              <a:rPr lang="en-US" sz="900" b="1" dirty="0"/>
              <a:t>Why Model 3?</a:t>
            </a:r>
          </a:p>
          <a:p>
            <a:r>
              <a:rPr lang="en-US" sz="900" dirty="0"/>
              <a:t>Highest Recall among strong-performing models</a:t>
            </a:r>
          </a:p>
          <a:p>
            <a:r>
              <a:rPr lang="en-US" sz="900" dirty="0"/>
              <a:t>Strong balance between Precision and Recall</a:t>
            </a:r>
          </a:p>
          <a:p>
            <a:r>
              <a:rPr lang="en-US" sz="900" dirty="0"/>
              <a:t>Best aligned with business objective of minimizing missed failures</a:t>
            </a:r>
          </a:p>
          <a:p>
            <a:r>
              <a:rPr lang="en-US" sz="900" dirty="0"/>
              <a:t>Stable performance across training, validation, and test datasets</a:t>
            </a:r>
          </a:p>
          <a:p>
            <a:pPr marL="0" lvl="0" indent="0" algn="l" rtl="0">
              <a:lnSpc>
                <a:spcPct val="115000"/>
              </a:lnSpc>
              <a:spcBef>
                <a:spcPts val="1000"/>
              </a:spcBef>
              <a:spcAft>
                <a:spcPts val="1000"/>
              </a:spcAft>
              <a:buSzPts val="1500"/>
              <a:buNone/>
            </a:pPr>
            <a:endParaRPr sz="900" dirty="0">
              <a:solidFill>
                <a:srgbClr val="000000"/>
              </a:solidFill>
            </a:endParaRPr>
          </a:p>
        </p:txBody>
      </p:sp>
      <p:pic>
        <p:nvPicPr>
          <p:cNvPr id="5" name="Picture 4">
            <a:extLst>
              <a:ext uri="{FF2B5EF4-FFF2-40B4-BE49-F238E27FC236}">
                <a16:creationId xmlns:a16="http://schemas.microsoft.com/office/drawing/2014/main" id="{FC96BD3F-E062-767A-14D4-ECEF3FB359AF}"/>
              </a:ext>
            </a:extLst>
          </p:cNvPr>
          <p:cNvPicPr>
            <a:picLocks noChangeAspect="1"/>
          </p:cNvPicPr>
          <p:nvPr/>
        </p:nvPicPr>
        <p:blipFill>
          <a:blip r:embed="rId3"/>
          <a:stretch>
            <a:fillRect/>
          </a:stretch>
        </p:blipFill>
        <p:spPr>
          <a:xfrm>
            <a:off x="4462850" y="861975"/>
            <a:ext cx="4051300" cy="1638300"/>
          </a:xfrm>
          <a:prstGeom prst="rect">
            <a:avLst/>
          </a:prstGeom>
        </p:spPr>
      </p:pic>
      <p:pic>
        <p:nvPicPr>
          <p:cNvPr id="6" name="Picture 5">
            <a:extLst>
              <a:ext uri="{FF2B5EF4-FFF2-40B4-BE49-F238E27FC236}">
                <a16:creationId xmlns:a16="http://schemas.microsoft.com/office/drawing/2014/main" id="{A12C32D2-8373-7605-B841-D93FE30BE9DE}"/>
              </a:ext>
            </a:extLst>
          </p:cNvPr>
          <p:cNvPicPr>
            <a:picLocks noChangeAspect="1"/>
          </p:cNvPicPr>
          <p:nvPr/>
        </p:nvPicPr>
        <p:blipFill>
          <a:blip r:embed="rId4"/>
          <a:stretch>
            <a:fillRect/>
          </a:stretch>
        </p:blipFill>
        <p:spPr>
          <a:xfrm>
            <a:off x="4462850" y="2571750"/>
            <a:ext cx="3353297" cy="1879429"/>
          </a:xfrm>
          <a:prstGeom prst="rect">
            <a:avLst/>
          </a:prstGeom>
        </p:spPr>
      </p:pic>
    </p:spTree>
    <p:extLst>
      <p:ext uri="{BB962C8B-B14F-4D97-AF65-F5344CB8AC3E}">
        <p14:creationId xmlns:p14="http://schemas.microsoft.com/office/powerpoint/2010/main" val="31714522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968DE09F-0D43-3D03-09CE-F9899C7756BD}"/>
            </a:ext>
          </a:extLst>
        </p:cNvPr>
        <p:cNvGrpSpPr/>
        <p:nvPr/>
      </p:nvGrpSpPr>
      <p:grpSpPr>
        <a:xfrm>
          <a:off x="0" y="0"/>
          <a:ext cx="0" cy="0"/>
          <a:chOff x="0" y="0"/>
          <a:chExt cx="0" cy="0"/>
        </a:xfrm>
      </p:grpSpPr>
      <p:sp>
        <p:nvSpPr>
          <p:cNvPr id="149" name="Google Shape;149;g12508d39905_0_217">
            <a:extLst>
              <a:ext uri="{FF2B5EF4-FFF2-40B4-BE49-F238E27FC236}">
                <a16:creationId xmlns:a16="http://schemas.microsoft.com/office/drawing/2014/main" id="{4DF433FB-D842-2361-68B2-A90DBA154E81}"/>
              </a:ext>
            </a:extLst>
          </p:cNvPr>
          <p:cNvSpPr txBox="1">
            <a:spLocks noGrp="1"/>
          </p:cNvSpPr>
          <p:nvPr>
            <p:ph type="title"/>
          </p:nvPr>
        </p:nvSpPr>
        <p:spPr>
          <a:xfrm>
            <a:off x="202550" y="2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Final Model Performance Summary &amp; Model Selection</a:t>
            </a:r>
            <a:endParaRPr dirty="0">
              <a:solidFill>
                <a:srgbClr val="1974D2"/>
              </a:solidFill>
            </a:endParaRPr>
          </a:p>
        </p:txBody>
      </p:sp>
      <p:sp>
        <p:nvSpPr>
          <p:cNvPr id="151" name="Google Shape;151;g12508d39905_0_217">
            <a:extLst>
              <a:ext uri="{FF2B5EF4-FFF2-40B4-BE49-F238E27FC236}">
                <a16:creationId xmlns:a16="http://schemas.microsoft.com/office/drawing/2014/main" id="{BCF3A543-0A3D-04AC-4729-68B9EFFE137F}"/>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a:solidFill>
                  <a:schemeClr val="hlink"/>
                </a:solidFill>
                <a:latin typeface="Nunito"/>
                <a:ea typeface="Nunito"/>
                <a:cs typeface="Nunito"/>
                <a:sym typeface="Nunito"/>
              </a:rPr>
              <a:t>Link to Appendix slide on model assumptions</a:t>
            </a:r>
            <a:endParaRPr sz="1200" b="0" i="1" u="none" strike="noStrike" cap="none">
              <a:solidFill>
                <a:srgbClr val="666666"/>
              </a:solidFill>
              <a:latin typeface="Nunito"/>
              <a:ea typeface="Nunito"/>
              <a:cs typeface="Nunito"/>
              <a:sym typeface="Nunito"/>
            </a:endParaRPr>
          </a:p>
        </p:txBody>
      </p:sp>
      <p:sp>
        <p:nvSpPr>
          <p:cNvPr id="4" name="Google Shape;157;g326869b8a79_0_0">
            <a:extLst>
              <a:ext uri="{FF2B5EF4-FFF2-40B4-BE49-F238E27FC236}">
                <a16:creationId xmlns:a16="http://schemas.microsoft.com/office/drawing/2014/main" id="{01257BF9-B0F1-A523-12D5-B4C3498148D4}"/>
              </a:ext>
            </a:extLst>
          </p:cNvPr>
          <p:cNvSpPr txBox="1">
            <a:spLocks noGrp="1"/>
          </p:cNvSpPr>
          <p:nvPr>
            <p:ph type="body" idx="1"/>
          </p:nvPr>
        </p:nvSpPr>
        <p:spPr>
          <a:xfrm>
            <a:off x="202550" y="600754"/>
            <a:ext cx="4274034"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Interpretation</a:t>
            </a:r>
          </a:p>
          <a:p>
            <a:r>
              <a:rPr lang="en-US" sz="900" dirty="0"/>
              <a:t>The model correctly identifies most turbine failures.</a:t>
            </a:r>
          </a:p>
          <a:p>
            <a:r>
              <a:rPr lang="en-US" sz="900" dirty="0"/>
              <a:t>Most predicted failures are true failures.</a:t>
            </a:r>
          </a:p>
          <a:p>
            <a:r>
              <a:rPr lang="en-US" sz="900" dirty="0"/>
              <a:t>Strong balance between detection capability and false alarm control.</a:t>
            </a:r>
          </a:p>
          <a:p>
            <a:pPr marL="133350" indent="0">
              <a:buNone/>
            </a:pPr>
            <a:r>
              <a:rPr lang="en-US" sz="900" b="1" dirty="0"/>
              <a:t>Why This Is Important</a:t>
            </a:r>
          </a:p>
          <a:p>
            <a:pPr marL="133350" indent="0">
              <a:buNone/>
            </a:pPr>
            <a:r>
              <a:rPr lang="en-US" sz="900" b="1" dirty="0"/>
              <a:t>1. Operational Importance</a:t>
            </a:r>
          </a:p>
          <a:p>
            <a:r>
              <a:rPr lang="en-US" sz="900" dirty="0"/>
              <a:t>Early detection helps prevent turbine breakdowns.</a:t>
            </a:r>
          </a:p>
          <a:p>
            <a:r>
              <a:rPr lang="en-US" sz="900" dirty="0"/>
              <a:t>Reduces costly unplanned downtime.</a:t>
            </a:r>
          </a:p>
          <a:p>
            <a:r>
              <a:rPr lang="en-US" sz="900" dirty="0"/>
              <a:t>Supports proactive maintenance scheduling.</a:t>
            </a:r>
          </a:p>
          <a:p>
            <a:r>
              <a:rPr lang="en-US" sz="900" dirty="0"/>
              <a:t>Improves maintenance efficiency.</a:t>
            </a:r>
          </a:p>
          <a:p>
            <a:pPr marL="133350" indent="0">
              <a:buNone/>
            </a:pPr>
            <a:r>
              <a:rPr lang="en-US" sz="900" b="1" dirty="0"/>
              <a:t>2. Technical Importance</a:t>
            </a:r>
          </a:p>
          <a:p>
            <a:r>
              <a:rPr lang="en-US" sz="900" dirty="0"/>
              <a:t>Strong generalization performance.</a:t>
            </a:r>
          </a:p>
          <a:p>
            <a:r>
              <a:rPr lang="en-US" sz="900" dirty="0"/>
              <a:t>Limited overfitting.</a:t>
            </a:r>
          </a:p>
          <a:p>
            <a:r>
              <a:rPr lang="en-US" sz="900" dirty="0"/>
              <a:t>Reliable performance on unseen data.</a:t>
            </a:r>
          </a:p>
          <a:p>
            <a:pPr marL="133350" indent="0">
              <a:buNone/>
            </a:pPr>
            <a:endParaRPr lang="en-US" sz="900" dirty="0"/>
          </a:p>
          <a:p>
            <a:pPr marL="133350" indent="0">
              <a:buNone/>
            </a:pPr>
            <a:r>
              <a:rPr lang="en-US" sz="900" b="1" dirty="0"/>
              <a:t>Business Impact</a:t>
            </a:r>
          </a:p>
          <a:p>
            <a:pPr marL="133350" indent="0">
              <a:buNone/>
            </a:pPr>
            <a:r>
              <a:rPr lang="en-US" sz="900" b="1" dirty="0"/>
              <a:t>1. Cost Reduction</a:t>
            </a:r>
          </a:p>
          <a:p>
            <a:r>
              <a:rPr lang="en-US" sz="900" dirty="0"/>
              <a:t>Lower emergency repair costs</a:t>
            </a:r>
          </a:p>
          <a:p>
            <a:r>
              <a:rPr lang="en-US" sz="900" dirty="0"/>
              <a:t>Reduced replacement expenses</a:t>
            </a:r>
          </a:p>
          <a:p>
            <a:r>
              <a:rPr lang="en-US" sz="900" dirty="0"/>
              <a:t>Reduced downtime losses</a:t>
            </a:r>
          </a:p>
          <a:p>
            <a:pPr marL="133350" indent="0">
              <a:buNone/>
            </a:pPr>
            <a:r>
              <a:rPr lang="en-US" sz="900" b="1" dirty="0"/>
              <a:t>2. Reliability Improvement</a:t>
            </a:r>
          </a:p>
          <a:p>
            <a:r>
              <a:rPr lang="en-US" sz="900" dirty="0"/>
              <a:t>Improved turbine availability</a:t>
            </a:r>
          </a:p>
          <a:p>
            <a:r>
              <a:rPr lang="en-US" sz="900" dirty="0"/>
              <a:t>Safer operations</a:t>
            </a:r>
          </a:p>
          <a:p>
            <a:r>
              <a:rPr lang="en-US" sz="900" dirty="0"/>
              <a:t>More consistent energy production</a:t>
            </a:r>
          </a:p>
          <a:p>
            <a:pPr marL="0" lvl="0" indent="0" algn="l" rtl="0">
              <a:lnSpc>
                <a:spcPct val="115000"/>
              </a:lnSpc>
              <a:spcBef>
                <a:spcPts val="1000"/>
              </a:spcBef>
              <a:spcAft>
                <a:spcPts val="1000"/>
              </a:spcAft>
              <a:buSzPts val="1500"/>
              <a:buNone/>
            </a:pPr>
            <a:endParaRPr sz="900" dirty="0">
              <a:solidFill>
                <a:srgbClr val="000000"/>
              </a:solidFill>
            </a:endParaRPr>
          </a:p>
        </p:txBody>
      </p:sp>
      <p:sp>
        <p:nvSpPr>
          <p:cNvPr id="2" name="Google Shape;157;g326869b8a79_0_0">
            <a:extLst>
              <a:ext uri="{FF2B5EF4-FFF2-40B4-BE49-F238E27FC236}">
                <a16:creationId xmlns:a16="http://schemas.microsoft.com/office/drawing/2014/main" id="{81E23445-D54B-FB50-2E7C-0E34AF3A80C7}"/>
              </a:ext>
            </a:extLst>
          </p:cNvPr>
          <p:cNvSpPr txBox="1">
            <a:spLocks/>
          </p:cNvSpPr>
          <p:nvPr/>
        </p:nvSpPr>
        <p:spPr>
          <a:xfrm>
            <a:off x="4454898" y="574725"/>
            <a:ext cx="4274034"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t>3. Maintenance Optimization</a:t>
            </a:r>
          </a:p>
          <a:p>
            <a:r>
              <a:rPr lang="en-US" sz="900" dirty="0"/>
              <a:t>Better maintenance planning</a:t>
            </a:r>
          </a:p>
          <a:p>
            <a:r>
              <a:rPr lang="en-US" sz="900" dirty="0"/>
              <a:t>Improved inspection prioritization</a:t>
            </a:r>
          </a:p>
          <a:p>
            <a:r>
              <a:rPr lang="en-US" sz="900" dirty="0"/>
              <a:t>More efficient resource allocation</a:t>
            </a:r>
          </a:p>
          <a:p>
            <a:pPr marL="133350" indent="0">
              <a:buNone/>
            </a:pPr>
            <a:endParaRPr lang="en-US" sz="900" b="1" dirty="0"/>
          </a:p>
          <a:p>
            <a:pPr marL="133350" indent="0">
              <a:buNone/>
            </a:pPr>
            <a:r>
              <a:rPr lang="en-US" sz="900" b="1" dirty="0"/>
              <a:t>Final Conclusion</a:t>
            </a:r>
          </a:p>
          <a:p>
            <a:pPr marL="133350" indent="0">
              <a:buNone/>
            </a:pPr>
            <a:r>
              <a:rPr lang="en-US" sz="900" dirty="0"/>
              <a:t>Model 3 is the recommended predictive maintenance model.</a:t>
            </a:r>
          </a:p>
          <a:p>
            <a:pPr marL="133350" indent="0">
              <a:buNone/>
            </a:pPr>
            <a:r>
              <a:rPr lang="en-US" sz="900" dirty="0"/>
              <a:t>The model demonstrates strong failure detection capability, high predictive performance, stable generalization, and meaningful business value for wind turbine operations.</a:t>
            </a:r>
          </a:p>
          <a:p>
            <a:pPr marL="0" indent="0">
              <a:spcBef>
                <a:spcPts val="1000"/>
              </a:spcBef>
              <a:spcAft>
                <a:spcPts val="1000"/>
              </a:spcAft>
              <a:buFont typeface="Nunito"/>
              <a:buNone/>
            </a:pPr>
            <a:endParaRPr lang="en-US" sz="900" dirty="0">
              <a:solidFill>
                <a:srgbClr val="000000"/>
              </a:solidFill>
            </a:endParaRPr>
          </a:p>
        </p:txBody>
      </p:sp>
    </p:spTree>
    <p:extLst>
      <p:ext uri="{BB962C8B-B14F-4D97-AF65-F5344CB8AC3E}">
        <p14:creationId xmlns:p14="http://schemas.microsoft.com/office/powerpoint/2010/main" val="2968924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26869b8a79_0_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Best Model - Test Performance</a:t>
            </a:r>
            <a:endParaRPr dirty="0">
              <a:solidFill>
                <a:srgbClr val="1974D2"/>
              </a:solidFill>
            </a:endParaRPr>
          </a:p>
        </p:txBody>
      </p:sp>
      <p:sp>
        <p:nvSpPr>
          <p:cNvPr id="157" name="Google Shape;157;g326869b8a79_0_0"/>
          <p:cNvSpPr txBox="1">
            <a:spLocks noGrp="1"/>
          </p:cNvSpPr>
          <p:nvPr>
            <p:ph type="body" idx="1"/>
          </p:nvPr>
        </p:nvSpPr>
        <p:spPr>
          <a:xfrm>
            <a:off x="202550" y="861975"/>
            <a:ext cx="3874800"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Architecture of the Best Model (Model 3)</a:t>
            </a:r>
          </a:p>
          <a:p>
            <a:r>
              <a:rPr lang="en-US" sz="900" dirty="0"/>
              <a:t>Neural Network with:</a:t>
            </a:r>
          </a:p>
          <a:p>
            <a:pPr marL="548640" lvl="1">
              <a:lnSpc>
                <a:spcPct val="100000"/>
              </a:lnSpc>
              <a:spcBef>
                <a:spcPts val="0"/>
              </a:spcBef>
            </a:pPr>
            <a:r>
              <a:rPr lang="en-US" sz="900" dirty="0"/>
              <a:t>Input Layer: 40 sensor variables</a:t>
            </a:r>
          </a:p>
          <a:p>
            <a:pPr marL="548640" lvl="1">
              <a:lnSpc>
                <a:spcPct val="100000"/>
              </a:lnSpc>
              <a:spcBef>
                <a:spcPts val="0"/>
              </a:spcBef>
            </a:pPr>
            <a:r>
              <a:rPr lang="en-US" sz="900" dirty="0"/>
              <a:t>Hidden Layer 1: 64 neurons (</a:t>
            </a:r>
            <a:r>
              <a:rPr lang="en-US" sz="900" dirty="0" err="1"/>
              <a:t>ReLU</a:t>
            </a:r>
            <a:r>
              <a:rPr lang="en-US" sz="900" dirty="0"/>
              <a:t> activation)</a:t>
            </a:r>
          </a:p>
          <a:p>
            <a:pPr marL="548640" lvl="1">
              <a:lnSpc>
                <a:spcPct val="100000"/>
              </a:lnSpc>
              <a:spcBef>
                <a:spcPts val="0"/>
              </a:spcBef>
            </a:pPr>
            <a:r>
              <a:rPr lang="en-US" sz="900" dirty="0"/>
              <a:t>Dropout Layer: 50% dropout for regularization</a:t>
            </a:r>
          </a:p>
          <a:p>
            <a:pPr marL="548640" lvl="1">
              <a:lnSpc>
                <a:spcPct val="100000"/>
              </a:lnSpc>
              <a:spcBef>
                <a:spcPts val="0"/>
              </a:spcBef>
            </a:pPr>
            <a:r>
              <a:rPr lang="en-US" sz="900" dirty="0"/>
              <a:t>Hidden Layer 2: 32 neurons (</a:t>
            </a:r>
            <a:r>
              <a:rPr lang="en-US" sz="900" dirty="0" err="1"/>
              <a:t>ReLU</a:t>
            </a:r>
            <a:r>
              <a:rPr lang="en-US" sz="900" dirty="0"/>
              <a:t> activation)</a:t>
            </a:r>
          </a:p>
          <a:p>
            <a:pPr marL="548640" lvl="1">
              <a:lnSpc>
                <a:spcPct val="100000"/>
              </a:lnSpc>
              <a:spcBef>
                <a:spcPts val="0"/>
              </a:spcBef>
            </a:pPr>
            <a:r>
              <a:rPr lang="en-US" sz="900" dirty="0"/>
              <a:t>Hidden Layer 3: 16 neurons (</a:t>
            </a:r>
            <a:r>
              <a:rPr lang="en-US" sz="900" dirty="0" err="1"/>
              <a:t>ReLU</a:t>
            </a:r>
            <a:r>
              <a:rPr lang="en-US" sz="900" dirty="0"/>
              <a:t> activation)</a:t>
            </a:r>
          </a:p>
          <a:p>
            <a:pPr marL="548640" lvl="1">
              <a:lnSpc>
                <a:spcPct val="100000"/>
              </a:lnSpc>
              <a:spcBef>
                <a:spcPts val="0"/>
              </a:spcBef>
            </a:pPr>
            <a:r>
              <a:rPr lang="en-US" sz="900" dirty="0"/>
              <a:t>Output Layer: 1 neuron (Sigmoid activation)</a:t>
            </a:r>
          </a:p>
          <a:p>
            <a:r>
              <a:rPr lang="en-US" sz="900" dirty="0"/>
              <a:t>Total Trainable Parameters: 5,249</a:t>
            </a:r>
          </a:p>
          <a:p>
            <a:r>
              <a:rPr lang="en-US" sz="900" dirty="0"/>
              <a:t>Optimizer Used: SGD (Stochastic Gradient Descent)</a:t>
            </a:r>
          </a:p>
          <a:p>
            <a:r>
              <a:rPr lang="en-US" sz="900" dirty="0"/>
              <a:t>Additional Technique:</a:t>
            </a:r>
          </a:p>
          <a:p>
            <a:pPr marL="548640" lvl="1">
              <a:spcBef>
                <a:spcPts val="0"/>
              </a:spcBef>
            </a:pPr>
            <a:r>
              <a:rPr lang="en-US" sz="900" dirty="0"/>
              <a:t>Class Weights applied to improve minority class (failure) detection</a:t>
            </a:r>
          </a:p>
          <a:p>
            <a:pPr marL="0" lvl="0" indent="0" algn="l" rtl="0">
              <a:lnSpc>
                <a:spcPct val="115000"/>
              </a:lnSpc>
              <a:spcBef>
                <a:spcPts val="1000"/>
              </a:spcBef>
              <a:spcAft>
                <a:spcPts val="1000"/>
              </a:spcAft>
              <a:buSzPts val="1500"/>
              <a:buNone/>
            </a:pPr>
            <a:endParaRPr sz="900" dirty="0">
              <a:solidFill>
                <a:srgbClr val="000000"/>
              </a:solidFill>
            </a:endParaRPr>
          </a:p>
        </p:txBody>
      </p:sp>
      <p:sp>
        <p:nvSpPr>
          <p:cNvPr id="158" name="Google Shape;158;g326869b8a79_0_0"/>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a:solidFill>
                  <a:schemeClr val="hlink"/>
                </a:solidFill>
                <a:latin typeface="Nunito"/>
                <a:ea typeface="Nunito"/>
                <a:cs typeface="Nunito"/>
                <a:sym typeface="Nunito"/>
              </a:rPr>
              <a:t>Link to Appendix slide on model assumptions</a:t>
            </a:r>
            <a:endParaRPr sz="1200" b="0" i="1" u="none" strike="noStrike" cap="none">
              <a:solidFill>
                <a:srgbClr val="666666"/>
              </a:solidFill>
              <a:latin typeface="Nunito"/>
              <a:ea typeface="Nunito"/>
              <a:cs typeface="Nunito"/>
              <a:sym typeface="Nunito"/>
            </a:endParaRPr>
          </a:p>
        </p:txBody>
      </p:sp>
      <p:sp>
        <p:nvSpPr>
          <p:cNvPr id="2" name="TextBox 1">
            <a:extLst>
              <a:ext uri="{FF2B5EF4-FFF2-40B4-BE49-F238E27FC236}">
                <a16:creationId xmlns:a16="http://schemas.microsoft.com/office/drawing/2014/main" id="{FCF0B2EB-DFCA-4794-9A36-031100394CA7}"/>
              </a:ext>
            </a:extLst>
          </p:cNvPr>
          <p:cNvSpPr txBox="1"/>
          <p:nvPr/>
        </p:nvSpPr>
        <p:spPr>
          <a:xfrm>
            <a:off x="5565913" y="2043485"/>
            <a:ext cx="0" cy="0"/>
          </a:xfrm>
          <a:prstGeom prst="rect">
            <a:avLst/>
          </a:prstGeom>
          <a:noFill/>
        </p:spPr>
        <p:txBody>
          <a:bodyPr wrap="none" rtlCol="0">
            <a:spAutoFit/>
          </a:bodyPr>
          <a:lstStyle/>
          <a:p>
            <a:endParaRPr lang="en-US" dirty="0"/>
          </a:p>
        </p:txBody>
      </p:sp>
      <p:sp>
        <p:nvSpPr>
          <p:cNvPr id="6" name="Google Shape;157;g326869b8a79_0_0">
            <a:extLst>
              <a:ext uri="{FF2B5EF4-FFF2-40B4-BE49-F238E27FC236}">
                <a16:creationId xmlns:a16="http://schemas.microsoft.com/office/drawing/2014/main" id="{F77247CD-785A-42A6-40E6-3A7F9B4782F3}"/>
              </a:ext>
            </a:extLst>
          </p:cNvPr>
          <p:cNvSpPr txBox="1">
            <a:spLocks/>
          </p:cNvSpPr>
          <p:nvPr/>
        </p:nvSpPr>
        <p:spPr>
          <a:xfrm>
            <a:off x="3948939" y="861975"/>
            <a:ext cx="3874800"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t>Classification Performance on Test Data</a:t>
            </a:r>
          </a:p>
          <a:p>
            <a:pPr marL="133350" indent="0">
              <a:buNone/>
            </a:pPr>
            <a:r>
              <a:rPr lang="en-US" sz="900" b="1" dirty="0"/>
              <a:t>Failure Detection (Class 1)</a:t>
            </a:r>
          </a:p>
          <a:p>
            <a:r>
              <a:rPr lang="en-US" sz="900" dirty="0"/>
              <a:t>Precision: 90%</a:t>
            </a:r>
          </a:p>
          <a:p>
            <a:r>
              <a:rPr lang="en-US" sz="900" dirty="0"/>
              <a:t>Recall: 87%</a:t>
            </a:r>
          </a:p>
          <a:p>
            <a:r>
              <a:rPr lang="en-US" sz="900" dirty="0"/>
              <a:t>F1-Score: 88%</a:t>
            </a:r>
          </a:p>
          <a:p>
            <a:pPr marL="133350" indent="0">
              <a:buNone/>
            </a:pPr>
            <a:endParaRPr lang="en-US" sz="900" b="1" dirty="0"/>
          </a:p>
          <a:p>
            <a:pPr marL="133350" indent="0">
              <a:buNone/>
            </a:pPr>
            <a:r>
              <a:rPr lang="en-US" sz="900" b="1" dirty="0"/>
              <a:t>Interpretation</a:t>
            </a:r>
          </a:p>
          <a:p>
            <a:r>
              <a:rPr lang="en-US" sz="900" dirty="0"/>
              <a:t>The model correctly identified approximately 87% of actual turbine failures.</a:t>
            </a:r>
          </a:p>
          <a:p>
            <a:r>
              <a:rPr lang="en-US" sz="900" dirty="0"/>
              <a:t>When the model predicted a failure, it was correct about 90% of the time.</a:t>
            </a:r>
          </a:p>
          <a:p>
            <a:r>
              <a:rPr lang="en-US" sz="900" dirty="0"/>
              <a:t>The model achieved a strong balance between identifying failures and minimizing false alarms.</a:t>
            </a:r>
          </a:p>
          <a:p>
            <a:pPr marL="0" indent="0">
              <a:spcBef>
                <a:spcPts val="1000"/>
              </a:spcBef>
              <a:spcAft>
                <a:spcPts val="1000"/>
              </a:spcAft>
              <a:buFont typeface="Nunito"/>
              <a:buNone/>
            </a:pPr>
            <a:endParaRPr lang="en-US" sz="900" dirty="0">
              <a:solidFill>
                <a:srgbClr val="00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CFD1508D-9488-57C3-06CF-E2AA07951AA5}"/>
            </a:ext>
          </a:extLst>
        </p:cNvPr>
        <p:cNvGrpSpPr/>
        <p:nvPr/>
      </p:nvGrpSpPr>
      <p:grpSpPr>
        <a:xfrm>
          <a:off x="0" y="0"/>
          <a:ext cx="0" cy="0"/>
          <a:chOff x="0" y="0"/>
          <a:chExt cx="0" cy="0"/>
        </a:xfrm>
      </p:grpSpPr>
      <p:sp>
        <p:nvSpPr>
          <p:cNvPr id="156" name="Google Shape;156;g326869b8a79_0_0">
            <a:extLst>
              <a:ext uri="{FF2B5EF4-FFF2-40B4-BE49-F238E27FC236}">
                <a16:creationId xmlns:a16="http://schemas.microsoft.com/office/drawing/2014/main" id="{7F340833-7FEB-1A6B-AFB2-066A620B960D}"/>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Best Model - Test Performance</a:t>
            </a:r>
            <a:endParaRPr dirty="0">
              <a:solidFill>
                <a:srgbClr val="1974D2"/>
              </a:solidFill>
            </a:endParaRPr>
          </a:p>
        </p:txBody>
      </p:sp>
      <p:sp>
        <p:nvSpPr>
          <p:cNvPr id="157" name="Google Shape;157;g326869b8a79_0_0">
            <a:extLst>
              <a:ext uri="{FF2B5EF4-FFF2-40B4-BE49-F238E27FC236}">
                <a16:creationId xmlns:a16="http://schemas.microsoft.com/office/drawing/2014/main" id="{5438B914-2C99-0ADB-B732-1C082C416AD2}"/>
              </a:ext>
            </a:extLst>
          </p:cNvPr>
          <p:cNvSpPr txBox="1">
            <a:spLocks noGrp="1"/>
          </p:cNvSpPr>
          <p:nvPr>
            <p:ph type="body" idx="1"/>
          </p:nvPr>
        </p:nvSpPr>
        <p:spPr>
          <a:xfrm>
            <a:off x="202550" y="861975"/>
            <a:ext cx="3874800"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Comments on Best Model Performance</a:t>
            </a:r>
          </a:p>
          <a:p>
            <a:pPr marL="133350" indent="0">
              <a:buNone/>
            </a:pPr>
            <a:r>
              <a:rPr lang="en-US" sz="900" b="1" dirty="0"/>
              <a:t>1. Strong Generalization</a:t>
            </a:r>
          </a:p>
          <a:p>
            <a:r>
              <a:rPr lang="en-US" sz="900" dirty="0"/>
              <a:t>Performance remained stable across training, validation, and test datasets.</a:t>
            </a:r>
          </a:p>
          <a:p>
            <a:r>
              <a:rPr lang="en-US" sz="900" dirty="0"/>
              <a:t>Indicates limited overfitting and reliable performance on unseen data.</a:t>
            </a:r>
          </a:p>
          <a:p>
            <a:pPr marL="133350" indent="0">
              <a:buNone/>
            </a:pPr>
            <a:r>
              <a:rPr lang="en-US" sz="900" b="1" dirty="0"/>
              <a:t>2. Effective Failure Detection</a:t>
            </a:r>
          </a:p>
          <a:p>
            <a:r>
              <a:rPr lang="en-US" sz="900" dirty="0"/>
              <a:t>Model 3 achieved the highest operationally useful Recall among all tested models.</a:t>
            </a:r>
          </a:p>
          <a:p>
            <a:r>
              <a:rPr lang="en-US" sz="900" dirty="0"/>
              <a:t>Strong Recall is critical because missed turbine failures can lead to unexpected breakdowns, downtime, and expensive repairs.</a:t>
            </a:r>
          </a:p>
          <a:p>
            <a:pPr marL="133350" indent="0">
              <a:buNone/>
            </a:pPr>
            <a:r>
              <a:rPr lang="en-US" sz="900" b="1" dirty="0"/>
              <a:t>3. Balanced Performance</a:t>
            </a:r>
          </a:p>
          <a:p>
            <a:r>
              <a:rPr lang="en-US" sz="900" dirty="0"/>
              <a:t>The model maintained high accuracy, high precision, and strong recall simultaneously.</a:t>
            </a:r>
          </a:p>
          <a:p>
            <a:r>
              <a:rPr lang="en-US" sz="900" dirty="0"/>
              <a:t>This creates a practical balance between detecting failures early, and avoiding excessive false alarms.</a:t>
            </a:r>
          </a:p>
          <a:p>
            <a:pPr marL="0" lvl="0" indent="0" algn="l" rtl="0">
              <a:lnSpc>
                <a:spcPct val="115000"/>
              </a:lnSpc>
              <a:spcBef>
                <a:spcPts val="1000"/>
              </a:spcBef>
              <a:spcAft>
                <a:spcPts val="1000"/>
              </a:spcAft>
              <a:buSzPts val="1500"/>
              <a:buNone/>
            </a:pPr>
            <a:endParaRPr sz="900" dirty="0">
              <a:solidFill>
                <a:srgbClr val="000000"/>
              </a:solidFill>
            </a:endParaRPr>
          </a:p>
        </p:txBody>
      </p:sp>
      <p:sp>
        <p:nvSpPr>
          <p:cNvPr id="158" name="Google Shape;158;g326869b8a79_0_0">
            <a:extLst>
              <a:ext uri="{FF2B5EF4-FFF2-40B4-BE49-F238E27FC236}">
                <a16:creationId xmlns:a16="http://schemas.microsoft.com/office/drawing/2014/main" id="{9B002B00-3804-E919-5441-834F4EA9B9F1}"/>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a:solidFill>
                  <a:schemeClr val="hlink"/>
                </a:solidFill>
                <a:latin typeface="Nunito"/>
                <a:ea typeface="Nunito"/>
                <a:cs typeface="Nunito"/>
                <a:sym typeface="Nunito"/>
              </a:rPr>
              <a:t>Link to Appendix slide on model assumptions</a:t>
            </a:r>
            <a:endParaRPr sz="1200" b="0" i="1" u="none" strike="noStrike" cap="none">
              <a:solidFill>
                <a:srgbClr val="666666"/>
              </a:solidFill>
              <a:latin typeface="Nunito"/>
              <a:ea typeface="Nunito"/>
              <a:cs typeface="Nunito"/>
              <a:sym typeface="Nunito"/>
            </a:endParaRPr>
          </a:p>
        </p:txBody>
      </p:sp>
      <p:sp>
        <p:nvSpPr>
          <p:cNvPr id="2" name="TextBox 1">
            <a:extLst>
              <a:ext uri="{FF2B5EF4-FFF2-40B4-BE49-F238E27FC236}">
                <a16:creationId xmlns:a16="http://schemas.microsoft.com/office/drawing/2014/main" id="{3F031725-E96D-87BC-ED21-5A8F3C30D1EE}"/>
              </a:ext>
            </a:extLst>
          </p:cNvPr>
          <p:cNvSpPr txBox="1"/>
          <p:nvPr/>
        </p:nvSpPr>
        <p:spPr>
          <a:xfrm>
            <a:off x="5565913" y="2043485"/>
            <a:ext cx="0" cy="0"/>
          </a:xfrm>
          <a:prstGeom prst="rect">
            <a:avLst/>
          </a:prstGeom>
          <a:noFill/>
        </p:spPr>
        <p:txBody>
          <a:bodyPr wrap="none" rtlCol="0">
            <a:spAutoFit/>
          </a:bodyPr>
          <a:lstStyle/>
          <a:p>
            <a:endParaRPr lang="en-US" dirty="0"/>
          </a:p>
        </p:txBody>
      </p:sp>
      <p:sp>
        <p:nvSpPr>
          <p:cNvPr id="6" name="Google Shape;157;g326869b8a79_0_0">
            <a:extLst>
              <a:ext uri="{FF2B5EF4-FFF2-40B4-BE49-F238E27FC236}">
                <a16:creationId xmlns:a16="http://schemas.microsoft.com/office/drawing/2014/main" id="{B71698DF-F919-B086-EF67-D71D98D60750}"/>
              </a:ext>
            </a:extLst>
          </p:cNvPr>
          <p:cNvSpPr txBox="1">
            <a:spLocks/>
          </p:cNvSpPr>
          <p:nvPr/>
        </p:nvSpPr>
        <p:spPr>
          <a:xfrm>
            <a:off x="3948939" y="861975"/>
            <a:ext cx="3874800"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t>Business Impact</a:t>
            </a:r>
          </a:p>
          <a:p>
            <a:pPr marL="133350" indent="0">
              <a:buNone/>
            </a:pPr>
            <a:r>
              <a:rPr lang="en-US" sz="900" b="1" dirty="0"/>
              <a:t>1. Predictive Maintenance Benefits</a:t>
            </a:r>
          </a:p>
          <a:p>
            <a:r>
              <a:rPr lang="en-US" sz="900" dirty="0"/>
              <a:t>Enables early identification of abnormal turbine behavior.</a:t>
            </a:r>
          </a:p>
          <a:p>
            <a:r>
              <a:rPr lang="en-US" sz="900" dirty="0"/>
              <a:t>Supports proactive maintenance scheduling.</a:t>
            </a:r>
          </a:p>
          <a:p>
            <a:r>
              <a:rPr lang="en-US" sz="900" dirty="0"/>
              <a:t>Reduces unplanned downtime.</a:t>
            </a:r>
          </a:p>
          <a:p>
            <a:pPr marL="133350" indent="0">
              <a:buNone/>
            </a:pPr>
            <a:r>
              <a:rPr lang="en-US" sz="900" b="1" dirty="0"/>
              <a:t>2. Cost Reduction</a:t>
            </a:r>
          </a:p>
          <a:p>
            <a:r>
              <a:rPr lang="en-US" sz="900" dirty="0"/>
              <a:t>Helps reduce emergency repair costs, replacement expenses, operational interruptions, and productivity losses.</a:t>
            </a:r>
          </a:p>
          <a:p>
            <a:pPr marL="133350" indent="0">
              <a:buNone/>
            </a:pPr>
            <a:r>
              <a:rPr lang="en-US" sz="900" b="1" dirty="0"/>
              <a:t>3. Reliability Improvement</a:t>
            </a:r>
          </a:p>
          <a:p>
            <a:r>
              <a:rPr lang="en-US" sz="900" dirty="0"/>
              <a:t>Improves turbine availability and operational stability.</a:t>
            </a:r>
          </a:p>
          <a:p>
            <a:r>
              <a:rPr lang="en-US" sz="900" dirty="0"/>
              <a:t>Supports safer and more consistent energy production.</a:t>
            </a:r>
          </a:p>
          <a:p>
            <a:pPr marL="133350" indent="0">
              <a:buNone/>
            </a:pPr>
            <a:endParaRPr lang="en-US" sz="900" dirty="0"/>
          </a:p>
          <a:p>
            <a:pPr marL="133350" indent="0">
              <a:buNone/>
            </a:pPr>
            <a:r>
              <a:rPr lang="en-US" sz="900" b="1" dirty="0"/>
              <a:t>Final Conclusion</a:t>
            </a:r>
          </a:p>
          <a:p>
            <a:r>
              <a:rPr lang="en-US" sz="900" dirty="0"/>
              <a:t>Model 3 was selected as the final model because it provided the best balance between failure detection capability, model stability, precision, and business usefulness. </a:t>
            </a:r>
          </a:p>
          <a:p>
            <a:r>
              <a:rPr lang="en-US" sz="900" dirty="0"/>
              <a:t>The model demonstrates strong potential for real-world predictive maintenance deployment in wind turbine operations.</a:t>
            </a:r>
          </a:p>
          <a:p>
            <a:pPr marL="0" indent="0">
              <a:spcBef>
                <a:spcPts val="1000"/>
              </a:spcBef>
              <a:spcAft>
                <a:spcPts val="1000"/>
              </a:spcAft>
              <a:buFont typeface="Nunito"/>
              <a:buNone/>
            </a:pPr>
            <a:endParaRPr lang="en-US" sz="900" dirty="0">
              <a:solidFill>
                <a:srgbClr val="000000"/>
              </a:solidFill>
            </a:endParaRPr>
          </a:p>
        </p:txBody>
      </p:sp>
    </p:spTree>
    <p:extLst>
      <p:ext uri="{BB962C8B-B14F-4D97-AF65-F5344CB8AC3E}">
        <p14:creationId xmlns:p14="http://schemas.microsoft.com/office/powerpoint/2010/main" val="36618039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11FC2349-3214-8731-AB1E-867F4BB84BBF}"/>
            </a:ext>
          </a:extLst>
        </p:cNvPr>
        <p:cNvGrpSpPr/>
        <p:nvPr/>
      </p:nvGrpSpPr>
      <p:grpSpPr>
        <a:xfrm>
          <a:off x="0" y="0"/>
          <a:ext cx="0" cy="0"/>
          <a:chOff x="0" y="0"/>
          <a:chExt cx="0" cy="0"/>
        </a:xfrm>
      </p:grpSpPr>
      <p:sp>
        <p:nvSpPr>
          <p:cNvPr id="156" name="Google Shape;156;g326869b8a79_0_0">
            <a:extLst>
              <a:ext uri="{FF2B5EF4-FFF2-40B4-BE49-F238E27FC236}">
                <a16:creationId xmlns:a16="http://schemas.microsoft.com/office/drawing/2014/main" id="{96DA862F-EA3F-F418-D0C2-CE8DFACD70A8}"/>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Actionable Insights and Recommendations</a:t>
            </a:r>
            <a:endParaRPr dirty="0">
              <a:solidFill>
                <a:srgbClr val="1974D2"/>
              </a:solidFill>
            </a:endParaRPr>
          </a:p>
        </p:txBody>
      </p:sp>
      <p:sp>
        <p:nvSpPr>
          <p:cNvPr id="157" name="Google Shape;157;g326869b8a79_0_0">
            <a:extLst>
              <a:ext uri="{FF2B5EF4-FFF2-40B4-BE49-F238E27FC236}">
                <a16:creationId xmlns:a16="http://schemas.microsoft.com/office/drawing/2014/main" id="{C811A178-4BCA-02FB-59A3-BD39AC39D729}"/>
              </a:ext>
            </a:extLst>
          </p:cNvPr>
          <p:cNvSpPr txBox="1">
            <a:spLocks noGrp="1"/>
          </p:cNvSpPr>
          <p:nvPr>
            <p:ph type="body" idx="1"/>
          </p:nvPr>
        </p:nvSpPr>
        <p:spPr>
          <a:xfrm>
            <a:off x="202550" y="861975"/>
            <a:ext cx="3874800"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Actionable Insights</a:t>
            </a:r>
          </a:p>
          <a:p>
            <a:r>
              <a:rPr lang="en-US" sz="900" dirty="0"/>
              <a:t>Sensor variables showed meaningful variability, skewness, and outliers, suggesting that abnormal sensor behavior may contain strong predictive signals for turbine failure detection.</a:t>
            </a:r>
          </a:p>
          <a:p>
            <a:r>
              <a:rPr lang="en-US" sz="900" dirty="0"/>
              <a:t>The target variable was highly imbalanced, with only about 5.5% failure cases. This confirmed that standard accuracy alone is not sufficient for evaluating model performance.</a:t>
            </a:r>
          </a:p>
          <a:p>
            <a:r>
              <a:rPr lang="en-US" sz="900" dirty="0"/>
              <a:t>Models that incorporated regularization and class weighting performed better at identifying turbine failures compared to simpler baseline models.</a:t>
            </a:r>
          </a:p>
          <a:p>
            <a:r>
              <a:rPr lang="en-US" sz="900" dirty="0"/>
              <a:t>Model 3 achieved the best balance between Recall, Precision, and overall stability:</a:t>
            </a:r>
          </a:p>
          <a:p>
            <a:pPr marL="640080" lvl="1">
              <a:spcBef>
                <a:spcPts val="0"/>
              </a:spcBef>
            </a:pPr>
            <a:r>
              <a:rPr lang="en-US" sz="900" dirty="0"/>
              <a:t>Recall: 93.32%</a:t>
            </a:r>
          </a:p>
          <a:p>
            <a:pPr marL="640080" lvl="1">
              <a:spcBef>
                <a:spcPts val="0"/>
              </a:spcBef>
            </a:pPr>
            <a:r>
              <a:rPr lang="en-US" sz="900" dirty="0"/>
              <a:t>Precision: 94.51%</a:t>
            </a:r>
          </a:p>
          <a:p>
            <a:pPr marL="640080" lvl="1">
              <a:spcBef>
                <a:spcPts val="0"/>
              </a:spcBef>
            </a:pPr>
            <a:r>
              <a:rPr lang="en-US" sz="900" dirty="0"/>
              <a:t>F1 Score: 93.91%</a:t>
            </a:r>
          </a:p>
          <a:p>
            <a:pPr marL="640080" lvl="1">
              <a:spcBef>
                <a:spcPts val="0"/>
              </a:spcBef>
            </a:pPr>
            <a:r>
              <a:rPr lang="en-US" sz="900" dirty="0"/>
              <a:t>Accuracy: 98.72%</a:t>
            </a:r>
          </a:p>
          <a:p>
            <a:r>
              <a:rPr lang="en-US" sz="900" dirty="0"/>
              <a:t>The final model demonstrated strong generalization across training, validation, and test datasets, indicating that the model can reliably identify failure patterns in unseen turbine data.</a:t>
            </a:r>
          </a:p>
          <a:p>
            <a:r>
              <a:rPr lang="en-US" sz="900" dirty="0"/>
              <a:t>Increasing emphasis on the minority class improved failure detection capability, which is critical for predictive maintenance applications.</a:t>
            </a:r>
          </a:p>
          <a:p>
            <a:r>
              <a:rPr lang="en-US" sz="900" dirty="0"/>
              <a:t>Excessive weighting toward the minority class (Model 6) caused significant drops in overall accuracy and precision, showing that overly aggressive class balancing can increase false alarms and reduce operational practicality.</a:t>
            </a:r>
          </a:p>
          <a:p>
            <a:pPr marL="0" lvl="0" indent="0" algn="l" rtl="0">
              <a:lnSpc>
                <a:spcPct val="115000"/>
              </a:lnSpc>
              <a:spcBef>
                <a:spcPts val="1000"/>
              </a:spcBef>
              <a:spcAft>
                <a:spcPts val="1000"/>
              </a:spcAft>
              <a:buSzPts val="1500"/>
              <a:buNone/>
            </a:pPr>
            <a:endParaRPr sz="900" dirty="0">
              <a:solidFill>
                <a:srgbClr val="000000"/>
              </a:solidFill>
            </a:endParaRPr>
          </a:p>
        </p:txBody>
      </p:sp>
      <p:sp>
        <p:nvSpPr>
          <p:cNvPr id="2" name="TextBox 1">
            <a:extLst>
              <a:ext uri="{FF2B5EF4-FFF2-40B4-BE49-F238E27FC236}">
                <a16:creationId xmlns:a16="http://schemas.microsoft.com/office/drawing/2014/main" id="{995AA759-52D1-2D08-053E-3B7FBD36BAF5}"/>
              </a:ext>
            </a:extLst>
          </p:cNvPr>
          <p:cNvSpPr txBox="1"/>
          <p:nvPr/>
        </p:nvSpPr>
        <p:spPr>
          <a:xfrm>
            <a:off x="5565913" y="2043485"/>
            <a:ext cx="0" cy="0"/>
          </a:xfrm>
          <a:prstGeom prst="rect">
            <a:avLst/>
          </a:prstGeom>
          <a:noFill/>
        </p:spPr>
        <p:txBody>
          <a:bodyPr wrap="none" rtlCol="0">
            <a:spAutoFit/>
          </a:bodyPr>
          <a:lstStyle/>
          <a:p>
            <a:endParaRPr lang="en-US" dirty="0"/>
          </a:p>
        </p:txBody>
      </p:sp>
      <p:sp>
        <p:nvSpPr>
          <p:cNvPr id="6" name="Google Shape;157;g326869b8a79_0_0">
            <a:extLst>
              <a:ext uri="{FF2B5EF4-FFF2-40B4-BE49-F238E27FC236}">
                <a16:creationId xmlns:a16="http://schemas.microsoft.com/office/drawing/2014/main" id="{4AA32B3C-1098-5FB9-3FB0-62E0A704E2A7}"/>
              </a:ext>
            </a:extLst>
          </p:cNvPr>
          <p:cNvSpPr txBox="1">
            <a:spLocks/>
          </p:cNvSpPr>
          <p:nvPr/>
        </p:nvSpPr>
        <p:spPr>
          <a:xfrm>
            <a:off x="4077350" y="865209"/>
            <a:ext cx="5139011"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t>Business Recommendations</a:t>
            </a:r>
          </a:p>
          <a:p>
            <a:r>
              <a:rPr lang="en-US" sz="900" dirty="0"/>
              <a:t>Deploy the selected neural network model (Model 3) as part of a predictive maintenance monitoring system for wind turbines.</a:t>
            </a:r>
          </a:p>
          <a:p>
            <a:r>
              <a:rPr lang="en-US" sz="900" dirty="0"/>
              <a:t>Use the model to continuously monitor sensor readings and generate early alerts when abnormal operating conditions are detected.</a:t>
            </a:r>
          </a:p>
          <a:p>
            <a:r>
              <a:rPr lang="en-US" sz="900" dirty="0"/>
              <a:t>Prioritize maintenance inspections for turbines flagged as high-risk in order to:</a:t>
            </a:r>
          </a:p>
          <a:p>
            <a:pPr lvl="1">
              <a:spcBef>
                <a:spcPts val="0"/>
              </a:spcBef>
            </a:pPr>
            <a:r>
              <a:rPr lang="en-US" sz="900" dirty="0"/>
              <a:t>reduce unexpected breakdowns,</a:t>
            </a:r>
          </a:p>
          <a:p>
            <a:pPr lvl="1">
              <a:spcBef>
                <a:spcPts val="0"/>
              </a:spcBef>
            </a:pPr>
            <a:r>
              <a:rPr lang="en-US" sz="900" dirty="0"/>
              <a:t>minimize downtime,</a:t>
            </a:r>
          </a:p>
          <a:p>
            <a:pPr lvl="1">
              <a:spcBef>
                <a:spcPts val="0"/>
              </a:spcBef>
            </a:pPr>
            <a:r>
              <a:rPr lang="en-US" sz="900" dirty="0"/>
              <a:t>and lower emergency repair costs.</a:t>
            </a:r>
          </a:p>
          <a:p>
            <a:r>
              <a:rPr lang="en-US" sz="900" dirty="0"/>
              <a:t>Integrate the model into maintenance scheduling workflows to shift from reactive maintenance toward proactive and predictive maintenance strategies.</a:t>
            </a:r>
          </a:p>
          <a:p>
            <a:r>
              <a:rPr lang="en-US" sz="900" dirty="0"/>
              <a:t>Continue collecting additional turbine sensor and operational data to further improve model robustness and long-term predictive performance.</a:t>
            </a:r>
          </a:p>
          <a:p>
            <a:r>
              <a:rPr lang="en-US" sz="900" dirty="0"/>
              <a:t>Periodically retrain the model as new failure patterns emerge to maintain high detection accuracy over time.</a:t>
            </a:r>
          </a:p>
          <a:p>
            <a:r>
              <a:rPr lang="en-US" sz="900" dirty="0"/>
              <a:t>Implement threshold tuning based on operational priorities:</a:t>
            </a:r>
          </a:p>
          <a:p>
            <a:pPr marL="640080" lvl="1">
              <a:spcBef>
                <a:spcPts val="0"/>
              </a:spcBef>
            </a:pPr>
            <a:r>
              <a:rPr lang="en-US" sz="900" dirty="0"/>
              <a:t>higher Recall if minimizing missed failures is the priority,</a:t>
            </a:r>
          </a:p>
          <a:p>
            <a:pPr marL="640080" lvl="1">
              <a:spcBef>
                <a:spcPts val="0"/>
              </a:spcBef>
            </a:pPr>
            <a:r>
              <a:rPr lang="en-US" sz="900" dirty="0"/>
              <a:t>or higher Precision if reducing false alarms is more important.</a:t>
            </a:r>
          </a:p>
          <a:p>
            <a:r>
              <a:rPr lang="en-US" sz="900" dirty="0"/>
              <a:t>Combine the predictive model with engineering domain expertise and real-time monitoring systems to improve maintenance decision-making and operational reliability.</a:t>
            </a:r>
          </a:p>
          <a:p>
            <a:r>
              <a:rPr lang="en-US" sz="900" dirty="0"/>
              <a:t>Conduct a pilot deployment before full-scale implementation to validate model performance under real-world operating conditions.</a:t>
            </a:r>
          </a:p>
          <a:p>
            <a:r>
              <a:rPr lang="en-US" sz="900" dirty="0"/>
              <a:t>Use model predictions to optimize spare-parts inventory planning and maintenance resource allocation, reducing operational inefficiencies and maintenance delays.</a:t>
            </a:r>
          </a:p>
          <a:p>
            <a:pPr marL="133350" indent="0">
              <a:buNone/>
            </a:pPr>
            <a:endParaRPr lang="en-US" sz="900" dirty="0"/>
          </a:p>
          <a:p>
            <a:pPr marL="0" indent="0">
              <a:spcBef>
                <a:spcPts val="1000"/>
              </a:spcBef>
              <a:spcAft>
                <a:spcPts val="1000"/>
              </a:spcAft>
              <a:buFont typeface="Nunito"/>
              <a:buNone/>
            </a:pPr>
            <a:endParaRPr lang="en-US" sz="900" dirty="0">
              <a:solidFill>
                <a:srgbClr val="000000"/>
              </a:solidFill>
            </a:endParaRPr>
          </a:p>
        </p:txBody>
      </p:sp>
    </p:spTree>
    <p:extLst>
      <p:ext uri="{BB962C8B-B14F-4D97-AF65-F5344CB8AC3E}">
        <p14:creationId xmlns:p14="http://schemas.microsoft.com/office/powerpoint/2010/main" val="37593922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60240884-D181-8DBA-C9FE-8A8FC762C5FB}"/>
            </a:ext>
          </a:extLst>
        </p:cNvPr>
        <p:cNvGrpSpPr/>
        <p:nvPr/>
      </p:nvGrpSpPr>
      <p:grpSpPr>
        <a:xfrm>
          <a:off x="0" y="0"/>
          <a:ext cx="0" cy="0"/>
          <a:chOff x="0" y="0"/>
          <a:chExt cx="0" cy="0"/>
        </a:xfrm>
      </p:grpSpPr>
      <p:sp>
        <p:nvSpPr>
          <p:cNvPr id="156" name="Google Shape;156;g326869b8a79_0_0">
            <a:extLst>
              <a:ext uri="{FF2B5EF4-FFF2-40B4-BE49-F238E27FC236}">
                <a16:creationId xmlns:a16="http://schemas.microsoft.com/office/drawing/2014/main" id="{5BD94D88-0917-F128-FDAF-FD7D53368E39}"/>
              </a:ext>
            </a:extLst>
          </p:cNvPr>
          <p:cNvSpPr txBox="1">
            <a:spLocks noGrp="1"/>
          </p:cNvSpPr>
          <p:nvPr>
            <p:ph type="title"/>
          </p:nvPr>
        </p:nvSpPr>
        <p:spPr>
          <a:xfrm>
            <a:off x="202549" y="58691"/>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Conclusion</a:t>
            </a:r>
            <a:endParaRPr dirty="0">
              <a:solidFill>
                <a:srgbClr val="1974D2"/>
              </a:solidFill>
            </a:endParaRPr>
          </a:p>
        </p:txBody>
      </p:sp>
      <p:sp>
        <p:nvSpPr>
          <p:cNvPr id="157" name="Google Shape;157;g326869b8a79_0_0">
            <a:extLst>
              <a:ext uri="{FF2B5EF4-FFF2-40B4-BE49-F238E27FC236}">
                <a16:creationId xmlns:a16="http://schemas.microsoft.com/office/drawing/2014/main" id="{3156305B-350A-D54B-0075-4127EAFAFC93}"/>
              </a:ext>
            </a:extLst>
          </p:cNvPr>
          <p:cNvSpPr txBox="1">
            <a:spLocks noGrp="1"/>
          </p:cNvSpPr>
          <p:nvPr>
            <p:ph type="body" idx="1"/>
          </p:nvPr>
        </p:nvSpPr>
        <p:spPr>
          <a:xfrm>
            <a:off x="59427" y="718350"/>
            <a:ext cx="4512573" cy="3706800"/>
          </a:xfrm>
          <a:prstGeom prst="rect">
            <a:avLst/>
          </a:prstGeom>
          <a:noFill/>
          <a:ln>
            <a:noFill/>
          </a:ln>
        </p:spPr>
        <p:txBody>
          <a:bodyPr spcFirstLastPara="1" wrap="square" lIns="91425" tIns="91425" rIns="91425" bIns="91425" anchor="t" anchorCtr="0">
            <a:noAutofit/>
          </a:bodyPr>
          <a:lstStyle/>
          <a:p>
            <a:pPr marL="133350" indent="0">
              <a:buNone/>
            </a:pPr>
            <a:r>
              <a:rPr lang="en-US" sz="900" b="1" dirty="0"/>
              <a:t>Project Summary</a:t>
            </a:r>
          </a:p>
          <a:p>
            <a:r>
              <a:rPr lang="en-US" sz="900" dirty="0"/>
              <a:t>A neural network-based predictive maintenance model was successfully developed to predict wind turbine generator failures using turbine sensor data.</a:t>
            </a:r>
          </a:p>
          <a:p>
            <a:r>
              <a:rPr lang="en-US" sz="900" dirty="0"/>
              <a:t>The dataset included 40 numerical sensor variables, 20,000 training observations, and 5,000 testing observations.</a:t>
            </a:r>
          </a:p>
          <a:p>
            <a:r>
              <a:rPr lang="en-US" sz="900" dirty="0"/>
              <a:t>Exploratory Data Analysis (EDA) revealed generally stable numerical distributions, significant outliers, varying sensor behavior, and a highly imbalanced target variable with only ~5.5% failure cases.</a:t>
            </a:r>
          </a:p>
          <a:p>
            <a:pPr marL="133350" indent="0">
              <a:buNone/>
            </a:pPr>
            <a:endParaRPr lang="en-US" sz="900" dirty="0"/>
          </a:p>
          <a:p>
            <a:pPr marL="133350" indent="0">
              <a:buNone/>
            </a:pPr>
            <a:r>
              <a:rPr lang="en-US" sz="900" b="1" dirty="0"/>
              <a:t>Modeling Results</a:t>
            </a:r>
          </a:p>
          <a:p>
            <a:r>
              <a:rPr lang="en-US" sz="900" dirty="0"/>
              <a:t>Multiple neural network architectures were evaluated using different layer configurations, dropout regularization, class weighting, and optimizer strategies.</a:t>
            </a:r>
          </a:p>
          <a:p>
            <a:r>
              <a:rPr lang="en-US" sz="900" dirty="0"/>
              <a:t>Model 3 was selected as the best-performing model because it achieved the strongest balance between Recall,  Precision, F1 Score, and overall model stability.</a:t>
            </a:r>
          </a:p>
          <a:p>
            <a:pPr marL="133350" indent="0">
              <a:buNone/>
            </a:pPr>
            <a:r>
              <a:rPr lang="en-US" sz="900" b="1" dirty="0"/>
              <a:t>Key Findings</a:t>
            </a:r>
          </a:p>
          <a:p>
            <a:r>
              <a:rPr lang="en-US" sz="900" dirty="0"/>
              <a:t>Sensor abnormalities and extreme operating conditions provide meaningful predictive signals for turbine failures.</a:t>
            </a:r>
          </a:p>
          <a:p>
            <a:r>
              <a:rPr lang="en-US" sz="900" dirty="0"/>
              <a:t>Class imbalance handling significantly improved failure detection performance.</a:t>
            </a:r>
          </a:p>
          <a:p>
            <a:r>
              <a:rPr lang="en-US" sz="900" dirty="0"/>
              <a:t>Strong Recall performance indicates the model can successfully identify most turbine failures before breakdown occurs.</a:t>
            </a:r>
          </a:p>
          <a:p>
            <a:r>
              <a:rPr lang="en-US" sz="900" dirty="0"/>
              <a:t>The model demonstrated strong generalization across training, validation, and test datasets, indicating reliable real-world performance potential.</a:t>
            </a:r>
          </a:p>
          <a:p>
            <a:pPr marL="133350" indent="0">
              <a:buNone/>
            </a:pPr>
            <a:endParaRPr lang="en-US" sz="900" dirty="0"/>
          </a:p>
          <a:p>
            <a:pPr marL="133350" indent="0">
              <a:buNone/>
            </a:pPr>
            <a:endParaRPr lang="en-US" sz="900" dirty="0"/>
          </a:p>
          <a:p>
            <a:pPr marL="0" lvl="0" indent="0" algn="l" rtl="0">
              <a:lnSpc>
                <a:spcPct val="115000"/>
              </a:lnSpc>
              <a:spcBef>
                <a:spcPts val="1000"/>
              </a:spcBef>
              <a:spcAft>
                <a:spcPts val="1000"/>
              </a:spcAft>
              <a:buSzPts val="1500"/>
              <a:buNone/>
            </a:pPr>
            <a:endParaRPr sz="900" dirty="0">
              <a:solidFill>
                <a:srgbClr val="000000"/>
              </a:solidFill>
            </a:endParaRPr>
          </a:p>
        </p:txBody>
      </p:sp>
      <p:sp>
        <p:nvSpPr>
          <p:cNvPr id="2" name="TextBox 1">
            <a:extLst>
              <a:ext uri="{FF2B5EF4-FFF2-40B4-BE49-F238E27FC236}">
                <a16:creationId xmlns:a16="http://schemas.microsoft.com/office/drawing/2014/main" id="{9525FF14-20C9-ABA9-1A64-E45946CC98C3}"/>
              </a:ext>
            </a:extLst>
          </p:cNvPr>
          <p:cNvSpPr txBox="1"/>
          <p:nvPr/>
        </p:nvSpPr>
        <p:spPr>
          <a:xfrm>
            <a:off x="5565913" y="2043485"/>
            <a:ext cx="0" cy="0"/>
          </a:xfrm>
          <a:prstGeom prst="rect">
            <a:avLst/>
          </a:prstGeom>
          <a:noFill/>
        </p:spPr>
        <p:txBody>
          <a:bodyPr wrap="none" rtlCol="0">
            <a:spAutoFit/>
          </a:bodyPr>
          <a:lstStyle/>
          <a:p>
            <a:endParaRPr lang="en-US" dirty="0"/>
          </a:p>
        </p:txBody>
      </p:sp>
      <p:sp>
        <p:nvSpPr>
          <p:cNvPr id="6" name="Google Shape;157;g326869b8a79_0_0">
            <a:extLst>
              <a:ext uri="{FF2B5EF4-FFF2-40B4-BE49-F238E27FC236}">
                <a16:creationId xmlns:a16="http://schemas.microsoft.com/office/drawing/2014/main" id="{FBBA1C69-B00E-5581-4C9C-D12828644F54}"/>
              </a:ext>
            </a:extLst>
          </p:cNvPr>
          <p:cNvSpPr txBox="1">
            <a:spLocks/>
          </p:cNvSpPr>
          <p:nvPr/>
        </p:nvSpPr>
        <p:spPr>
          <a:xfrm>
            <a:off x="4462849" y="805309"/>
            <a:ext cx="4645231"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t>Key Findings</a:t>
            </a:r>
          </a:p>
          <a:p>
            <a:r>
              <a:rPr lang="en-US" sz="900" dirty="0"/>
              <a:t>Sensor abnormalities and extreme operating conditions provide meaningful predictive signals for turbine failures.</a:t>
            </a:r>
          </a:p>
          <a:p>
            <a:r>
              <a:rPr lang="en-US" sz="900" dirty="0"/>
              <a:t>Class imbalance handling significantly improved failure detection performance.</a:t>
            </a:r>
          </a:p>
          <a:p>
            <a:r>
              <a:rPr lang="en-US" sz="900" dirty="0"/>
              <a:t>Strong Recall performance indicates the model can successfully identify most turbine failures before breakdown occurs.</a:t>
            </a:r>
          </a:p>
          <a:p>
            <a:r>
              <a:rPr lang="en-US" sz="900" dirty="0"/>
              <a:t>The model demonstrated strong generalization across training, validation, and test datasets, indicating reliable real-world performance potential.</a:t>
            </a:r>
          </a:p>
          <a:p>
            <a:pPr marL="133350" indent="0">
              <a:buNone/>
            </a:pPr>
            <a:r>
              <a:rPr lang="en-US" sz="900" b="1" dirty="0"/>
              <a:t>Business Impact</a:t>
            </a:r>
          </a:p>
          <a:p>
            <a:r>
              <a:rPr lang="en-US" sz="900" dirty="0"/>
              <a:t>The final predictive maintenance model can help organizations:</a:t>
            </a:r>
          </a:p>
          <a:p>
            <a:r>
              <a:rPr lang="en-US" sz="900" dirty="0"/>
              <a:t>reduce unexpected turbine failures,</a:t>
            </a:r>
          </a:p>
          <a:p>
            <a:r>
              <a:rPr lang="en-US" sz="900" dirty="0"/>
              <a:t>minimize operational downtime,</a:t>
            </a:r>
          </a:p>
          <a:p>
            <a:r>
              <a:rPr lang="en-US" sz="900" dirty="0"/>
              <a:t>lower emergency maintenance and replacement costs,</a:t>
            </a:r>
          </a:p>
          <a:p>
            <a:r>
              <a:rPr lang="en-US" sz="900" dirty="0"/>
              <a:t>improve maintenance scheduling efficiency,</a:t>
            </a:r>
          </a:p>
          <a:p>
            <a:r>
              <a:rPr lang="en-US" sz="900" dirty="0"/>
              <a:t>and increase turbine reliability and operational stability.</a:t>
            </a:r>
          </a:p>
          <a:p>
            <a:r>
              <a:rPr lang="en-US" sz="900" dirty="0"/>
              <a:t>Early failure detection also supports:</a:t>
            </a:r>
          </a:p>
          <a:p>
            <a:r>
              <a:rPr lang="en-US" sz="900" dirty="0"/>
              <a:t>safer operations,</a:t>
            </a:r>
          </a:p>
          <a:p>
            <a:r>
              <a:rPr lang="en-US" sz="900" dirty="0"/>
              <a:t>improved energy production consistency,</a:t>
            </a:r>
          </a:p>
          <a:p>
            <a:r>
              <a:rPr lang="en-US" sz="900" dirty="0"/>
              <a:t>and more proactive maintenance decision-making.</a:t>
            </a:r>
          </a:p>
          <a:p>
            <a:pPr marL="0" indent="0">
              <a:spcBef>
                <a:spcPts val="1000"/>
              </a:spcBef>
              <a:spcAft>
                <a:spcPts val="1000"/>
              </a:spcAft>
              <a:buFont typeface="Nunito"/>
              <a:buNone/>
            </a:pPr>
            <a:endParaRPr lang="en-US" sz="900" dirty="0">
              <a:solidFill>
                <a:srgbClr val="000000"/>
              </a:solidFill>
            </a:endParaRPr>
          </a:p>
        </p:txBody>
      </p:sp>
    </p:spTree>
    <p:extLst>
      <p:ext uri="{BB962C8B-B14F-4D97-AF65-F5344CB8AC3E}">
        <p14:creationId xmlns:p14="http://schemas.microsoft.com/office/powerpoint/2010/main" val="34220619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FD82B0E6-B43D-05A1-0C07-31426FF22A1B}"/>
            </a:ext>
          </a:extLst>
        </p:cNvPr>
        <p:cNvGrpSpPr/>
        <p:nvPr/>
      </p:nvGrpSpPr>
      <p:grpSpPr>
        <a:xfrm>
          <a:off x="0" y="0"/>
          <a:ext cx="0" cy="0"/>
          <a:chOff x="0" y="0"/>
          <a:chExt cx="0" cy="0"/>
        </a:xfrm>
      </p:grpSpPr>
      <p:sp>
        <p:nvSpPr>
          <p:cNvPr id="156" name="Google Shape;156;g326869b8a79_0_0">
            <a:extLst>
              <a:ext uri="{FF2B5EF4-FFF2-40B4-BE49-F238E27FC236}">
                <a16:creationId xmlns:a16="http://schemas.microsoft.com/office/drawing/2014/main" id="{1C7F308E-FF59-1106-541C-9AC242A761CC}"/>
              </a:ext>
            </a:extLst>
          </p:cNvPr>
          <p:cNvSpPr txBox="1">
            <a:spLocks noGrp="1"/>
          </p:cNvSpPr>
          <p:nvPr>
            <p:ph type="title"/>
          </p:nvPr>
        </p:nvSpPr>
        <p:spPr>
          <a:xfrm>
            <a:off x="202549" y="58691"/>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Conclusion</a:t>
            </a:r>
            <a:endParaRPr dirty="0">
              <a:solidFill>
                <a:srgbClr val="1974D2"/>
              </a:solidFill>
            </a:endParaRPr>
          </a:p>
        </p:txBody>
      </p:sp>
      <p:sp>
        <p:nvSpPr>
          <p:cNvPr id="2" name="TextBox 1">
            <a:extLst>
              <a:ext uri="{FF2B5EF4-FFF2-40B4-BE49-F238E27FC236}">
                <a16:creationId xmlns:a16="http://schemas.microsoft.com/office/drawing/2014/main" id="{40F95B68-3FB5-225B-57FE-00CB8E8805C4}"/>
              </a:ext>
            </a:extLst>
          </p:cNvPr>
          <p:cNvSpPr txBox="1"/>
          <p:nvPr/>
        </p:nvSpPr>
        <p:spPr>
          <a:xfrm>
            <a:off x="5565913" y="2043485"/>
            <a:ext cx="0" cy="0"/>
          </a:xfrm>
          <a:prstGeom prst="rect">
            <a:avLst/>
          </a:prstGeom>
          <a:noFill/>
        </p:spPr>
        <p:txBody>
          <a:bodyPr wrap="none" rtlCol="0">
            <a:spAutoFit/>
          </a:bodyPr>
          <a:lstStyle/>
          <a:p>
            <a:endParaRPr lang="en-US" dirty="0"/>
          </a:p>
        </p:txBody>
      </p:sp>
      <p:sp>
        <p:nvSpPr>
          <p:cNvPr id="6" name="Google Shape;157;g326869b8a79_0_0">
            <a:extLst>
              <a:ext uri="{FF2B5EF4-FFF2-40B4-BE49-F238E27FC236}">
                <a16:creationId xmlns:a16="http://schemas.microsoft.com/office/drawing/2014/main" id="{C4708391-F76E-9815-41F4-42229EAB7589}"/>
              </a:ext>
            </a:extLst>
          </p:cNvPr>
          <p:cNvSpPr txBox="1">
            <a:spLocks/>
          </p:cNvSpPr>
          <p:nvPr/>
        </p:nvSpPr>
        <p:spPr>
          <a:xfrm>
            <a:off x="202549" y="805309"/>
            <a:ext cx="8905531" cy="3706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pPr marL="133350" indent="0">
              <a:buNone/>
            </a:pPr>
            <a:r>
              <a:rPr lang="en-US" sz="900" b="1" dirty="0"/>
              <a:t>Final Recommendation</a:t>
            </a:r>
          </a:p>
          <a:p>
            <a:r>
              <a:rPr lang="en-US" sz="900" dirty="0"/>
              <a:t>Deploy Model 3 as a predictive maintenance support tool for turbine monitoring systems.</a:t>
            </a:r>
          </a:p>
          <a:p>
            <a:r>
              <a:rPr lang="en-US" sz="900" dirty="0"/>
              <a:t>Continuously retrain and monitor the model using new operational data to maintain long-term performance.</a:t>
            </a:r>
          </a:p>
          <a:p>
            <a:r>
              <a:rPr lang="en-US" sz="900" dirty="0"/>
              <a:t>Integrate model predictions with engineering expertise and maintenance workflows for maximum operational benefit.</a:t>
            </a:r>
          </a:p>
          <a:p>
            <a:pPr marL="133350" indent="0">
              <a:buNone/>
            </a:pPr>
            <a:br>
              <a:rPr lang="en-US" sz="900" dirty="0"/>
            </a:br>
            <a:endParaRPr lang="en-US" sz="900" dirty="0"/>
          </a:p>
          <a:p>
            <a:pPr marL="133350" indent="0">
              <a:buNone/>
            </a:pPr>
            <a:r>
              <a:rPr lang="en-US" sz="900" b="1" dirty="0"/>
              <a:t>Final Conclusion</a:t>
            </a:r>
          </a:p>
          <a:p>
            <a:pPr marL="133350" indent="0">
              <a:buNone/>
            </a:pPr>
            <a:r>
              <a:rPr lang="en-US" sz="900" dirty="0"/>
              <a:t>This project demonstrates that neural networks can effectively detect wind turbine failures using sensor data and can provide substantial operational and financial value through predictive maintenance strategies.</a:t>
            </a:r>
          </a:p>
          <a:p>
            <a:pPr marL="0" indent="0">
              <a:spcBef>
                <a:spcPts val="1000"/>
              </a:spcBef>
              <a:spcAft>
                <a:spcPts val="1000"/>
              </a:spcAft>
              <a:buFont typeface="Nunito"/>
              <a:buNone/>
            </a:pPr>
            <a:endParaRPr lang="en-US" sz="900" dirty="0">
              <a:solidFill>
                <a:srgbClr val="000000"/>
              </a:solidFill>
            </a:endParaRPr>
          </a:p>
        </p:txBody>
      </p:sp>
    </p:spTree>
    <p:extLst>
      <p:ext uri="{BB962C8B-B14F-4D97-AF65-F5344CB8AC3E}">
        <p14:creationId xmlns:p14="http://schemas.microsoft.com/office/powerpoint/2010/main" val="24968154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10e9006cb6c_1_20"/>
          <p:cNvSpPr txBox="1">
            <a:spLocks noGrp="1"/>
          </p:cNvSpPr>
          <p:nvPr>
            <p:ph type="ctrTitle"/>
          </p:nvPr>
        </p:nvSpPr>
        <p:spPr>
          <a:xfrm>
            <a:off x="0" y="2820425"/>
            <a:ext cx="9144000" cy="581700"/>
          </a:xfrm>
          <a:prstGeom prst="rect">
            <a:avLst/>
          </a:prstGeom>
          <a:solidFill>
            <a:srgbClr val="0000FF"/>
          </a:solid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300">
                <a:solidFill>
                  <a:schemeClr val="lt1"/>
                </a:solidFill>
              </a:rPr>
              <a:t>APPENDIX</a:t>
            </a:r>
            <a:endParaRPr sz="3300">
              <a:solidFill>
                <a:schemeClr val="lt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5" name="Title 4">
            <a:extLst>
              <a:ext uri="{FF2B5EF4-FFF2-40B4-BE49-F238E27FC236}">
                <a16:creationId xmlns:a16="http://schemas.microsoft.com/office/drawing/2014/main" id="{C574B5B7-1D1E-1ED8-A55D-11FFF5328F34}"/>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8" name="Picture 7">
            <a:extLst>
              <a:ext uri="{FF2B5EF4-FFF2-40B4-BE49-F238E27FC236}">
                <a16:creationId xmlns:a16="http://schemas.microsoft.com/office/drawing/2014/main" id="{5A6FC05B-6D7F-321E-24C2-7FB90084CE27}"/>
              </a:ext>
            </a:extLst>
          </p:cNvPr>
          <p:cNvPicPr>
            <a:picLocks noChangeAspect="1"/>
          </p:cNvPicPr>
          <p:nvPr/>
        </p:nvPicPr>
        <p:blipFill>
          <a:blip r:embed="rId3"/>
          <a:stretch>
            <a:fillRect/>
          </a:stretch>
        </p:blipFill>
        <p:spPr>
          <a:xfrm>
            <a:off x="309915" y="986511"/>
            <a:ext cx="6941116" cy="4156989"/>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E8088933-2F75-14BA-0164-E31F1A7E27A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EBBDDA6-B2F2-FFA4-7409-E9780BE28F9B}"/>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7D20299B-523E-28F8-2B17-47EAD062C15E}"/>
              </a:ext>
            </a:extLst>
          </p:cNvPr>
          <p:cNvPicPr>
            <a:picLocks noChangeAspect="1"/>
          </p:cNvPicPr>
          <p:nvPr/>
        </p:nvPicPr>
        <p:blipFill>
          <a:blip r:embed="rId3"/>
          <a:stretch>
            <a:fillRect/>
          </a:stretch>
        </p:blipFill>
        <p:spPr>
          <a:xfrm>
            <a:off x="309915" y="937020"/>
            <a:ext cx="6179116" cy="3700633"/>
          </a:xfrm>
          <a:prstGeom prst="rect">
            <a:avLst/>
          </a:prstGeom>
        </p:spPr>
      </p:pic>
    </p:spTree>
    <p:extLst>
      <p:ext uri="{BB962C8B-B14F-4D97-AF65-F5344CB8AC3E}">
        <p14:creationId xmlns:p14="http://schemas.microsoft.com/office/powerpoint/2010/main" val="2727237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CDBC9867-9CCA-F8C3-62BF-49B2F8518A2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336053B-9DEA-2776-5E5F-9DAE1A3F620B}"/>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7299BCB9-BE24-81B9-F693-DD91CD03D6F7}"/>
              </a:ext>
            </a:extLst>
          </p:cNvPr>
          <p:cNvPicPr>
            <a:picLocks noChangeAspect="1"/>
          </p:cNvPicPr>
          <p:nvPr/>
        </p:nvPicPr>
        <p:blipFill>
          <a:blip r:embed="rId3"/>
          <a:stretch>
            <a:fillRect/>
          </a:stretch>
        </p:blipFill>
        <p:spPr>
          <a:xfrm>
            <a:off x="420850" y="1078547"/>
            <a:ext cx="5609622" cy="3359566"/>
          </a:xfrm>
          <a:prstGeom prst="rect">
            <a:avLst/>
          </a:prstGeom>
        </p:spPr>
      </p:pic>
    </p:spTree>
    <p:extLst>
      <p:ext uri="{BB962C8B-B14F-4D97-AF65-F5344CB8AC3E}">
        <p14:creationId xmlns:p14="http://schemas.microsoft.com/office/powerpoint/2010/main" val="41582079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64886FA9-2AAC-3C01-3914-F2FC03551B7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ED395F5-DA59-17B1-4910-C7FB041240A8}"/>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97016919-5D5E-E7B8-B265-4A3DC214AD5C}"/>
              </a:ext>
            </a:extLst>
          </p:cNvPr>
          <p:cNvPicPr>
            <a:picLocks noChangeAspect="1"/>
          </p:cNvPicPr>
          <p:nvPr/>
        </p:nvPicPr>
        <p:blipFill>
          <a:blip r:embed="rId3"/>
          <a:stretch>
            <a:fillRect/>
          </a:stretch>
        </p:blipFill>
        <p:spPr>
          <a:xfrm>
            <a:off x="261789" y="1078547"/>
            <a:ext cx="5914422" cy="3542109"/>
          </a:xfrm>
          <a:prstGeom prst="rect">
            <a:avLst/>
          </a:prstGeom>
        </p:spPr>
      </p:pic>
    </p:spTree>
    <p:extLst>
      <p:ext uri="{BB962C8B-B14F-4D97-AF65-F5344CB8AC3E}">
        <p14:creationId xmlns:p14="http://schemas.microsoft.com/office/powerpoint/2010/main" val="32317973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F9841B1D-7AD4-5749-165D-AAD5F091B37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56ED4C9-31AC-F0A3-0D77-47C069D70A4C}"/>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6061A8BF-8E88-2915-388E-C8BB35921C1B}"/>
              </a:ext>
            </a:extLst>
          </p:cNvPr>
          <p:cNvPicPr>
            <a:picLocks noChangeAspect="1"/>
          </p:cNvPicPr>
          <p:nvPr/>
        </p:nvPicPr>
        <p:blipFill>
          <a:blip r:embed="rId3"/>
          <a:stretch>
            <a:fillRect/>
          </a:stretch>
        </p:blipFill>
        <p:spPr>
          <a:xfrm>
            <a:off x="420850" y="1078547"/>
            <a:ext cx="5802127" cy="3474856"/>
          </a:xfrm>
          <a:prstGeom prst="rect">
            <a:avLst/>
          </a:prstGeom>
        </p:spPr>
      </p:pic>
    </p:spTree>
    <p:extLst>
      <p:ext uri="{BB962C8B-B14F-4D97-AF65-F5344CB8AC3E}">
        <p14:creationId xmlns:p14="http://schemas.microsoft.com/office/powerpoint/2010/main" val="7752878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168208DB-9636-5C80-016C-ED1CB2519AF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77099B2-A2ED-8DD3-BD4A-B3963A8F10B8}"/>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3C18533A-CABD-64FE-C544-527495E50B53}"/>
              </a:ext>
            </a:extLst>
          </p:cNvPr>
          <p:cNvPicPr>
            <a:picLocks noChangeAspect="1"/>
          </p:cNvPicPr>
          <p:nvPr/>
        </p:nvPicPr>
        <p:blipFill>
          <a:blip r:embed="rId3"/>
          <a:stretch>
            <a:fillRect/>
          </a:stretch>
        </p:blipFill>
        <p:spPr>
          <a:xfrm>
            <a:off x="285852" y="1078547"/>
            <a:ext cx="5673790" cy="3397996"/>
          </a:xfrm>
          <a:prstGeom prst="rect">
            <a:avLst/>
          </a:prstGeom>
        </p:spPr>
      </p:pic>
    </p:spTree>
    <p:extLst>
      <p:ext uri="{BB962C8B-B14F-4D97-AF65-F5344CB8AC3E}">
        <p14:creationId xmlns:p14="http://schemas.microsoft.com/office/powerpoint/2010/main" val="5239458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4585C87B-52DD-1C74-D081-A9174D5DF6D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0710607-C828-2016-C8C9-4AAE6D86FB9B}"/>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337D9284-0AEB-B82C-5D9E-86CD55993685}"/>
              </a:ext>
            </a:extLst>
          </p:cNvPr>
          <p:cNvPicPr>
            <a:picLocks noChangeAspect="1"/>
          </p:cNvPicPr>
          <p:nvPr/>
        </p:nvPicPr>
        <p:blipFill>
          <a:blip r:embed="rId3"/>
          <a:stretch>
            <a:fillRect/>
          </a:stretch>
        </p:blipFill>
        <p:spPr>
          <a:xfrm>
            <a:off x="202550" y="1078547"/>
            <a:ext cx="5593580" cy="3349959"/>
          </a:xfrm>
          <a:prstGeom prst="rect">
            <a:avLst/>
          </a:prstGeom>
        </p:spPr>
      </p:pic>
    </p:spTree>
    <p:extLst>
      <p:ext uri="{BB962C8B-B14F-4D97-AF65-F5344CB8AC3E}">
        <p14:creationId xmlns:p14="http://schemas.microsoft.com/office/powerpoint/2010/main" val="23915467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B403F5B3-5504-8122-EB89-E4EEF299CE3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E2EC75-7004-20AE-0F99-71B31B2CB902}"/>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748FE070-0746-C425-CECA-0FF083672CD7}"/>
              </a:ext>
            </a:extLst>
          </p:cNvPr>
          <p:cNvPicPr>
            <a:picLocks noChangeAspect="1"/>
          </p:cNvPicPr>
          <p:nvPr/>
        </p:nvPicPr>
        <p:blipFill>
          <a:blip r:embed="rId3"/>
          <a:stretch>
            <a:fillRect/>
          </a:stretch>
        </p:blipFill>
        <p:spPr>
          <a:xfrm>
            <a:off x="358041" y="1078547"/>
            <a:ext cx="5336906" cy="3196238"/>
          </a:xfrm>
          <a:prstGeom prst="rect">
            <a:avLst/>
          </a:prstGeom>
        </p:spPr>
      </p:pic>
    </p:spTree>
    <p:extLst>
      <p:ext uri="{BB962C8B-B14F-4D97-AF65-F5344CB8AC3E}">
        <p14:creationId xmlns:p14="http://schemas.microsoft.com/office/powerpoint/2010/main" val="27991901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4DD40589-C819-C1FD-C086-1F3861A167B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AD813ED-3132-15A3-C4E1-4E9C3D6CED2A}"/>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7DE676EB-A280-6FF0-D659-AAD99778B811}"/>
              </a:ext>
            </a:extLst>
          </p:cNvPr>
          <p:cNvPicPr>
            <a:picLocks noChangeAspect="1"/>
          </p:cNvPicPr>
          <p:nvPr/>
        </p:nvPicPr>
        <p:blipFill>
          <a:blip r:embed="rId3"/>
          <a:stretch>
            <a:fillRect/>
          </a:stretch>
        </p:blipFill>
        <p:spPr>
          <a:xfrm>
            <a:off x="101368" y="1078547"/>
            <a:ext cx="5882337" cy="3522894"/>
          </a:xfrm>
          <a:prstGeom prst="rect">
            <a:avLst/>
          </a:prstGeom>
        </p:spPr>
      </p:pic>
    </p:spTree>
    <p:extLst>
      <p:ext uri="{BB962C8B-B14F-4D97-AF65-F5344CB8AC3E}">
        <p14:creationId xmlns:p14="http://schemas.microsoft.com/office/powerpoint/2010/main" val="40120870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9EE79069-794A-75C8-D58F-4F6B19B1E62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EDEA4FC-38E3-4EBB-8C55-3EA54BFEB8D0}"/>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E9808EAD-1F32-3BC6-CAE6-C5331E87F3DF}"/>
              </a:ext>
            </a:extLst>
          </p:cNvPr>
          <p:cNvPicPr>
            <a:picLocks noChangeAspect="1"/>
          </p:cNvPicPr>
          <p:nvPr/>
        </p:nvPicPr>
        <p:blipFill>
          <a:blip r:embed="rId3"/>
          <a:stretch>
            <a:fillRect/>
          </a:stretch>
        </p:blipFill>
        <p:spPr>
          <a:xfrm>
            <a:off x="202550" y="1078547"/>
            <a:ext cx="6275369" cy="3758278"/>
          </a:xfrm>
          <a:prstGeom prst="rect">
            <a:avLst/>
          </a:prstGeom>
        </p:spPr>
      </p:pic>
    </p:spTree>
    <p:extLst>
      <p:ext uri="{BB962C8B-B14F-4D97-AF65-F5344CB8AC3E}">
        <p14:creationId xmlns:p14="http://schemas.microsoft.com/office/powerpoint/2010/main" val="10259921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18740809-D74E-7910-A0BC-DA6CB6F4825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25C1A0E-B8F7-86A1-8D94-8228AFEEC850}"/>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9DA1124B-DA02-3064-387F-C2921D5AACD0}"/>
              </a:ext>
            </a:extLst>
          </p:cNvPr>
          <p:cNvPicPr>
            <a:picLocks noChangeAspect="1"/>
          </p:cNvPicPr>
          <p:nvPr/>
        </p:nvPicPr>
        <p:blipFill>
          <a:blip r:embed="rId3"/>
          <a:stretch>
            <a:fillRect/>
          </a:stretch>
        </p:blipFill>
        <p:spPr>
          <a:xfrm>
            <a:off x="202550" y="1078547"/>
            <a:ext cx="6074843" cy="3638184"/>
          </a:xfrm>
          <a:prstGeom prst="rect">
            <a:avLst/>
          </a:prstGeom>
        </p:spPr>
      </p:pic>
    </p:spTree>
    <p:extLst>
      <p:ext uri="{BB962C8B-B14F-4D97-AF65-F5344CB8AC3E}">
        <p14:creationId xmlns:p14="http://schemas.microsoft.com/office/powerpoint/2010/main" val="20932618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9D570E64-BE68-E1C8-2B10-10C302A166A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BD7B4B5-1C98-DB9C-D2CD-B45EB6E4A031}"/>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93D3A1AF-D2CC-66E5-7CA1-8772EE52A787}"/>
              </a:ext>
            </a:extLst>
          </p:cNvPr>
          <p:cNvPicPr>
            <a:picLocks noChangeAspect="1"/>
          </p:cNvPicPr>
          <p:nvPr/>
        </p:nvPicPr>
        <p:blipFill>
          <a:blip r:embed="rId3"/>
          <a:stretch>
            <a:fillRect/>
          </a:stretch>
        </p:blipFill>
        <p:spPr>
          <a:xfrm>
            <a:off x="202550" y="1078547"/>
            <a:ext cx="5585558" cy="3345154"/>
          </a:xfrm>
          <a:prstGeom prst="rect">
            <a:avLst/>
          </a:prstGeom>
        </p:spPr>
      </p:pic>
    </p:spTree>
    <p:extLst>
      <p:ext uri="{BB962C8B-B14F-4D97-AF65-F5344CB8AC3E}">
        <p14:creationId xmlns:p14="http://schemas.microsoft.com/office/powerpoint/2010/main" val="26838933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2994F322-CDBA-E95C-7304-2C6CD6C3CFC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F293DB-A21F-BBC5-B601-63C929863723}"/>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21BEC377-377D-5D4A-74B1-8957FC361223}"/>
              </a:ext>
            </a:extLst>
          </p:cNvPr>
          <p:cNvPicPr>
            <a:picLocks noChangeAspect="1"/>
          </p:cNvPicPr>
          <p:nvPr/>
        </p:nvPicPr>
        <p:blipFill>
          <a:blip r:embed="rId3"/>
          <a:stretch>
            <a:fillRect/>
          </a:stretch>
        </p:blipFill>
        <p:spPr>
          <a:xfrm>
            <a:off x="202550" y="1078547"/>
            <a:ext cx="6227243" cy="3729455"/>
          </a:xfrm>
          <a:prstGeom prst="rect">
            <a:avLst/>
          </a:prstGeom>
        </p:spPr>
      </p:pic>
    </p:spTree>
    <p:extLst>
      <p:ext uri="{BB962C8B-B14F-4D97-AF65-F5344CB8AC3E}">
        <p14:creationId xmlns:p14="http://schemas.microsoft.com/office/powerpoint/2010/main" val="22583864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B644E104-559D-3E6A-312B-C78364212C0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7D3CE3C-ED1F-E3C6-0F5F-200B9B12684F}"/>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C378F2C5-D4CA-D2EA-0EBB-08E2DC857658}"/>
              </a:ext>
            </a:extLst>
          </p:cNvPr>
          <p:cNvPicPr>
            <a:picLocks noChangeAspect="1"/>
          </p:cNvPicPr>
          <p:nvPr/>
        </p:nvPicPr>
        <p:blipFill>
          <a:blip r:embed="rId3"/>
          <a:stretch>
            <a:fillRect/>
          </a:stretch>
        </p:blipFill>
        <p:spPr>
          <a:xfrm>
            <a:off x="202550" y="1203158"/>
            <a:ext cx="4911790" cy="2941639"/>
          </a:xfrm>
          <a:prstGeom prst="rect">
            <a:avLst/>
          </a:prstGeom>
        </p:spPr>
      </p:pic>
    </p:spTree>
    <p:extLst>
      <p:ext uri="{BB962C8B-B14F-4D97-AF65-F5344CB8AC3E}">
        <p14:creationId xmlns:p14="http://schemas.microsoft.com/office/powerpoint/2010/main" val="20208182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2419BF01-1D1D-9595-0541-9A8DF84C292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0AA1B7B-7263-BB6C-F9EE-6A098F119E97}"/>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9FE0EFBB-458D-BB20-90C0-64C89D6A38C6}"/>
              </a:ext>
            </a:extLst>
          </p:cNvPr>
          <p:cNvPicPr>
            <a:picLocks noChangeAspect="1"/>
          </p:cNvPicPr>
          <p:nvPr/>
        </p:nvPicPr>
        <p:blipFill>
          <a:blip r:embed="rId3"/>
          <a:stretch>
            <a:fillRect/>
          </a:stretch>
        </p:blipFill>
        <p:spPr>
          <a:xfrm>
            <a:off x="202550" y="942161"/>
            <a:ext cx="6828822" cy="4089737"/>
          </a:xfrm>
          <a:prstGeom prst="rect">
            <a:avLst/>
          </a:prstGeom>
        </p:spPr>
      </p:pic>
    </p:spTree>
    <p:extLst>
      <p:ext uri="{BB962C8B-B14F-4D97-AF65-F5344CB8AC3E}">
        <p14:creationId xmlns:p14="http://schemas.microsoft.com/office/powerpoint/2010/main" val="30547414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CFD339C9-ABD2-7FD6-1761-855DEAD0671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5E95A91-BDD2-293A-FDE4-A10286DED15E}"/>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97D0576E-71EC-2083-9E65-0784ADD6AD02}"/>
              </a:ext>
            </a:extLst>
          </p:cNvPr>
          <p:cNvPicPr>
            <a:picLocks noChangeAspect="1"/>
          </p:cNvPicPr>
          <p:nvPr/>
        </p:nvPicPr>
        <p:blipFill>
          <a:blip r:embed="rId3"/>
          <a:stretch>
            <a:fillRect/>
          </a:stretch>
        </p:blipFill>
        <p:spPr>
          <a:xfrm>
            <a:off x="202550" y="1067517"/>
            <a:ext cx="6284118" cy="3753135"/>
          </a:xfrm>
          <a:prstGeom prst="rect">
            <a:avLst/>
          </a:prstGeom>
        </p:spPr>
      </p:pic>
    </p:spTree>
    <p:extLst>
      <p:ext uri="{BB962C8B-B14F-4D97-AF65-F5344CB8AC3E}">
        <p14:creationId xmlns:p14="http://schemas.microsoft.com/office/powerpoint/2010/main" val="5468792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4A9087A2-C37E-4346-923E-388E9968631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4B2D46C-B5B9-9A75-D4A4-745B54E79D05}"/>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4A9970E6-B634-0E04-02A2-E0BCBB851F22}"/>
              </a:ext>
            </a:extLst>
          </p:cNvPr>
          <p:cNvPicPr>
            <a:picLocks noChangeAspect="1"/>
          </p:cNvPicPr>
          <p:nvPr/>
        </p:nvPicPr>
        <p:blipFill>
          <a:blip r:embed="rId3"/>
          <a:stretch>
            <a:fillRect/>
          </a:stretch>
        </p:blipFill>
        <p:spPr>
          <a:xfrm>
            <a:off x="202550" y="1078547"/>
            <a:ext cx="6241195" cy="3737811"/>
          </a:xfrm>
          <a:prstGeom prst="rect">
            <a:avLst/>
          </a:prstGeom>
        </p:spPr>
      </p:pic>
    </p:spTree>
    <p:extLst>
      <p:ext uri="{BB962C8B-B14F-4D97-AF65-F5344CB8AC3E}">
        <p14:creationId xmlns:p14="http://schemas.microsoft.com/office/powerpoint/2010/main" val="33304752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B6091C32-860E-DE8E-E5B5-07A9F7B7C5C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26A0337-3158-D619-BA18-09FA286FCC34}"/>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1B122FB4-18DF-2BD7-0A72-671C6F31BE1A}"/>
              </a:ext>
            </a:extLst>
          </p:cNvPr>
          <p:cNvPicPr>
            <a:picLocks noChangeAspect="1"/>
          </p:cNvPicPr>
          <p:nvPr/>
        </p:nvPicPr>
        <p:blipFill>
          <a:blip r:embed="rId3"/>
          <a:stretch>
            <a:fillRect/>
          </a:stretch>
        </p:blipFill>
        <p:spPr>
          <a:xfrm>
            <a:off x="202550" y="1078547"/>
            <a:ext cx="6227800" cy="3729789"/>
          </a:xfrm>
          <a:prstGeom prst="rect">
            <a:avLst/>
          </a:prstGeom>
        </p:spPr>
      </p:pic>
    </p:spTree>
    <p:extLst>
      <p:ext uri="{BB962C8B-B14F-4D97-AF65-F5344CB8AC3E}">
        <p14:creationId xmlns:p14="http://schemas.microsoft.com/office/powerpoint/2010/main" val="21801662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79FE37F2-34A9-25AB-697B-D111058AF46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22C4698-218A-9A25-A2CD-76DFF3C141EF}"/>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989808E7-5A15-2943-596F-EC80FEC1345E}"/>
              </a:ext>
            </a:extLst>
          </p:cNvPr>
          <p:cNvPicPr>
            <a:picLocks noChangeAspect="1"/>
          </p:cNvPicPr>
          <p:nvPr/>
        </p:nvPicPr>
        <p:blipFill>
          <a:blip r:embed="rId3"/>
          <a:stretch>
            <a:fillRect/>
          </a:stretch>
        </p:blipFill>
        <p:spPr>
          <a:xfrm>
            <a:off x="293873" y="1010653"/>
            <a:ext cx="5729937" cy="3431622"/>
          </a:xfrm>
          <a:prstGeom prst="rect">
            <a:avLst/>
          </a:prstGeom>
        </p:spPr>
      </p:pic>
    </p:spTree>
    <p:extLst>
      <p:ext uri="{BB962C8B-B14F-4D97-AF65-F5344CB8AC3E}">
        <p14:creationId xmlns:p14="http://schemas.microsoft.com/office/powerpoint/2010/main" val="29711522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07EA219E-F193-02A1-596F-6EEF5BAA435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A9D88E5-9D3E-6668-F87A-A822D046DEE3}"/>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84A80F16-D45E-0BF1-C358-DA4550FFCCA2}"/>
              </a:ext>
            </a:extLst>
          </p:cNvPr>
          <p:cNvPicPr>
            <a:picLocks noChangeAspect="1"/>
          </p:cNvPicPr>
          <p:nvPr/>
        </p:nvPicPr>
        <p:blipFill>
          <a:blip r:embed="rId3"/>
          <a:stretch>
            <a:fillRect/>
          </a:stretch>
        </p:blipFill>
        <p:spPr>
          <a:xfrm>
            <a:off x="277831" y="1078547"/>
            <a:ext cx="5517966" cy="3304674"/>
          </a:xfrm>
          <a:prstGeom prst="rect">
            <a:avLst/>
          </a:prstGeom>
        </p:spPr>
      </p:pic>
    </p:spTree>
    <p:extLst>
      <p:ext uri="{BB962C8B-B14F-4D97-AF65-F5344CB8AC3E}">
        <p14:creationId xmlns:p14="http://schemas.microsoft.com/office/powerpoint/2010/main" val="32652634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C207E0D6-BA93-F95C-C27B-853E2330458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BAC4035-5D79-636B-2574-19E02097050D}"/>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AB6462DE-A863-B47D-33F3-C6D5F291C02B}"/>
              </a:ext>
            </a:extLst>
          </p:cNvPr>
          <p:cNvPicPr>
            <a:picLocks noChangeAspect="1"/>
          </p:cNvPicPr>
          <p:nvPr/>
        </p:nvPicPr>
        <p:blipFill>
          <a:blip r:embed="rId3"/>
          <a:stretch>
            <a:fillRect/>
          </a:stretch>
        </p:blipFill>
        <p:spPr>
          <a:xfrm>
            <a:off x="202550" y="1055331"/>
            <a:ext cx="5981567" cy="3582322"/>
          </a:xfrm>
          <a:prstGeom prst="rect">
            <a:avLst/>
          </a:prstGeom>
        </p:spPr>
      </p:pic>
    </p:spTree>
    <p:extLst>
      <p:ext uri="{BB962C8B-B14F-4D97-AF65-F5344CB8AC3E}">
        <p14:creationId xmlns:p14="http://schemas.microsoft.com/office/powerpoint/2010/main" val="27409124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12AB07D9-7BCD-CE10-BD52-6C3D6DAF22F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447A543-B7DC-0F55-DB55-5D5759A99DB1}"/>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8A48D60E-1514-E9CA-2BA2-06801E83A4F8}"/>
              </a:ext>
            </a:extLst>
          </p:cNvPr>
          <p:cNvPicPr>
            <a:picLocks noChangeAspect="1"/>
          </p:cNvPicPr>
          <p:nvPr/>
        </p:nvPicPr>
        <p:blipFill>
          <a:blip r:embed="rId3"/>
          <a:stretch>
            <a:fillRect/>
          </a:stretch>
        </p:blipFill>
        <p:spPr>
          <a:xfrm>
            <a:off x="202550" y="1078547"/>
            <a:ext cx="6428697" cy="3850105"/>
          </a:xfrm>
          <a:prstGeom prst="rect">
            <a:avLst/>
          </a:prstGeom>
        </p:spPr>
      </p:pic>
    </p:spTree>
    <p:extLst>
      <p:ext uri="{BB962C8B-B14F-4D97-AF65-F5344CB8AC3E}">
        <p14:creationId xmlns:p14="http://schemas.microsoft.com/office/powerpoint/2010/main" val="18671492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FB4A59AB-036A-3347-F0D5-0238D5556D1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495CE1-E3D7-B6DD-A5F1-90A40A5BF16A}"/>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2E341F99-EADA-4363-DBF2-16AAB57E95A4}"/>
              </a:ext>
            </a:extLst>
          </p:cNvPr>
          <p:cNvPicPr>
            <a:picLocks noChangeAspect="1"/>
          </p:cNvPicPr>
          <p:nvPr/>
        </p:nvPicPr>
        <p:blipFill>
          <a:blip r:embed="rId3"/>
          <a:stretch>
            <a:fillRect/>
          </a:stretch>
        </p:blipFill>
        <p:spPr>
          <a:xfrm>
            <a:off x="101368" y="970547"/>
            <a:ext cx="6616201" cy="3962400"/>
          </a:xfrm>
          <a:prstGeom prst="rect">
            <a:avLst/>
          </a:prstGeom>
        </p:spPr>
      </p:pic>
    </p:spTree>
    <p:extLst>
      <p:ext uri="{BB962C8B-B14F-4D97-AF65-F5344CB8AC3E}">
        <p14:creationId xmlns:p14="http://schemas.microsoft.com/office/powerpoint/2010/main" val="9417394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5CAC9C91-34F0-00CC-58CE-B56D35A4B85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F27CD01-F7B1-BFB0-3473-F524F1B259E9}"/>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FF923999-31A9-B663-742C-0724F630FBFC}"/>
              </a:ext>
            </a:extLst>
          </p:cNvPr>
          <p:cNvPicPr>
            <a:picLocks noChangeAspect="1"/>
          </p:cNvPicPr>
          <p:nvPr/>
        </p:nvPicPr>
        <p:blipFill>
          <a:blip r:embed="rId3"/>
          <a:stretch>
            <a:fillRect/>
          </a:stretch>
        </p:blipFill>
        <p:spPr>
          <a:xfrm>
            <a:off x="202550" y="1078547"/>
            <a:ext cx="6499958" cy="3892783"/>
          </a:xfrm>
          <a:prstGeom prst="rect">
            <a:avLst/>
          </a:prstGeom>
        </p:spPr>
      </p:pic>
    </p:spTree>
    <p:extLst>
      <p:ext uri="{BB962C8B-B14F-4D97-AF65-F5344CB8AC3E}">
        <p14:creationId xmlns:p14="http://schemas.microsoft.com/office/powerpoint/2010/main" val="12147252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7C558160-C012-91EC-380D-75286355923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85EAE04-EC25-950E-DF41-CA77EE185B9E}"/>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DD98ED30-C3A8-049F-CB9D-1D727A025C80}"/>
              </a:ext>
            </a:extLst>
          </p:cNvPr>
          <p:cNvPicPr>
            <a:picLocks noChangeAspect="1"/>
          </p:cNvPicPr>
          <p:nvPr/>
        </p:nvPicPr>
        <p:blipFill>
          <a:blip r:embed="rId3"/>
          <a:stretch>
            <a:fillRect/>
          </a:stretch>
        </p:blipFill>
        <p:spPr>
          <a:xfrm>
            <a:off x="202550" y="1078547"/>
            <a:ext cx="5770043" cy="3455641"/>
          </a:xfrm>
          <a:prstGeom prst="rect">
            <a:avLst/>
          </a:prstGeom>
        </p:spPr>
      </p:pic>
    </p:spTree>
    <p:extLst>
      <p:ext uri="{BB962C8B-B14F-4D97-AF65-F5344CB8AC3E}">
        <p14:creationId xmlns:p14="http://schemas.microsoft.com/office/powerpoint/2010/main" val="9429112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244F822A-7F60-7F29-48EB-4470F863C1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A987DE1-66A8-2D94-C61A-971A57977CA0}"/>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420B009E-7687-F827-7BF9-8039EBF53A85}"/>
              </a:ext>
            </a:extLst>
          </p:cNvPr>
          <p:cNvPicPr>
            <a:picLocks noChangeAspect="1"/>
          </p:cNvPicPr>
          <p:nvPr/>
        </p:nvPicPr>
        <p:blipFill>
          <a:blip r:embed="rId3"/>
          <a:stretch>
            <a:fillRect/>
          </a:stretch>
        </p:blipFill>
        <p:spPr>
          <a:xfrm>
            <a:off x="202550" y="1078547"/>
            <a:ext cx="6522450" cy="3906253"/>
          </a:xfrm>
          <a:prstGeom prst="rect">
            <a:avLst/>
          </a:prstGeom>
        </p:spPr>
      </p:pic>
    </p:spTree>
    <p:extLst>
      <p:ext uri="{BB962C8B-B14F-4D97-AF65-F5344CB8AC3E}">
        <p14:creationId xmlns:p14="http://schemas.microsoft.com/office/powerpoint/2010/main" val="17290926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00E2D882-E11A-6DAD-5401-61CC10D21FE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C35BBBE-8F3F-58A4-7536-4F094907F830}"/>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8C5F9378-B8D0-7D4A-AA6F-C9532FCED9F0}"/>
              </a:ext>
            </a:extLst>
          </p:cNvPr>
          <p:cNvPicPr>
            <a:picLocks noChangeAspect="1"/>
          </p:cNvPicPr>
          <p:nvPr/>
        </p:nvPicPr>
        <p:blipFill>
          <a:blip r:embed="rId3"/>
          <a:stretch>
            <a:fillRect/>
          </a:stretch>
        </p:blipFill>
        <p:spPr>
          <a:xfrm>
            <a:off x="202550" y="1220442"/>
            <a:ext cx="5705874" cy="3417211"/>
          </a:xfrm>
          <a:prstGeom prst="rect">
            <a:avLst/>
          </a:prstGeom>
        </p:spPr>
      </p:pic>
    </p:spTree>
    <p:extLst>
      <p:ext uri="{BB962C8B-B14F-4D97-AF65-F5344CB8AC3E}">
        <p14:creationId xmlns:p14="http://schemas.microsoft.com/office/powerpoint/2010/main" val="1916827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0E6A7CE3-9B2C-69CC-53F7-6EE98237BF6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526FC71-7F15-AD21-872E-037876EEFE0C}"/>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7A1EC58D-EA77-EBAF-B901-76DA64523333}"/>
              </a:ext>
            </a:extLst>
          </p:cNvPr>
          <p:cNvPicPr>
            <a:picLocks noChangeAspect="1"/>
          </p:cNvPicPr>
          <p:nvPr/>
        </p:nvPicPr>
        <p:blipFill>
          <a:blip r:embed="rId3"/>
          <a:stretch>
            <a:fillRect/>
          </a:stretch>
        </p:blipFill>
        <p:spPr>
          <a:xfrm>
            <a:off x="0" y="1078547"/>
            <a:ext cx="6549236" cy="3922295"/>
          </a:xfrm>
          <a:prstGeom prst="rect">
            <a:avLst/>
          </a:prstGeom>
        </p:spPr>
      </p:pic>
    </p:spTree>
    <p:extLst>
      <p:ext uri="{BB962C8B-B14F-4D97-AF65-F5344CB8AC3E}">
        <p14:creationId xmlns:p14="http://schemas.microsoft.com/office/powerpoint/2010/main" val="5367250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C6228882-4FD9-D2E4-F68A-1E26554BDA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6691059-F37F-0A17-D09B-B1C8124A90AF}"/>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E48D4BE1-FBF8-BA22-AE89-D201FF6E09F9}"/>
              </a:ext>
            </a:extLst>
          </p:cNvPr>
          <p:cNvPicPr>
            <a:picLocks noChangeAspect="1"/>
          </p:cNvPicPr>
          <p:nvPr/>
        </p:nvPicPr>
        <p:blipFill>
          <a:blip r:embed="rId3"/>
          <a:stretch>
            <a:fillRect/>
          </a:stretch>
        </p:blipFill>
        <p:spPr>
          <a:xfrm>
            <a:off x="202550" y="1078547"/>
            <a:ext cx="6455483" cy="3866147"/>
          </a:xfrm>
          <a:prstGeom prst="rect">
            <a:avLst/>
          </a:prstGeom>
        </p:spPr>
      </p:pic>
    </p:spTree>
    <p:extLst>
      <p:ext uri="{BB962C8B-B14F-4D97-AF65-F5344CB8AC3E}">
        <p14:creationId xmlns:p14="http://schemas.microsoft.com/office/powerpoint/2010/main" val="29312071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E97DF82F-0701-7F8B-E8A5-190B83BA7FE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9B6B0D9-94F7-84DF-AFFC-C2686E001DB9}"/>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902AE54A-D754-2388-7BEA-22B349FA1FA1}"/>
              </a:ext>
            </a:extLst>
          </p:cNvPr>
          <p:cNvPicPr>
            <a:picLocks noChangeAspect="1"/>
          </p:cNvPicPr>
          <p:nvPr/>
        </p:nvPicPr>
        <p:blipFill>
          <a:blip r:embed="rId3"/>
          <a:stretch>
            <a:fillRect/>
          </a:stretch>
        </p:blipFill>
        <p:spPr>
          <a:xfrm>
            <a:off x="202550" y="994611"/>
            <a:ext cx="6532043" cy="3911998"/>
          </a:xfrm>
          <a:prstGeom prst="rect">
            <a:avLst/>
          </a:prstGeom>
        </p:spPr>
      </p:pic>
    </p:spTree>
    <p:extLst>
      <p:ext uri="{BB962C8B-B14F-4D97-AF65-F5344CB8AC3E}">
        <p14:creationId xmlns:p14="http://schemas.microsoft.com/office/powerpoint/2010/main" val="14293039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E78C5FD5-1753-4B5B-E7E1-5B50A7127AC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109908D-CC20-60B3-7539-FD213A3BE1FD}"/>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5FACC284-A7C7-B553-D0CC-6B3431280B36}"/>
              </a:ext>
            </a:extLst>
          </p:cNvPr>
          <p:cNvPicPr>
            <a:picLocks noChangeAspect="1"/>
          </p:cNvPicPr>
          <p:nvPr/>
        </p:nvPicPr>
        <p:blipFill>
          <a:blip r:embed="rId3"/>
          <a:stretch>
            <a:fillRect/>
          </a:stretch>
        </p:blipFill>
        <p:spPr>
          <a:xfrm>
            <a:off x="261789" y="1010653"/>
            <a:ext cx="6507980" cy="3897587"/>
          </a:xfrm>
          <a:prstGeom prst="rect">
            <a:avLst/>
          </a:prstGeom>
        </p:spPr>
      </p:pic>
    </p:spTree>
    <p:extLst>
      <p:ext uri="{BB962C8B-B14F-4D97-AF65-F5344CB8AC3E}">
        <p14:creationId xmlns:p14="http://schemas.microsoft.com/office/powerpoint/2010/main" val="126350346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3FE57997-B702-03E5-42CB-556C38E4FB2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C8C8BDC-E32C-A298-2AAC-1536686CB5E8}"/>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A94F2408-B4B2-6755-73B2-D8E00C1CA212}"/>
              </a:ext>
            </a:extLst>
          </p:cNvPr>
          <p:cNvPicPr>
            <a:picLocks noChangeAspect="1"/>
          </p:cNvPicPr>
          <p:nvPr/>
        </p:nvPicPr>
        <p:blipFill>
          <a:blip r:embed="rId3"/>
          <a:stretch>
            <a:fillRect/>
          </a:stretch>
        </p:blipFill>
        <p:spPr>
          <a:xfrm>
            <a:off x="202550" y="974246"/>
            <a:ext cx="6342164" cy="3798281"/>
          </a:xfrm>
          <a:prstGeom prst="rect">
            <a:avLst/>
          </a:prstGeom>
        </p:spPr>
      </p:pic>
    </p:spTree>
    <p:extLst>
      <p:ext uri="{BB962C8B-B14F-4D97-AF65-F5344CB8AC3E}">
        <p14:creationId xmlns:p14="http://schemas.microsoft.com/office/powerpoint/2010/main" val="67440267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3C8AD22C-2216-478E-07D8-61ADE1C288E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DBE3DA1-0D39-94FD-BD3A-7A48F9D09B01}"/>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37D5FBC3-0B1C-9ECE-8283-86D153AC6534}"/>
              </a:ext>
            </a:extLst>
          </p:cNvPr>
          <p:cNvPicPr>
            <a:picLocks noChangeAspect="1"/>
          </p:cNvPicPr>
          <p:nvPr/>
        </p:nvPicPr>
        <p:blipFill>
          <a:blip r:embed="rId3"/>
          <a:stretch>
            <a:fillRect/>
          </a:stretch>
        </p:blipFill>
        <p:spPr>
          <a:xfrm>
            <a:off x="125431" y="978568"/>
            <a:ext cx="6780695" cy="4060914"/>
          </a:xfrm>
          <a:prstGeom prst="rect">
            <a:avLst/>
          </a:prstGeom>
        </p:spPr>
      </p:pic>
    </p:spTree>
    <p:extLst>
      <p:ext uri="{BB962C8B-B14F-4D97-AF65-F5344CB8AC3E}">
        <p14:creationId xmlns:p14="http://schemas.microsoft.com/office/powerpoint/2010/main" val="360903626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52F99DA9-3B1C-E480-375E-ECCAD52D9CF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DF39D5A-FC96-7418-2593-BD8C7138DC3D}"/>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C8CA17E2-423D-6C2A-2F40-F6E992936DA8}"/>
              </a:ext>
            </a:extLst>
          </p:cNvPr>
          <p:cNvPicPr>
            <a:picLocks noChangeAspect="1"/>
          </p:cNvPicPr>
          <p:nvPr/>
        </p:nvPicPr>
        <p:blipFill>
          <a:blip r:embed="rId3"/>
          <a:stretch>
            <a:fillRect/>
          </a:stretch>
        </p:blipFill>
        <p:spPr>
          <a:xfrm>
            <a:off x="0" y="994610"/>
            <a:ext cx="6419748" cy="3844745"/>
          </a:xfrm>
          <a:prstGeom prst="rect">
            <a:avLst/>
          </a:prstGeom>
        </p:spPr>
      </p:pic>
    </p:spTree>
    <p:extLst>
      <p:ext uri="{BB962C8B-B14F-4D97-AF65-F5344CB8AC3E}">
        <p14:creationId xmlns:p14="http://schemas.microsoft.com/office/powerpoint/2010/main" val="276648716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5E7A1F48-8DAB-324C-E5A4-19BE5D63C35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67A8B78-4330-F4F6-2727-D6E7E024B516}"/>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4187980B-C8C4-EFCA-D6E5-A01C762776E0}"/>
              </a:ext>
            </a:extLst>
          </p:cNvPr>
          <p:cNvPicPr>
            <a:picLocks noChangeAspect="1"/>
          </p:cNvPicPr>
          <p:nvPr/>
        </p:nvPicPr>
        <p:blipFill>
          <a:blip r:embed="rId3"/>
          <a:stretch>
            <a:fillRect/>
          </a:stretch>
        </p:blipFill>
        <p:spPr>
          <a:xfrm>
            <a:off x="301894" y="1078547"/>
            <a:ext cx="6495664" cy="3890211"/>
          </a:xfrm>
          <a:prstGeom prst="rect">
            <a:avLst/>
          </a:prstGeom>
        </p:spPr>
      </p:pic>
    </p:spTree>
    <p:extLst>
      <p:ext uri="{BB962C8B-B14F-4D97-AF65-F5344CB8AC3E}">
        <p14:creationId xmlns:p14="http://schemas.microsoft.com/office/powerpoint/2010/main" val="313168890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5E873C77-527E-4D30-7732-B784F07655D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9951AE9-9510-31D6-8EBF-CE4A8583F566}"/>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1426DF05-BF6B-C579-8BEC-97A4BBA68A1D}"/>
              </a:ext>
            </a:extLst>
          </p:cNvPr>
          <p:cNvPicPr>
            <a:picLocks noChangeAspect="1"/>
          </p:cNvPicPr>
          <p:nvPr/>
        </p:nvPicPr>
        <p:blipFill>
          <a:blip r:embed="rId3"/>
          <a:stretch>
            <a:fillRect/>
          </a:stretch>
        </p:blipFill>
        <p:spPr>
          <a:xfrm>
            <a:off x="202550" y="1078547"/>
            <a:ext cx="6238355" cy="3736111"/>
          </a:xfrm>
          <a:prstGeom prst="rect">
            <a:avLst/>
          </a:prstGeom>
        </p:spPr>
      </p:pic>
    </p:spTree>
    <p:extLst>
      <p:ext uri="{BB962C8B-B14F-4D97-AF65-F5344CB8AC3E}">
        <p14:creationId xmlns:p14="http://schemas.microsoft.com/office/powerpoint/2010/main" val="245971743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883F3D45-3327-1CF5-982F-0264524F104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5D17141-BCB8-9053-0314-EEDF886BB28B}"/>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CD7C1627-A75C-6A84-C519-79BB23165394}"/>
              </a:ext>
            </a:extLst>
          </p:cNvPr>
          <p:cNvPicPr>
            <a:picLocks noChangeAspect="1"/>
          </p:cNvPicPr>
          <p:nvPr/>
        </p:nvPicPr>
        <p:blipFill>
          <a:blip r:embed="rId3"/>
          <a:stretch>
            <a:fillRect/>
          </a:stretch>
        </p:blipFill>
        <p:spPr>
          <a:xfrm>
            <a:off x="202550" y="1002632"/>
            <a:ext cx="6241195" cy="3737811"/>
          </a:xfrm>
          <a:prstGeom prst="rect">
            <a:avLst/>
          </a:prstGeom>
        </p:spPr>
      </p:pic>
    </p:spTree>
    <p:extLst>
      <p:ext uri="{BB962C8B-B14F-4D97-AF65-F5344CB8AC3E}">
        <p14:creationId xmlns:p14="http://schemas.microsoft.com/office/powerpoint/2010/main" val="33449571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A2DE84D9-C3C3-81EB-B616-C01B94049B6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ADF727A-7C30-F0F4-ED6E-FA7EFA721825}"/>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1E62DE11-AAD6-775B-2371-7D0473E6F7AA}"/>
              </a:ext>
            </a:extLst>
          </p:cNvPr>
          <p:cNvPicPr>
            <a:picLocks noChangeAspect="1"/>
          </p:cNvPicPr>
          <p:nvPr/>
        </p:nvPicPr>
        <p:blipFill>
          <a:blip r:embed="rId3"/>
          <a:stretch>
            <a:fillRect/>
          </a:stretch>
        </p:blipFill>
        <p:spPr>
          <a:xfrm>
            <a:off x="325957" y="1078547"/>
            <a:ext cx="5611717" cy="3360821"/>
          </a:xfrm>
          <a:prstGeom prst="rect">
            <a:avLst/>
          </a:prstGeom>
        </p:spPr>
      </p:pic>
    </p:spTree>
    <p:extLst>
      <p:ext uri="{BB962C8B-B14F-4D97-AF65-F5344CB8AC3E}">
        <p14:creationId xmlns:p14="http://schemas.microsoft.com/office/powerpoint/2010/main" val="253912107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090968E1-CECA-0264-22C6-1501F1A1C91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FA66B0D-CAB0-82BB-3122-53EBE68AF56B}"/>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18BBEFA7-ACD6-6E4F-73C4-AEF66584D472}"/>
              </a:ext>
            </a:extLst>
          </p:cNvPr>
          <p:cNvPicPr>
            <a:picLocks noChangeAspect="1"/>
          </p:cNvPicPr>
          <p:nvPr/>
        </p:nvPicPr>
        <p:blipFill>
          <a:blip r:embed="rId3"/>
          <a:stretch>
            <a:fillRect/>
          </a:stretch>
        </p:blipFill>
        <p:spPr>
          <a:xfrm>
            <a:off x="202550" y="1078547"/>
            <a:ext cx="6042758" cy="3618969"/>
          </a:xfrm>
          <a:prstGeom prst="rect">
            <a:avLst/>
          </a:prstGeom>
        </p:spPr>
      </p:pic>
    </p:spTree>
    <p:extLst>
      <p:ext uri="{BB962C8B-B14F-4D97-AF65-F5344CB8AC3E}">
        <p14:creationId xmlns:p14="http://schemas.microsoft.com/office/powerpoint/2010/main" val="232669224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F21E3C8A-19B1-0C0A-FD76-328ADE60A70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994D5B6-46EE-26CD-2983-A8704A1AB3FD}"/>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8C0CDE8E-653B-AACE-3B18-BAE9B8B5F1FC}"/>
              </a:ext>
            </a:extLst>
          </p:cNvPr>
          <p:cNvPicPr>
            <a:picLocks noChangeAspect="1"/>
          </p:cNvPicPr>
          <p:nvPr/>
        </p:nvPicPr>
        <p:blipFill>
          <a:blip r:embed="rId3"/>
          <a:stretch>
            <a:fillRect/>
          </a:stretch>
        </p:blipFill>
        <p:spPr>
          <a:xfrm>
            <a:off x="202550" y="999241"/>
            <a:ext cx="6453551" cy="3864990"/>
          </a:xfrm>
          <a:prstGeom prst="rect">
            <a:avLst/>
          </a:prstGeom>
        </p:spPr>
      </p:pic>
    </p:spTree>
    <p:extLst>
      <p:ext uri="{BB962C8B-B14F-4D97-AF65-F5344CB8AC3E}">
        <p14:creationId xmlns:p14="http://schemas.microsoft.com/office/powerpoint/2010/main" val="103772524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52A32386-7570-3E7D-AA10-D19C4B33CAD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9F22C63-3551-E4AF-1B9A-D49CE9FE6F74}"/>
              </a:ext>
            </a:extLst>
          </p:cNvPr>
          <p:cNvSpPr>
            <a:spLocks noGrp="1"/>
          </p:cNvSpPr>
          <p:nvPr>
            <p:ph type="title"/>
          </p:nvPr>
        </p:nvSpPr>
        <p:spPr>
          <a:xfrm>
            <a:off x="202550" y="505847"/>
            <a:ext cx="8520600" cy="572700"/>
          </a:xfrm>
        </p:spPr>
        <p:txBody>
          <a:bodyPr/>
          <a:lstStyle/>
          <a:p>
            <a:r>
              <a:rPr lang="en" dirty="0">
                <a:solidFill>
                  <a:srgbClr val="1974D2"/>
                </a:solidFill>
              </a:rPr>
              <a:t>EDA Results: Univariate Analysis Graphs –Variables V1 to V40</a:t>
            </a:r>
            <a:endParaRPr lang="en-US" dirty="0"/>
          </a:p>
        </p:txBody>
      </p:sp>
      <p:pic>
        <p:nvPicPr>
          <p:cNvPr id="2" name="Picture 1">
            <a:extLst>
              <a:ext uri="{FF2B5EF4-FFF2-40B4-BE49-F238E27FC236}">
                <a16:creationId xmlns:a16="http://schemas.microsoft.com/office/drawing/2014/main" id="{93D94C82-877F-9204-394B-10ED0DD304B8}"/>
              </a:ext>
            </a:extLst>
          </p:cNvPr>
          <p:cNvPicPr>
            <a:picLocks noChangeAspect="1"/>
          </p:cNvPicPr>
          <p:nvPr/>
        </p:nvPicPr>
        <p:blipFill>
          <a:blip r:embed="rId3"/>
          <a:stretch>
            <a:fillRect/>
          </a:stretch>
        </p:blipFill>
        <p:spPr>
          <a:xfrm>
            <a:off x="313740" y="1089819"/>
            <a:ext cx="6030499" cy="3547834"/>
          </a:xfrm>
          <a:prstGeom prst="rect">
            <a:avLst/>
          </a:prstGeom>
        </p:spPr>
      </p:pic>
    </p:spTree>
    <p:extLst>
      <p:ext uri="{BB962C8B-B14F-4D97-AF65-F5344CB8AC3E}">
        <p14:creationId xmlns:p14="http://schemas.microsoft.com/office/powerpoint/2010/main" val="38130353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0ee00f67ea_0_5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177" name="Google Shape;177;g10ee00f67ea_0_55"/>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94</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3736</TotalTime>
  <Words>9364</Words>
  <Application>Microsoft Macintosh PowerPoint</Application>
  <PresentationFormat>On-screen Show (16:9)</PresentationFormat>
  <Paragraphs>1053</Paragraphs>
  <Slides>94</Slides>
  <Notes>94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94</vt:i4>
      </vt:variant>
    </vt:vector>
  </HeadingPairs>
  <TitlesOfParts>
    <vt:vector size="102" baseType="lpstr">
      <vt:lpstr>Nunito ExtraBold</vt:lpstr>
      <vt:lpstr>Nunito Medium</vt:lpstr>
      <vt:lpstr>Nunito</vt:lpstr>
      <vt:lpstr>Calibri</vt:lpstr>
      <vt:lpstr>Arial</vt:lpstr>
      <vt:lpstr>Nunito SemiBold</vt:lpstr>
      <vt:lpstr>Just Logo</vt:lpstr>
      <vt:lpstr>Just Logo</vt:lpstr>
      <vt:lpstr>Predictive Maintenance for Wind Turbine Failure Detection Using Neural Networks</vt:lpstr>
      <vt:lpstr>Contents / Agenda</vt:lpstr>
      <vt:lpstr>Executive Summary </vt:lpstr>
      <vt:lpstr>Business Problem Overview and Solution Approach</vt:lpstr>
      <vt:lpstr>Business Problem Overview and Solution Approach</vt:lpstr>
      <vt:lpstr>Business Problem Overview and Solution Approach</vt:lpstr>
      <vt:lpstr>Business Problem Overview and Solution Approach</vt:lpstr>
      <vt:lpstr>Data Overview and Initial Findings: Missing Value Analysis</vt:lpstr>
      <vt:lpstr>Data Overview and Initial Findings: Statistical Summary</vt:lpstr>
      <vt:lpstr>Data Overview and Initial Findings</vt:lpstr>
      <vt:lpstr>EDA Results: Univariate Analysis and Business Interpretation</vt:lpstr>
      <vt:lpstr>EDA Results: Univariate Analysis –Variables V1 to V21</vt:lpstr>
      <vt:lpstr>EDA Results: Univariate Analysis –Variables V1 to V21</vt:lpstr>
      <vt:lpstr>EDA Results: Univariate Analysis –Variables V1 to V21</vt:lpstr>
      <vt:lpstr>EDA Results: Univariate Analysis –Variables V20 to V39</vt:lpstr>
      <vt:lpstr>EDA Results: Univariate Analysis –Variables V20 to V39</vt:lpstr>
      <vt:lpstr>EDA Results: Univariate Analysis –Variables V40</vt:lpstr>
      <vt:lpstr>EDA Results: Univariate Analysis --Distribution of Target Variable</vt:lpstr>
      <vt:lpstr>EDA Results: Univariate Analysis -- Distribution of Target Variable</vt:lpstr>
      <vt:lpstr>EDA Results: Bivariate Analysis – Correlation Heatmap</vt:lpstr>
      <vt:lpstr>EDA Results: Bivariate Analysis – Correlation Heatmap</vt:lpstr>
      <vt:lpstr>EDA Results: Bivariate Analysis – Correlation Heatmap</vt:lpstr>
      <vt:lpstr>Data Preprocessing: Data Preparation for Modeling</vt:lpstr>
      <vt:lpstr>Data Preprocessing: Data Preparation for Modeling</vt:lpstr>
      <vt:lpstr>Data Preprocessing: Data Preparation for Modeling</vt:lpstr>
      <vt:lpstr>Data Preprocessing: Duplicate Value Check </vt:lpstr>
      <vt:lpstr>Data Preprocessing: Missing Value Treatment </vt:lpstr>
      <vt:lpstr>Data Preprocessing: Outlier Check</vt:lpstr>
      <vt:lpstr>Data Preprocessing: Feature Engineering </vt:lpstr>
      <vt:lpstr>Model Evaluation Criterion</vt:lpstr>
      <vt:lpstr>Model Performance Summary: Neural Network Model 0</vt:lpstr>
      <vt:lpstr>Model Performance Summary: Neural Network Model 0</vt:lpstr>
      <vt:lpstr>Model Performance Summary: Model 1 Neural Network Performance Improvement</vt:lpstr>
      <vt:lpstr>Model Performance Summary: Model 1 Neural Network Performance Improvement</vt:lpstr>
      <vt:lpstr>Model Performance Summary: Model 2 Neural Network with Dropout Regularization</vt:lpstr>
      <vt:lpstr>Model Performance Summary: Model 2 Neural Network with Dropout Regularization</vt:lpstr>
      <vt:lpstr>Model Performance Summary: Model 3 Neural Network with Dropout + Class Weights</vt:lpstr>
      <vt:lpstr>Model Performance Summary: Model 3 Neural Network with Dropout + Class Weights</vt:lpstr>
      <vt:lpstr>Model Performance Summary: Model 4 Neural Network Using Adaptive Movement Estimator</vt:lpstr>
      <vt:lpstr>Model Performance Summary: Model 4 Neural Network Using Adaptive Movement Estimator</vt:lpstr>
      <vt:lpstr>Model Performance Summary: Model 5 Neural Network with Dropout and Adaptive Movement Estimator</vt:lpstr>
      <vt:lpstr>Model Performance Summary: Model 5 Neural with Dropout and Adaptive Movement Estimator</vt:lpstr>
      <vt:lpstr>Model Performance Summary: Model 6 Neural Network with Dropout and Class Weights</vt:lpstr>
      <vt:lpstr>Model Performance Summary: Model 6 Neural with Dropout and Class Weights</vt:lpstr>
      <vt:lpstr>Final Model Performance Summary &amp; Model Selection</vt:lpstr>
      <vt:lpstr>Final Model Performance Summary &amp; Model Selection</vt:lpstr>
      <vt:lpstr>Best Model - Test Performance</vt:lpstr>
      <vt:lpstr>Best Model - Test Performance</vt:lpstr>
      <vt:lpstr>Actionable Insights and Recommendations</vt:lpstr>
      <vt:lpstr>Conclusion</vt:lpstr>
      <vt:lpstr>Conclusion</vt:lpstr>
      <vt:lpstr>APPENDIX</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EDA Results: Univariate Analysis Graphs –Variables V1 to V40</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Sarah Wolberg</cp:lastModifiedBy>
  <cp:revision>74</cp:revision>
  <dcterms:modified xsi:type="dcterms:W3CDTF">2026-05-26T13:34:53Z</dcterms:modified>
</cp:coreProperties>
</file>