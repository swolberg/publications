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 id="2147483680" r:id="rId2"/>
    <p:sldMasterId id="2147483681" r:id="rId3"/>
  </p:sldMasterIdLst>
  <p:notesMasterIdLst>
    <p:notesMasterId r:id="rId48"/>
  </p:notesMasterIdLst>
  <p:sldIdLst>
    <p:sldId id="256" r:id="rId4"/>
    <p:sldId id="257" r:id="rId5"/>
    <p:sldId id="258" r:id="rId6"/>
    <p:sldId id="259" r:id="rId7"/>
    <p:sldId id="273" r:id="rId8"/>
    <p:sldId id="272" r:id="rId9"/>
    <p:sldId id="276" r:id="rId10"/>
    <p:sldId id="260" r:id="rId11"/>
    <p:sldId id="275" r:id="rId12"/>
    <p:sldId id="277" r:id="rId13"/>
    <p:sldId id="278" r:id="rId14"/>
    <p:sldId id="281" r:id="rId15"/>
    <p:sldId id="282" r:id="rId16"/>
    <p:sldId id="274" r:id="rId17"/>
    <p:sldId id="283" r:id="rId18"/>
    <p:sldId id="284" r:id="rId19"/>
    <p:sldId id="285" r:id="rId20"/>
    <p:sldId id="292" r:id="rId21"/>
    <p:sldId id="293" r:id="rId22"/>
    <p:sldId id="294" r:id="rId23"/>
    <p:sldId id="261" r:id="rId24"/>
    <p:sldId id="299" r:id="rId25"/>
    <p:sldId id="301" r:id="rId26"/>
    <p:sldId id="295" r:id="rId27"/>
    <p:sldId id="302" r:id="rId28"/>
    <p:sldId id="300" r:id="rId29"/>
    <p:sldId id="303" r:id="rId30"/>
    <p:sldId id="304" r:id="rId31"/>
    <p:sldId id="305" r:id="rId32"/>
    <p:sldId id="308" r:id="rId33"/>
    <p:sldId id="307" r:id="rId34"/>
    <p:sldId id="309" r:id="rId35"/>
    <p:sldId id="311" r:id="rId36"/>
    <p:sldId id="310" r:id="rId37"/>
    <p:sldId id="312" r:id="rId38"/>
    <p:sldId id="315" r:id="rId39"/>
    <p:sldId id="316" r:id="rId40"/>
    <p:sldId id="318" r:id="rId41"/>
    <p:sldId id="262" r:id="rId42"/>
    <p:sldId id="320" r:id="rId43"/>
    <p:sldId id="263" r:id="rId44"/>
    <p:sldId id="271" r:id="rId45"/>
    <p:sldId id="264" r:id="rId46"/>
    <p:sldId id="270" r:id="rId47"/>
  </p:sldIdLst>
  <p:sldSz cx="9144000" cy="5143500" type="screen16x9"/>
  <p:notesSz cx="6858000" cy="9144000"/>
  <p:embeddedFontLst>
    <p:embeddedFont>
      <p:font typeface="Nunito" pitchFamily="2" charset="77"/>
      <p:regular r:id="rId49"/>
      <p:bold r:id="rId50"/>
      <p:italic r:id="rId51"/>
      <p:boldItalic r:id="rId52"/>
    </p:embeddedFont>
    <p:embeddedFont>
      <p:font typeface="Nunito ExtraBold" pitchFamily="2" charset="77"/>
      <p:bold r:id="rId53"/>
      <p:italic r:id="rId54"/>
      <p:boldItalic r:id="rId55"/>
    </p:embeddedFont>
    <p:embeddedFont>
      <p:font typeface="Nunito SemiBold" pitchFamily="2" charset="77"/>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921D070-E9E0-4708-ADE3-723659AD1A52}">
  <a:tblStyle styleId="{8921D070-E9E0-4708-ADE3-723659AD1A52}"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96"/>
    <p:restoredTop sz="94628"/>
  </p:normalViewPr>
  <p:slideViewPr>
    <p:cSldViewPr snapToGrid="0">
      <p:cViewPr varScale="1">
        <p:scale>
          <a:sx n="126" d="100"/>
          <a:sy n="126" d="100"/>
        </p:scale>
        <p:origin x="216" y="7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font" Target="fonts/font2.fntdata"/><Relationship Id="rId55" Type="http://schemas.openxmlformats.org/officeDocument/2006/relationships/font" Target="fonts/font7.fntdata"/><Relationship Id="rId63"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font" Target="fonts/font5.fntdata"/><Relationship Id="rId58" Type="http://schemas.openxmlformats.org/officeDocument/2006/relationships/font" Target="fonts/font10.fntdata"/><Relationship Id="rId5" Type="http://schemas.openxmlformats.org/officeDocument/2006/relationships/slide" Target="slides/slide2.xml"/><Relationship Id="rId61" Type="http://schemas.openxmlformats.org/officeDocument/2006/relationships/viewProps" Target="view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notesMaster" Target="notesMasters/notesMaster1.xml"/><Relationship Id="rId56" Type="http://schemas.openxmlformats.org/officeDocument/2006/relationships/font" Target="fonts/font8.fntdata"/><Relationship Id="rId8" Type="http://schemas.openxmlformats.org/officeDocument/2006/relationships/slide" Target="slides/slide5.xml"/><Relationship Id="rId51" Type="http://schemas.openxmlformats.org/officeDocument/2006/relationships/font" Target="fonts/font3.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font" Target="fonts/font11.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font" Target="fonts/font6.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font" Target="fonts/font4.fntdata"/><Relationship Id="rId6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8a9e9d19c_2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358a9e9d19c_2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58a9e9d19c_2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g358a9e9d19c_2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58a9e9d19c_2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58a9e9d19c_2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58a9e9d19c_2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58a9e9d19c_2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CE26A377-AEB4-1D36-C0EC-B68146D338DB}"/>
            </a:ext>
          </a:extLst>
        </p:cNvPr>
        <p:cNvGrpSpPr/>
        <p:nvPr/>
      </p:nvGrpSpPr>
      <p:grpSpPr>
        <a:xfrm>
          <a:off x="0" y="0"/>
          <a:ext cx="0" cy="0"/>
          <a:chOff x="0" y="0"/>
          <a:chExt cx="0" cy="0"/>
        </a:xfrm>
      </p:grpSpPr>
      <p:sp>
        <p:nvSpPr>
          <p:cNvPr id="166" name="Google Shape;166;g358a9e9d19c_2_65:notes">
            <a:extLst>
              <a:ext uri="{FF2B5EF4-FFF2-40B4-BE49-F238E27FC236}">
                <a16:creationId xmlns:a16="http://schemas.microsoft.com/office/drawing/2014/main" id="{7B55F153-2BF7-4497-E899-D177F800E2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58a9e9d19c_2_65:notes">
            <a:extLst>
              <a:ext uri="{FF2B5EF4-FFF2-40B4-BE49-F238E27FC236}">
                <a16:creationId xmlns:a16="http://schemas.microsoft.com/office/drawing/2014/main" id="{02348118-D0BE-E8FD-F091-E5BE3E97D9C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06765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A4A3C067-600A-519C-4958-024AD328C97E}"/>
            </a:ext>
          </a:extLst>
        </p:cNvPr>
        <p:cNvGrpSpPr/>
        <p:nvPr/>
      </p:nvGrpSpPr>
      <p:grpSpPr>
        <a:xfrm>
          <a:off x="0" y="0"/>
          <a:ext cx="0" cy="0"/>
          <a:chOff x="0" y="0"/>
          <a:chExt cx="0" cy="0"/>
        </a:xfrm>
      </p:grpSpPr>
      <p:sp>
        <p:nvSpPr>
          <p:cNvPr id="166" name="Google Shape;166;g358a9e9d19c_2_65:notes">
            <a:extLst>
              <a:ext uri="{FF2B5EF4-FFF2-40B4-BE49-F238E27FC236}">
                <a16:creationId xmlns:a16="http://schemas.microsoft.com/office/drawing/2014/main" id="{EC8EF5AB-9D11-B858-53DF-86D3E27699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58a9e9d19c_2_65:notes">
            <a:extLst>
              <a:ext uri="{FF2B5EF4-FFF2-40B4-BE49-F238E27FC236}">
                <a16:creationId xmlns:a16="http://schemas.microsoft.com/office/drawing/2014/main" id="{9646310B-ACC1-701F-AC0E-481CE1C86FB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10179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8B818CE6-8864-9C53-6AF1-C64C9A0F3299}"/>
            </a:ext>
          </a:extLst>
        </p:cNvPr>
        <p:cNvGrpSpPr/>
        <p:nvPr/>
      </p:nvGrpSpPr>
      <p:grpSpPr>
        <a:xfrm>
          <a:off x="0" y="0"/>
          <a:ext cx="0" cy="0"/>
          <a:chOff x="0" y="0"/>
          <a:chExt cx="0" cy="0"/>
        </a:xfrm>
      </p:grpSpPr>
      <p:sp>
        <p:nvSpPr>
          <p:cNvPr id="172" name="Google Shape;172;g358a9e9d19c_2_70:notes">
            <a:extLst>
              <a:ext uri="{FF2B5EF4-FFF2-40B4-BE49-F238E27FC236}">
                <a16:creationId xmlns:a16="http://schemas.microsoft.com/office/drawing/2014/main" id="{6724321E-423C-6D76-F115-6F5D84B98B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58a9e9d19c_2_70:notes">
            <a:extLst>
              <a:ext uri="{FF2B5EF4-FFF2-40B4-BE49-F238E27FC236}">
                <a16:creationId xmlns:a16="http://schemas.microsoft.com/office/drawing/2014/main" id="{85A1F5F0-C539-6B9B-65C7-5381EA67C37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613813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58a9e9d19c_2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58a9e9d19c_2_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FF27B76D-9B57-35EA-22C7-2AF308DED1CE}"/>
            </a:ext>
          </a:extLst>
        </p:cNvPr>
        <p:cNvGrpSpPr/>
        <p:nvPr/>
      </p:nvGrpSpPr>
      <p:grpSpPr>
        <a:xfrm>
          <a:off x="0" y="0"/>
          <a:ext cx="0" cy="0"/>
          <a:chOff x="0" y="0"/>
          <a:chExt cx="0" cy="0"/>
        </a:xfrm>
      </p:grpSpPr>
      <p:sp>
        <p:nvSpPr>
          <p:cNvPr id="172" name="Google Shape;172;g358a9e9d19c_2_70:notes">
            <a:extLst>
              <a:ext uri="{FF2B5EF4-FFF2-40B4-BE49-F238E27FC236}">
                <a16:creationId xmlns:a16="http://schemas.microsoft.com/office/drawing/2014/main" id="{81F4B4A2-B603-FDD2-4EB5-21B2956B14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58a9e9d19c_2_70:notes">
            <a:extLst>
              <a:ext uri="{FF2B5EF4-FFF2-40B4-BE49-F238E27FC236}">
                <a16:creationId xmlns:a16="http://schemas.microsoft.com/office/drawing/2014/main" id="{8468C3BC-7FDB-1AEE-3043-3BBA5B1949B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149233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7620B19C-2B51-E4D3-4676-65E492DBEC7C}"/>
            </a:ext>
          </a:extLst>
        </p:cNvPr>
        <p:cNvGrpSpPr/>
        <p:nvPr/>
      </p:nvGrpSpPr>
      <p:grpSpPr>
        <a:xfrm>
          <a:off x="0" y="0"/>
          <a:ext cx="0" cy="0"/>
          <a:chOff x="0" y="0"/>
          <a:chExt cx="0" cy="0"/>
        </a:xfrm>
      </p:grpSpPr>
      <p:sp>
        <p:nvSpPr>
          <p:cNvPr id="172" name="Google Shape;172;g358a9e9d19c_2_70:notes">
            <a:extLst>
              <a:ext uri="{FF2B5EF4-FFF2-40B4-BE49-F238E27FC236}">
                <a16:creationId xmlns:a16="http://schemas.microsoft.com/office/drawing/2014/main" id="{271829C1-BD47-7BCB-E049-65056CA834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58a9e9d19c_2_70:notes">
            <a:extLst>
              <a:ext uri="{FF2B5EF4-FFF2-40B4-BE49-F238E27FC236}">
                <a16:creationId xmlns:a16="http://schemas.microsoft.com/office/drawing/2014/main" id="{500B1504-6758-2B59-AE2C-356A7BFB03E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04309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2A1BEA53-22EF-5B21-430C-6D4BE69A4DDE}"/>
            </a:ext>
          </a:extLst>
        </p:cNvPr>
        <p:cNvGrpSpPr/>
        <p:nvPr/>
      </p:nvGrpSpPr>
      <p:grpSpPr>
        <a:xfrm>
          <a:off x="0" y="0"/>
          <a:ext cx="0" cy="0"/>
          <a:chOff x="0" y="0"/>
          <a:chExt cx="0" cy="0"/>
        </a:xfrm>
      </p:grpSpPr>
      <p:sp>
        <p:nvSpPr>
          <p:cNvPr id="172" name="Google Shape;172;g358a9e9d19c_2_70:notes">
            <a:extLst>
              <a:ext uri="{FF2B5EF4-FFF2-40B4-BE49-F238E27FC236}">
                <a16:creationId xmlns:a16="http://schemas.microsoft.com/office/drawing/2014/main" id="{86081F11-F435-ADEC-BE37-44EDDBC3D0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58a9e9d19c_2_70:notes">
            <a:extLst>
              <a:ext uri="{FF2B5EF4-FFF2-40B4-BE49-F238E27FC236}">
                <a16:creationId xmlns:a16="http://schemas.microsoft.com/office/drawing/2014/main" id="{9374CBA4-9D13-EFC9-40D3-66F5AF631EE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540088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106605DE-FC7B-F860-0D55-67C0BCF52E9D}"/>
            </a:ext>
          </a:extLst>
        </p:cNvPr>
        <p:cNvGrpSpPr/>
        <p:nvPr/>
      </p:nvGrpSpPr>
      <p:grpSpPr>
        <a:xfrm>
          <a:off x="0" y="0"/>
          <a:ext cx="0" cy="0"/>
          <a:chOff x="0" y="0"/>
          <a:chExt cx="0" cy="0"/>
        </a:xfrm>
      </p:grpSpPr>
      <p:sp>
        <p:nvSpPr>
          <p:cNvPr id="172" name="Google Shape;172;g358a9e9d19c_2_70:notes">
            <a:extLst>
              <a:ext uri="{FF2B5EF4-FFF2-40B4-BE49-F238E27FC236}">
                <a16:creationId xmlns:a16="http://schemas.microsoft.com/office/drawing/2014/main" id="{BA281A31-8D1B-C562-3D57-3DC0EBAB18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58a9e9d19c_2_70:notes">
            <a:extLst>
              <a:ext uri="{FF2B5EF4-FFF2-40B4-BE49-F238E27FC236}">
                <a16:creationId xmlns:a16="http://schemas.microsoft.com/office/drawing/2014/main" id="{60DF5002-CA0B-AAE1-8412-CD4848DD778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167864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0229C853-5266-F132-B867-06ABC7BED07F}"/>
            </a:ext>
          </a:extLst>
        </p:cNvPr>
        <p:cNvGrpSpPr/>
        <p:nvPr/>
      </p:nvGrpSpPr>
      <p:grpSpPr>
        <a:xfrm>
          <a:off x="0" y="0"/>
          <a:ext cx="0" cy="0"/>
          <a:chOff x="0" y="0"/>
          <a:chExt cx="0" cy="0"/>
        </a:xfrm>
      </p:grpSpPr>
      <p:sp>
        <p:nvSpPr>
          <p:cNvPr id="172" name="Google Shape;172;g358a9e9d19c_2_70:notes">
            <a:extLst>
              <a:ext uri="{FF2B5EF4-FFF2-40B4-BE49-F238E27FC236}">
                <a16:creationId xmlns:a16="http://schemas.microsoft.com/office/drawing/2014/main" id="{1EF49303-96F8-A9DB-1FEE-FF8C9CB610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58a9e9d19c_2_70:notes">
            <a:extLst>
              <a:ext uri="{FF2B5EF4-FFF2-40B4-BE49-F238E27FC236}">
                <a16:creationId xmlns:a16="http://schemas.microsoft.com/office/drawing/2014/main" id="{E66CF63F-E856-4F23-0326-27FFC1F9B0C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807691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668E7295-E5C6-3AA9-9351-1B4C0AFA65FE}"/>
            </a:ext>
          </a:extLst>
        </p:cNvPr>
        <p:cNvGrpSpPr/>
        <p:nvPr/>
      </p:nvGrpSpPr>
      <p:grpSpPr>
        <a:xfrm>
          <a:off x="0" y="0"/>
          <a:ext cx="0" cy="0"/>
          <a:chOff x="0" y="0"/>
          <a:chExt cx="0" cy="0"/>
        </a:xfrm>
      </p:grpSpPr>
      <p:sp>
        <p:nvSpPr>
          <p:cNvPr id="172" name="Google Shape;172;g358a9e9d19c_2_70:notes">
            <a:extLst>
              <a:ext uri="{FF2B5EF4-FFF2-40B4-BE49-F238E27FC236}">
                <a16:creationId xmlns:a16="http://schemas.microsoft.com/office/drawing/2014/main" id="{0F4CE37E-8272-F559-2483-0542B74997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58a9e9d19c_2_70:notes">
            <a:extLst>
              <a:ext uri="{FF2B5EF4-FFF2-40B4-BE49-F238E27FC236}">
                <a16:creationId xmlns:a16="http://schemas.microsoft.com/office/drawing/2014/main" id="{EECB4CF0-F6D1-418E-7D7A-3EC2A15469B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628853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6B495F57-807E-37A5-8FAC-3701FB82D955}"/>
            </a:ext>
          </a:extLst>
        </p:cNvPr>
        <p:cNvGrpSpPr/>
        <p:nvPr/>
      </p:nvGrpSpPr>
      <p:grpSpPr>
        <a:xfrm>
          <a:off x="0" y="0"/>
          <a:ext cx="0" cy="0"/>
          <a:chOff x="0" y="0"/>
          <a:chExt cx="0" cy="0"/>
        </a:xfrm>
      </p:grpSpPr>
      <p:sp>
        <p:nvSpPr>
          <p:cNvPr id="172" name="Google Shape;172;g358a9e9d19c_2_70:notes">
            <a:extLst>
              <a:ext uri="{FF2B5EF4-FFF2-40B4-BE49-F238E27FC236}">
                <a16:creationId xmlns:a16="http://schemas.microsoft.com/office/drawing/2014/main" id="{776534C3-258B-CC3C-5015-E7D8F3E38C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58a9e9d19c_2_70:notes">
            <a:extLst>
              <a:ext uri="{FF2B5EF4-FFF2-40B4-BE49-F238E27FC236}">
                <a16:creationId xmlns:a16="http://schemas.microsoft.com/office/drawing/2014/main" id="{92D0CC80-EC0D-00CF-03BB-3622A47DAC7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679026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3EA5306D-ED17-80FD-EAB8-61EA13F6472F}"/>
            </a:ext>
          </a:extLst>
        </p:cNvPr>
        <p:cNvGrpSpPr/>
        <p:nvPr/>
      </p:nvGrpSpPr>
      <p:grpSpPr>
        <a:xfrm>
          <a:off x="0" y="0"/>
          <a:ext cx="0" cy="0"/>
          <a:chOff x="0" y="0"/>
          <a:chExt cx="0" cy="0"/>
        </a:xfrm>
      </p:grpSpPr>
      <p:sp>
        <p:nvSpPr>
          <p:cNvPr id="172" name="Google Shape;172;g358a9e9d19c_2_70:notes">
            <a:extLst>
              <a:ext uri="{FF2B5EF4-FFF2-40B4-BE49-F238E27FC236}">
                <a16:creationId xmlns:a16="http://schemas.microsoft.com/office/drawing/2014/main" id="{E79F5423-B77F-C122-1BC1-C2BDC9E930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58a9e9d19c_2_70:notes">
            <a:extLst>
              <a:ext uri="{FF2B5EF4-FFF2-40B4-BE49-F238E27FC236}">
                <a16:creationId xmlns:a16="http://schemas.microsoft.com/office/drawing/2014/main" id="{DEB8704B-063A-4788-03CF-A75A3251F7C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428044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D629E1EB-0333-0FFA-4914-A407C50F1F5C}"/>
            </a:ext>
          </a:extLst>
        </p:cNvPr>
        <p:cNvGrpSpPr/>
        <p:nvPr/>
      </p:nvGrpSpPr>
      <p:grpSpPr>
        <a:xfrm>
          <a:off x="0" y="0"/>
          <a:ext cx="0" cy="0"/>
          <a:chOff x="0" y="0"/>
          <a:chExt cx="0" cy="0"/>
        </a:xfrm>
      </p:grpSpPr>
      <p:sp>
        <p:nvSpPr>
          <p:cNvPr id="172" name="Google Shape;172;g358a9e9d19c_2_70:notes">
            <a:extLst>
              <a:ext uri="{FF2B5EF4-FFF2-40B4-BE49-F238E27FC236}">
                <a16:creationId xmlns:a16="http://schemas.microsoft.com/office/drawing/2014/main" id="{719999EE-898F-9680-48C9-5DD522EC2F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58a9e9d19c_2_70:notes">
            <a:extLst>
              <a:ext uri="{FF2B5EF4-FFF2-40B4-BE49-F238E27FC236}">
                <a16:creationId xmlns:a16="http://schemas.microsoft.com/office/drawing/2014/main" id="{E670C389-6F9E-9705-B905-6430773675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167053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CD843F74-FD10-38D0-D151-A010E254D87F}"/>
            </a:ext>
          </a:extLst>
        </p:cNvPr>
        <p:cNvGrpSpPr/>
        <p:nvPr/>
      </p:nvGrpSpPr>
      <p:grpSpPr>
        <a:xfrm>
          <a:off x="0" y="0"/>
          <a:ext cx="0" cy="0"/>
          <a:chOff x="0" y="0"/>
          <a:chExt cx="0" cy="0"/>
        </a:xfrm>
      </p:grpSpPr>
      <p:sp>
        <p:nvSpPr>
          <p:cNvPr id="172" name="Google Shape;172;g358a9e9d19c_2_70:notes">
            <a:extLst>
              <a:ext uri="{FF2B5EF4-FFF2-40B4-BE49-F238E27FC236}">
                <a16:creationId xmlns:a16="http://schemas.microsoft.com/office/drawing/2014/main" id="{ADC06F1D-40A4-891D-0F9A-A619FADA2C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58a9e9d19c_2_70:notes">
            <a:extLst>
              <a:ext uri="{FF2B5EF4-FFF2-40B4-BE49-F238E27FC236}">
                <a16:creationId xmlns:a16="http://schemas.microsoft.com/office/drawing/2014/main" id="{E7666B87-2942-D1E6-F59A-C7C5D6D7FBD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613171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5BEFB31F-CEAC-8210-3E0D-B3B19BF899D9}"/>
            </a:ext>
          </a:extLst>
        </p:cNvPr>
        <p:cNvGrpSpPr/>
        <p:nvPr/>
      </p:nvGrpSpPr>
      <p:grpSpPr>
        <a:xfrm>
          <a:off x="0" y="0"/>
          <a:ext cx="0" cy="0"/>
          <a:chOff x="0" y="0"/>
          <a:chExt cx="0" cy="0"/>
        </a:xfrm>
      </p:grpSpPr>
      <p:sp>
        <p:nvSpPr>
          <p:cNvPr id="172" name="Google Shape;172;g358a9e9d19c_2_70:notes">
            <a:extLst>
              <a:ext uri="{FF2B5EF4-FFF2-40B4-BE49-F238E27FC236}">
                <a16:creationId xmlns:a16="http://schemas.microsoft.com/office/drawing/2014/main" id="{1F439DF2-E57F-850A-8355-CE9E8C61D3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58a9e9d19c_2_70:notes">
            <a:extLst>
              <a:ext uri="{FF2B5EF4-FFF2-40B4-BE49-F238E27FC236}">
                <a16:creationId xmlns:a16="http://schemas.microsoft.com/office/drawing/2014/main" id="{40692900-C2C4-8C0F-784E-D7FA9891A1C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6107753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BEF99616-24CA-4B99-8527-7596C0FEDF80}"/>
            </a:ext>
          </a:extLst>
        </p:cNvPr>
        <p:cNvGrpSpPr/>
        <p:nvPr/>
      </p:nvGrpSpPr>
      <p:grpSpPr>
        <a:xfrm>
          <a:off x="0" y="0"/>
          <a:ext cx="0" cy="0"/>
          <a:chOff x="0" y="0"/>
          <a:chExt cx="0" cy="0"/>
        </a:xfrm>
      </p:grpSpPr>
      <p:sp>
        <p:nvSpPr>
          <p:cNvPr id="172" name="Google Shape;172;g358a9e9d19c_2_70:notes">
            <a:extLst>
              <a:ext uri="{FF2B5EF4-FFF2-40B4-BE49-F238E27FC236}">
                <a16:creationId xmlns:a16="http://schemas.microsoft.com/office/drawing/2014/main" id="{D10ADCA0-BAC8-C7C0-F783-23B8CF5060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58a9e9d19c_2_70:notes">
            <a:extLst>
              <a:ext uri="{FF2B5EF4-FFF2-40B4-BE49-F238E27FC236}">
                <a16:creationId xmlns:a16="http://schemas.microsoft.com/office/drawing/2014/main" id="{7912921A-B4E7-317D-D437-A03BF8B081D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099220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58a9e9d19c_2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a9e9d19c_2_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D99AEA22-3D83-8116-5237-70CD616C6729}"/>
            </a:ext>
          </a:extLst>
        </p:cNvPr>
        <p:cNvGrpSpPr/>
        <p:nvPr/>
      </p:nvGrpSpPr>
      <p:grpSpPr>
        <a:xfrm>
          <a:off x="0" y="0"/>
          <a:ext cx="0" cy="0"/>
          <a:chOff x="0" y="0"/>
          <a:chExt cx="0" cy="0"/>
        </a:xfrm>
      </p:grpSpPr>
      <p:sp>
        <p:nvSpPr>
          <p:cNvPr id="179" name="Google Shape;179;g358a9e9d19c_2_77:notes">
            <a:extLst>
              <a:ext uri="{FF2B5EF4-FFF2-40B4-BE49-F238E27FC236}">
                <a16:creationId xmlns:a16="http://schemas.microsoft.com/office/drawing/2014/main" id="{FCE0CDAD-FEC6-C6B5-80EA-4AF8FBDF9B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a9e9d19c_2_77:notes">
            <a:extLst>
              <a:ext uri="{FF2B5EF4-FFF2-40B4-BE49-F238E27FC236}">
                <a16:creationId xmlns:a16="http://schemas.microsoft.com/office/drawing/2014/main" id="{2FB0A173-013C-67A0-83BB-7ACD8E73222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423692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948BA67E-5878-C469-C183-C71568F60EF7}"/>
            </a:ext>
          </a:extLst>
        </p:cNvPr>
        <p:cNvGrpSpPr/>
        <p:nvPr/>
      </p:nvGrpSpPr>
      <p:grpSpPr>
        <a:xfrm>
          <a:off x="0" y="0"/>
          <a:ext cx="0" cy="0"/>
          <a:chOff x="0" y="0"/>
          <a:chExt cx="0" cy="0"/>
        </a:xfrm>
      </p:grpSpPr>
      <p:sp>
        <p:nvSpPr>
          <p:cNvPr id="179" name="Google Shape;179;g358a9e9d19c_2_77:notes">
            <a:extLst>
              <a:ext uri="{FF2B5EF4-FFF2-40B4-BE49-F238E27FC236}">
                <a16:creationId xmlns:a16="http://schemas.microsoft.com/office/drawing/2014/main" id="{C3DCBFE5-E511-99BA-C0B9-6FBB8133DC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a9e9d19c_2_77:notes">
            <a:extLst>
              <a:ext uri="{FF2B5EF4-FFF2-40B4-BE49-F238E27FC236}">
                <a16:creationId xmlns:a16="http://schemas.microsoft.com/office/drawing/2014/main" id="{8220E4CC-D1E6-0163-B825-D93F32C0309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513873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37E9DDC8-8490-07FD-B935-E76C5E44F06C}"/>
            </a:ext>
          </a:extLst>
        </p:cNvPr>
        <p:cNvGrpSpPr/>
        <p:nvPr/>
      </p:nvGrpSpPr>
      <p:grpSpPr>
        <a:xfrm>
          <a:off x="0" y="0"/>
          <a:ext cx="0" cy="0"/>
          <a:chOff x="0" y="0"/>
          <a:chExt cx="0" cy="0"/>
        </a:xfrm>
      </p:grpSpPr>
      <p:sp>
        <p:nvSpPr>
          <p:cNvPr id="179" name="Google Shape;179;g358a9e9d19c_2_77:notes">
            <a:extLst>
              <a:ext uri="{FF2B5EF4-FFF2-40B4-BE49-F238E27FC236}">
                <a16:creationId xmlns:a16="http://schemas.microsoft.com/office/drawing/2014/main" id="{D6364E14-ADE1-26E8-5205-9F8857A180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a9e9d19c_2_77:notes">
            <a:extLst>
              <a:ext uri="{FF2B5EF4-FFF2-40B4-BE49-F238E27FC236}">
                <a16:creationId xmlns:a16="http://schemas.microsoft.com/office/drawing/2014/main" id="{F24CDF84-C4D1-2E6C-2148-F7B75BA193A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435277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825D8FCB-B664-C707-A35A-15F408C4F0CC}"/>
            </a:ext>
          </a:extLst>
        </p:cNvPr>
        <p:cNvGrpSpPr/>
        <p:nvPr/>
      </p:nvGrpSpPr>
      <p:grpSpPr>
        <a:xfrm>
          <a:off x="0" y="0"/>
          <a:ext cx="0" cy="0"/>
          <a:chOff x="0" y="0"/>
          <a:chExt cx="0" cy="0"/>
        </a:xfrm>
      </p:grpSpPr>
      <p:sp>
        <p:nvSpPr>
          <p:cNvPr id="179" name="Google Shape;179;g358a9e9d19c_2_77:notes">
            <a:extLst>
              <a:ext uri="{FF2B5EF4-FFF2-40B4-BE49-F238E27FC236}">
                <a16:creationId xmlns:a16="http://schemas.microsoft.com/office/drawing/2014/main" id="{D4AF3F72-463D-50E8-F2C5-2F6FD039CA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a9e9d19c_2_77:notes">
            <a:extLst>
              <a:ext uri="{FF2B5EF4-FFF2-40B4-BE49-F238E27FC236}">
                <a16:creationId xmlns:a16="http://schemas.microsoft.com/office/drawing/2014/main" id="{C4F50542-D71A-435B-8798-73D4A3971D4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816870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4AB50277-5956-EF7D-2124-C2C163004B19}"/>
            </a:ext>
          </a:extLst>
        </p:cNvPr>
        <p:cNvGrpSpPr/>
        <p:nvPr/>
      </p:nvGrpSpPr>
      <p:grpSpPr>
        <a:xfrm>
          <a:off x="0" y="0"/>
          <a:ext cx="0" cy="0"/>
          <a:chOff x="0" y="0"/>
          <a:chExt cx="0" cy="0"/>
        </a:xfrm>
      </p:grpSpPr>
      <p:sp>
        <p:nvSpPr>
          <p:cNvPr id="179" name="Google Shape;179;g358a9e9d19c_2_77:notes">
            <a:extLst>
              <a:ext uri="{FF2B5EF4-FFF2-40B4-BE49-F238E27FC236}">
                <a16:creationId xmlns:a16="http://schemas.microsoft.com/office/drawing/2014/main" id="{411CEB3A-738A-0A93-4369-3D6BFDA243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a9e9d19c_2_77:notes">
            <a:extLst>
              <a:ext uri="{FF2B5EF4-FFF2-40B4-BE49-F238E27FC236}">
                <a16:creationId xmlns:a16="http://schemas.microsoft.com/office/drawing/2014/main" id="{AC9B54B8-384D-ABCD-6323-20F431C01F6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729596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659006BD-70ED-3540-1531-B1DABF29C580}"/>
            </a:ext>
          </a:extLst>
        </p:cNvPr>
        <p:cNvGrpSpPr/>
        <p:nvPr/>
      </p:nvGrpSpPr>
      <p:grpSpPr>
        <a:xfrm>
          <a:off x="0" y="0"/>
          <a:ext cx="0" cy="0"/>
          <a:chOff x="0" y="0"/>
          <a:chExt cx="0" cy="0"/>
        </a:xfrm>
      </p:grpSpPr>
      <p:sp>
        <p:nvSpPr>
          <p:cNvPr id="179" name="Google Shape;179;g358a9e9d19c_2_77:notes">
            <a:extLst>
              <a:ext uri="{FF2B5EF4-FFF2-40B4-BE49-F238E27FC236}">
                <a16:creationId xmlns:a16="http://schemas.microsoft.com/office/drawing/2014/main" id="{8478E47A-5B66-1EB3-A4DD-C84A27F9C5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a9e9d19c_2_77:notes">
            <a:extLst>
              <a:ext uri="{FF2B5EF4-FFF2-40B4-BE49-F238E27FC236}">
                <a16:creationId xmlns:a16="http://schemas.microsoft.com/office/drawing/2014/main" id="{E7EFAFFF-6B88-B93C-7384-97075C97833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295865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FBB695D9-F9D8-97A4-DE1E-0752959F572F}"/>
            </a:ext>
          </a:extLst>
        </p:cNvPr>
        <p:cNvGrpSpPr/>
        <p:nvPr/>
      </p:nvGrpSpPr>
      <p:grpSpPr>
        <a:xfrm>
          <a:off x="0" y="0"/>
          <a:ext cx="0" cy="0"/>
          <a:chOff x="0" y="0"/>
          <a:chExt cx="0" cy="0"/>
        </a:xfrm>
      </p:grpSpPr>
      <p:sp>
        <p:nvSpPr>
          <p:cNvPr id="179" name="Google Shape;179;g358a9e9d19c_2_77:notes">
            <a:extLst>
              <a:ext uri="{FF2B5EF4-FFF2-40B4-BE49-F238E27FC236}">
                <a16:creationId xmlns:a16="http://schemas.microsoft.com/office/drawing/2014/main" id="{C567CC95-4FD5-ECB8-FD91-4A7756283F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a9e9d19c_2_77:notes">
            <a:extLst>
              <a:ext uri="{FF2B5EF4-FFF2-40B4-BE49-F238E27FC236}">
                <a16:creationId xmlns:a16="http://schemas.microsoft.com/office/drawing/2014/main" id="{4A8C9CC7-3C1B-FA8E-6AFD-D87DB9310C4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542593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065694B5-907E-C1FC-351B-F54ACE57A628}"/>
            </a:ext>
          </a:extLst>
        </p:cNvPr>
        <p:cNvGrpSpPr/>
        <p:nvPr/>
      </p:nvGrpSpPr>
      <p:grpSpPr>
        <a:xfrm>
          <a:off x="0" y="0"/>
          <a:ext cx="0" cy="0"/>
          <a:chOff x="0" y="0"/>
          <a:chExt cx="0" cy="0"/>
        </a:xfrm>
      </p:grpSpPr>
      <p:sp>
        <p:nvSpPr>
          <p:cNvPr id="179" name="Google Shape;179;g358a9e9d19c_2_77:notes">
            <a:extLst>
              <a:ext uri="{FF2B5EF4-FFF2-40B4-BE49-F238E27FC236}">
                <a16:creationId xmlns:a16="http://schemas.microsoft.com/office/drawing/2014/main" id="{90B59E51-2C73-9DA8-D74C-4BD73487E4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a9e9d19c_2_77:notes">
            <a:extLst>
              <a:ext uri="{FF2B5EF4-FFF2-40B4-BE49-F238E27FC236}">
                <a16:creationId xmlns:a16="http://schemas.microsoft.com/office/drawing/2014/main" id="{B8BEFD78-6D16-FDDC-E155-E8750EAD34C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603078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EEB68D5B-6AFC-FEC2-F635-B478AE280A0C}"/>
            </a:ext>
          </a:extLst>
        </p:cNvPr>
        <p:cNvGrpSpPr/>
        <p:nvPr/>
      </p:nvGrpSpPr>
      <p:grpSpPr>
        <a:xfrm>
          <a:off x="0" y="0"/>
          <a:ext cx="0" cy="0"/>
          <a:chOff x="0" y="0"/>
          <a:chExt cx="0" cy="0"/>
        </a:xfrm>
      </p:grpSpPr>
      <p:sp>
        <p:nvSpPr>
          <p:cNvPr id="179" name="Google Shape;179;g358a9e9d19c_2_77:notes">
            <a:extLst>
              <a:ext uri="{FF2B5EF4-FFF2-40B4-BE49-F238E27FC236}">
                <a16:creationId xmlns:a16="http://schemas.microsoft.com/office/drawing/2014/main" id="{AF5A3CBA-59C0-FC45-50C9-EE927D22A8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a9e9d19c_2_77:notes">
            <a:extLst>
              <a:ext uri="{FF2B5EF4-FFF2-40B4-BE49-F238E27FC236}">
                <a16:creationId xmlns:a16="http://schemas.microsoft.com/office/drawing/2014/main" id="{A26FD2F8-4605-194B-5710-C08ABC48C13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954958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E20C81F5-BD38-7995-9B45-905FF2335887}"/>
            </a:ext>
          </a:extLst>
        </p:cNvPr>
        <p:cNvGrpSpPr/>
        <p:nvPr/>
      </p:nvGrpSpPr>
      <p:grpSpPr>
        <a:xfrm>
          <a:off x="0" y="0"/>
          <a:ext cx="0" cy="0"/>
          <a:chOff x="0" y="0"/>
          <a:chExt cx="0" cy="0"/>
        </a:xfrm>
      </p:grpSpPr>
      <p:sp>
        <p:nvSpPr>
          <p:cNvPr id="179" name="Google Shape;179;g358a9e9d19c_2_77:notes">
            <a:extLst>
              <a:ext uri="{FF2B5EF4-FFF2-40B4-BE49-F238E27FC236}">
                <a16:creationId xmlns:a16="http://schemas.microsoft.com/office/drawing/2014/main" id="{2A322C48-C50D-F078-E04E-01E0A2CA16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a9e9d19c_2_77:notes">
            <a:extLst>
              <a:ext uri="{FF2B5EF4-FFF2-40B4-BE49-F238E27FC236}">
                <a16:creationId xmlns:a16="http://schemas.microsoft.com/office/drawing/2014/main" id="{9C25E962-D894-DEE4-57FD-0BE6522BB28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407618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1EE7ED8E-E5FA-492B-24F2-D0107CA333FA}"/>
            </a:ext>
          </a:extLst>
        </p:cNvPr>
        <p:cNvGrpSpPr/>
        <p:nvPr/>
      </p:nvGrpSpPr>
      <p:grpSpPr>
        <a:xfrm>
          <a:off x="0" y="0"/>
          <a:ext cx="0" cy="0"/>
          <a:chOff x="0" y="0"/>
          <a:chExt cx="0" cy="0"/>
        </a:xfrm>
      </p:grpSpPr>
      <p:sp>
        <p:nvSpPr>
          <p:cNvPr id="179" name="Google Shape;179;g358a9e9d19c_2_77:notes">
            <a:extLst>
              <a:ext uri="{FF2B5EF4-FFF2-40B4-BE49-F238E27FC236}">
                <a16:creationId xmlns:a16="http://schemas.microsoft.com/office/drawing/2014/main" id="{A6D2AE08-157E-9312-AE34-3FA272F06E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a9e9d19c_2_77:notes">
            <a:extLst>
              <a:ext uri="{FF2B5EF4-FFF2-40B4-BE49-F238E27FC236}">
                <a16:creationId xmlns:a16="http://schemas.microsoft.com/office/drawing/2014/main" id="{4CFC7889-0C68-14DC-BBAD-EBEB23244DF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100005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6A3980A6-E7D6-8FB0-E09D-C85448163784}"/>
            </a:ext>
          </a:extLst>
        </p:cNvPr>
        <p:cNvGrpSpPr/>
        <p:nvPr/>
      </p:nvGrpSpPr>
      <p:grpSpPr>
        <a:xfrm>
          <a:off x="0" y="0"/>
          <a:ext cx="0" cy="0"/>
          <a:chOff x="0" y="0"/>
          <a:chExt cx="0" cy="0"/>
        </a:xfrm>
      </p:grpSpPr>
      <p:sp>
        <p:nvSpPr>
          <p:cNvPr id="179" name="Google Shape;179;g358a9e9d19c_2_77:notes">
            <a:extLst>
              <a:ext uri="{FF2B5EF4-FFF2-40B4-BE49-F238E27FC236}">
                <a16:creationId xmlns:a16="http://schemas.microsoft.com/office/drawing/2014/main" id="{F88E68A3-126D-5C3C-802E-B2666D89BE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a9e9d19c_2_77:notes">
            <a:extLst>
              <a:ext uri="{FF2B5EF4-FFF2-40B4-BE49-F238E27FC236}">
                <a16:creationId xmlns:a16="http://schemas.microsoft.com/office/drawing/2014/main" id="{BA473360-32C8-BDFA-700B-7B8519A884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487338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4939D340-EC29-759E-1996-06BF9FA46600}"/>
            </a:ext>
          </a:extLst>
        </p:cNvPr>
        <p:cNvGrpSpPr/>
        <p:nvPr/>
      </p:nvGrpSpPr>
      <p:grpSpPr>
        <a:xfrm>
          <a:off x="0" y="0"/>
          <a:ext cx="0" cy="0"/>
          <a:chOff x="0" y="0"/>
          <a:chExt cx="0" cy="0"/>
        </a:xfrm>
      </p:grpSpPr>
      <p:sp>
        <p:nvSpPr>
          <p:cNvPr id="179" name="Google Shape;179;g358a9e9d19c_2_77:notes">
            <a:extLst>
              <a:ext uri="{FF2B5EF4-FFF2-40B4-BE49-F238E27FC236}">
                <a16:creationId xmlns:a16="http://schemas.microsoft.com/office/drawing/2014/main" id="{B41ACE44-56A5-1896-AEA8-BF07C2224E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a9e9d19c_2_77:notes">
            <a:extLst>
              <a:ext uri="{FF2B5EF4-FFF2-40B4-BE49-F238E27FC236}">
                <a16:creationId xmlns:a16="http://schemas.microsoft.com/office/drawing/2014/main" id="{D3851B19-CA25-E5F8-F98F-1341B69889D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735276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a:extLst>
            <a:ext uri="{FF2B5EF4-FFF2-40B4-BE49-F238E27FC236}">
              <a16:creationId xmlns:a16="http://schemas.microsoft.com/office/drawing/2014/main" id="{0F42F173-D269-2454-6564-4090ADC2045C}"/>
            </a:ext>
          </a:extLst>
        </p:cNvPr>
        <p:cNvGrpSpPr/>
        <p:nvPr/>
      </p:nvGrpSpPr>
      <p:grpSpPr>
        <a:xfrm>
          <a:off x="0" y="0"/>
          <a:ext cx="0" cy="0"/>
          <a:chOff x="0" y="0"/>
          <a:chExt cx="0" cy="0"/>
        </a:xfrm>
      </p:grpSpPr>
      <p:sp>
        <p:nvSpPr>
          <p:cNvPr id="221" name="Google Shape;221;g358a9e9d19c_2_111:notes">
            <a:extLst>
              <a:ext uri="{FF2B5EF4-FFF2-40B4-BE49-F238E27FC236}">
                <a16:creationId xmlns:a16="http://schemas.microsoft.com/office/drawing/2014/main" id="{54EDB1C1-924E-3919-1EF7-DB8FDBA6BF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g358a9e9d19c_2_111:notes">
            <a:extLst>
              <a:ext uri="{FF2B5EF4-FFF2-40B4-BE49-F238E27FC236}">
                <a16:creationId xmlns:a16="http://schemas.microsoft.com/office/drawing/2014/main" id="{652239CF-365B-0697-13E9-A4FA20A002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18776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a:extLst>
            <a:ext uri="{FF2B5EF4-FFF2-40B4-BE49-F238E27FC236}">
              <a16:creationId xmlns:a16="http://schemas.microsoft.com/office/drawing/2014/main" id="{AE92AC85-8911-D98F-FB77-06FCAB9321D9}"/>
            </a:ext>
          </a:extLst>
        </p:cNvPr>
        <p:cNvGrpSpPr/>
        <p:nvPr/>
      </p:nvGrpSpPr>
      <p:grpSpPr>
        <a:xfrm>
          <a:off x="0" y="0"/>
          <a:ext cx="0" cy="0"/>
          <a:chOff x="0" y="0"/>
          <a:chExt cx="0" cy="0"/>
        </a:xfrm>
      </p:grpSpPr>
      <p:sp>
        <p:nvSpPr>
          <p:cNvPr id="221" name="Google Shape;221;g358a9e9d19c_2_111:notes">
            <a:extLst>
              <a:ext uri="{FF2B5EF4-FFF2-40B4-BE49-F238E27FC236}">
                <a16:creationId xmlns:a16="http://schemas.microsoft.com/office/drawing/2014/main" id="{0D2251BA-B107-0265-598C-93A9660E17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g358a9e9d19c_2_111:notes">
            <a:extLst>
              <a:ext uri="{FF2B5EF4-FFF2-40B4-BE49-F238E27FC236}">
                <a16:creationId xmlns:a16="http://schemas.microsoft.com/office/drawing/2014/main" id="{FE634841-35F3-FF8C-8377-7645079E40C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28764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a:extLst>
            <a:ext uri="{FF2B5EF4-FFF2-40B4-BE49-F238E27FC236}">
              <a16:creationId xmlns:a16="http://schemas.microsoft.com/office/drawing/2014/main" id="{2C12F327-6574-FE9F-98CC-ACFE1CBE34A4}"/>
            </a:ext>
          </a:extLst>
        </p:cNvPr>
        <p:cNvGrpSpPr/>
        <p:nvPr/>
      </p:nvGrpSpPr>
      <p:grpSpPr>
        <a:xfrm>
          <a:off x="0" y="0"/>
          <a:ext cx="0" cy="0"/>
          <a:chOff x="0" y="0"/>
          <a:chExt cx="0" cy="0"/>
        </a:xfrm>
      </p:grpSpPr>
      <p:sp>
        <p:nvSpPr>
          <p:cNvPr id="221" name="Google Shape;221;g358a9e9d19c_2_111:notes">
            <a:extLst>
              <a:ext uri="{FF2B5EF4-FFF2-40B4-BE49-F238E27FC236}">
                <a16:creationId xmlns:a16="http://schemas.microsoft.com/office/drawing/2014/main" id="{BE9299DF-D0C6-7C06-09C1-35F5DD84E6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g358a9e9d19c_2_111:notes">
            <a:extLst>
              <a:ext uri="{FF2B5EF4-FFF2-40B4-BE49-F238E27FC236}">
                <a16:creationId xmlns:a16="http://schemas.microsoft.com/office/drawing/2014/main" id="{F3F32ECD-1833-D5F0-D64D-341CB68382F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059278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270F127C-38B4-5474-CA34-B0CB794C0FFC}"/>
            </a:ext>
          </a:extLst>
        </p:cNvPr>
        <p:cNvGrpSpPr/>
        <p:nvPr/>
      </p:nvGrpSpPr>
      <p:grpSpPr>
        <a:xfrm>
          <a:off x="0" y="0"/>
          <a:ext cx="0" cy="0"/>
          <a:chOff x="0" y="0"/>
          <a:chExt cx="0" cy="0"/>
        </a:xfrm>
      </p:grpSpPr>
      <p:sp>
        <p:nvSpPr>
          <p:cNvPr id="185" name="Google Shape;185;g358a9e9d19c_2_82:notes">
            <a:extLst>
              <a:ext uri="{FF2B5EF4-FFF2-40B4-BE49-F238E27FC236}">
                <a16:creationId xmlns:a16="http://schemas.microsoft.com/office/drawing/2014/main" id="{CC4431E3-4B3A-B0B2-F3FD-CBADEA03E1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58a9e9d19c_2_82:notes">
            <a:extLst>
              <a:ext uri="{FF2B5EF4-FFF2-40B4-BE49-F238E27FC236}">
                <a16:creationId xmlns:a16="http://schemas.microsoft.com/office/drawing/2014/main" id="{AAAAD08B-A137-6819-93A6-8FD07EC8846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542317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58a9e9d19c_2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58a9e9d19c_2_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337BB678-CC62-55BF-7B5D-AD2CEEEE9A1D}"/>
            </a:ext>
          </a:extLst>
        </p:cNvPr>
        <p:cNvGrpSpPr/>
        <p:nvPr/>
      </p:nvGrpSpPr>
      <p:grpSpPr>
        <a:xfrm>
          <a:off x="0" y="0"/>
          <a:ext cx="0" cy="0"/>
          <a:chOff x="0" y="0"/>
          <a:chExt cx="0" cy="0"/>
        </a:xfrm>
      </p:grpSpPr>
      <p:sp>
        <p:nvSpPr>
          <p:cNvPr id="185" name="Google Shape;185;g358a9e9d19c_2_82:notes">
            <a:extLst>
              <a:ext uri="{FF2B5EF4-FFF2-40B4-BE49-F238E27FC236}">
                <a16:creationId xmlns:a16="http://schemas.microsoft.com/office/drawing/2014/main" id="{A2BCBE5C-CFA1-282B-0190-F992698C58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58a9e9d19c_2_82:notes">
            <a:extLst>
              <a:ext uri="{FF2B5EF4-FFF2-40B4-BE49-F238E27FC236}">
                <a16:creationId xmlns:a16="http://schemas.microsoft.com/office/drawing/2014/main" id="{868AAC31-8C52-DD18-7667-10160B50E40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257369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58a9e9d19c_2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358a9e9d19c_2_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a:extLst>
            <a:ext uri="{FF2B5EF4-FFF2-40B4-BE49-F238E27FC236}">
              <a16:creationId xmlns:a16="http://schemas.microsoft.com/office/drawing/2014/main" id="{18D04792-4B04-8B0E-C891-505F8A603468}"/>
            </a:ext>
          </a:extLst>
        </p:cNvPr>
        <p:cNvGrpSpPr/>
        <p:nvPr/>
      </p:nvGrpSpPr>
      <p:grpSpPr>
        <a:xfrm>
          <a:off x="0" y="0"/>
          <a:ext cx="0" cy="0"/>
          <a:chOff x="0" y="0"/>
          <a:chExt cx="0" cy="0"/>
        </a:xfrm>
      </p:grpSpPr>
      <p:sp>
        <p:nvSpPr>
          <p:cNvPr id="197" name="Google Shape;197;g358a9e9d19c_2_76:notes">
            <a:extLst>
              <a:ext uri="{FF2B5EF4-FFF2-40B4-BE49-F238E27FC236}">
                <a16:creationId xmlns:a16="http://schemas.microsoft.com/office/drawing/2014/main" id="{0A763662-CEC1-D52E-F41B-B366EAD103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358a9e9d19c_2_76:notes">
            <a:extLst>
              <a:ext uri="{FF2B5EF4-FFF2-40B4-BE49-F238E27FC236}">
                <a16:creationId xmlns:a16="http://schemas.microsoft.com/office/drawing/2014/main" id="{4D654F99-58EB-D29A-20B2-A6AA432E35E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986119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58a9e9d19c_2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358a9e9d19c_2_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58a9e9d19c_2_1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g358a9e9d19c_2_1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g358a9e9d19c_2_16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44</a:t>
            </a:fld>
            <a:endParaRPr sz="1200" b="0" i="0" u="none" strike="noStrike" cap="none">
              <a:solidFill>
                <a:schemeClr val="dk1"/>
              </a:solidFill>
              <a:latin typeface="Calibri"/>
              <a:ea typeface="Calibri"/>
              <a:cs typeface="Calibri"/>
              <a:sym typeface="Calibri"/>
            </a:endParaRPr>
          </a:p>
        </p:txBody>
      </p:sp>
      <p:sp>
        <p:nvSpPr>
          <p:cNvPr id="236" name="Google Shape;236;g358a9e9d19c_2_169: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61" name="Google Shape;61;p14"/>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64" name="Google Shape;64;p1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65" name="Google Shape;65;p1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68" name="Google Shape;68;p1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71" name="Google Shape;71;p17"/>
          <p:cNvGraphicFramePr/>
          <p:nvPr/>
        </p:nvGraphicFramePr>
        <p:xfrm>
          <a:off x="201942" y="833662"/>
          <a:ext cx="3000000" cy="3000000"/>
        </p:xfrm>
        <a:graphic>
          <a:graphicData uri="http://schemas.openxmlformats.org/drawingml/2006/table">
            <a:tbl>
              <a:tblPr firstRow="1" bandRow="1">
                <a:noFill/>
                <a:tableStyleId>{8921D070-E9E0-4708-ADE3-723659AD1A52}</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72" name="Google Shape;72;p1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5" name="Google Shape;75;p1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76" name="Google Shape;76;p1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77" name="Google Shape;77;p1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8"/>
        <p:cNvGrpSpPr/>
        <p:nvPr/>
      </p:nvGrpSpPr>
      <p:grpSpPr>
        <a:xfrm>
          <a:off x="0" y="0"/>
          <a:ext cx="0" cy="0"/>
          <a:chOff x="0" y="0"/>
          <a:chExt cx="0" cy="0"/>
        </a:xfrm>
      </p:grpSpPr>
      <p:sp>
        <p:nvSpPr>
          <p:cNvPr id="79" name="Google Shape;79;p1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0" name="Google Shape;80;p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1"/>
        <p:cNvGrpSpPr/>
        <p:nvPr/>
      </p:nvGrpSpPr>
      <p:grpSpPr>
        <a:xfrm>
          <a:off x="0" y="0"/>
          <a:ext cx="0" cy="0"/>
          <a:chOff x="0" y="0"/>
          <a:chExt cx="0" cy="0"/>
        </a:xfrm>
      </p:grpSpPr>
      <p:sp>
        <p:nvSpPr>
          <p:cNvPr id="82" name="Google Shape;82;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3" name="Google Shape;83;p2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4"/>
        <p:cNvGrpSpPr/>
        <p:nvPr/>
      </p:nvGrpSpPr>
      <p:grpSpPr>
        <a:xfrm>
          <a:off x="0" y="0"/>
          <a:ext cx="0" cy="0"/>
          <a:chOff x="0" y="0"/>
          <a:chExt cx="0" cy="0"/>
        </a:xfrm>
      </p:grpSpPr>
      <p:sp>
        <p:nvSpPr>
          <p:cNvPr id="85" name="Google Shape;85;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7" name="Google Shape;87;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8" name="Google Shape;88;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89" name="Google Shape;89;p2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0"/>
        <p:cNvGrpSpPr/>
        <p:nvPr/>
      </p:nvGrpSpPr>
      <p:grpSpPr>
        <a:xfrm>
          <a:off x="0" y="0"/>
          <a:ext cx="0" cy="0"/>
          <a:chOff x="0" y="0"/>
          <a:chExt cx="0" cy="0"/>
        </a:xfrm>
      </p:grpSpPr>
      <p:sp>
        <p:nvSpPr>
          <p:cNvPr id="91" name="Google Shape;91;p2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92"/>
        <p:cNvGrpSpPr/>
        <p:nvPr/>
      </p:nvGrpSpPr>
      <p:grpSpPr>
        <a:xfrm>
          <a:off x="0" y="0"/>
          <a:ext cx="0" cy="0"/>
          <a:chOff x="0" y="0"/>
          <a:chExt cx="0" cy="0"/>
        </a:xfrm>
      </p:grpSpPr>
      <p:sp>
        <p:nvSpPr>
          <p:cNvPr id="93" name="Google Shape;93;p23"/>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94" name="Google Shape;94;p23" descr="A close up of a logo&#10;&#10;Description automatically generated"/>
          <p:cNvPicPr preferRelativeResize="0"/>
          <p:nvPr/>
        </p:nvPicPr>
        <p:blipFill rotWithShape="1">
          <a:blip r:embed="rId2">
            <a:alphaModFix/>
          </a:blip>
          <a:srcRect l="42816" t="18358" r="37294" b="19149"/>
          <a:stretch/>
        </p:blipFill>
        <p:spPr>
          <a:xfrm>
            <a:off x="6052536" y="514443"/>
            <a:ext cx="2095112" cy="3703320"/>
          </a:xfrm>
          <a:prstGeom prst="rect">
            <a:avLst/>
          </a:prstGeom>
          <a:noFill/>
          <a:ln>
            <a:noFill/>
          </a:ln>
        </p:spPr>
      </p:pic>
      <p:sp>
        <p:nvSpPr>
          <p:cNvPr id="95" name="Google Shape;95;p23"/>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96" name="Google Shape;96;p23"/>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97" name="Google Shape;97;p23"/>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107"/>
        <p:cNvGrpSpPr/>
        <p:nvPr/>
      </p:nvGrpSpPr>
      <p:grpSpPr>
        <a:xfrm>
          <a:off x="0" y="0"/>
          <a:ext cx="0" cy="0"/>
          <a:chOff x="0" y="0"/>
          <a:chExt cx="0" cy="0"/>
        </a:xfrm>
      </p:grpSpPr>
      <p:sp>
        <p:nvSpPr>
          <p:cNvPr id="108" name="Google Shape;108;p25"/>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109" name="Google Shape;109;p25" descr="A close up of a logo&#10;&#10;Description automatically generated"/>
          <p:cNvPicPr preferRelativeResize="0"/>
          <p:nvPr/>
        </p:nvPicPr>
        <p:blipFill rotWithShape="1">
          <a:blip r:embed="rId2">
            <a:alphaModFix/>
          </a:blip>
          <a:srcRect l="42816" t="18358" r="37294" b="19149"/>
          <a:stretch/>
        </p:blipFill>
        <p:spPr>
          <a:xfrm>
            <a:off x="6052536" y="514443"/>
            <a:ext cx="2095112" cy="3703320"/>
          </a:xfrm>
          <a:prstGeom prst="rect">
            <a:avLst/>
          </a:prstGeom>
          <a:noFill/>
          <a:ln>
            <a:noFill/>
          </a:ln>
        </p:spPr>
      </p:pic>
      <p:sp>
        <p:nvSpPr>
          <p:cNvPr id="110" name="Google Shape;110;p25"/>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111" name="Google Shape;111;p25"/>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112" name="Google Shape;112;p25"/>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3"/>
        <p:cNvGrpSpPr/>
        <p:nvPr/>
      </p:nvGrpSpPr>
      <p:grpSpPr>
        <a:xfrm>
          <a:off x="0" y="0"/>
          <a:ext cx="0" cy="0"/>
          <a:chOff x="0" y="0"/>
          <a:chExt cx="0" cy="0"/>
        </a:xfrm>
      </p:grpSpPr>
      <p:sp>
        <p:nvSpPr>
          <p:cNvPr id="114" name="Google Shape;114;p26"/>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15" name="Google Shape;115;p26"/>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6"/>
        <p:cNvGrpSpPr/>
        <p:nvPr/>
      </p:nvGrpSpPr>
      <p:grpSpPr>
        <a:xfrm>
          <a:off x="0" y="0"/>
          <a:ext cx="0" cy="0"/>
          <a:chOff x="0" y="0"/>
          <a:chExt cx="0" cy="0"/>
        </a:xfrm>
      </p:grpSpPr>
      <p:sp>
        <p:nvSpPr>
          <p:cNvPr id="117" name="Google Shape;117;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118" name="Google Shape;118;p2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9"/>
        <p:cNvGrpSpPr/>
        <p:nvPr/>
      </p:nvGrpSpPr>
      <p:grpSpPr>
        <a:xfrm>
          <a:off x="0" y="0"/>
          <a:ext cx="0" cy="0"/>
          <a:chOff x="0" y="0"/>
          <a:chExt cx="0" cy="0"/>
        </a:xfrm>
      </p:grpSpPr>
      <p:sp>
        <p:nvSpPr>
          <p:cNvPr id="120" name="Google Shape;120;p2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21" name="Google Shape;121;p28"/>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22" name="Google Shape;122;p2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123"/>
        <p:cNvGrpSpPr/>
        <p:nvPr/>
      </p:nvGrpSpPr>
      <p:grpSpPr>
        <a:xfrm>
          <a:off x="0" y="0"/>
          <a:ext cx="0" cy="0"/>
          <a:chOff x="0" y="0"/>
          <a:chExt cx="0" cy="0"/>
        </a:xfrm>
      </p:grpSpPr>
      <p:sp>
        <p:nvSpPr>
          <p:cNvPr id="124" name="Google Shape;124;p2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125" name="Google Shape;125;p29"/>
          <p:cNvGraphicFramePr/>
          <p:nvPr/>
        </p:nvGraphicFramePr>
        <p:xfrm>
          <a:off x="201942" y="833662"/>
          <a:ext cx="3000000" cy="3000000"/>
        </p:xfrm>
        <a:graphic>
          <a:graphicData uri="http://schemas.openxmlformats.org/drawingml/2006/table">
            <a:tbl>
              <a:tblPr firstRow="1" bandRow="1">
                <a:noFill/>
                <a:tableStyleId>{8921D070-E9E0-4708-ADE3-723659AD1A52}</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126" name="Google Shape;126;p2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7"/>
        <p:cNvGrpSpPr/>
        <p:nvPr/>
      </p:nvGrpSpPr>
      <p:grpSpPr>
        <a:xfrm>
          <a:off x="0" y="0"/>
          <a:ext cx="0" cy="0"/>
          <a:chOff x="0" y="0"/>
          <a:chExt cx="0" cy="0"/>
        </a:xfrm>
      </p:grpSpPr>
      <p:sp>
        <p:nvSpPr>
          <p:cNvPr id="128" name="Google Shape;128;p3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29" name="Google Shape;129;p30"/>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30" name="Google Shape;130;p30"/>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31" name="Google Shape;131;p3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2"/>
        <p:cNvGrpSpPr/>
        <p:nvPr/>
      </p:nvGrpSpPr>
      <p:grpSpPr>
        <a:xfrm>
          <a:off x="0" y="0"/>
          <a:ext cx="0" cy="0"/>
          <a:chOff x="0" y="0"/>
          <a:chExt cx="0" cy="0"/>
        </a:xfrm>
      </p:grpSpPr>
      <p:sp>
        <p:nvSpPr>
          <p:cNvPr id="133" name="Google Shape;133;p3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34" name="Google Shape;134;p3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5"/>
        <p:cNvGrpSpPr/>
        <p:nvPr/>
      </p:nvGrpSpPr>
      <p:grpSpPr>
        <a:xfrm>
          <a:off x="0" y="0"/>
          <a:ext cx="0" cy="0"/>
          <a:chOff x="0" y="0"/>
          <a:chExt cx="0" cy="0"/>
        </a:xfrm>
      </p:grpSpPr>
      <p:sp>
        <p:nvSpPr>
          <p:cNvPr id="136" name="Google Shape;136;p3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37" name="Google Shape;137;p3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38"/>
        <p:cNvGrpSpPr/>
        <p:nvPr/>
      </p:nvGrpSpPr>
      <p:grpSpPr>
        <a:xfrm>
          <a:off x="0" y="0"/>
          <a:ext cx="0" cy="0"/>
          <a:chOff x="0" y="0"/>
          <a:chExt cx="0" cy="0"/>
        </a:xfrm>
      </p:grpSpPr>
      <p:sp>
        <p:nvSpPr>
          <p:cNvPr id="139" name="Google Shape;139;p3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3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41" name="Google Shape;141;p3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42" name="Google Shape;142;p3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143" name="Google Shape;143;p3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4"/>
        <p:cNvGrpSpPr/>
        <p:nvPr/>
      </p:nvGrpSpPr>
      <p:grpSpPr>
        <a:xfrm>
          <a:off x="0" y="0"/>
          <a:ext cx="0" cy="0"/>
          <a:chOff x="0" y="0"/>
          <a:chExt cx="0" cy="0"/>
        </a:xfrm>
      </p:grpSpPr>
      <p:sp>
        <p:nvSpPr>
          <p:cNvPr id="145" name="Google Shape;145;p3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image" Target="../media/image1.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theme" Target="../theme/theme3.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endParaRPr/>
          </a:p>
        </p:txBody>
      </p:sp>
      <p:sp>
        <p:nvSpPr>
          <p:cNvPr id="52" name="Google Shape;52;p13"/>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3" name="Google Shape;53;p13"/>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4" name="Google Shape;54;p1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55" name="Google Shape;55;p13"/>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56" name="Google Shape;56;p13"/>
          <p:cNvGrpSpPr/>
          <p:nvPr/>
        </p:nvGrpSpPr>
        <p:grpSpPr>
          <a:xfrm>
            <a:off x="6593" y="10"/>
            <a:ext cx="175500" cy="709221"/>
            <a:chOff x="6593" y="10"/>
            <a:chExt cx="175500" cy="709221"/>
          </a:xfrm>
        </p:grpSpPr>
        <p:sp>
          <p:nvSpPr>
            <p:cNvPr id="57" name="Google Shape;57;p13"/>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3"/>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8"/>
        <p:cNvGrpSpPr/>
        <p:nvPr/>
      </p:nvGrpSpPr>
      <p:grpSpPr>
        <a:xfrm>
          <a:off x="0" y="0"/>
          <a:ext cx="0" cy="0"/>
          <a:chOff x="0" y="0"/>
          <a:chExt cx="0" cy="0"/>
        </a:xfrm>
      </p:grpSpPr>
      <p:sp>
        <p:nvSpPr>
          <p:cNvPr id="99" name="Google Shape;99;p24"/>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endParaRPr/>
          </a:p>
        </p:txBody>
      </p:sp>
      <p:sp>
        <p:nvSpPr>
          <p:cNvPr id="100" name="Google Shape;100;p24"/>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101" name="Google Shape;101;p24"/>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102" name="Google Shape;102;p2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3" name="Google Shape;103;p24"/>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04" name="Google Shape;104;p24"/>
          <p:cNvGrpSpPr/>
          <p:nvPr/>
        </p:nvGrpSpPr>
        <p:grpSpPr>
          <a:xfrm>
            <a:off x="6593" y="10"/>
            <a:ext cx="175500" cy="709221"/>
            <a:chOff x="6593" y="10"/>
            <a:chExt cx="175500" cy="709221"/>
          </a:xfrm>
        </p:grpSpPr>
        <p:sp>
          <p:nvSpPr>
            <p:cNvPr id="105" name="Google Shape;105;p24"/>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24"/>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Lst>
  <mc:AlternateContent xmlns:mc="http://schemas.openxmlformats.org/markup-compatibility/2006" xmlns:p14="http://schemas.microsoft.com/office/powerpoint/2010/main">
    <mc:Choice Requires="p14">
      <p:transition p14:dur="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hyperlink" Target="http://localhost:8888/notebooks/Desktop/Greater%20Learning%20/Advanced%20Macine%20Learning/Project/Sarah%20Wolberg_EasyVisa_Low_Code_Notebook.ipynb#Region-of-Employment-Distribution"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hyperlink" Target="http://localhost:8888/notebooks/Desktop/Greater%20Learning%20/Advanced%20Macine%20Learning/Project/Sarah%20Wolberg_EasyVisa_Low_Code_Notebook.ipynb#Key-Observations" TargetMode="Externa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13.xm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13.xml"/><Relationship Id="rId5" Type="http://schemas.openxmlformats.org/officeDocument/2006/relationships/image" Target="../media/image34.png"/><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35"/>
          <p:cNvSpPr txBox="1">
            <a:spLocks noGrp="1"/>
          </p:cNvSpPr>
          <p:nvPr>
            <p:ph type="ctrTitle"/>
          </p:nvPr>
        </p:nvSpPr>
        <p:spPr>
          <a:xfrm>
            <a:off x="1158150" y="1412050"/>
            <a:ext cx="6827700" cy="581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600" dirty="0"/>
              <a:t>Easy Visa</a:t>
            </a:r>
            <a:endParaRPr sz="3600" dirty="0"/>
          </a:p>
        </p:txBody>
      </p:sp>
      <p:sp>
        <p:nvSpPr>
          <p:cNvPr id="151" name="Google Shape;151;p35"/>
          <p:cNvSpPr txBox="1">
            <a:spLocks noGrp="1"/>
          </p:cNvSpPr>
          <p:nvPr>
            <p:ph type="ctrTitle"/>
          </p:nvPr>
        </p:nvSpPr>
        <p:spPr>
          <a:xfrm>
            <a:off x="1153000" y="2038575"/>
            <a:ext cx="6827700" cy="498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000" b="0" dirty="0"/>
              <a:t>Advanced Machine Learning</a:t>
            </a:r>
            <a:endParaRPr sz="3000" b="0" dirty="0"/>
          </a:p>
        </p:txBody>
      </p:sp>
      <p:sp>
        <p:nvSpPr>
          <p:cNvPr id="152" name="Google Shape;152;p35"/>
          <p:cNvSpPr txBox="1">
            <a:spLocks noGrp="1"/>
          </p:cNvSpPr>
          <p:nvPr>
            <p:ph type="ctrTitle"/>
          </p:nvPr>
        </p:nvSpPr>
        <p:spPr>
          <a:xfrm>
            <a:off x="1153000" y="2429300"/>
            <a:ext cx="6827700" cy="498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1600" b="0" dirty="0"/>
              <a:t>3 May 2026</a:t>
            </a:r>
            <a:endParaRPr sz="1600"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Contents / Agenda</a:t>
            </a:r>
            <a:endParaRPr>
              <a:solidFill>
                <a:srgbClr val="000000"/>
              </a:solidFill>
            </a:endParaRPr>
          </a:p>
        </p:txBody>
      </p:sp>
      <p:sp>
        <p:nvSpPr>
          <p:cNvPr id="158" name="Google Shape;158;p36"/>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Executive Summary </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Business Problem Overview and Solution Approach</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EDA Results</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Data Preprocessing </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Model Performance Summary</a:t>
            </a:r>
            <a:endParaRPr sz="1400">
              <a:solidFill>
                <a:srgbClr val="000000"/>
              </a:solidFill>
            </a:endParaRPr>
          </a:p>
          <a:p>
            <a:pPr marL="457200" lvl="0" indent="-317500" algn="l" rtl="0">
              <a:lnSpc>
                <a:spcPct val="115000"/>
              </a:lnSpc>
              <a:spcBef>
                <a:spcPts val="1000"/>
              </a:spcBef>
              <a:spcAft>
                <a:spcPts val="1000"/>
              </a:spcAft>
              <a:buClr>
                <a:srgbClr val="000000"/>
              </a:buClr>
              <a:buSzPts val="1400"/>
              <a:buChar char="●"/>
            </a:pPr>
            <a:r>
              <a:rPr lang="en" sz="1400">
                <a:solidFill>
                  <a:srgbClr val="000000"/>
                </a:solidFill>
              </a:rPr>
              <a:t>Appendix</a:t>
            </a:r>
            <a:endParaRPr sz="14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Executive Summary </a:t>
            </a:r>
            <a:endParaRPr>
              <a:solidFill>
                <a:srgbClr val="000000"/>
              </a:solidFill>
            </a:endParaRPr>
          </a:p>
        </p:txBody>
      </p:sp>
      <p:sp>
        <p:nvSpPr>
          <p:cNvPr id="2" name="Text Placeholder 1">
            <a:extLst>
              <a:ext uri="{FF2B5EF4-FFF2-40B4-BE49-F238E27FC236}">
                <a16:creationId xmlns:a16="http://schemas.microsoft.com/office/drawing/2014/main" id="{D04A5D0C-BD40-934B-753C-C08FD596114B}"/>
              </a:ext>
            </a:extLst>
          </p:cNvPr>
          <p:cNvSpPr>
            <a:spLocks noGrp="1" noChangeArrowheads="1"/>
          </p:cNvSpPr>
          <p:nvPr>
            <p:ph type="body" idx="1"/>
          </p:nvPr>
        </p:nvSpPr>
        <p:spPr bwMode="auto">
          <a:xfrm>
            <a:off x="202550" y="683153"/>
            <a:ext cx="8715113"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The growing demand for skilled labor in the United States has led to a significant increase in visa applications processed by the Office of Foreign Labor Certification (OFLC)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Manual evaluation of these applications is becoming time-consuming and inefficient, creating a need for a scalable, data-driven solution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This project uses machine learning to predict visa certification outcomes and identify the key factors influencing approval decisions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Analysis of 25,000+ applications highlights the importance of factors such as education, work experience, job type, and wage characteristics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The final model enables efficient shortlisting of high-probability candidates, improving decision-making consistency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Implementing this solution can help:</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Reduce processing time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Improve accuracy and consistency in approvals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Support better workforce planning for employers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i="0" u="none" strike="noStrike" cap="none" normalizeH="0" baseline="0" dirty="0">
              <a:ln>
                <a:noFill/>
              </a:ln>
              <a:solidFill>
                <a:schemeClr val="tx1"/>
              </a:solidFill>
              <a:effectLst/>
              <a:latin typeface="Nunito" pitchFamily="2" charset="77"/>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000000"/>
                </a:solidFill>
              </a:rPr>
              <a:t>Business Problem Overview</a:t>
            </a:r>
            <a:endParaRPr dirty="0">
              <a:solidFill>
                <a:srgbClr val="000000"/>
              </a:solidFill>
            </a:endParaRPr>
          </a:p>
        </p:txBody>
      </p:sp>
      <p:sp>
        <p:nvSpPr>
          <p:cNvPr id="2" name="Text Placeholder 1">
            <a:extLst>
              <a:ext uri="{FF2B5EF4-FFF2-40B4-BE49-F238E27FC236}">
                <a16:creationId xmlns:a16="http://schemas.microsoft.com/office/drawing/2014/main" id="{2B7FD241-1F0F-3093-DE6B-61D9C8CF9012}"/>
              </a:ext>
            </a:extLst>
          </p:cNvPr>
          <p:cNvSpPr>
            <a:spLocks noGrp="1" noChangeArrowheads="1"/>
          </p:cNvSpPr>
          <p:nvPr>
            <p:ph type="body" idx="1"/>
          </p:nvPr>
        </p:nvSpPr>
        <p:spPr bwMode="auto">
          <a:xfrm>
            <a:off x="203200" y="730260"/>
            <a:ext cx="873825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Nunito" pitchFamily="2" charset="77"/>
              </a:rPr>
              <a:t>Business Problem Overview: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U.S. business communities face increasing demand for skilled labor and often rely on foreign workers to address workforce shortages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Under the Immigration and Nationality Act (INA), employers must demonstrate that hiring foreign workers will not negatively impact U.S. workers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The Office of Foreign Labor Certification (OFLC) is responsible for reviewing and certifying visa applications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i="0" u="none" strike="noStrike" cap="none" normalizeH="0" baseline="0" dirty="0">
              <a:ln>
                <a:noFill/>
              </a:ln>
              <a:solidFill>
                <a:srgbClr val="000000"/>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Nunito" pitchFamily="2" charset="77"/>
              </a:rPr>
              <a:t>Challenge:</a:t>
            </a:r>
            <a:endParaRPr kumimoji="0" lang="en-US" altLang="en-US" sz="14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In FY 2016 alone: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775,979 applications processed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1.69 million positions requested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The volume of applications is increasing each year, making manual review inefficient and resource-intensive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i="0" u="none" strike="noStrike" cap="none" normalizeH="0" baseline="0" dirty="0">
              <a:ln>
                <a:noFill/>
              </a:ln>
              <a:solidFill>
                <a:srgbClr val="000000"/>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Nunito" pitchFamily="2" charset="77"/>
              </a:rPr>
              <a:t>Key Problem:</a:t>
            </a:r>
            <a:endParaRPr kumimoji="0" lang="en-US" altLang="en-US" sz="14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Difficulty in efficiently identifying candidates with a high likelihood of visa approval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i="0" u="none" strike="noStrike" cap="none" normalizeH="0" baseline="0" dirty="0">
              <a:ln>
                <a:noFill/>
              </a:ln>
              <a:solidFill>
                <a:schemeClr val="tx1"/>
              </a:solidFill>
              <a:effectLst/>
              <a:latin typeface="Nunito" pitchFamily="2" charset="77"/>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
          <a:extLst>
            <a:ext uri="{FF2B5EF4-FFF2-40B4-BE49-F238E27FC236}">
              <a16:creationId xmlns:a16="http://schemas.microsoft.com/office/drawing/2014/main" id="{5D5F9393-DBB2-B025-0A5C-B3ABA2726A79}"/>
            </a:ext>
          </a:extLst>
        </p:cNvPr>
        <p:cNvGrpSpPr/>
        <p:nvPr/>
      </p:nvGrpSpPr>
      <p:grpSpPr>
        <a:xfrm>
          <a:off x="0" y="0"/>
          <a:ext cx="0" cy="0"/>
          <a:chOff x="0" y="0"/>
          <a:chExt cx="0" cy="0"/>
        </a:xfrm>
      </p:grpSpPr>
      <p:sp>
        <p:nvSpPr>
          <p:cNvPr id="169" name="Google Shape;169;p38">
            <a:extLst>
              <a:ext uri="{FF2B5EF4-FFF2-40B4-BE49-F238E27FC236}">
                <a16:creationId xmlns:a16="http://schemas.microsoft.com/office/drawing/2014/main" id="{66CB2A09-1B91-6528-6CAE-107AA09AD861}"/>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000000"/>
                </a:solidFill>
              </a:rPr>
              <a:t>Solution Approach and Outcome</a:t>
            </a:r>
            <a:endParaRPr dirty="0">
              <a:solidFill>
                <a:srgbClr val="000000"/>
              </a:solidFill>
            </a:endParaRPr>
          </a:p>
        </p:txBody>
      </p:sp>
      <p:sp>
        <p:nvSpPr>
          <p:cNvPr id="2" name="Text Placeholder 1">
            <a:extLst>
              <a:ext uri="{FF2B5EF4-FFF2-40B4-BE49-F238E27FC236}">
                <a16:creationId xmlns:a16="http://schemas.microsoft.com/office/drawing/2014/main" id="{B00231C3-B8B9-9200-62FF-3CC037710747}"/>
              </a:ext>
            </a:extLst>
          </p:cNvPr>
          <p:cNvSpPr>
            <a:spLocks noGrp="1" noChangeArrowheads="1"/>
          </p:cNvSpPr>
          <p:nvPr>
            <p:ph type="body" idx="1"/>
          </p:nvPr>
        </p:nvSpPr>
        <p:spPr bwMode="auto">
          <a:xfrm>
            <a:off x="202550" y="754257"/>
            <a:ext cx="8406646"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Nunito" pitchFamily="2" charset="77"/>
              </a:rPr>
              <a:t>Solution Approach</a:t>
            </a:r>
            <a:endParaRPr kumimoji="0" lang="en-US" altLang="en-US" sz="14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Develop a machine learning classification model to predict visa certification outcomes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Perform Exploratory Data Analysis (EDA) to identify patterns and key drivers of approval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Apply data preprocessing techniques to prepare data for modeling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Build multiple classification models, including: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Decision Tree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Random Forest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Bagging and Boosting methods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Address class imbalance using: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Oversampling and under sampling techniques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Optimize model performance using: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Cross-validation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Hyperparameter tuning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i="0" u="none" strike="noStrike" cap="none" normalizeH="0" baseline="0" dirty="0">
              <a:ln>
                <a:noFill/>
              </a:ln>
              <a:solidFill>
                <a:srgbClr val="000000"/>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0000"/>
                </a:solidFill>
                <a:effectLst/>
                <a:latin typeface="Nunito" pitchFamily="2" charset="77"/>
              </a:rPr>
              <a:t>Outcome:</a:t>
            </a:r>
            <a:endParaRPr kumimoji="0" lang="en-US" altLang="en-US" sz="14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Provide a data-driven system to:</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Facilitate faster visa approvals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Recommend suitable applicant profiles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rgbClr val="000000"/>
                </a:solidFill>
                <a:effectLst/>
                <a:latin typeface="Nunito" pitchFamily="2" charset="77"/>
              </a:rPr>
              <a:t>Support consistent and scalable decision-making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i="0" u="none" strike="noStrike" cap="none" normalizeH="0" baseline="0" dirty="0">
              <a:ln>
                <a:noFill/>
              </a:ln>
              <a:solidFill>
                <a:schemeClr val="tx1"/>
              </a:solidFill>
              <a:effectLst/>
              <a:latin typeface="Nunito" pitchFamily="2" charset="77"/>
            </a:endParaRPr>
          </a:p>
        </p:txBody>
      </p:sp>
    </p:spTree>
    <p:extLst>
      <p:ext uri="{BB962C8B-B14F-4D97-AF65-F5344CB8AC3E}">
        <p14:creationId xmlns:p14="http://schemas.microsoft.com/office/powerpoint/2010/main" val="2852968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8">
          <a:extLst>
            <a:ext uri="{FF2B5EF4-FFF2-40B4-BE49-F238E27FC236}">
              <a16:creationId xmlns:a16="http://schemas.microsoft.com/office/drawing/2014/main" id="{EBA16FE1-DC0F-7E1C-BB51-39EEAA737B70}"/>
            </a:ext>
          </a:extLst>
        </p:cNvPr>
        <p:cNvGrpSpPr/>
        <p:nvPr/>
      </p:nvGrpSpPr>
      <p:grpSpPr>
        <a:xfrm>
          <a:off x="0" y="0"/>
          <a:ext cx="0" cy="0"/>
          <a:chOff x="0" y="0"/>
          <a:chExt cx="0" cy="0"/>
        </a:xfrm>
      </p:grpSpPr>
      <p:sp>
        <p:nvSpPr>
          <p:cNvPr id="169" name="Google Shape;169;p38">
            <a:extLst>
              <a:ext uri="{FF2B5EF4-FFF2-40B4-BE49-F238E27FC236}">
                <a16:creationId xmlns:a16="http://schemas.microsoft.com/office/drawing/2014/main" id="{2722737A-4539-6A3F-DBC3-A041D0B990CA}"/>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000000"/>
                </a:solidFill>
              </a:rPr>
              <a:t>Data Overview</a:t>
            </a:r>
            <a:endParaRPr dirty="0">
              <a:solidFill>
                <a:srgbClr val="000000"/>
              </a:solidFill>
            </a:endParaRPr>
          </a:p>
        </p:txBody>
      </p:sp>
      <p:sp>
        <p:nvSpPr>
          <p:cNvPr id="170" name="Google Shape;170;p38">
            <a:extLst>
              <a:ext uri="{FF2B5EF4-FFF2-40B4-BE49-F238E27FC236}">
                <a16:creationId xmlns:a16="http://schemas.microsoft.com/office/drawing/2014/main" id="{26CF3891-CE6D-8549-A997-0B5A8D42A199}"/>
              </a:ext>
            </a:extLst>
          </p:cNvPr>
          <p:cNvSpPr txBox="1">
            <a:spLocks noGrp="1"/>
          </p:cNvSpPr>
          <p:nvPr>
            <p:ph type="body" idx="1"/>
          </p:nvPr>
        </p:nvSpPr>
        <p:spPr>
          <a:xfrm>
            <a:off x="0" y="861979"/>
            <a:ext cx="9325068" cy="3706800"/>
          </a:xfrm>
          <a:prstGeom prst="rect">
            <a:avLst/>
          </a:prstGeom>
          <a:noFill/>
          <a:ln>
            <a:noFill/>
          </a:ln>
        </p:spPr>
        <p:txBody>
          <a:bodyPr spcFirstLastPara="1" wrap="square" lIns="91425" tIns="91425" rIns="91425" bIns="91425" anchor="t" anchorCtr="0">
            <a:noAutofit/>
          </a:bodyPr>
          <a:lstStyle/>
          <a:p>
            <a:pPr marL="0" lvl="0" indent="0" eaLnBrk="0" fontAlgn="base" hangingPunct="0">
              <a:lnSpc>
                <a:spcPct val="100000"/>
              </a:lnSpc>
              <a:spcBef>
                <a:spcPct val="0"/>
              </a:spcBef>
              <a:spcAft>
                <a:spcPct val="0"/>
              </a:spcAft>
              <a:buClrTx/>
              <a:buSzTx/>
              <a:buNone/>
            </a:pPr>
            <a:r>
              <a:rPr lang="en-US" altLang="en-US" sz="900" b="1" dirty="0">
                <a:solidFill>
                  <a:schemeClr val="tx1"/>
                </a:solidFill>
                <a:latin typeface="Nunito" pitchFamily="2" charset="77"/>
              </a:rPr>
              <a:t>Overview of the Dataset</a:t>
            </a:r>
          </a:p>
          <a:p>
            <a:pPr marL="0" lvl="0" indent="0" eaLnBrk="0" fontAlgn="base" hangingPunct="0">
              <a:lnSpc>
                <a:spcPct val="100000"/>
              </a:lnSpc>
              <a:spcBef>
                <a:spcPct val="0"/>
              </a:spcBef>
              <a:spcAft>
                <a:spcPct val="0"/>
              </a:spcAft>
              <a:buClrTx/>
              <a:buSzTx/>
              <a:buNone/>
            </a:pPr>
            <a:r>
              <a:rPr lang="en-US" altLang="en-US" sz="900" dirty="0">
                <a:solidFill>
                  <a:schemeClr val="tx1"/>
                </a:solidFill>
                <a:latin typeface="Nunito" pitchFamily="2" charset="77"/>
              </a:rPr>
              <a:t>The dataset consists of </a:t>
            </a:r>
            <a:r>
              <a:rPr lang="en-US" altLang="en-US" sz="900" b="1" dirty="0">
                <a:solidFill>
                  <a:schemeClr val="tx1"/>
                </a:solidFill>
                <a:latin typeface="Nunito" pitchFamily="2" charset="77"/>
              </a:rPr>
              <a:t>25,480 visa application records</a:t>
            </a:r>
            <a:r>
              <a:rPr lang="en-US" altLang="en-US" sz="900" dirty="0">
                <a:solidFill>
                  <a:schemeClr val="tx1"/>
                </a:solidFill>
                <a:latin typeface="Nunito" pitchFamily="2" charset="77"/>
              </a:rPr>
              <a:t> with </a:t>
            </a:r>
            <a:r>
              <a:rPr lang="en-US" altLang="en-US" sz="900" b="1" dirty="0">
                <a:solidFill>
                  <a:schemeClr val="tx1"/>
                </a:solidFill>
                <a:latin typeface="Nunito" pitchFamily="2" charset="77"/>
              </a:rPr>
              <a:t>12 variables</a:t>
            </a:r>
            <a:r>
              <a:rPr lang="en-US" altLang="en-US" sz="900" dirty="0">
                <a:solidFill>
                  <a:schemeClr val="tx1"/>
                </a:solidFill>
                <a:latin typeface="Nunito" pitchFamily="2" charset="77"/>
              </a:rPr>
              <a:t> capturing employee, employer, and job-related information.</a:t>
            </a:r>
            <a:endParaRPr lang="en-US" altLang="en-US" sz="900" b="1" dirty="0">
              <a:solidFill>
                <a:schemeClr val="tx1"/>
              </a:solidFill>
              <a:latin typeface="Nunito" pitchFamily="2" charset="77"/>
            </a:endParaRPr>
          </a:p>
          <a:p>
            <a:pPr marL="0" lvl="0" indent="0" eaLnBrk="0" fontAlgn="base" hangingPunct="0">
              <a:lnSpc>
                <a:spcPct val="100000"/>
              </a:lnSpc>
              <a:spcBef>
                <a:spcPct val="0"/>
              </a:spcBef>
              <a:spcAft>
                <a:spcPct val="0"/>
              </a:spcAft>
              <a:buClrTx/>
              <a:buSzTx/>
              <a:buNone/>
            </a:pPr>
            <a:endParaRPr lang="en-US" altLang="en-US" sz="900" b="1" dirty="0">
              <a:solidFill>
                <a:schemeClr val="tx1"/>
              </a:solidFill>
              <a:latin typeface="Nunito" pitchFamily="2" charset="77"/>
            </a:endParaRPr>
          </a:p>
          <a:p>
            <a:pPr marL="0" lvl="0" indent="0" eaLnBrk="0" fontAlgn="base" hangingPunct="0">
              <a:lnSpc>
                <a:spcPct val="100000"/>
              </a:lnSpc>
              <a:spcBef>
                <a:spcPct val="0"/>
              </a:spcBef>
              <a:spcAft>
                <a:spcPct val="0"/>
              </a:spcAft>
              <a:buClrTx/>
              <a:buSzTx/>
              <a:buNone/>
            </a:pPr>
            <a:r>
              <a:rPr lang="en-US" altLang="en-US" sz="900" b="1" dirty="0">
                <a:solidFill>
                  <a:schemeClr val="tx1"/>
                </a:solidFill>
                <a:latin typeface="Nunito" pitchFamily="2" charset="77"/>
              </a:rPr>
              <a:t>Preview of the Data</a:t>
            </a:r>
          </a:p>
          <a:p>
            <a:pPr marL="0" lvl="0" indent="0" eaLnBrk="0" fontAlgn="base" hangingPunct="0">
              <a:lnSpc>
                <a:spcPct val="100000"/>
              </a:lnSpc>
              <a:spcBef>
                <a:spcPct val="0"/>
              </a:spcBef>
              <a:spcAft>
                <a:spcPct val="0"/>
              </a:spcAft>
              <a:buClrTx/>
              <a:buSzTx/>
              <a:buNone/>
            </a:pPr>
            <a:r>
              <a:rPr lang="en-US" altLang="en-US" sz="900" dirty="0">
                <a:solidFill>
                  <a:schemeClr val="tx1"/>
                </a:solidFill>
                <a:latin typeface="Nunito" pitchFamily="2" charset="77"/>
              </a:rPr>
              <a:t>A snapshot of the dataset (first and last 5 rows) shows the structure and types of information available. Each row represents a unique visa application and includes:</a:t>
            </a:r>
          </a:p>
          <a:p>
            <a:pPr marL="0" lvl="0" indent="0" eaLnBrk="0" fontAlgn="base" hangingPunct="0">
              <a:lnSpc>
                <a:spcPct val="100000"/>
              </a:lnSpc>
              <a:spcBef>
                <a:spcPct val="0"/>
              </a:spcBef>
              <a:spcAft>
                <a:spcPct val="0"/>
              </a:spcAft>
              <a:buClrTx/>
              <a:buSzTx/>
              <a:buFontTx/>
              <a:buChar char="•"/>
            </a:pPr>
            <a:r>
              <a:rPr lang="en-US" altLang="en-US" sz="900" b="1" dirty="0">
                <a:solidFill>
                  <a:schemeClr val="tx1"/>
                </a:solidFill>
                <a:latin typeface="Nunito" pitchFamily="2" charset="77"/>
              </a:rPr>
              <a:t>Employee details</a:t>
            </a:r>
            <a:r>
              <a:rPr lang="en-US" altLang="en-US" sz="900" dirty="0">
                <a:solidFill>
                  <a:schemeClr val="tx1"/>
                </a:solidFill>
                <a:latin typeface="Nunito" pitchFamily="2" charset="77"/>
              </a:rPr>
              <a:t>: continent, education level, work experience, training requirement </a:t>
            </a:r>
          </a:p>
          <a:p>
            <a:pPr marL="0" lvl="0" indent="0" eaLnBrk="0" fontAlgn="base" hangingPunct="0">
              <a:lnSpc>
                <a:spcPct val="100000"/>
              </a:lnSpc>
              <a:spcBef>
                <a:spcPct val="0"/>
              </a:spcBef>
              <a:spcAft>
                <a:spcPct val="0"/>
              </a:spcAft>
              <a:buClrTx/>
              <a:buSzTx/>
              <a:buFontTx/>
              <a:buChar char="•"/>
            </a:pPr>
            <a:r>
              <a:rPr lang="en-US" altLang="en-US" sz="900" b="1" dirty="0">
                <a:solidFill>
                  <a:schemeClr val="tx1"/>
                </a:solidFill>
                <a:latin typeface="Nunito" pitchFamily="2" charset="77"/>
              </a:rPr>
              <a:t>Employer details</a:t>
            </a:r>
            <a:r>
              <a:rPr lang="en-US" altLang="en-US" sz="900" dirty="0">
                <a:solidFill>
                  <a:schemeClr val="tx1"/>
                </a:solidFill>
                <a:latin typeface="Nunito" pitchFamily="2" charset="77"/>
              </a:rPr>
              <a:t>: company size (number of employees), year established </a:t>
            </a:r>
          </a:p>
          <a:p>
            <a:pPr marL="0" lvl="0" indent="0" eaLnBrk="0" fontAlgn="base" hangingPunct="0">
              <a:lnSpc>
                <a:spcPct val="100000"/>
              </a:lnSpc>
              <a:spcBef>
                <a:spcPct val="0"/>
              </a:spcBef>
              <a:spcAft>
                <a:spcPct val="0"/>
              </a:spcAft>
              <a:buClrTx/>
              <a:buSzTx/>
              <a:buFontTx/>
              <a:buChar char="•"/>
            </a:pPr>
            <a:r>
              <a:rPr lang="en-US" altLang="en-US" sz="900" b="1" dirty="0">
                <a:solidFill>
                  <a:schemeClr val="tx1"/>
                </a:solidFill>
                <a:latin typeface="Nunito" pitchFamily="2" charset="77"/>
              </a:rPr>
              <a:t>Job details</a:t>
            </a:r>
            <a:r>
              <a:rPr lang="en-US" altLang="en-US" sz="900" dirty="0">
                <a:solidFill>
                  <a:schemeClr val="tx1"/>
                </a:solidFill>
                <a:latin typeface="Nunito" pitchFamily="2" charset="77"/>
              </a:rPr>
              <a:t>: region of employment, wage, wage unit, full-time status </a:t>
            </a:r>
          </a:p>
          <a:p>
            <a:pPr marL="0" lvl="0" indent="0" eaLnBrk="0" fontAlgn="base" hangingPunct="0">
              <a:lnSpc>
                <a:spcPct val="100000"/>
              </a:lnSpc>
              <a:spcBef>
                <a:spcPct val="0"/>
              </a:spcBef>
              <a:spcAft>
                <a:spcPct val="0"/>
              </a:spcAft>
              <a:buClrTx/>
              <a:buSzTx/>
              <a:buFontTx/>
              <a:buChar char="•"/>
            </a:pPr>
            <a:r>
              <a:rPr lang="en-US" altLang="en-US" sz="900" b="1" dirty="0">
                <a:solidFill>
                  <a:schemeClr val="tx1"/>
                </a:solidFill>
                <a:latin typeface="Nunito" pitchFamily="2" charset="77"/>
              </a:rPr>
              <a:t>Target variable</a:t>
            </a:r>
            <a:r>
              <a:rPr lang="en-US" altLang="en-US" sz="900" dirty="0">
                <a:solidFill>
                  <a:schemeClr val="tx1"/>
                </a:solidFill>
                <a:latin typeface="Nunito" pitchFamily="2" charset="77"/>
              </a:rPr>
              <a:t>: </a:t>
            </a:r>
            <a:r>
              <a:rPr lang="en-US" altLang="en-US" sz="900" dirty="0" err="1">
                <a:solidFill>
                  <a:schemeClr val="tx1"/>
                </a:solidFill>
                <a:latin typeface="Nunito" pitchFamily="2" charset="77"/>
              </a:rPr>
              <a:t>case_status</a:t>
            </a:r>
            <a:r>
              <a:rPr lang="en-US" altLang="en-US" sz="900" dirty="0">
                <a:solidFill>
                  <a:schemeClr val="tx1"/>
                </a:solidFill>
                <a:latin typeface="Nunito" pitchFamily="2" charset="77"/>
              </a:rPr>
              <a:t> (Certified or Denied)</a:t>
            </a:r>
          </a:p>
          <a:p>
            <a:pPr marL="0" lvl="0" indent="0" eaLnBrk="0" fontAlgn="base" hangingPunct="0">
              <a:lnSpc>
                <a:spcPct val="100000"/>
              </a:lnSpc>
              <a:spcBef>
                <a:spcPct val="0"/>
              </a:spcBef>
              <a:spcAft>
                <a:spcPct val="0"/>
              </a:spcAft>
              <a:buClrTx/>
              <a:buSzTx/>
              <a:buNone/>
            </a:pPr>
            <a:endParaRPr lang="en-US" altLang="en-US" sz="900" dirty="0">
              <a:solidFill>
                <a:schemeClr val="tx1"/>
              </a:solidFill>
              <a:latin typeface="Nunito" pitchFamily="2" charset="77"/>
            </a:endParaRPr>
          </a:p>
          <a:p>
            <a:pPr marL="0" lvl="0" indent="0" eaLnBrk="0" fontAlgn="base" hangingPunct="0">
              <a:lnSpc>
                <a:spcPct val="100000"/>
              </a:lnSpc>
              <a:spcBef>
                <a:spcPct val="0"/>
              </a:spcBef>
              <a:spcAft>
                <a:spcPct val="0"/>
              </a:spcAft>
              <a:buClrTx/>
              <a:buSzTx/>
              <a:buNone/>
            </a:pPr>
            <a:r>
              <a:rPr lang="en-US" altLang="en-US" sz="900" dirty="0">
                <a:solidFill>
                  <a:schemeClr val="tx1"/>
                </a:solidFill>
                <a:latin typeface="Nunito" pitchFamily="2" charset="77"/>
              </a:rPr>
              <a:t>From the sample data:</a:t>
            </a:r>
          </a:p>
          <a:p>
            <a:pPr marL="0" lvl="0" indent="0" eaLnBrk="0" fontAlgn="base" hangingPunct="0">
              <a:lnSpc>
                <a:spcPct val="100000"/>
              </a:lnSpc>
              <a:spcBef>
                <a:spcPct val="0"/>
              </a:spcBef>
              <a:spcAft>
                <a:spcPct val="0"/>
              </a:spcAft>
              <a:buClrTx/>
              <a:buSzTx/>
              <a:buFontTx/>
              <a:buChar char="•"/>
            </a:pPr>
            <a:r>
              <a:rPr lang="en-US" altLang="en-US" sz="900" dirty="0">
                <a:solidFill>
                  <a:schemeClr val="tx1"/>
                </a:solidFill>
                <a:latin typeface="Nunito" pitchFamily="2" charset="77"/>
              </a:rPr>
              <a:t>Applicants come from multiple continents, with a strong presence from Asia </a:t>
            </a:r>
          </a:p>
          <a:p>
            <a:pPr marL="0" lvl="0" indent="0" eaLnBrk="0" fontAlgn="base" hangingPunct="0">
              <a:lnSpc>
                <a:spcPct val="100000"/>
              </a:lnSpc>
              <a:spcBef>
                <a:spcPct val="0"/>
              </a:spcBef>
              <a:spcAft>
                <a:spcPct val="0"/>
              </a:spcAft>
              <a:buClrTx/>
              <a:buSzTx/>
              <a:buFontTx/>
              <a:buChar char="•"/>
            </a:pPr>
            <a:r>
              <a:rPr lang="en-US" altLang="en-US" sz="900" dirty="0">
                <a:solidFill>
                  <a:schemeClr val="tx1"/>
                </a:solidFill>
                <a:latin typeface="Nunito" pitchFamily="2" charset="77"/>
              </a:rPr>
              <a:t>Education levels vary from High School to Doctorate </a:t>
            </a:r>
          </a:p>
          <a:p>
            <a:pPr marL="0" lvl="0" indent="0" eaLnBrk="0" fontAlgn="base" hangingPunct="0">
              <a:lnSpc>
                <a:spcPct val="100000"/>
              </a:lnSpc>
              <a:spcBef>
                <a:spcPct val="0"/>
              </a:spcBef>
              <a:spcAft>
                <a:spcPct val="0"/>
              </a:spcAft>
              <a:buClrTx/>
              <a:buSzTx/>
              <a:buFontTx/>
              <a:buChar char="•"/>
            </a:pPr>
            <a:r>
              <a:rPr lang="en-US" altLang="en-US" sz="900" dirty="0">
                <a:solidFill>
                  <a:schemeClr val="tx1"/>
                </a:solidFill>
                <a:latin typeface="Nunito" pitchFamily="2" charset="77"/>
              </a:rPr>
              <a:t>Wage values vary significantly depending on unit (hourly vs yearly) </a:t>
            </a:r>
          </a:p>
          <a:p>
            <a:pPr marL="0" lvl="0" indent="0" eaLnBrk="0" fontAlgn="base" hangingPunct="0">
              <a:lnSpc>
                <a:spcPct val="100000"/>
              </a:lnSpc>
              <a:spcBef>
                <a:spcPct val="0"/>
              </a:spcBef>
              <a:spcAft>
                <a:spcPct val="0"/>
              </a:spcAft>
              <a:buClrTx/>
              <a:buSzTx/>
              <a:buFontTx/>
              <a:buChar char="•"/>
            </a:pPr>
            <a:r>
              <a:rPr lang="en-US" altLang="en-US" sz="900" dirty="0">
                <a:solidFill>
                  <a:schemeClr val="tx1"/>
                </a:solidFill>
                <a:latin typeface="Nunito" pitchFamily="2" charset="77"/>
              </a:rPr>
              <a:t>Both certified and denied cases are present in the dataset</a:t>
            </a:r>
          </a:p>
          <a:p>
            <a:pPr marL="0" lvl="0" indent="0" eaLnBrk="0" fontAlgn="base" hangingPunct="0">
              <a:lnSpc>
                <a:spcPct val="100000"/>
              </a:lnSpc>
              <a:spcBef>
                <a:spcPct val="0"/>
              </a:spcBef>
              <a:spcAft>
                <a:spcPct val="0"/>
              </a:spcAft>
              <a:buClrTx/>
              <a:buSzTx/>
              <a:buNone/>
            </a:pPr>
            <a:endParaRPr lang="en-US" altLang="en-US" sz="900" b="1" dirty="0">
              <a:solidFill>
                <a:schemeClr val="tx1"/>
              </a:solidFill>
              <a:latin typeface="Nunito" pitchFamily="2" charset="77"/>
            </a:endParaRPr>
          </a:p>
          <a:p>
            <a:pPr marL="0" lvl="0" indent="0" eaLnBrk="0" fontAlgn="base" hangingPunct="0">
              <a:lnSpc>
                <a:spcPct val="100000"/>
              </a:lnSpc>
              <a:spcBef>
                <a:spcPct val="0"/>
              </a:spcBef>
              <a:spcAft>
                <a:spcPct val="0"/>
              </a:spcAft>
              <a:buClrTx/>
              <a:buSzTx/>
              <a:buNone/>
            </a:pPr>
            <a:r>
              <a:rPr lang="en-US" altLang="en-US" sz="900" b="1" dirty="0">
                <a:solidFill>
                  <a:schemeClr val="tx1"/>
                </a:solidFill>
                <a:latin typeface="Nunito" pitchFamily="2" charset="77"/>
              </a:rPr>
              <a:t>Dataset Dimensions</a:t>
            </a:r>
          </a:p>
          <a:p>
            <a:pPr marL="0" lvl="0" indent="0" eaLnBrk="0" fontAlgn="base" hangingPunct="0">
              <a:lnSpc>
                <a:spcPct val="100000"/>
              </a:lnSpc>
              <a:spcBef>
                <a:spcPct val="0"/>
              </a:spcBef>
              <a:spcAft>
                <a:spcPct val="0"/>
              </a:spcAft>
              <a:buClrTx/>
              <a:buSzTx/>
              <a:buFontTx/>
              <a:buChar char="•"/>
            </a:pPr>
            <a:r>
              <a:rPr lang="en-US" altLang="en-US" sz="900" b="1" dirty="0">
                <a:solidFill>
                  <a:schemeClr val="tx1"/>
                </a:solidFill>
                <a:latin typeface="Nunito" pitchFamily="2" charset="77"/>
              </a:rPr>
              <a:t>Number of observations (rows):</a:t>
            </a:r>
            <a:r>
              <a:rPr lang="en-US" altLang="en-US" sz="900" dirty="0">
                <a:solidFill>
                  <a:schemeClr val="tx1"/>
                </a:solidFill>
                <a:latin typeface="Nunito" pitchFamily="2" charset="77"/>
              </a:rPr>
              <a:t> 25,480 </a:t>
            </a:r>
          </a:p>
          <a:p>
            <a:pPr marL="0" lvl="0" indent="0" eaLnBrk="0" fontAlgn="base" hangingPunct="0">
              <a:lnSpc>
                <a:spcPct val="100000"/>
              </a:lnSpc>
              <a:spcBef>
                <a:spcPct val="0"/>
              </a:spcBef>
              <a:spcAft>
                <a:spcPct val="0"/>
              </a:spcAft>
              <a:buClrTx/>
              <a:buSzTx/>
              <a:buFontTx/>
              <a:buChar char="•"/>
            </a:pPr>
            <a:r>
              <a:rPr lang="en-US" altLang="en-US" sz="900" b="1" dirty="0">
                <a:solidFill>
                  <a:schemeClr val="tx1"/>
                </a:solidFill>
                <a:latin typeface="Nunito" pitchFamily="2" charset="77"/>
              </a:rPr>
              <a:t>Number of features (columns):</a:t>
            </a:r>
            <a:r>
              <a:rPr lang="en-US" altLang="en-US" sz="900" dirty="0">
                <a:solidFill>
                  <a:schemeClr val="tx1"/>
                </a:solidFill>
                <a:latin typeface="Nunito" pitchFamily="2" charset="77"/>
              </a:rPr>
              <a:t> 12</a:t>
            </a:r>
          </a:p>
          <a:p>
            <a:pPr marL="0" lvl="0" indent="0" eaLnBrk="0" fontAlgn="base" hangingPunct="0">
              <a:lnSpc>
                <a:spcPct val="100000"/>
              </a:lnSpc>
              <a:spcBef>
                <a:spcPct val="0"/>
              </a:spcBef>
              <a:spcAft>
                <a:spcPct val="0"/>
              </a:spcAft>
              <a:buClrTx/>
              <a:buSzTx/>
              <a:buNone/>
            </a:pPr>
            <a:endParaRPr lang="en-US" altLang="en-US" sz="900" b="1" dirty="0">
              <a:solidFill>
                <a:schemeClr val="tx1"/>
              </a:solidFill>
              <a:latin typeface="Nunito" pitchFamily="2" charset="77"/>
            </a:endParaRPr>
          </a:p>
          <a:p>
            <a:pPr marL="0" lvl="0" indent="0" eaLnBrk="0" fontAlgn="base" hangingPunct="0">
              <a:lnSpc>
                <a:spcPct val="100000"/>
              </a:lnSpc>
              <a:spcBef>
                <a:spcPct val="0"/>
              </a:spcBef>
              <a:spcAft>
                <a:spcPct val="0"/>
              </a:spcAft>
              <a:buClrTx/>
              <a:buSzTx/>
              <a:buNone/>
            </a:pPr>
            <a:r>
              <a:rPr lang="en-US" altLang="en-US" sz="900" b="1" dirty="0">
                <a:solidFill>
                  <a:schemeClr val="tx1"/>
                </a:solidFill>
                <a:latin typeface="Nunito" pitchFamily="2" charset="77"/>
              </a:rPr>
              <a:t>Key Observations</a:t>
            </a:r>
          </a:p>
          <a:p>
            <a:pPr marL="0" lvl="0" indent="0" eaLnBrk="0" fontAlgn="base" hangingPunct="0">
              <a:lnSpc>
                <a:spcPct val="100000"/>
              </a:lnSpc>
              <a:spcBef>
                <a:spcPct val="0"/>
              </a:spcBef>
              <a:spcAft>
                <a:spcPct val="0"/>
              </a:spcAft>
              <a:buClrTx/>
              <a:buSzTx/>
              <a:buFontTx/>
              <a:buChar char="•"/>
            </a:pPr>
            <a:r>
              <a:rPr lang="en-US" altLang="en-US" sz="900" dirty="0">
                <a:solidFill>
                  <a:schemeClr val="tx1"/>
                </a:solidFill>
                <a:latin typeface="Nunito" pitchFamily="2" charset="77"/>
              </a:rPr>
              <a:t>Each record is uniquely identified by a </a:t>
            </a:r>
            <a:r>
              <a:rPr lang="en-US" altLang="en-US" sz="900" dirty="0" err="1">
                <a:solidFill>
                  <a:schemeClr val="tx1"/>
                </a:solidFill>
                <a:latin typeface="Nunito" pitchFamily="2" charset="77"/>
              </a:rPr>
              <a:t>case_id</a:t>
            </a:r>
            <a:endParaRPr lang="en-US" altLang="en-US" sz="900" dirty="0">
              <a:solidFill>
                <a:schemeClr val="tx1"/>
              </a:solidFill>
              <a:latin typeface="Nunito" pitchFamily="2" charset="77"/>
            </a:endParaRPr>
          </a:p>
          <a:p>
            <a:pPr marL="0" lvl="0" indent="0" eaLnBrk="0" fontAlgn="base" hangingPunct="0">
              <a:lnSpc>
                <a:spcPct val="100000"/>
              </a:lnSpc>
              <a:spcBef>
                <a:spcPct val="0"/>
              </a:spcBef>
              <a:spcAft>
                <a:spcPct val="0"/>
              </a:spcAft>
              <a:buClrTx/>
              <a:buSzTx/>
              <a:buFontTx/>
              <a:buChar char="•"/>
            </a:pPr>
            <a:r>
              <a:rPr lang="en-US" altLang="en-US" sz="900" dirty="0">
                <a:solidFill>
                  <a:schemeClr val="tx1"/>
                </a:solidFill>
                <a:latin typeface="Nunito" pitchFamily="2" charset="77"/>
              </a:rPr>
              <a:t>The dataset contains a mix of categorical and numerical variables</a:t>
            </a:r>
          </a:p>
          <a:p>
            <a:pPr marL="0" lvl="0" indent="0" eaLnBrk="0" fontAlgn="base" hangingPunct="0">
              <a:lnSpc>
                <a:spcPct val="100000"/>
              </a:lnSpc>
              <a:spcBef>
                <a:spcPct val="0"/>
              </a:spcBef>
              <a:spcAft>
                <a:spcPct val="0"/>
              </a:spcAft>
              <a:buClrTx/>
              <a:buSzTx/>
              <a:buFontTx/>
              <a:buChar char="•"/>
            </a:pPr>
            <a:r>
              <a:rPr lang="en-US" altLang="en-US" sz="900" dirty="0">
                <a:solidFill>
                  <a:schemeClr val="tx1"/>
                </a:solidFill>
                <a:latin typeface="Nunito" pitchFamily="2" charset="77"/>
              </a:rPr>
              <a:t>The target variable </a:t>
            </a:r>
            <a:r>
              <a:rPr lang="en-US" altLang="en-US" sz="900" dirty="0" err="1">
                <a:solidFill>
                  <a:schemeClr val="tx1"/>
                </a:solidFill>
                <a:latin typeface="Nunito" pitchFamily="2" charset="77"/>
              </a:rPr>
              <a:t>case_status</a:t>
            </a:r>
            <a:r>
              <a:rPr lang="en-US" altLang="en-US" sz="900" dirty="0">
                <a:solidFill>
                  <a:schemeClr val="tx1"/>
                </a:solidFill>
                <a:latin typeface="Nunito" pitchFamily="2" charset="77"/>
              </a:rPr>
              <a:t> indicates whether a visa was approved (Certified) or rejected (Denied)</a:t>
            </a:r>
          </a:p>
          <a:p>
            <a:pPr marL="0" lvl="0" indent="0" eaLnBrk="0" fontAlgn="base" hangingPunct="0">
              <a:lnSpc>
                <a:spcPct val="100000"/>
              </a:lnSpc>
              <a:spcBef>
                <a:spcPct val="0"/>
              </a:spcBef>
              <a:spcAft>
                <a:spcPct val="0"/>
              </a:spcAft>
              <a:buClrTx/>
              <a:buSzTx/>
              <a:buFontTx/>
              <a:buChar char="•"/>
            </a:pPr>
            <a:r>
              <a:rPr lang="en-US" altLang="en-US" sz="900" dirty="0">
                <a:solidFill>
                  <a:schemeClr val="tx1"/>
                </a:solidFill>
                <a:latin typeface="Nunito" pitchFamily="2" charset="77"/>
              </a:rPr>
              <a:t>There is noticeable variation in wages, company sizes, and employment regions, which may influence visa outcomes</a:t>
            </a:r>
          </a:p>
          <a:p>
            <a:pPr marL="0" lvl="0" indent="0" eaLnBrk="0" fontAlgn="base" hangingPunct="0">
              <a:lnSpc>
                <a:spcPct val="100000"/>
              </a:lnSpc>
              <a:spcBef>
                <a:spcPct val="0"/>
              </a:spcBef>
              <a:spcAft>
                <a:spcPct val="0"/>
              </a:spcAft>
              <a:buClrTx/>
              <a:buSzTx/>
              <a:buNone/>
            </a:pPr>
            <a:endParaRPr lang="en-US" altLang="en-US" sz="900" b="1" dirty="0">
              <a:solidFill>
                <a:schemeClr val="tx1"/>
              </a:solidFill>
              <a:latin typeface="Nunito" pitchFamily="2" charset="77"/>
            </a:endParaRPr>
          </a:p>
          <a:p>
            <a:pPr marL="0" lvl="0" indent="0" eaLnBrk="0" fontAlgn="base" hangingPunct="0">
              <a:lnSpc>
                <a:spcPct val="100000"/>
              </a:lnSpc>
              <a:spcBef>
                <a:spcPct val="0"/>
              </a:spcBef>
              <a:spcAft>
                <a:spcPct val="0"/>
              </a:spcAft>
              <a:buClrTx/>
              <a:buSzTx/>
              <a:buNone/>
            </a:pPr>
            <a:r>
              <a:rPr lang="en-US" altLang="en-US" sz="900" b="1" dirty="0">
                <a:solidFill>
                  <a:schemeClr val="tx1"/>
                </a:solidFill>
                <a:latin typeface="Nunito" pitchFamily="2" charset="77"/>
              </a:rPr>
              <a:t>Summary</a:t>
            </a:r>
          </a:p>
          <a:p>
            <a:pPr marL="0" lvl="0" indent="0" eaLnBrk="0" fontAlgn="base" hangingPunct="0">
              <a:lnSpc>
                <a:spcPct val="100000"/>
              </a:lnSpc>
              <a:spcBef>
                <a:spcPct val="0"/>
              </a:spcBef>
              <a:spcAft>
                <a:spcPct val="0"/>
              </a:spcAft>
              <a:buClrTx/>
              <a:buSzTx/>
              <a:buNone/>
            </a:pPr>
            <a:r>
              <a:rPr lang="en-US" altLang="en-US" sz="900" dirty="0">
                <a:solidFill>
                  <a:schemeClr val="tx1"/>
                </a:solidFill>
                <a:latin typeface="Nunito" pitchFamily="2" charset="77"/>
              </a:rPr>
              <a:t>Overall, the dataset provides a comprehensive view of visa applications, combining demographic, economic, and employment-related factors. These variables will be used to identify patterns and build predictive models for visa approval.</a:t>
            </a:r>
          </a:p>
          <a:p>
            <a:pPr marL="139700" lvl="0" indent="0" algn="l" rtl="0">
              <a:lnSpc>
                <a:spcPct val="115000"/>
              </a:lnSpc>
              <a:spcBef>
                <a:spcPts val="1000"/>
              </a:spcBef>
              <a:spcAft>
                <a:spcPts val="0"/>
              </a:spcAft>
              <a:buClr>
                <a:srgbClr val="000000"/>
              </a:buClr>
              <a:buSzPts val="1400"/>
              <a:buNone/>
            </a:pPr>
            <a:endParaRPr sz="900" dirty="0">
              <a:solidFill>
                <a:srgbClr val="000000"/>
              </a:solidFill>
            </a:endParaRPr>
          </a:p>
        </p:txBody>
      </p:sp>
    </p:spTree>
    <p:extLst>
      <p:ext uri="{BB962C8B-B14F-4D97-AF65-F5344CB8AC3E}">
        <p14:creationId xmlns:p14="http://schemas.microsoft.com/office/powerpoint/2010/main" val="4270467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51A8938C-B083-E89B-7A72-2F83516A7334}"/>
            </a:ext>
          </a:extLst>
        </p:cNvPr>
        <p:cNvGrpSpPr/>
        <p:nvPr/>
      </p:nvGrpSpPr>
      <p:grpSpPr>
        <a:xfrm>
          <a:off x="0" y="0"/>
          <a:ext cx="0" cy="0"/>
          <a:chOff x="0" y="0"/>
          <a:chExt cx="0" cy="0"/>
        </a:xfrm>
      </p:grpSpPr>
      <p:sp>
        <p:nvSpPr>
          <p:cNvPr id="175" name="Google Shape;175;p39">
            <a:extLst>
              <a:ext uri="{FF2B5EF4-FFF2-40B4-BE49-F238E27FC236}">
                <a16:creationId xmlns:a16="http://schemas.microsoft.com/office/drawing/2014/main" id="{F9D83C07-B9E0-8805-6137-682D09FF7534}"/>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000000"/>
                </a:solidFill>
              </a:rPr>
              <a:t>EDA Results – Descriptive Statistics</a:t>
            </a:r>
            <a:endParaRPr dirty="0">
              <a:solidFill>
                <a:srgbClr val="000000"/>
              </a:solidFill>
            </a:endParaRPr>
          </a:p>
        </p:txBody>
      </p:sp>
      <p:pic>
        <p:nvPicPr>
          <p:cNvPr id="2" name="Picture 1">
            <a:extLst>
              <a:ext uri="{FF2B5EF4-FFF2-40B4-BE49-F238E27FC236}">
                <a16:creationId xmlns:a16="http://schemas.microsoft.com/office/drawing/2014/main" id="{C19ED255-2B8C-3616-37BC-30CF20F92756}"/>
              </a:ext>
            </a:extLst>
          </p:cNvPr>
          <p:cNvPicPr>
            <a:picLocks noChangeAspect="1"/>
          </p:cNvPicPr>
          <p:nvPr/>
        </p:nvPicPr>
        <p:blipFill>
          <a:blip r:embed="rId3"/>
          <a:srcRect r="38930"/>
          <a:stretch>
            <a:fillRect/>
          </a:stretch>
        </p:blipFill>
        <p:spPr>
          <a:xfrm>
            <a:off x="152341" y="861979"/>
            <a:ext cx="3223938" cy="2308290"/>
          </a:xfrm>
          <a:prstGeom prst="rect">
            <a:avLst/>
          </a:prstGeom>
        </p:spPr>
      </p:pic>
      <p:sp>
        <p:nvSpPr>
          <p:cNvPr id="3" name="Rectangle 1">
            <a:extLst>
              <a:ext uri="{FF2B5EF4-FFF2-40B4-BE49-F238E27FC236}">
                <a16:creationId xmlns:a16="http://schemas.microsoft.com/office/drawing/2014/main" id="{9C6A4207-6252-9720-8C97-186884AD766C}"/>
              </a:ext>
            </a:extLst>
          </p:cNvPr>
          <p:cNvSpPr>
            <a:spLocks noGrp="1" noChangeArrowheads="1"/>
          </p:cNvSpPr>
          <p:nvPr>
            <p:ph type="body" idx="1"/>
          </p:nvPr>
        </p:nvSpPr>
        <p:spPr bwMode="auto">
          <a:xfrm>
            <a:off x="3605178" y="954512"/>
            <a:ext cx="5336272" cy="3438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1. Number of Employees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The average number of employees is ~5,667, while the median is much lower at ~2,109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This indicates a </a:t>
            </a:r>
            <a:r>
              <a:rPr kumimoji="0" lang="en-US" altLang="en-US" sz="1000" i="0" u="none" strike="noStrike" cap="none" normalizeH="0" baseline="0" dirty="0">
                <a:ln>
                  <a:noFill/>
                </a:ln>
                <a:solidFill>
                  <a:schemeClr val="tx1"/>
                </a:solidFill>
                <a:effectLst/>
                <a:latin typeface="Nunito" pitchFamily="2" charset="77"/>
              </a:rPr>
              <a:t>right-skewed distribution</a:t>
            </a:r>
            <a:r>
              <a:rPr kumimoji="0" lang="en-US" altLang="en-US" sz="1000" b="0" i="0" u="none" strike="noStrike" cap="none" normalizeH="0" baseline="0" dirty="0">
                <a:ln>
                  <a:noFill/>
                </a:ln>
                <a:solidFill>
                  <a:schemeClr val="tx1"/>
                </a:solidFill>
                <a:effectLst/>
                <a:latin typeface="Nunito" pitchFamily="2" charset="77"/>
              </a:rPr>
              <a:t>, where a few very large companies significantly increase the average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The maximum value (602,069) confirms the presence of large outliers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Negative values were observed and corrected using absolute transformation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Insight:</a:t>
            </a:r>
            <a:r>
              <a:rPr kumimoji="0" lang="en-US" altLang="en-US" sz="1000" b="0" i="0" u="none" strike="noStrike" cap="none" normalizeH="0" baseline="0" dirty="0">
                <a:ln>
                  <a:noFill/>
                </a:ln>
                <a:solidFill>
                  <a:schemeClr val="tx1"/>
                </a:solidFill>
                <a:effectLst/>
                <a:latin typeface="Nunito" pitchFamily="2" charset="77"/>
              </a:rPr>
              <a:t> Most visa applications come from small to mid-sized companies, with a few large organizations contributing to extreme values.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a:p>
            <a:pPr marL="0" lvl="0" indent="0">
              <a:lnSpc>
                <a:spcPct val="100000"/>
              </a:lnSpc>
              <a:buClrTx/>
              <a:buSzTx/>
              <a:buNone/>
            </a:pPr>
            <a:r>
              <a:rPr lang="en-US" altLang="en-US" sz="1000" b="1" dirty="0">
                <a:latin typeface="Nunito" pitchFamily="2" charset="77"/>
              </a:rPr>
              <a:t>2. Year of Establishment</a:t>
            </a:r>
          </a:p>
          <a:p>
            <a:pPr marL="0" lvl="0" indent="0">
              <a:lnSpc>
                <a:spcPct val="100000"/>
              </a:lnSpc>
              <a:buClrTx/>
              <a:buSzTx/>
              <a:buFontTx/>
              <a:buChar char="•"/>
            </a:pPr>
            <a:r>
              <a:rPr lang="en-US" altLang="en-US" sz="1000" dirty="0">
                <a:latin typeface="Nunito" pitchFamily="2" charset="77"/>
              </a:rPr>
              <a:t>The average year of establishment is ~1979, while the median is ~1997</a:t>
            </a:r>
          </a:p>
          <a:p>
            <a:pPr marL="0" lvl="0" indent="0">
              <a:lnSpc>
                <a:spcPct val="100000"/>
              </a:lnSpc>
              <a:buClrTx/>
              <a:buSzTx/>
              <a:buFontTx/>
              <a:buChar char="•"/>
            </a:pPr>
            <a:r>
              <a:rPr lang="en-US" altLang="en-US" sz="1000" dirty="0">
                <a:latin typeface="Nunito" pitchFamily="2" charset="77"/>
              </a:rPr>
              <a:t>The dataset includes companies ranging from very old (1800) to recent (2016)</a:t>
            </a:r>
          </a:p>
          <a:p>
            <a:pPr marL="0" lvl="0" indent="0">
              <a:lnSpc>
                <a:spcPct val="100000"/>
              </a:lnSpc>
              <a:buClrTx/>
              <a:buSzTx/>
              <a:buNone/>
            </a:pPr>
            <a:r>
              <a:rPr lang="en-US" altLang="en-US" sz="1000" b="1" dirty="0">
                <a:latin typeface="Nunito" pitchFamily="2" charset="77"/>
              </a:rPr>
              <a:t>Insight:</a:t>
            </a:r>
            <a:r>
              <a:rPr lang="en-US" altLang="en-US" sz="1000" dirty="0">
                <a:latin typeface="Nunito" pitchFamily="2" charset="77"/>
              </a:rPr>
              <a:t> Visa applications are submitted by a diverse mix of both well-established and relatively new companies</a:t>
            </a:r>
          </a:p>
          <a:p>
            <a:pPr marL="0" lvl="0" indent="0">
              <a:lnSpc>
                <a:spcPct val="100000"/>
              </a:lnSpc>
              <a:buClrTx/>
              <a:buSzTx/>
              <a:buNone/>
            </a:pPr>
            <a:endParaRPr kumimoji="0" lang="en-US" altLang="en-US" sz="1000" b="0" i="0" u="none" strike="noStrike" cap="none" normalizeH="0" baseline="0" dirty="0">
              <a:ln>
                <a:noFill/>
              </a:ln>
              <a:solidFill>
                <a:schemeClr val="tx1"/>
              </a:solidFill>
              <a:effectLst/>
              <a:latin typeface="Nunito" pitchFamily="2" charset="77"/>
            </a:endParaRPr>
          </a:p>
          <a:p>
            <a:pPr marL="0" lvl="0" indent="0">
              <a:lnSpc>
                <a:spcPct val="100000"/>
              </a:lnSpc>
              <a:buClrTx/>
              <a:buSzTx/>
              <a:buNone/>
            </a:pPr>
            <a:r>
              <a:rPr lang="en-US" altLang="en-US" sz="1000" dirty="0">
                <a:latin typeface="Nunito" pitchFamily="2" charset="77"/>
              </a:rPr>
              <a:t>3. </a:t>
            </a:r>
            <a:r>
              <a:rPr lang="en-US" altLang="en-US" sz="1000" b="1" dirty="0">
                <a:latin typeface="Nunito" pitchFamily="2" charset="77"/>
              </a:rPr>
              <a:t>Prevailing Wage</a:t>
            </a:r>
          </a:p>
          <a:p>
            <a:pPr marL="0" lvl="0" indent="0">
              <a:lnSpc>
                <a:spcPct val="100000"/>
              </a:lnSpc>
              <a:buClrTx/>
              <a:buSzTx/>
              <a:buNone/>
            </a:pPr>
            <a:r>
              <a:rPr lang="en-US" altLang="en-US" sz="1000" dirty="0">
                <a:latin typeface="Nunito" pitchFamily="2" charset="77"/>
              </a:rPr>
              <a:t>- The average wage is ~$74,456, with a median of ~$70,308</a:t>
            </a:r>
          </a:p>
          <a:p>
            <a:pPr marL="0" lvl="0" indent="0">
              <a:lnSpc>
                <a:spcPct val="100000"/>
              </a:lnSpc>
              <a:buClrTx/>
              <a:buSzTx/>
              <a:buNone/>
            </a:pPr>
            <a:r>
              <a:rPr lang="en-US" altLang="en-US" sz="1000" dirty="0">
                <a:latin typeface="Nunito" pitchFamily="2" charset="77"/>
              </a:rPr>
              <a:t>- The wide range (from ~$2 to ~$319,210) indicates high variability in wages</a:t>
            </a:r>
          </a:p>
          <a:p>
            <a:pPr marL="0" lvl="0" indent="0">
              <a:lnSpc>
                <a:spcPct val="100000"/>
              </a:lnSpc>
              <a:buClrTx/>
              <a:buSzTx/>
              <a:buNone/>
            </a:pPr>
            <a:r>
              <a:rPr lang="en-US" altLang="en-US" sz="1000" dirty="0">
                <a:latin typeface="Nunito" pitchFamily="2" charset="77"/>
              </a:rPr>
              <a:t>- The distribution is slightly right-skewed, with some high-paying roles</a:t>
            </a:r>
          </a:p>
          <a:p>
            <a:pPr marL="0" lvl="0" indent="0">
              <a:lnSpc>
                <a:spcPct val="100000"/>
              </a:lnSpc>
              <a:buClrTx/>
              <a:buSzTx/>
              <a:buNone/>
            </a:pPr>
            <a:r>
              <a:rPr lang="en-US" altLang="en-US" sz="1000" b="1" dirty="0">
                <a:latin typeface="Nunito" pitchFamily="2" charset="77"/>
              </a:rPr>
              <a:t>Insight</a:t>
            </a:r>
            <a:r>
              <a:rPr lang="en-US" altLang="en-US" sz="1000" dirty="0">
                <a:latin typeface="Nunito" pitchFamily="2" charset="77"/>
              </a:rPr>
              <a:t>: Wage levels vary significantly across applications and may play an important role in determining visa approval outcomes.</a:t>
            </a:r>
            <a:endParaRPr kumimoji="0" lang="en-US" altLang="en-US" sz="1000" b="0" i="0" u="none" strike="noStrike" cap="none" normalizeH="0" baseline="0" dirty="0">
              <a:ln>
                <a:noFill/>
              </a:ln>
              <a:solidFill>
                <a:schemeClr val="tx1"/>
              </a:solidFill>
              <a:effectLst/>
              <a:latin typeface="Nunito" pitchFamily="2" charset="77"/>
            </a:endParaRPr>
          </a:p>
        </p:txBody>
      </p:sp>
      <p:sp>
        <p:nvSpPr>
          <p:cNvPr id="14" name="Rectangle 12">
            <a:extLst>
              <a:ext uri="{FF2B5EF4-FFF2-40B4-BE49-F238E27FC236}">
                <a16:creationId xmlns:a16="http://schemas.microsoft.com/office/drawing/2014/main" id="{FF5D3988-A0C0-96C0-2D4B-29752F56009D}"/>
              </a:ext>
            </a:extLst>
          </p:cNvPr>
          <p:cNvSpPr>
            <a:spLocks noChangeArrowheads="1"/>
          </p:cNvSpPr>
          <p:nvPr/>
        </p:nvSpPr>
        <p:spPr bwMode="auto">
          <a:xfrm>
            <a:off x="482321" y="3562816"/>
            <a:ext cx="172468" cy="360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system-ui"/>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05635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000000"/>
                </a:solidFill>
              </a:rPr>
              <a:t>EDA Results: Handling of Negative Employee Numbers</a:t>
            </a:r>
            <a:endParaRPr dirty="0">
              <a:solidFill>
                <a:srgbClr val="000000"/>
              </a:solidFill>
            </a:endParaRPr>
          </a:p>
        </p:txBody>
      </p:sp>
      <p:sp>
        <p:nvSpPr>
          <p:cNvPr id="2" name="Text Placeholder 1">
            <a:extLst>
              <a:ext uri="{FF2B5EF4-FFF2-40B4-BE49-F238E27FC236}">
                <a16:creationId xmlns:a16="http://schemas.microsoft.com/office/drawing/2014/main" id="{C7B72859-90B5-89A7-9746-766072D74924}"/>
              </a:ext>
            </a:extLst>
          </p:cNvPr>
          <p:cNvSpPr>
            <a:spLocks noGrp="1" noChangeArrowheads="1"/>
          </p:cNvSpPr>
          <p:nvPr>
            <p:ph type="body" idx="1"/>
          </p:nvPr>
        </p:nvSpPr>
        <p:spPr bwMode="auto">
          <a:xfrm>
            <a:off x="202550" y="947426"/>
            <a:ext cx="8738900" cy="3080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7935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Nunito" pitchFamily="2" charset="77"/>
              </a:rPr>
              <a:t>Handling Invalid Values in </a:t>
            </a:r>
            <a:r>
              <a:rPr kumimoji="0" lang="en-US" altLang="en-US" sz="1200" b="1" i="0" u="none" strike="noStrike" cap="none" normalizeH="0" baseline="0" dirty="0" err="1">
                <a:ln>
                  <a:noFill/>
                </a:ln>
                <a:solidFill>
                  <a:schemeClr val="tx1"/>
                </a:solidFill>
                <a:effectLst/>
                <a:latin typeface="Nunito" pitchFamily="2" charset="77"/>
              </a:rPr>
              <a:t>no_of_employees</a:t>
            </a:r>
            <a:endParaRPr kumimoji="0" lang="en-US" altLang="en-US" sz="12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Nunito" pitchFamily="2" charset="77"/>
              </a:rPr>
              <a:t>I identified records where the number of employees was negative, which is not logically valid.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Nunito" pitchFamily="2" charset="77"/>
              </a:rPr>
              <a:t>A total of </a:t>
            </a:r>
            <a:r>
              <a:rPr kumimoji="0" lang="en-US" altLang="en-US" sz="1200" b="1" i="0" u="none" strike="noStrike" cap="none" normalizeH="0" baseline="0" dirty="0">
                <a:ln>
                  <a:noFill/>
                </a:ln>
                <a:solidFill>
                  <a:schemeClr val="tx1"/>
                </a:solidFill>
                <a:effectLst/>
                <a:latin typeface="Nunito" pitchFamily="2" charset="77"/>
              </a:rPr>
              <a:t>33 rows</a:t>
            </a:r>
            <a:r>
              <a:rPr kumimoji="0" lang="en-US" altLang="en-US" sz="1200" b="0" i="0" u="none" strike="noStrike" cap="none" normalizeH="0" baseline="0" dirty="0">
                <a:ln>
                  <a:noFill/>
                </a:ln>
                <a:solidFill>
                  <a:schemeClr val="tx1"/>
                </a:solidFill>
                <a:effectLst/>
                <a:latin typeface="Nunito" pitchFamily="2" charset="77"/>
              </a:rPr>
              <a:t> contained negative values in this column.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Nunito" pitchFamily="2" charset="77"/>
              </a:rPr>
              <a:t>Why this matters:</a:t>
            </a:r>
            <a:endParaRPr kumimoji="0" lang="en-US" altLang="en-US" sz="12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Nunito" pitchFamily="2" charset="77"/>
              </a:rPr>
              <a:t>Negative employee counts are data errors and can distort analysis and model performance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Nunito" pitchFamily="2" charset="77"/>
              </a:rPr>
              <a:t>Action Taken:</a:t>
            </a:r>
            <a:endParaRPr kumimoji="0" lang="en-US" altLang="en-US" sz="12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Nunito" pitchFamily="2" charset="77"/>
              </a:rPr>
              <a:t>I applied an absolute value transformation to convert negative values into positive values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Nunito" pitchFamily="2" charset="77"/>
              </a:rPr>
              <a:t>Rationale:</a:t>
            </a:r>
            <a:endParaRPr kumimoji="0" lang="en-US" altLang="en-US" sz="12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Nunito" pitchFamily="2" charset="77"/>
              </a:rPr>
              <a:t>I assumed that the magnitude of the value is correct and only the sign is incorrect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Nunito" pitchFamily="2" charset="77"/>
              </a:rPr>
              <a:t>Outcome:</a:t>
            </a:r>
            <a:endParaRPr kumimoji="0" lang="en-US" altLang="en-US" sz="12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Nunito" pitchFamily="2" charset="77"/>
              </a:rPr>
              <a:t>Data quality is improved without losing any record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Nunito" pitchFamily="2" charset="77"/>
            </a:endParaRPr>
          </a:p>
        </p:txBody>
      </p:sp>
      <p:pic>
        <p:nvPicPr>
          <p:cNvPr id="3" name="Picture 2">
            <a:extLst>
              <a:ext uri="{FF2B5EF4-FFF2-40B4-BE49-F238E27FC236}">
                <a16:creationId xmlns:a16="http://schemas.microsoft.com/office/drawing/2014/main" id="{888CD725-2C06-A4AA-9623-A8F651FE61FE}"/>
              </a:ext>
            </a:extLst>
          </p:cNvPr>
          <p:cNvPicPr>
            <a:picLocks noChangeAspect="1"/>
          </p:cNvPicPr>
          <p:nvPr/>
        </p:nvPicPr>
        <p:blipFill>
          <a:blip r:embed="rId3"/>
          <a:stretch>
            <a:fillRect/>
          </a:stretch>
        </p:blipFill>
        <p:spPr>
          <a:xfrm>
            <a:off x="202550" y="3819800"/>
            <a:ext cx="5729577" cy="103442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EFC6EA8E-0E66-FE97-A320-ECA27E68B598}"/>
            </a:ext>
          </a:extLst>
        </p:cNvPr>
        <p:cNvGrpSpPr/>
        <p:nvPr/>
      </p:nvGrpSpPr>
      <p:grpSpPr>
        <a:xfrm>
          <a:off x="0" y="0"/>
          <a:ext cx="0" cy="0"/>
          <a:chOff x="0" y="0"/>
          <a:chExt cx="0" cy="0"/>
        </a:xfrm>
      </p:grpSpPr>
      <p:sp>
        <p:nvSpPr>
          <p:cNvPr id="175" name="Google Shape;175;p39">
            <a:extLst>
              <a:ext uri="{FF2B5EF4-FFF2-40B4-BE49-F238E27FC236}">
                <a16:creationId xmlns:a16="http://schemas.microsoft.com/office/drawing/2014/main" id="{CCD85E1B-8E03-3961-B1C0-3D7F3551F907}"/>
              </a:ext>
            </a:extLst>
          </p:cNvPr>
          <p:cNvSpPr txBox="1">
            <a:spLocks noGrp="1"/>
          </p:cNvSpPr>
          <p:nvPr>
            <p:ph type="title"/>
          </p:nvPr>
        </p:nvSpPr>
        <p:spPr>
          <a:xfrm>
            <a:off x="200161" y="-21931"/>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000000"/>
                </a:solidFill>
              </a:rPr>
              <a:t>EDA Results – Analysis of Categorical Data</a:t>
            </a:r>
            <a:endParaRPr dirty="0">
              <a:solidFill>
                <a:srgbClr val="000000"/>
              </a:solidFill>
            </a:endParaRPr>
          </a:p>
        </p:txBody>
      </p:sp>
      <p:sp>
        <p:nvSpPr>
          <p:cNvPr id="23" name="Text Placeholder 22">
            <a:extLst>
              <a:ext uri="{FF2B5EF4-FFF2-40B4-BE49-F238E27FC236}">
                <a16:creationId xmlns:a16="http://schemas.microsoft.com/office/drawing/2014/main" id="{AE0073F7-F884-2006-2016-BF7504F35476}"/>
              </a:ext>
            </a:extLst>
          </p:cNvPr>
          <p:cNvSpPr>
            <a:spLocks noGrp="1" noChangeArrowheads="1"/>
          </p:cNvSpPr>
          <p:nvPr>
            <p:ph type="body" idx="1"/>
          </p:nvPr>
        </p:nvSpPr>
        <p:spPr bwMode="auto">
          <a:xfrm>
            <a:off x="50817" y="895808"/>
            <a:ext cx="4510127" cy="1283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To better understand the dataset, I examined the distribution of all categorical variables by counting the frequency of each category.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Why this is important:</a:t>
            </a:r>
            <a:endParaRPr kumimoji="0" lang="en-US" altLang="en-US" sz="10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Helps identify dominant patterns in the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Detects class imbalance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Provides insights into factors that may influence visa approval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p:txBody>
      </p:sp>
      <p:sp>
        <p:nvSpPr>
          <p:cNvPr id="27" name="Rectangle 26">
            <a:extLst>
              <a:ext uri="{FF2B5EF4-FFF2-40B4-BE49-F238E27FC236}">
                <a16:creationId xmlns:a16="http://schemas.microsoft.com/office/drawing/2014/main" id="{3A25B7D1-4804-B67C-232E-71BF16168493}"/>
              </a:ext>
            </a:extLst>
          </p:cNvPr>
          <p:cNvSpPr>
            <a:spLocks noChangeArrowheads="1"/>
          </p:cNvSpPr>
          <p:nvPr/>
        </p:nvSpPr>
        <p:spPr bwMode="auto">
          <a:xfrm>
            <a:off x="50817" y="1821084"/>
            <a:ext cx="3654190" cy="1705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7610" tIns="15870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Key Observations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Case ID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Each value appears only once (25,480 unique values)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This confirms it is a unique identifier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Action:</a:t>
            </a:r>
            <a:endParaRPr kumimoji="0" lang="en-US" altLang="en-US" sz="10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I removed this column as it does not contribute to prediction</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dirty="0">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p:txBody>
      </p:sp>
      <p:sp>
        <p:nvSpPr>
          <p:cNvPr id="32" name="Rectangle 29">
            <a:extLst>
              <a:ext uri="{FF2B5EF4-FFF2-40B4-BE49-F238E27FC236}">
                <a16:creationId xmlns:a16="http://schemas.microsoft.com/office/drawing/2014/main" id="{04678726-F422-0731-1B55-71B8479AB29F}"/>
              </a:ext>
            </a:extLst>
          </p:cNvPr>
          <p:cNvSpPr>
            <a:spLocks noChangeArrowheads="1"/>
          </p:cNvSpPr>
          <p:nvPr/>
        </p:nvSpPr>
        <p:spPr bwMode="auto">
          <a:xfrm>
            <a:off x="50817" y="2811172"/>
            <a:ext cx="4409644" cy="1551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15870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Continent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Majority of applicants are from Asia (~66%)</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Insight:</a:t>
            </a:r>
            <a:endParaRPr kumimoji="0" lang="en-US" altLang="en-US" sz="10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The dataset is geographically imbalanced, which may influence model predictions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p:txBody>
      </p:sp>
      <p:sp>
        <p:nvSpPr>
          <p:cNvPr id="35" name="Rectangle 32">
            <a:extLst>
              <a:ext uri="{FF2B5EF4-FFF2-40B4-BE49-F238E27FC236}">
                <a16:creationId xmlns:a16="http://schemas.microsoft.com/office/drawing/2014/main" id="{920FFBED-A299-1439-3471-AF10790D7CDD}"/>
              </a:ext>
            </a:extLst>
          </p:cNvPr>
          <p:cNvSpPr>
            <a:spLocks noChangeArrowheads="1"/>
          </p:cNvSpPr>
          <p:nvPr/>
        </p:nvSpPr>
        <p:spPr bwMode="auto">
          <a:xfrm>
            <a:off x="0" y="3757911"/>
            <a:ext cx="3541354"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Nunito" pitchFamily="2" charset="77"/>
              </a:rPr>
              <a:t>Education Level</a:t>
            </a:r>
            <a:br>
              <a:rPr kumimoji="0" lang="en-US" altLang="en-US" sz="1000" b="0" i="0" u="none" strike="noStrike" cap="none" normalizeH="0" baseline="0" dirty="0">
                <a:ln>
                  <a:noFill/>
                </a:ln>
                <a:solidFill>
                  <a:schemeClr val="tx1"/>
                </a:solidFill>
                <a:effectLst/>
                <a:latin typeface="Nunito" pitchFamily="2" charset="77"/>
              </a:rPr>
            </a:br>
            <a:r>
              <a:rPr kumimoji="0" lang="en-US" altLang="en-US" sz="1000" b="0" i="0" u="none" strike="noStrike" cap="none" normalizeH="0" baseline="0" dirty="0">
                <a:ln>
                  <a:noFill/>
                </a:ln>
                <a:solidFill>
                  <a:srgbClr val="000000"/>
                </a:solidFill>
                <a:effectLst/>
                <a:latin typeface="Nunito" pitchFamily="2" charset="77"/>
              </a:rPr>
              <a:t>- Most applicants have Bachelor’s or Master’s degrees </a:t>
            </a:r>
            <a:br>
              <a:rPr kumimoji="0" lang="en-US" altLang="en-US" sz="1000" b="0" i="0" u="none" strike="noStrike" cap="none" normalizeH="0" baseline="0" dirty="0">
                <a:ln>
                  <a:noFill/>
                </a:ln>
                <a:solidFill>
                  <a:schemeClr val="tx1"/>
                </a:solidFill>
                <a:effectLst/>
                <a:latin typeface="Nunito" pitchFamily="2" charset="77"/>
              </a:rPr>
            </a:br>
            <a:r>
              <a:rPr kumimoji="0" lang="en-US" altLang="en-US" sz="1000" b="0" i="0" u="none" strike="noStrike" cap="none" normalizeH="0" baseline="0" dirty="0">
                <a:ln>
                  <a:noFill/>
                </a:ln>
                <a:solidFill>
                  <a:srgbClr val="000000"/>
                </a:solidFill>
                <a:effectLst/>
                <a:latin typeface="Nunito" pitchFamily="2" charset="77"/>
              </a:rPr>
              <a:t>**Insight:** </a:t>
            </a:r>
            <a:br>
              <a:rPr kumimoji="0" lang="en-US" altLang="en-US" sz="1000" b="0" i="0" u="none" strike="noStrike" cap="none" normalizeH="0" baseline="0" dirty="0">
                <a:ln>
                  <a:noFill/>
                </a:ln>
                <a:solidFill>
                  <a:schemeClr val="tx1"/>
                </a:solidFill>
                <a:effectLst/>
                <a:latin typeface="Nunito" pitchFamily="2" charset="77"/>
              </a:rPr>
            </a:br>
            <a:r>
              <a:rPr kumimoji="0" lang="en-US" altLang="en-US" sz="1000" b="0" i="0" u="none" strike="noStrike" cap="none" normalizeH="0" baseline="0" dirty="0">
                <a:ln>
                  <a:noFill/>
                </a:ln>
                <a:solidFill>
                  <a:srgbClr val="000000"/>
                </a:solidFill>
                <a:effectLst/>
                <a:latin typeface="Nunito" pitchFamily="2" charset="77"/>
              </a:rPr>
              <a:t>- The dataset is dominated by highly educated individuals </a:t>
            </a:r>
            <a:br>
              <a:rPr kumimoji="0" lang="en-US" altLang="en-US" sz="1000" b="0" i="0" u="none" strike="noStrike" cap="none" normalizeH="0" baseline="0" dirty="0">
                <a:ln>
                  <a:noFill/>
                </a:ln>
                <a:solidFill>
                  <a:schemeClr val="tx1"/>
                </a:solidFill>
                <a:effectLst/>
                <a:latin typeface="Nunito" pitchFamily="2" charset="77"/>
              </a:rPr>
            </a:br>
            <a:endParaRPr kumimoji="0" lang="en-US" altLang="en-US" sz="1000" b="0" i="0" u="none" strike="noStrike" cap="none" normalizeH="0" baseline="0" dirty="0">
              <a:ln>
                <a:noFill/>
              </a:ln>
              <a:solidFill>
                <a:schemeClr val="tx1"/>
              </a:solidFill>
              <a:effectLst/>
              <a:latin typeface="Nunito" pitchFamily="2" charset="77"/>
            </a:endParaRPr>
          </a:p>
        </p:txBody>
      </p:sp>
      <p:sp>
        <p:nvSpPr>
          <p:cNvPr id="36" name="Rectangle 33">
            <a:extLst>
              <a:ext uri="{FF2B5EF4-FFF2-40B4-BE49-F238E27FC236}">
                <a16:creationId xmlns:a16="http://schemas.microsoft.com/office/drawing/2014/main" id="{DF7DDA1A-EBA5-3722-D104-3D54DCD8C366}"/>
              </a:ext>
            </a:extLst>
          </p:cNvPr>
          <p:cNvSpPr>
            <a:spLocks noChangeArrowheads="1"/>
          </p:cNvSpPr>
          <p:nvPr/>
        </p:nvSpPr>
        <p:spPr bwMode="auto">
          <a:xfrm>
            <a:off x="0" y="4348114"/>
            <a:ext cx="381065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Nunito" pitchFamily="2" charset="77"/>
              </a:rPr>
              <a:t>Job Experience</a:t>
            </a:r>
            <a:br>
              <a:rPr kumimoji="0" lang="en-US" altLang="en-US" sz="1000" b="0" i="0" u="none" strike="noStrike" cap="none" normalizeH="0" baseline="0" dirty="0">
                <a:ln>
                  <a:noFill/>
                </a:ln>
                <a:solidFill>
                  <a:schemeClr val="tx1"/>
                </a:solidFill>
                <a:effectLst/>
                <a:latin typeface="Nunito" pitchFamily="2" charset="77"/>
              </a:rPr>
            </a:br>
            <a:r>
              <a:rPr kumimoji="0" lang="en-US" altLang="en-US" sz="1000" b="0" i="0" u="none" strike="noStrike" cap="none" normalizeH="0" baseline="0" dirty="0">
                <a:ln>
                  <a:noFill/>
                </a:ln>
                <a:solidFill>
                  <a:srgbClr val="000000"/>
                </a:solidFill>
                <a:effectLst/>
                <a:latin typeface="Nunito" pitchFamily="2" charset="77"/>
              </a:rPr>
              <a:t>- More applicants have prior work experience than not </a:t>
            </a:r>
            <a:br>
              <a:rPr kumimoji="0" lang="en-US" altLang="en-US" sz="1000" b="0" i="0" u="none" strike="noStrike" cap="none" normalizeH="0" baseline="0" dirty="0">
                <a:ln>
                  <a:noFill/>
                </a:ln>
                <a:solidFill>
                  <a:schemeClr val="tx1"/>
                </a:solidFill>
                <a:effectLst/>
                <a:latin typeface="Nunito" pitchFamily="2" charset="77"/>
              </a:rPr>
            </a:br>
            <a:r>
              <a:rPr kumimoji="0" lang="en-US" altLang="en-US" sz="1000" b="1" i="0" u="none" strike="noStrike" cap="none" normalizeH="0" baseline="0" dirty="0">
                <a:ln>
                  <a:noFill/>
                </a:ln>
                <a:solidFill>
                  <a:srgbClr val="000000"/>
                </a:solidFill>
                <a:effectLst/>
                <a:latin typeface="Nunito" pitchFamily="2" charset="77"/>
              </a:rPr>
              <a:t>Insight:</a:t>
            </a:r>
            <a:br>
              <a:rPr kumimoji="0" lang="en-US" altLang="en-US" sz="1000" b="0" i="0" u="none" strike="noStrike" cap="none" normalizeH="0" baseline="0" dirty="0">
                <a:ln>
                  <a:noFill/>
                </a:ln>
                <a:solidFill>
                  <a:schemeClr val="tx1"/>
                </a:solidFill>
                <a:effectLst/>
                <a:latin typeface="Nunito" pitchFamily="2" charset="77"/>
              </a:rPr>
            </a:br>
            <a:r>
              <a:rPr kumimoji="0" lang="en-US" altLang="en-US" sz="1000" b="0" i="0" u="none" strike="noStrike" cap="none" normalizeH="0" baseline="0" dirty="0">
                <a:ln>
                  <a:noFill/>
                </a:ln>
                <a:solidFill>
                  <a:srgbClr val="000000"/>
                </a:solidFill>
                <a:effectLst/>
                <a:latin typeface="Nunito" pitchFamily="2" charset="77"/>
              </a:rPr>
              <a:t>- Work experience may be an important factor in visa approval </a:t>
            </a:r>
            <a:endParaRPr kumimoji="0" lang="en-US" altLang="en-US" sz="1000" b="0" i="0" u="none" strike="noStrike" cap="none" normalizeH="0" baseline="0" dirty="0">
              <a:ln>
                <a:noFill/>
              </a:ln>
              <a:solidFill>
                <a:schemeClr val="tx1"/>
              </a:solidFill>
              <a:effectLst/>
              <a:latin typeface="Nunito" pitchFamily="2" charset="77"/>
            </a:endParaRPr>
          </a:p>
        </p:txBody>
      </p:sp>
      <p:sp>
        <p:nvSpPr>
          <p:cNvPr id="37" name="Rectangle 34">
            <a:extLst>
              <a:ext uri="{FF2B5EF4-FFF2-40B4-BE49-F238E27FC236}">
                <a16:creationId xmlns:a16="http://schemas.microsoft.com/office/drawing/2014/main" id="{A4A50DDE-4232-3096-5472-B2F798453940}"/>
              </a:ext>
            </a:extLst>
          </p:cNvPr>
          <p:cNvSpPr>
            <a:spLocks noChangeArrowheads="1"/>
          </p:cNvSpPr>
          <p:nvPr/>
        </p:nvSpPr>
        <p:spPr bwMode="auto">
          <a:xfrm>
            <a:off x="4460461" y="1026663"/>
            <a:ext cx="3107567" cy="975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Job Training Requirement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Most applicants do not require job training (~88%)</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Insight:</a:t>
            </a:r>
            <a:endParaRPr kumimoji="0" lang="en-US" altLang="en-US" sz="10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The majority of candidates are job-ready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p:txBody>
      </p:sp>
      <p:sp>
        <p:nvSpPr>
          <p:cNvPr id="38" name="Rectangle 35">
            <a:extLst>
              <a:ext uri="{FF2B5EF4-FFF2-40B4-BE49-F238E27FC236}">
                <a16:creationId xmlns:a16="http://schemas.microsoft.com/office/drawing/2014/main" id="{416CE688-C00D-0869-23A7-40BEAFBA9979}"/>
              </a:ext>
            </a:extLst>
          </p:cNvPr>
          <p:cNvSpPr>
            <a:spLocks noChangeArrowheads="1"/>
          </p:cNvSpPr>
          <p:nvPr/>
        </p:nvSpPr>
        <p:spPr bwMode="auto">
          <a:xfrm>
            <a:off x="4445262" y="1822138"/>
            <a:ext cx="3564422" cy="975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Region of Employment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Applications are </a:t>
            </a:r>
            <a:r>
              <a:rPr kumimoji="0" lang="en-US" altLang="en-US" sz="1000" b="0" i="0" u="none" strike="noStrike" cap="none" normalizeH="0" baseline="0" dirty="0" err="1">
                <a:ln>
                  <a:noFill/>
                </a:ln>
                <a:solidFill>
                  <a:schemeClr val="tx1"/>
                </a:solidFill>
                <a:effectLst/>
                <a:latin typeface="Nunito" pitchFamily="2" charset="77"/>
              </a:rPr>
              <a:t>distrib</a:t>
            </a:r>
            <a:r>
              <a:rPr kumimoji="0" lang="en-US" altLang="en-US" sz="1000" b="0" i="0" u="none" strike="noStrike" cap="none" normalizeH="0" baseline="0" dirty="0">
                <a:ln>
                  <a:noFill/>
                </a:ln>
                <a:solidFill>
                  <a:schemeClr val="tx1"/>
                </a:solidFill>
                <a:effectLst/>
                <a:latin typeface="Nunito" pitchFamily="2" charset="77"/>
              </a:rPr>
              <a:t>     </a:t>
            </a:r>
            <a:r>
              <a:rPr kumimoji="0" lang="en-US" altLang="en-US" sz="1000" b="0" i="0" u="none" strike="noStrike" cap="none" normalizeH="0" baseline="0" dirty="0" err="1">
                <a:ln>
                  <a:noFill/>
                </a:ln>
                <a:solidFill>
                  <a:schemeClr val="tx1"/>
                </a:solidFill>
                <a:effectLst/>
                <a:latin typeface="Nunito" pitchFamily="2" charset="77"/>
              </a:rPr>
              <a:t>uted</a:t>
            </a:r>
            <a:r>
              <a:rPr kumimoji="0" lang="en-US" altLang="en-US" sz="1000" b="0" i="0" u="none" strike="noStrike" cap="none" normalizeH="0" baseline="0" dirty="0">
                <a:ln>
                  <a:noFill/>
                </a:ln>
                <a:solidFill>
                  <a:schemeClr val="tx1"/>
                </a:solidFill>
                <a:effectLst/>
                <a:latin typeface="Nunito" pitchFamily="2" charset="77"/>
              </a:rPr>
              <a:t> across major U.S. regions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Insight:</a:t>
            </a:r>
            <a:endParaRPr kumimoji="0" lang="en-US" altLang="en-US" sz="10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Demand for foreign workers exists across multiple regions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p:txBody>
      </p:sp>
      <p:sp>
        <p:nvSpPr>
          <p:cNvPr id="39" name="Rectangle 36">
            <a:extLst>
              <a:ext uri="{FF2B5EF4-FFF2-40B4-BE49-F238E27FC236}">
                <a16:creationId xmlns:a16="http://schemas.microsoft.com/office/drawing/2014/main" id="{5E002517-210B-ACF4-386E-637C49087604}"/>
              </a:ext>
            </a:extLst>
          </p:cNvPr>
          <p:cNvSpPr>
            <a:spLocks noChangeArrowheads="1"/>
          </p:cNvSpPr>
          <p:nvPr/>
        </p:nvSpPr>
        <p:spPr bwMode="auto">
          <a:xfrm>
            <a:off x="4445262" y="2541687"/>
            <a:ext cx="3019401" cy="975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Unit of Wage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Majority of wages are yearly-based (~90%)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Insight: </a:t>
            </a:r>
            <a:endParaRPr kumimoji="0" lang="en-US" altLang="en-US" sz="10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Most roles are stable, full-time salaried positions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p:txBody>
      </p:sp>
      <p:sp>
        <p:nvSpPr>
          <p:cNvPr id="40" name="Rectangle 37">
            <a:extLst>
              <a:ext uri="{FF2B5EF4-FFF2-40B4-BE49-F238E27FC236}">
                <a16:creationId xmlns:a16="http://schemas.microsoft.com/office/drawing/2014/main" id="{929E5877-C272-D3E6-5C18-BB3E6EB12C5A}"/>
              </a:ext>
            </a:extLst>
          </p:cNvPr>
          <p:cNvSpPr>
            <a:spLocks noChangeArrowheads="1"/>
          </p:cNvSpPr>
          <p:nvPr/>
        </p:nvSpPr>
        <p:spPr bwMode="auto">
          <a:xfrm>
            <a:off x="4445262" y="3261236"/>
            <a:ext cx="3505112" cy="975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Full-Time Position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Most roles are full-time (~89%)</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Insight:</a:t>
            </a:r>
            <a:endParaRPr kumimoji="0" lang="en-US" altLang="en-US" sz="10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Visa applications are primarily for long-term employment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p:txBody>
      </p:sp>
      <p:sp>
        <p:nvSpPr>
          <p:cNvPr id="41" name="Rectangle 38">
            <a:extLst>
              <a:ext uri="{FF2B5EF4-FFF2-40B4-BE49-F238E27FC236}">
                <a16:creationId xmlns:a16="http://schemas.microsoft.com/office/drawing/2014/main" id="{13859434-4A2D-07A4-3001-DD9803A3B4DD}"/>
              </a:ext>
            </a:extLst>
          </p:cNvPr>
          <p:cNvSpPr>
            <a:spLocks noChangeArrowheads="1"/>
          </p:cNvSpPr>
          <p:nvPr/>
        </p:nvSpPr>
        <p:spPr bwMode="auto">
          <a:xfrm>
            <a:off x="4445262" y="3961615"/>
            <a:ext cx="4647921" cy="1437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Case Status (Target Variable)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Certified: 17,018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Denied: 8,462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Insight:</a:t>
            </a:r>
            <a:endParaRPr kumimoji="0" lang="en-US" altLang="en-US" sz="10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The dataset is moderately imbalanced, with more approvals than denials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This imbalance will need to be addressed during model building</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chemeClr val="tx1"/>
                </a:solidFill>
                <a:effectLst/>
                <a:latin typeface="Nunito" pitchFamily="2" charset="77"/>
              </a:rPr>
            </a:br>
            <a:endParaRPr kumimoji="0" lang="en-US" altLang="en-US" sz="1000" b="0" i="0" u="none" strike="noStrike" cap="none" normalizeH="0" baseline="0" dirty="0">
              <a:ln>
                <a:noFill/>
              </a:ln>
              <a:solidFill>
                <a:schemeClr val="tx1"/>
              </a:solidFill>
              <a:effectLst/>
              <a:latin typeface="Nunito" pitchFamily="2" charset="77"/>
            </a:endParaRPr>
          </a:p>
        </p:txBody>
      </p:sp>
      <p:sp>
        <p:nvSpPr>
          <p:cNvPr id="42" name="Rectangle 39">
            <a:extLst>
              <a:ext uri="{FF2B5EF4-FFF2-40B4-BE49-F238E27FC236}">
                <a16:creationId xmlns:a16="http://schemas.microsoft.com/office/drawing/2014/main" id="{1F763E38-150E-8F14-BFD1-C9B99FC4B601}"/>
              </a:ext>
            </a:extLst>
          </p:cNvPr>
          <p:cNvSpPr>
            <a:spLocks noChangeArrowheads="1"/>
          </p:cNvSpPr>
          <p:nvPr/>
        </p:nvSpPr>
        <p:spPr bwMode="auto">
          <a:xfrm>
            <a:off x="200161" y="377718"/>
            <a:ext cx="8743678"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Summary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This analysis highlights key patterns in the dataset, including dominance of certain categories and class imbalance. These insights will guide feature selection, preprocessing, and model development.</a:t>
            </a:r>
          </a:p>
        </p:txBody>
      </p:sp>
    </p:spTree>
    <p:extLst>
      <p:ext uri="{BB962C8B-B14F-4D97-AF65-F5344CB8AC3E}">
        <p14:creationId xmlns:p14="http://schemas.microsoft.com/office/powerpoint/2010/main" val="1248707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718C5996-A313-2AB6-7CF0-A86363B9BFDC}"/>
            </a:ext>
          </a:extLst>
        </p:cNvPr>
        <p:cNvGrpSpPr/>
        <p:nvPr/>
      </p:nvGrpSpPr>
      <p:grpSpPr>
        <a:xfrm>
          <a:off x="0" y="0"/>
          <a:ext cx="0" cy="0"/>
          <a:chOff x="0" y="0"/>
          <a:chExt cx="0" cy="0"/>
        </a:xfrm>
      </p:grpSpPr>
      <p:sp>
        <p:nvSpPr>
          <p:cNvPr id="175" name="Google Shape;175;p39">
            <a:extLst>
              <a:ext uri="{FF2B5EF4-FFF2-40B4-BE49-F238E27FC236}">
                <a16:creationId xmlns:a16="http://schemas.microsoft.com/office/drawing/2014/main" id="{0588E693-6115-D3D8-12BE-A7D9CE63911F}"/>
              </a:ext>
            </a:extLst>
          </p:cNvPr>
          <p:cNvSpPr txBox="1">
            <a:spLocks noGrp="1"/>
          </p:cNvSpPr>
          <p:nvPr>
            <p:ph type="title"/>
          </p:nvPr>
        </p:nvSpPr>
        <p:spPr>
          <a:xfrm>
            <a:off x="202551" y="155942"/>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1800" dirty="0">
                <a:solidFill>
                  <a:srgbClr val="000000"/>
                </a:solidFill>
              </a:rPr>
              <a:t>EDA Results – Univariate Analysis (Educational Level Distribution)</a:t>
            </a:r>
            <a:endParaRPr sz="1800" dirty="0">
              <a:solidFill>
                <a:srgbClr val="000000"/>
              </a:solidFill>
            </a:endParaRPr>
          </a:p>
        </p:txBody>
      </p:sp>
      <p:pic>
        <p:nvPicPr>
          <p:cNvPr id="3" name="Picture 2">
            <a:extLst>
              <a:ext uri="{FF2B5EF4-FFF2-40B4-BE49-F238E27FC236}">
                <a16:creationId xmlns:a16="http://schemas.microsoft.com/office/drawing/2014/main" id="{49A23EFD-6F9E-EEB1-1EB6-03E72220E109}"/>
              </a:ext>
            </a:extLst>
          </p:cNvPr>
          <p:cNvPicPr>
            <a:picLocks noChangeAspect="1"/>
          </p:cNvPicPr>
          <p:nvPr/>
        </p:nvPicPr>
        <p:blipFill>
          <a:blip r:embed="rId3"/>
          <a:stretch>
            <a:fillRect/>
          </a:stretch>
        </p:blipFill>
        <p:spPr>
          <a:xfrm>
            <a:off x="5688749" y="728642"/>
            <a:ext cx="3073213" cy="3552879"/>
          </a:xfrm>
          <a:prstGeom prst="rect">
            <a:avLst/>
          </a:prstGeom>
        </p:spPr>
      </p:pic>
      <p:sp>
        <p:nvSpPr>
          <p:cNvPr id="5" name="Rectangle 2">
            <a:extLst>
              <a:ext uri="{FF2B5EF4-FFF2-40B4-BE49-F238E27FC236}">
                <a16:creationId xmlns:a16="http://schemas.microsoft.com/office/drawing/2014/main" id="{9A399270-2753-ACDF-E083-1983C0219D3A}"/>
              </a:ext>
            </a:extLst>
          </p:cNvPr>
          <p:cNvSpPr>
            <a:spLocks noChangeArrowheads="1"/>
          </p:cNvSpPr>
          <p:nvPr/>
        </p:nvSpPr>
        <p:spPr bwMode="auto">
          <a:xfrm>
            <a:off x="202551" y="574754"/>
            <a:ext cx="5565204" cy="435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Education Level Distribution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i="0" u="none" strike="noStrike" cap="none" normalizeH="0" baseline="0" dirty="0">
                <a:ln>
                  <a:noFill/>
                </a:ln>
                <a:solidFill>
                  <a:schemeClr val="tx1"/>
                </a:solidFill>
                <a:effectLst/>
                <a:latin typeface="Nunito" pitchFamily="2" charset="77"/>
              </a:rPr>
              <a:t>The distribution of applicants by education level shows that: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Bachelor’s degree holders account for 40.2% of applicants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Master’s degree holders account for 37.8%</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High School graduates account for 13.4%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Doctorate holders account for 8.6%</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Interpretation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 dataset is heavily concentrated around mid-level higher education (Bachelor’s and Master’s), which together make up nearly 78% of all applicants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There is relatively low representation of applicants at the extremes (High School and Doctorate levels)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Why This is Important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Education level is likely a key determinant of visa approval, as higher education is often associated with specialized skills and higher-paying jobs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 imbalance in categories means the model will have more exposure to mid-level education groups, which may influence predictions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Business Insight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 high proportion of Bachelor’s and Master’s degree holders suggests that visa applications are primarily driven by skilled professionals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Employers are likely targeting candidates with strong academic backgrounds to meet workforce demands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Understanding how education impacts approval can help:</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Improve candidate screening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Align hiring with skill requirements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Increase approval success rates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Summary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i="0" u="none" strike="noStrike" cap="none" normalizeH="0" baseline="0" dirty="0">
                <a:ln>
                  <a:noFill/>
                </a:ln>
                <a:solidFill>
                  <a:schemeClr val="tx1"/>
                </a:solidFill>
                <a:effectLst/>
                <a:latin typeface="Nunito" pitchFamily="2" charset="77"/>
              </a:rPr>
              <a:t>Education level is a critical feature in the dataset, with most applicants being well-qualified. This reinforces the importance of education as a driver of visa approval outcomes.</a:t>
            </a:r>
          </a:p>
        </p:txBody>
      </p:sp>
    </p:spTree>
    <p:extLst>
      <p:ext uri="{BB962C8B-B14F-4D97-AF65-F5344CB8AC3E}">
        <p14:creationId xmlns:p14="http://schemas.microsoft.com/office/powerpoint/2010/main" val="2473811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9C07F123-9037-51D1-6809-C8B6537BCE09}"/>
            </a:ext>
          </a:extLst>
        </p:cNvPr>
        <p:cNvGrpSpPr/>
        <p:nvPr/>
      </p:nvGrpSpPr>
      <p:grpSpPr>
        <a:xfrm>
          <a:off x="0" y="0"/>
          <a:ext cx="0" cy="0"/>
          <a:chOff x="0" y="0"/>
          <a:chExt cx="0" cy="0"/>
        </a:xfrm>
      </p:grpSpPr>
      <p:sp>
        <p:nvSpPr>
          <p:cNvPr id="175" name="Google Shape;175;p39">
            <a:extLst>
              <a:ext uri="{FF2B5EF4-FFF2-40B4-BE49-F238E27FC236}">
                <a16:creationId xmlns:a16="http://schemas.microsoft.com/office/drawing/2014/main" id="{3C3E3BB1-89E3-47CD-FC41-A1D6AF479644}"/>
              </a:ext>
            </a:extLst>
          </p:cNvPr>
          <p:cNvSpPr txBox="1">
            <a:spLocks noGrp="1"/>
          </p:cNvSpPr>
          <p:nvPr>
            <p:ph type="title"/>
          </p:nvPr>
        </p:nvSpPr>
        <p:spPr>
          <a:xfrm>
            <a:off x="202550" y="2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000" dirty="0">
                <a:solidFill>
                  <a:srgbClr val="000000"/>
                </a:solidFill>
              </a:rPr>
              <a:t>EDA Results – Univariate Analysis (Regional Employment)</a:t>
            </a:r>
            <a:endParaRPr sz="2000" dirty="0">
              <a:solidFill>
                <a:srgbClr val="000000"/>
              </a:solidFill>
            </a:endParaRPr>
          </a:p>
        </p:txBody>
      </p:sp>
      <p:pic>
        <p:nvPicPr>
          <p:cNvPr id="2" name="Picture 1">
            <a:extLst>
              <a:ext uri="{FF2B5EF4-FFF2-40B4-BE49-F238E27FC236}">
                <a16:creationId xmlns:a16="http://schemas.microsoft.com/office/drawing/2014/main" id="{24674D03-E341-AED4-866F-786FCA251E67}"/>
              </a:ext>
            </a:extLst>
          </p:cNvPr>
          <p:cNvPicPr>
            <a:picLocks noChangeAspect="1"/>
          </p:cNvPicPr>
          <p:nvPr/>
        </p:nvPicPr>
        <p:blipFill>
          <a:blip r:embed="rId3"/>
          <a:srcRect r="38979"/>
          <a:stretch>
            <a:fillRect/>
          </a:stretch>
        </p:blipFill>
        <p:spPr>
          <a:xfrm>
            <a:off x="5431685" y="861975"/>
            <a:ext cx="3509765" cy="3706800"/>
          </a:xfrm>
          <a:prstGeom prst="rect">
            <a:avLst/>
          </a:prstGeom>
        </p:spPr>
      </p:pic>
      <p:sp>
        <p:nvSpPr>
          <p:cNvPr id="3" name="Rectangle 1">
            <a:extLst>
              <a:ext uri="{FF2B5EF4-FFF2-40B4-BE49-F238E27FC236}">
                <a16:creationId xmlns:a16="http://schemas.microsoft.com/office/drawing/2014/main" id="{8DD2770C-CEB6-D713-BFDD-5A902A59FDEA}"/>
              </a:ext>
            </a:extLst>
          </p:cNvPr>
          <p:cNvSpPr>
            <a:spLocks noGrp="1" noChangeArrowheads="1"/>
          </p:cNvSpPr>
          <p:nvPr>
            <p:ph type="body" idx="1"/>
          </p:nvPr>
        </p:nvSpPr>
        <p:spPr bwMode="auto">
          <a:xfrm>
            <a:off x="202550" y="478660"/>
            <a:ext cx="5455403" cy="466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Region of Employment Distribution</a:t>
            </a:r>
            <a:r>
              <a:rPr kumimoji="0" lang="en-US" altLang="en-US" sz="1000" b="1" i="0" u="none" strike="noStrike" cap="none" normalizeH="0" baseline="0" dirty="0">
                <a:ln>
                  <a:noFill/>
                </a:ln>
                <a:solidFill>
                  <a:schemeClr val="tx1"/>
                </a:solidFill>
                <a:effectLst/>
                <a:latin typeface="Nunito" pitchFamily="2" charset="77"/>
                <a:hlinkClick r:id="rId4"/>
              </a:rPr>
              <a:t>¶</a:t>
            </a:r>
            <a:endParaRPr kumimoji="0" lang="en-US" altLang="en-US" sz="10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i="0" u="none" strike="noStrike" cap="none" normalizeH="0" baseline="0" dirty="0">
                <a:ln>
                  <a:noFill/>
                </a:ln>
                <a:solidFill>
                  <a:schemeClr val="tx1"/>
                </a:solidFill>
                <a:effectLst/>
                <a:latin typeface="Nunito" pitchFamily="2" charset="77"/>
              </a:rPr>
              <a:t>The distribution of visa applications across regions shows that: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Northeast (28.2%), South (27.5%), and West (25.8%) account for the majority of applications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Midwest (16.9%) has a moderate share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Island regions (1.5%) have very few applications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Interpretation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Visa applications are concentrated in major economic regions of the United States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 Northeast, South, and West together account for over 80% of total applications, indicating higher demand for foreign workers in these areas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 very low representation in Island regions suggests limited employment opportunities or lower demand in those areas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Why This is Important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 region of employment may influence visa approval due to:</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Differences in industry presence (e.g., tech, finance, manufacturing)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Regional labor shortages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Economic activity levels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Since the data is not evenly distributed across regions, the model may learn stronger patterns from the dominant regions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Business Insight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Employers in the Northeast, South, and West are the primary drivers of visa applications, likely due to higher economic activity and demand for skilled labor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Understanding regional demand can help:</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Target hiring strategies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Optimize workforce planning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Improve visa approval predictions based on location trends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i="0" u="none" strike="noStrike" cap="none" normalizeH="0" baseline="0" dirty="0">
              <a:ln>
                <a:noFill/>
              </a:ln>
              <a:solidFill>
                <a:schemeClr val="tx1"/>
              </a:solidFill>
              <a:effectLst/>
              <a:latin typeface="Nunito" pitchFamily="2" charset="77"/>
            </a:endParaRPr>
          </a:p>
        </p:txBody>
      </p:sp>
    </p:spTree>
    <p:extLst>
      <p:ext uri="{BB962C8B-B14F-4D97-AF65-F5344CB8AC3E}">
        <p14:creationId xmlns:p14="http://schemas.microsoft.com/office/powerpoint/2010/main" val="1415675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FB6A6256-0052-5408-5DE0-F7793D71CA2D}"/>
            </a:ext>
          </a:extLst>
        </p:cNvPr>
        <p:cNvGrpSpPr/>
        <p:nvPr/>
      </p:nvGrpSpPr>
      <p:grpSpPr>
        <a:xfrm>
          <a:off x="0" y="0"/>
          <a:ext cx="0" cy="0"/>
          <a:chOff x="0" y="0"/>
          <a:chExt cx="0" cy="0"/>
        </a:xfrm>
      </p:grpSpPr>
      <p:sp>
        <p:nvSpPr>
          <p:cNvPr id="175" name="Google Shape;175;p39">
            <a:extLst>
              <a:ext uri="{FF2B5EF4-FFF2-40B4-BE49-F238E27FC236}">
                <a16:creationId xmlns:a16="http://schemas.microsoft.com/office/drawing/2014/main" id="{C094F4A2-55EE-7443-F481-8490CD2A203E}"/>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000000"/>
                </a:solidFill>
              </a:rPr>
              <a:t>EDA Results – Univariate Analysis (Job Experience)</a:t>
            </a:r>
            <a:endParaRPr dirty="0">
              <a:solidFill>
                <a:srgbClr val="000000"/>
              </a:solidFill>
            </a:endParaRPr>
          </a:p>
        </p:txBody>
      </p:sp>
      <p:pic>
        <p:nvPicPr>
          <p:cNvPr id="2" name="Picture 1">
            <a:extLst>
              <a:ext uri="{FF2B5EF4-FFF2-40B4-BE49-F238E27FC236}">
                <a16:creationId xmlns:a16="http://schemas.microsoft.com/office/drawing/2014/main" id="{253BF9CB-104A-E50A-89F6-294ADB368672}"/>
              </a:ext>
            </a:extLst>
          </p:cNvPr>
          <p:cNvPicPr>
            <a:picLocks noChangeAspect="1"/>
          </p:cNvPicPr>
          <p:nvPr/>
        </p:nvPicPr>
        <p:blipFill>
          <a:blip r:embed="rId3"/>
          <a:stretch>
            <a:fillRect/>
          </a:stretch>
        </p:blipFill>
        <p:spPr>
          <a:xfrm>
            <a:off x="5557995" y="768487"/>
            <a:ext cx="2971800" cy="4102100"/>
          </a:xfrm>
          <a:prstGeom prst="rect">
            <a:avLst/>
          </a:prstGeom>
        </p:spPr>
      </p:pic>
      <p:sp>
        <p:nvSpPr>
          <p:cNvPr id="3" name="Rectangle 1">
            <a:extLst>
              <a:ext uri="{FF2B5EF4-FFF2-40B4-BE49-F238E27FC236}">
                <a16:creationId xmlns:a16="http://schemas.microsoft.com/office/drawing/2014/main" id="{168895C6-39A5-B471-50BF-164B4BBA85FE}"/>
              </a:ext>
            </a:extLst>
          </p:cNvPr>
          <p:cNvSpPr>
            <a:spLocks noGrp="1" noChangeArrowheads="1"/>
          </p:cNvSpPr>
          <p:nvPr>
            <p:ph type="body" idx="1"/>
          </p:nvPr>
        </p:nvSpPr>
        <p:spPr bwMode="auto">
          <a:xfrm>
            <a:off x="202550" y="768487"/>
            <a:ext cx="5544457" cy="4085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Nunito" pitchFamily="2" charset="77"/>
              </a:rPr>
              <a:t>Job Experience Distribution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i="0" u="none" strike="noStrike" cap="none" normalizeH="0" baseline="0" dirty="0">
                <a:ln>
                  <a:noFill/>
                </a:ln>
                <a:solidFill>
                  <a:schemeClr val="tx1"/>
                </a:solidFill>
                <a:effectLst/>
                <a:latin typeface="Nunito" pitchFamily="2" charset="77"/>
              </a:rPr>
              <a:t>The distribution of job experience among applicants shows that: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i="0" u="none" strike="noStrike" cap="none" normalizeH="0" baseline="0" dirty="0">
                <a:ln>
                  <a:noFill/>
                </a:ln>
                <a:solidFill>
                  <a:schemeClr val="tx1"/>
                </a:solidFill>
                <a:effectLst/>
                <a:latin typeface="Nunito" pitchFamily="2" charset="77"/>
              </a:rPr>
              <a:t>58.1% of applicants have prior job experience (Y)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i="0" u="none" strike="noStrike" cap="none" normalizeH="0" baseline="0" dirty="0">
                <a:ln>
                  <a:noFill/>
                </a:ln>
                <a:solidFill>
                  <a:schemeClr val="tx1"/>
                </a:solidFill>
                <a:effectLst/>
                <a:latin typeface="Nunito" pitchFamily="2" charset="77"/>
              </a:rPr>
              <a:t>41.9% of applicants do not have prior job experience (N)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Nunito" pitchFamily="2" charset="77"/>
              </a:rPr>
              <a:t>Interpretation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i="0" u="none" strike="noStrike" cap="none" normalizeH="0" baseline="0" dirty="0">
                <a:ln>
                  <a:noFill/>
                </a:ln>
                <a:solidFill>
                  <a:schemeClr val="tx1"/>
                </a:solidFill>
                <a:effectLst/>
                <a:latin typeface="Nunito" pitchFamily="2" charset="77"/>
              </a:rPr>
              <a:t>A majority of applicants have relevant work experience, indicating that most candidates are already skilled professionals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i="0" u="none" strike="noStrike" cap="none" normalizeH="0" baseline="0" dirty="0">
                <a:ln>
                  <a:noFill/>
                </a:ln>
                <a:solidFill>
                  <a:schemeClr val="tx1"/>
                </a:solidFill>
                <a:effectLst/>
                <a:latin typeface="Nunito" pitchFamily="2" charset="77"/>
              </a:rPr>
              <a:t>However, a substantial portion (~42%) lacks prior experience, suggesting a mix of entry-level and experienced applicants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Nunito" pitchFamily="2" charset="77"/>
              </a:rPr>
              <a:t>Why This is Important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i="0" u="none" strike="noStrike" cap="none" normalizeH="0" baseline="0" dirty="0">
                <a:ln>
                  <a:noFill/>
                </a:ln>
                <a:solidFill>
                  <a:schemeClr val="tx1"/>
                </a:solidFill>
                <a:effectLst/>
                <a:latin typeface="Nunito" pitchFamily="2" charset="77"/>
              </a:rPr>
              <a:t>Job experience is likely a key factor influencing visa approval, as employers may prefer candidates who can contribute immediately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i="0" u="none" strike="noStrike" cap="none" normalizeH="0" baseline="0" dirty="0">
                <a:ln>
                  <a:noFill/>
                </a:ln>
                <a:solidFill>
                  <a:schemeClr val="tx1"/>
                </a:solidFill>
                <a:effectLst/>
                <a:latin typeface="Nunito" pitchFamily="2" charset="77"/>
              </a:rPr>
              <a:t>The presence of both experienced and inexperienced candidates allows the model to learn how experience impacts approval outcomes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Nunito" pitchFamily="2" charset="77"/>
              </a:rPr>
              <a:t>Business Insight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i="0" u="none" strike="noStrike" cap="none" normalizeH="0" baseline="0" dirty="0">
                <a:ln>
                  <a:noFill/>
                </a:ln>
                <a:solidFill>
                  <a:schemeClr val="tx1"/>
                </a:solidFill>
                <a:effectLst/>
                <a:latin typeface="Nunito" pitchFamily="2" charset="77"/>
              </a:rPr>
              <a:t>Employers appear to favor candidates with prior experience, which may increase the likelihood of visa certification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i="0" u="none" strike="noStrike" cap="none" normalizeH="0" baseline="0" dirty="0">
                <a:ln>
                  <a:noFill/>
                </a:ln>
                <a:solidFill>
                  <a:schemeClr val="tx1"/>
                </a:solidFill>
                <a:effectLst/>
                <a:latin typeface="Nunito" pitchFamily="2" charset="77"/>
              </a:rPr>
              <a:t>Identifying the role of experience can help:</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50" i="0" u="none" strike="noStrike" cap="none" normalizeH="0" baseline="0" dirty="0">
                <a:ln>
                  <a:noFill/>
                </a:ln>
                <a:solidFill>
                  <a:schemeClr val="tx1"/>
                </a:solidFill>
                <a:effectLst/>
                <a:latin typeface="Nunito" pitchFamily="2" charset="77"/>
              </a:rPr>
              <a:t>Improve candidate shortlisting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50" i="0" u="none" strike="noStrike" cap="none" normalizeH="0" baseline="0" dirty="0">
                <a:ln>
                  <a:noFill/>
                </a:ln>
                <a:solidFill>
                  <a:schemeClr val="tx1"/>
                </a:solidFill>
                <a:effectLst/>
                <a:latin typeface="Nunito" pitchFamily="2" charset="77"/>
              </a:rPr>
              <a:t>Align hiring strategies with workforce needs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50" i="0" u="none" strike="noStrike" cap="none" normalizeH="0" baseline="0" dirty="0">
                <a:ln>
                  <a:noFill/>
                </a:ln>
                <a:solidFill>
                  <a:schemeClr val="tx1"/>
                </a:solidFill>
                <a:effectLst/>
                <a:latin typeface="Nunito" pitchFamily="2" charset="77"/>
              </a:rPr>
              <a:t>Support more accurate visa approval predictions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i="0" u="none" strike="noStrike" cap="none" normalizeH="0" baseline="0" dirty="0">
              <a:ln>
                <a:noFill/>
              </a:ln>
              <a:solidFill>
                <a:schemeClr val="tx1"/>
              </a:solidFill>
              <a:effectLst/>
              <a:latin typeface="Nunito" pitchFamily="2" charset="77"/>
            </a:endParaRPr>
          </a:p>
        </p:txBody>
      </p:sp>
    </p:spTree>
    <p:extLst>
      <p:ext uri="{BB962C8B-B14F-4D97-AF65-F5344CB8AC3E}">
        <p14:creationId xmlns:p14="http://schemas.microsoft.com/office/powerpoint/2010/main" val="559952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72834079-EC0C-EC44-2995-6323B5498E38}"/>
            </a:ext>
          </a:extLst>
        </p:cNvPr>
        <p:cNvGrpSpPr/>
        <p:nvPr/>
      </p:nvGrpSpPr>
      <p:grpSpPr>
        <a:xfrm>
          <a:off x="0" y="0"/>
          <a:ext cx="0" cy="0"/>
          <a:chOff x="0" y="0"/>
          <a:chExt cx="0" cy="0"/>
        </a:xfrm>
      </p:grpSpPr>
      <p:sp>
        <p:nvSpPr>
          <p:cNvPr id="175" name="Google Shape;175;p39">
            <a:extLst>
              <a:ext uri="{FF2B5EF4-FFF2-40B4-BE49-F238E27FC236}">
                <a16:creationId xmlns:a16="http://schemas.microsoft.com/office/drawing/2014/main" id="{BAC30F6D-337F-C7C1-A33B-240AE80608F4}"/>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000000"/>
                </a:solidFill>
              </a:rPr>
              <a:t>EDA Results – Univariate Analysis (Case Status)</a:t>
            </a:r>
            <a:endParaRPr dirty="0">
              <a:solidFill>
                <a:srgbClr val="000000"/>
              </a:solidFill>
            </a:endParaRPr>
          </a:p>
        </p:txBody>
      </p:sp>
      <p:pic>
        <p:nvPicPr>
          <p:cNvPr id="2" name="Picture 1">
            <a:extLst>
              <a:ext uri="{FF2B5EF4-FFF2-40B4-BE49-F238E27FC236}">
                <a16:creationId xmlns:a16="http://schemas.microsoft.com/office/drawing/2014/main" id="{0DF5546E-11AF-F27B-3D7A-A64B4D70F487}"/>
              </a:ext>
            </a:extLst>
          </p:cNvPr>
          <p:cNvPicPr>
            <a:picLocks noChangeAspect="1"/>
          </p:cNvPicPr>
          <p:nvPr/>
        </p:nvPicPr>
        <p:blipFill>
          <a:blip r:embed="rId3"/>
          <a:stretch>
            <a:fillRect/>
          </a:stretch>
        </p:blipFill>
        <p:spPr>
          <a:xfrm>
            <a:off x="6571717" y="861975"/>
            <a:ext cx="2369733" cy="3807777"/>
          </a:xfrm>
          <a:prstGeom prst="rect">
            <a:avLst/>
          </a:prstGeom>
        </p:spPr>
      </p:pic>
      <p:sp>
        <p:nvSpPr>
          <p:cNvPr id="3" name="Rectangle 1">
            <a:extLst>
              <a:ext uri="{FF2B5EF4-FFF2-40B4-BE49-F238E27FC236}">
                <a16:creationId xmlns:a16="http://schemas.microsoft.com/office/drawing/2014/main" id="{06A42964-3033-782C-8F70-F2E86580529C}"/>
              </a:ext>
            </a:extLst>
          </p:cNvPr>
          <p:cNvSpPr>
            <a:spLocks noGrp="1" noChangeArrowheads="1"/>
          </p:cNvSpPr>
          <p:nvPr>
            <p:ph type="body" idx="1"/>
          </p:nvPr>
        </p:nvSpPr>
        <p:spPr bwMode="auto">
          <a:xfrm>
            <a:off x="104356" y="781588"/>
            <a:ext cx="8618794" cy="420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Case Status Distribution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i="0" u="none" strike="noStrike" cap="none" normalizeH="0" baseline="0" dirty="0">
                <a:ln>
                  <a:noFill/>
                </a:ln>
                <a:solidFill>
                  <a:schemeClr val="tx1"/>
                </a:solidFill>
                <a:effectLst/>
                <a:latin typeface="Nunito" pitchFamily="2" charset="77"/>
              </a:rPr>
              <a:t>The distribution of visa application outcomes shows that: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66.8% of applications are Certified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33.2% of applications are Denied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Interpretation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A significantly larger proportion of visa applications are approved rather than denied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This indicates that the dataset is moderately imbalanced, with approvals forming the majority class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Why This is Important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Class imbalance can impact model performance: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 model may become biased toward predicting the majority class (Certified)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It may perform poorly in identifying denied cases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This imbalance needs to be addressed during model building using techniques such as: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Oversampling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Under sampling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Business Insight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 relatively high approval rate suggests that many applicants meet the required criteria for certification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However, identifying the factors that lead to denial is equally important, as it helps: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Improve candidate screening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Reduce unsuccessful applications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Enhance decision-making efficiency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Summary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i="0" u="none" strike="noStrike" cap="none" normalizeH="0" baseline="0" dirty="0">
                <a:ln>
                  <a:noFill/>
                </a:ln>
                <a:solidFill>
                  <a:schemeClr val="tx1"/>
                </a:solidFill>
                <a:effectLst/>
                <a:latin typeface="Nunito" pitchFamily="2" charset="77"/>
              </a:rPr>
              <a:t>The imbalance in case status highlights the importance of building a model that can accurately predict both approvals and denials, ensuring balanced and reliable decision-making.</a:t>
            </a:r>
          </a:p>
        </p:txBody>
      </p:sp>
    </p:spTree>
    <p:extLst>
      <p:ext uri="{BB962C8B-B14F-4D97-AF65-F5344CB8AC3E}">
        <p14:creationId xmlns:p14="http://schemas.microsoft.com/office/powerpoint/2010/main" val="2968433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DBFA3657-5301-FF4A-7370-50DD7D37F9E4}"/>
            </a:ext>
          </a:extLst>
        </p:cNvPr>
        <p:cNvGrpSpPr/>
        <p:nvPr/>
      </p:nvGrpSpPr>
      <p:grpSpPr>
        <a:xfrm>
          <a:off x="0" y="0"/>
          <a:ext cx="0" cy="0"/>
          <a:chOff x="0" y="0"/>
          <a:chExt cx="0" cy="0"/>
        </a:xfrm>
      </p:grpSpPr>
      <p:sp>
        <p:nvSpPr>
          <p:cNvPr id="175" name="Google Shape;175;p39">
            <a:extLst>
              <a:ext uri="{FF2B5EF4-FFF2-40B4-BE49-F238E27FC236}">
                <a16:creationId xmlns:a16="http://schemas.microsoft.com/office/drawing/2014/main" id="{DDEEF98B-A2AA-1283-959E-1660D3841959}"/>
              </a:ext>
            </a:extLst>
          </p:cNvPr>
          <p:cNvSpPr txBox="1">
            <a:spLocks noGrp="1"/>
          </p:cNvSpPr>
          <p:nvPr>
            <p:ph type="title"/>
          </p:nvPr>
        </p:nvSpPr>
        <p:spPr>
          <a:xfrm>
            <a:off x="202550" y="0"/>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000000"/>
                </a:solidFill>
              </a:rPr>
              <a:t>EDA Results – Bivariate Analysis (Correlation Check)</a:t>
            </a:r>
            <a:endParaRPr dirty="0">
              <a:solidFill>
                <a:srgbClr val="000000"/>
              </a:solidFill>
            </a:endParaRPr>
          </a:p>
        </p:txBody>
      </p:sp>
      <p:pic>
        <p:nvPicPr>
          <p:cNvPr id="2" name="Picture 1">
            <a:extLst>
              <a:ext uri="{FF2B5EF4-FFF2-40B4-BE49-F238E27FC236}">
                <a16:creationId xmlns:a16="http://schemas.microsoft.com/office/drawing/2014/main" id="{0BBE11C1-31F5-EC0D-E8FE-7DD7F0E4AEDA}"/>
              </a:ext>
            </a:extLst>
          </p:cNvPr>
          <p:cNvPicPr>
            <a:picLocks noChangeAspect="1"/>
          </p:cNvPicPr>
          <p:nvPr/>
        </p:nvPicPr>
        <p:blipFill>
          <a:blip r:embed="rId3"/>
          <a:stretch>
            <a:fillRect/>
          </a:stretch>
        </p:blipFill>
        <p:spPr>
          <a:xfrm>
            <a:off x="4572000" y="920992"/>
            <a:ext cx="4421275" cy="2476549"/>
          </a:xfrm>
          <a:prstGeom prst="rect">
            <a:avLst/>
          </a:prstGeom>
        </p:spPr>
      </p:pic>
      <p:sp>
        <p:nvSpPr>
          <p:cNvPr id="3" name="Rectangle 1">
            <a:extLst>
              <a:ext uri="{FF2B5EF4-FFF2-40B4-BE49-F238E27FC236}">
                <a16:creationId xmlns:a16="http://schemas.microsoft.com/office/drawing/2014/main" id="{C6DB12AA-FB95-29C3-1105-E5D1A247AE1C}"/>
              </a:ext>
            </a:extLst>
          </p:cNvPr>
          <p:cNvSpPr>
            <a:spLocks noGrp="1" noChangeArrowheads="1"/>
          </p:cNvSpPr>
          <p:nvPr>
            <p:ph type="body" idx="1"/>
          </p:nvPr>
        </p:nvSpPr>
        <p:spPr bwMode="auto">
          <a:xfrm>
            <a:off x="202550" y="572700"/>
            <a:ext cx="5810389"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Correlation Analysis of Numerical Variables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solidFill>
                <a:effectLst/>
                <a:latin typeface="Nunito" pitchFamily="2" charset="77"/>
              </a:rPr>
              <a:t>A correlation heatmap was used to examine the relationships between numerical variables: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err="1">
                <a:ln>
                  <a:noFill/>
                </a:ln>
                <a:solidFill>
                  <a:schemeClr val="tx1"/>
                </a:solidFill>
                <a:effectLst/>
                <a:latin typeface="Nunito" pitchFamily="2" charset="77"/>
              </a:rPr>
              <a:t>no_of_employees</a:t>
            </a:r>
            <a:endParaRPr kumimoji="0" lang="en-US" altLang="en-US" sz="9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err="1">
                <a:ln>
                  <a:noFill/>
                </a:ln>
                <a:solidFill>
                  <a:schemeClr val="tx1"/>
                </a:solidFill>
                <a:effectLst/>
                <a:latin typeface="Nunito" pitchFamily="2" charset="77"/>
              </a:rPr>
              <a:t>yr_of_estab</a:t>
            </a:r>
            <a:endParaRPr kumimoji="0" lang="en-US" altLang="en-US" sz="9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err="1">
                <a:ln>
                  <a:noFill/>
                </a:ln>
                <a:solidFill>
                  <a:schemeClr val="tx1"/>
                </a:solidFill>
                <a:effectLst/>
                <a:latin typeface="Nunito" pitchFamily="2" charset="77"/>
              </a:rPr>
              <a:t>prevailing_wage</a:t>
            </a:r>
            <a:endParaRPr kumimoji="0" lang="en-US" altLang="en-US" sz="9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Key Observations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The correlation values between variables are very close to </a:t>
            </a:r>
            <a:r>
              <a:rPr kumimoji="0" lang="en-US" altLang="en-US" sz="900" b="1" i="0" u="none" strike="noStrike" cap="none" normalizeH="0" baseline="0" dirty="0">
                <a:ln>
                  <a:noFill/>
                </a:ln>
                <a:solidFill>
                  <a:schemeClr val="tx1"/>
                </a:solidFill>
                <a:effectLst/>
                <a:latin typeface="Nunito" pitchFamily="2" charset="77"/>
              </a:rPr>
              <a:t>0</a:t>
            </a:r>
            <a:r>
              <a:rPr kumimoji="0" lang="en-US" altLang="en-US" sz="900" b="0" i="0" u="none" strike="noStrike" cap="none" normalizeH="0" baseline="0" dirty="0">
                <a:ln>
                  <a:noFill/>
                </a:ln>
                <a:solidFill>
                  <a:schemeClr val="tx1"/>
                </a:solidFill>
                <a:effectLst/>
                <a:latin typeface="Nunito" pitchFamily="2" charset="77"/>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err="1">
                <a:ln>
                  <a:noFill/>
                </a:ln>
                <a:solidFill>
                  <a:schemeClr val="tx1"/>
                </a:solidFill>
                <a:effectLst/>
                <a:latin typeface="Nunito" pitchFamily="2" charset="77"/>
              </a:rPr>
              <a:t>no_of_employees</a:t>
            </a:r>
            <a:r>
              <a:rPr kumimoji="0" lang="en-US" altLang="en-US" sz="900" b="0" i="0" u="none" strike="noStrike" cap="none" normalizeH="0" baseline="0" dirty="0">
                <a:ln>
                  <a:noFill/>
                </a:ln>
                <a:solidFill>
                  <a:schemeClr val="tx1"/>
                </a:solidFill>
                <a:effectLst/>
                <a:latin typeface="Nunito" pitchFamily="2" charset="77"/>
              </a:rPr>
              <a:t> vs </a:t>
            </a:r>
            <a:r>
              <a:rPr kumimoji="0" lang="en-US" altLang="en-US" sz="900" b="0" i="0" u="none" strike="noStrike" cap="none" normalizeH="0" baseline="0" dirty="0" err="1">
                <a:ln>
                  <a:noFill/>
                </a:ln>
                <a:solidFill>
                  <a:schemeClr val="tx1"/>
                </a:solidFill>
                <a:effectLst/>
                <a:latin typeface="Nunito" pitchFamily="2" charset="77"/>
              </a:rPr>
              <a:t>yr_of_estab</a:t>
            </a:r>
            <a:r>
              <a:rPr kumimoji="0" lang="en-US" altLang="en-US" sz="900" b="0" i="0" u="none" strike="noStrike" cap="none" normalizeH="0" baseline="0" dirty="0">
                <a:ln>
                  <a:noFill/>
                </a:ln>
                <a:solidFill>
                  <a:schemeClr val="tx1"/>
                </a:solidFill>
                <a:effectLst/>
                <a:latin typeface="Nunito" pitchFamily="2" charset="77"/>
              </a:rPr>
              <a:t>: -0.02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err="1">
                <a:ln>
                  <a:noFill/>
                </a:ln>
                <a:solidFill>
                  <a:schemeClr val="tx1"/>
                </a:solidFill>
                <a:effectLst/>
                <a:latin typeface="Nunito" pitchFamily="2" charset="77"/>
              </a:rPr>
              <a:t>no_of_employees</a:t>
            </a:r>
            <a:r>
              <a:rPr kumimoji="0" lang="en-US" altLang="en-US" sz="900" b="0" i="0" u="none" strike="noStrike" cap="none" normalizeH="0" baseline="0" dirty="0">
                <a:ln>
                  <a:noFill/>
                </a:ln>
                <a:solidFill>
                  <a:schemeClr val="tx1"/>
                </a:solidFill>
                <a:effectLst/>
                <a:latin typeface="Nunito" pitchFamily="2" charset="77"/>
              </a:rPr>
              <a:t> vs </a:t>
            </a:r>
            <a:r>
              <a:rPr kumimoji="0" lang="en-US" altLang="en-US" sz="900" b="0" i="0" u="none" strike="noStrike" cap="none" normalizeH="0" baseline="0" dirty="0" err="1">
                <a:ln>
                  <a:noFill/>
                </a:ln>
                <a:solidFill>
                  <a:schemeClr val="tx1"/>
                </a:solidFill>
                <a:effectLst/>
                <a:latin typeface="Nunito" pitchFamily="2" charset="77"/>
              </a:rPr>
              <a:t>prevailing_wage</a:t>
            </a:r>
            <a:r>
              <a:rPr kumimoji="0" lang="en-US" altLang="en-US" sz="900" b="0" i="0" u="none" strike="noStrike" cap="none" normalizeH="0" baseline="0" dirty="0">
                <a:ln>
                  <a:noFill/>
                </a:ln>
                <a:solidFill>
                  <a:schemeClr val="tx1"/>
                </a:solidFill>
                <a:effectLst/>
                <a:latin typeface="Nunito" pitchFamily="2" charset="77"/>
              </a:rPr>
              <a:t>: -0.01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err="1">
                <a:ln>
                  <a:noFill/>
                </a:ln>
                <a:solidFill>
                  <a:schemeClr val="tx1"/>
                </a:solidFill>
                <a:effectLst/>
                <a:latin typeface="Nunito" pitchFamily="2" charset="77"/>
              </a:rPr>
              <a:t>yr_of_estab</a:t>
            </a:r>
            <a:r>
              <a:rPr kumimoji="0" lang="en-US" altLang="en-US" sz="900" b="0" i="0" u="none" strike="noStrike" cap="none" normalizeH="0" baseline="0" dirty="0">
                <a:ln>
                  <a:noFill/>
                </a:ln>
                <a:solidFill>
                  <a:schemeClr val="tx1"/>
                </a:solidFill>
                <a:effectLst/>
                <a:latin typeface="Nunito" pitchFamily="2" charset="77"/>
              </a:rPr>
              <a:t> vs </a:t>
            </a:r>
            <a:r>
              <a:rPr kumimoji="0" lang="en-US" altLang="en-US" sz="900" b="0" i="0" u="none" strike="noStrike" cap="none" normalizeH="0" baseline="0" dirty="0" err="1">
                <a:ln>
                  <a:noFill/>
                </a:ln>
                <a:solidFill>
                  <a:schemeClr val="tx1"/>
                </a:solidFill>
                <a:effectLst/>
                <a:latin typeface="Nunito" pitchFamily="2" charset="77"/>
              </a:rPr>
              <a:t>prevailing_wage</a:t>
            </a:r>
            <a:r>
              <a:rPr kumimoji="0" lang="en-US" altLang="en-US" sz="900" b="0" i="0" u="none" strike="noStrike" cap="none" normalizeH="0" baseline="0" dirty="0">
                <a:ln>
                  <a:noFill/>
                </a:ln>
                <a:solidFill>
                  <a:schemeClr val="tx1"/>
                </a:solidFill>
                <a:effectLst/>
                <a:latin typeface="Nunito" pitchFamily="2" charset="77"/>
              </a:rPr>
              <a:t>: 0.01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Interpretation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There is </a:t>
            </a:r>
            <a:r>
              <a:rPr kumimoji="0" lang="en-US" altLang="en-US" sz="900" b="1" i="0" u="none" strike="noStrike" cap="none" normalizeH="0" baseline="0" dirty="0">
                <a:ln>
                  <a:noFill/>
                </a:ln>
                <a:solidFill>
                  <a:schemeClr val="tx1"/>
                </a:solidFill>
                <a:effectLst/>
                <a:latin typeface="Nunito" pitchFamily="2" charset="77"/>
              </a:rPr>
              <a:t>no strong linear relationship</a:t>
            </a:r>
            <a:r>
              <a:rPr kumimoji="0" lang="en-US" altLang="en-US" sz="900" b="0" i="0" u="none" strike="noStrike" cap="none" normalizeH="0" baseline="0" dirty="0">
                <a:ln>
                  <a:noFill/>
                </a:ln>
                <a:solidFill>
                  <a:schemeClr val="tx1"/>
                </a:solidFill>
                <a:effectLst/>
                <a:latin typeface="Nunito" pitchFamily="2" charset="77"/>
              </a:rPr>
              <a:t> between any pair of numerical variables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The variables appear to be </a:t>
            </a:r>
            <a:r>
              <a:rPr kumimoji="0" lang="en-US" altLang="en-US" sz="900" b="1" i="0" u="none" strike="noStrike" cap="none" normalizeH="0" baseline="0" dirty="0">
                <a:ln>
                  <a:noFill/>
                </a:ln>
                <a:solidFill>
                  <a:schemeClr val="tx1"/>
                </a:solidFill>
                <a:effectLst/>
                <a:latin typeface="Nunito" pitchFamily="2" charset="77"/>
              </a:rPr>
              <a:t>independent of each other</a:t>
            </a:r>
            <a:r>
              <a:rPr kumimoji="0" lang="en-US" altLang="en-US" sz="900" b="0" i="0" u="none" strike="noStrike" cap="none" normalizeH="0" baseline="0" dirty="0">
                <a:ln>
                  <a:noFill/>
                </a:ln>
                <a:solidFill>
                  <a:schemeClr val="tx1"/>
                </a:solidFill>
                <a:effectLst/>
                <a:latin typeface="Nunito" pitchFamily="2" charset="77"/>
              </a:rPr>
              <a:t> in terms of linear correlation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Why This is Important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Low correlation means: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No multicollinearity issues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Each variable contributes </a:t>
            </a:r>
            <a:r>
              <a:rPr kumimoji="0" lang="en-US" altLang="en-US" sz="900" b="1" i="0" u="none" strike="noStrike" cap="none" normalizeH="0" baseline="0" dirty="0">
                <a:ln>
                  <a:noFill/>
                </a:ln>
                <a:solidFill>
                  <a:schemeClr val="tx1"/>
                </a:solidFill>
                <a:effectLst/>
                <a:latin typeface="Nunito" pitchFamily="2" charset="77"/>
              </a:rPr>
              <a:t>unique information</a:t>
            </a:r>
            <a:r>
              <a:rPr kumimoji="0" lang="en-US" altLang="en-US" sz="900" b="0" i="0" u="none" strike="noStrike" cap="none" normalizeH="0" baseline="0" dirty="0">
                <a:ln>
                  <a:noFill/>
                </a:ln>
                <a:solidFill>
                  <a:schemeClr val="tx1"/>
                </a:solidFill>
                <a:effectLst/>
                <a:latin typeface="Nunito" pitchFamily="2" charset="77"/>
              </a:rPr>
              <a:t> to the model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This is beneficial because: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Highly correlated variables can distort model performance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Independent features improve model reliability and interpretability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Business Insight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Company size (</a:t>
            </a:r>
            <a:r>
              <a:rPr kumimoji="0" lang="en-US" altLang="en-US" sz="900" b="0" i="0" u="none" strike="noStrike" cap="none" normalizeH="0" baseline="0" dirty="0" err="1">
                <a:ln>
                  <a:noFill/>
                </a:ln>
                <a:solidFill>
                  <a:schemeClr val="tx1"/>
                </a:solidFill>
                <a:effectLst/>
                <a:latin typeface="Nunito" pitchFamily="2" charset="77"/>
              </a:rPr>
              <a:t>no_of_employees</a:t>
            </a:r>
            <a:r>
              <a:rPr kumimoji="0" lang="en-US" altLang="en-US" sz="900" b="0" i="0" u="none" strike="noStrike" cap="none" normalizeH="0" baseline="0" dirty="0">
                <a:ln>
                  <a:noFill/>
                </a:ln>
                <a:solidFill>
                  <a:schemeClr val="tx1"/>
                </a:solidFill>
                <a:effectLst/>
                <a:latin typeface="Nunito" pitchFamily="2" charset="77"/>
              </a:rPr>
              <a:t>), company age (</a:t>
            </a:r>
            <a:r>
              <a:rPr kumimoji="0" lang="en-US" altLang="en-US" sz="900" b="0" i="0" u="none" strike="noStrike" cap="none" normalizeH="0" baseline="0" dirty="0" err="1">
                <a:ln>
                  <a:noFill/>
                </a:ln>
                <a:solidFill>
                  <a:schemeClr val="tx1"/>
                </a:solidFill>
                <a:effectLst/>
                <a:latin typeface="Nunito" pitchFamily="2" charset="77"/>
              </a:rPr>
              <a:t>yr_of_estab</a:t>
            </a:r>
            <a:r>
              <a:rPr kumimoji="0" lang="en-US" altLang="en-US" sz="900" b="0" i="0" u="none" strike="noStrike" cap="none" normalizeH="0" baseline="0" dirty="0">
                <a:ln>
                  <a:noFill/>
                </a:ln>
                <a:solidFill>
                  <a:schemeClr val="tx1"/>
                </a:solidFill>
                <a:effectLst/>
                <a:latin typeface="Nunito" pitchFamily="2" charset="77"/>
              </a:rPr>
              <a:t>), and wage levels (</a:t>
            </a:r>
            <a:r>
              <a:rPr kumimoji="0" lang="en-US" altLang="en-US" sz="900" b="0" i="0" u="none" strike="noStrike" cap="none" normalizeH="0" baseline="0" dirty="0" err="1">
                <a:ln>
                  <a:noFill/>
                </a:ln>
                <a:solidFill>
                  <a:schemeClr val="tx1"/>
                </a:solidFill>
                <a:effectLst/>
                <a:latin typeface="Nunito" pitchFamily="2" charset="77"/>
              </a:rPr>
              <a:t>prevailing_wage</a:t>
            </a:r>
            <a:r>
              <a:rPr kumimoji="0" lang="en-US" altLang="en-US" sz="900" b="0" i="0" u="none" strike="noStrike" cap="none" normalizeH="0" baseline="0" dirty="0">
                <a:ln>
                  <a:noFill/>
                </a:ln>
                <a:solidFill>
                  <a:schemeClr val="tx1"/>
                </a:solidFill>
                <a:effectLst/>
                <a:latin typeface="Nunito" pitchFamily="2" charset="77"/>
              </a:rPr>
              <a:t>) operate independently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This suggests that: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Large companies do not necessarily offer higher wages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Older companies are not strongly associated with higher or lower wages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Each factor may influence visa approval </a:t>
            </a:r>
            <a:r>
              <a:rPr kumimoji="0" lang="en-US" altLang="en-US" sz="900" b="1" i="0" u="none" strike="noStrike" cap="none" normalizeH="0" baseline="0" dirty="0">
                <a:ln>
                  <a:noFill/>
                </a:ln>
                <a:solidFill>
                  <a:schemeClr val="tx1"/>
                </a:solidFill>
                <a:effectLst/>
                <a:latin typeface="Nunito" pitchFamily="2" charset="77"/>
              </a:rPr>
              <a:t>in different ways</a:t>
            </a:r>
            <a:r>
              <a:rPr kumimoji="0" lang="en-US" altLang="en-US" sz="900" b="0" i="0" u="none" strike="noStrike" cap="none" normalizeH="0" baseline="0" dirty="0">
                <a:ln>
                  <a:noFill/>
                </a:ln>
                <a:solidFill>
                  <a:schemeClr val="tx1"/>
                </a:solidFill>
                <a:effectLst/>
                <a:latin typeface="Nunito" pitchFamily="2" charset="77"/>
              </a:rPr>
              <a:t>, rather than being interconnected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Summary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solidFill>
                <a:effectLst/>
                <a:latin typeface="Nunito" pitchFamily="2" charset="77"/>
              </a:rPr>
              <a:t>The correlation analysis indicates that there are no strong relationships between numerical variables. This suggests that all features can be retained for modeling, as they provide distinct and non-redundant information</a:t>
            </a:r>
          </a:p>
        </p:txBody>
      </p:sp>
    </p:spTree>
    <p:extLst>
      <p:ext uri="{BB962C8B-B14F-4D97-AF65-F5344CB8AC3E}">
        <p14:creationId xmlns:p14="http://schemas.microsoft.com/office/powerpoint/2010/main" val="3558057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3ECCDCA7-995E-1EAB-9578-B2F5BA170979}"/>
            </a:ext>
          </a:extLst>
        </p:cNvPr>
        <p:cNvGrpSpPr/>
        <p:nvPr/>
      </p:nvGrpSpPr>
      <p:grpSpPr>
        <a:xfrm>
          <a:off x="0" y="0"/>
          <a:ext cx="0" cy="0"/>
          <a:chOff x="0" y="0"/>
          <a:chExt cx="0" cy="0"/>
        </a:xfrm>
      </p:grpSpPr>
      <p:sp>
        <p:nvSpPr>
          <p:cNvPr id="175" name="Google Shape;175;p39">
            <a:extLst>
              <a:ext uri="{FF2B5EF4-FFF2-40B4-BE49-F238E27FC236}">
                <a16:creationId xmlns:a16="http://schemas.microsoft.com/office/drawing/2014/main" id="{5A754A51-C94A-34B9-45A1-CAABEA3DC8FD}"/>
              </a:ext>
            </a:extLst>
          </p:cNvPr>
          <p:cNvSpPr txBox="1">
            <a:spLocks noGrp="1"/>
          </p:cNvSpPr>
          <p:nvPr>
            <p:ph type="title"/>
          </p:nvPr>
        </p:nvSpPr>
        <p:spPr>
          <a:xfrm>
            <a:off x="211217" y="51094"/>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1600" dirty="0">
                <a:solidFill>
                  <a:srgbClr val="000000"/>
                </a:solidFill>
              </a:rPr>
              <a:t>EDA Results: Bivariate Analysis -- Does education level influence visa approval?</a:t>
            </a:r>
            <a:endParaRPr sz="1600" dirty="0">
              <a:solidFill>
                <a:srgbClr val="000000"/>
              </a:solidFill>
            </a:endParaRPr>
          </a:p>
        </p:txBody>
      </p:sp>
      <p:pic>
        <p:nvPicPr>
          <p:cNvPr id="2" name="Picture 1">
            <a:extLst>
              <a:ext uri="{FF2B5EF4-FFF2-40B4-BE49-F238E27FC236}">
                <a16:creationId xmlns:a16="http://schemas.microsoft.com/office/drawing/2014/main" id="{B446AE49-E7B5-714B-F3EC-470948C11AAD}"/>
              </a:ext>
            </a:extLst>
          </p:cNvPr>
          <p:cNvPicPr>
            <a:picLocks noChangeAspect="1"/>
          </p:cNvPicPr>
          <p:nvPr/>
        </p:nvPicPr>
        <p:blipFill>
          <a:blip r:embed="rId3"/>
          <a:stretch>
            <a:fillRect/>
          </a:stretch>
        </p:blipFill>
        <p:spPr>
          <a:xfrm>
            <a:off x="4771693" y="788656"/>
            <a:ext cx="4169757" cy="2487106"/>
          </a:xfrm>
          <a:prstGeom prst="rect">
            <a:avLst/>
          </a:prstGeom>
        </p:spPr>
      </p:pic>
      <p:pic>
        <p:nvPicPr>
          <p:cNvPr id="3" name="Picture 2">
            <a:extLst>
              <a:ext uri="{FF2B5EF4-FFF2-40B4-BE49-F238E27FC236}">
                <a16:creationId xmlns:a16="http://schemas.microsoft.com/office/drawing/2014/main" id="{1242125B-02DC-AB58-1412-6788E1080848}"/>
              </a:ext>
            </a:extLst>
          </p:cNvPr>
          <p:cNvPicPr>
            <a:picLocks noChangeAspect="1"/>
          </p:cNvPicPr>
          <p:nvPr/>
        </p:nvPicPr>
        <p:blipFill>
          <a:blip r:embed="rId4"/>
          <a:stretch>
            <a:fillRect/>
          </a:stretch>
        </p:blipFill>
        <p:spPr>
          <a:xfrm>
            <a:off x="4850376" y="3348263"/>
            <a:ext cx="4091074" cy="1264798"/>
          </a:xfrm>
          <a:prstGeom prst="rect">
            <a:avLst/>
          </a:prstGeom>
        </p:spPr>
      </p:pic>
      <p:sp>
        <p:nvSpPr>
          <p:cNvPr id="4" name="Rectangle 1">
            <a:extLst>
              <a:ext uri="{FF2B5EF4-FFF2-40B4-BE49-F238E27FC236}">
                <a16:creationId xmlns:a16="http://schemas.microsoft.com/office/drawing/2014/main" id="{6C4812AD-AAAB-7AD3-EA72-0448803948D0}"/>
              </a:ext>
            </a:extLst>
          </p:cNvPr>
          <p:cNvSpPr>
            <a:spLocks noGrp="1" noChangeArrowheads="1"/>
          </p:cNvSpPr>
          <p:nvPr>
            <p:ph type="body" idx="1"/>
          </p:nvPr>
        </p:nvSpPr>
        <p:spPr bwMode="auto">
          <a:xfrm>
            <a:off x="202550" y="419907"/>
            <a:ext cx="7807368" cy="4478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chemeClr val="tx1"/>
                </a:solidFill>
                <a:effectLst/>
                <a:latin typeface="Nunito" pitchFamily="2" charset="77"/>
              </a:rPr>
              <a:t>Education Level vs Visa Approval (Case Status)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i="0" u="none" strike="noStrike" cap="none" normalizeH="0" baseline="0" dirty="0">
                <a:ln>
                  <a:noFill/>
                </a:ln>
                <a:solidFill>
                  <a:schemeClr val="tx1"/>
                </a:solidFill>
                <a:effectLst/>
                <a:latin typeface="Nunito" pitchFamily="2" charset="77"/>
              </a:rPr>
              <a:t>To understand whether education level influences visa approval, I analyzed the relationship between </a:t>
            </a:r>
            <a:r>
              <a:rPr kumimoji="0" lang="en-US" altLang="en-US" sz="800" i="0" u="none" strike="noStrike" cap="none" normalizeH="0" baseline="0" dirty="0" err="1">
                <a:ln>
                  <a:noFill/>
                </a:ln>
                <a:solidFill>
                  <a:schemeClr val="tx1"/>
                </a:solidFill>
                <a:effectLst/>
                <a:latin typeface="Nunito" pitchFamily="2" charset="77"/>
              </a:rPr>
              <a:t>education_of_employee</a:t>
            </a:r>
            <a:r>
              <a:rPr kumimoji="0" lang="en-US" altLang="en-US" sz="800" i="0" u="none" strike="noStrike" cap="none" normalizeH="0" baseline="0" dirty="0">
                <a:ln>
                  <a:noFill/>
                </a:ln>
                <a:solidFill>
                  <a:schemeClr val="tx1"/>
                </a:solidFill>
                <a:effectLst/>
                <a:latin typeface="Nunito" pitchFamily="2" charset="77"/>
              </a:rPr>
              <a:t> and </a:t>
            </a:r>
            <a:r>
              <a:rPr kumimoji="0" lang="en-US" altLang="en-US" sz="800" i="0" u="none" strike="noStrike" cap="none" normalizeH="0" baseline="0" dirty="0" err="1">
                <a:ln>
                  <a:noFill/>
                </a:ln>
                <a:solidFill>
                  <a:schemeClr val="tx1"/>
                </a:solidFill>
                <a:effectLst/>
                <a:latin typeface="Nunito" pitchFamily="2" charset="77"/>
              </a:rPr>
              <a:t>case_status</a:t>
            </a:r>
            <a:r>
              <a:rPr kumimoji="0" lang="en-US" altLang="en-US" sz="800" i="0" u="none" strike="noStrike" cap="none" normalizeH="0" baseline="0" dirty="0">
                <a:ln>
                  <a:noFill/>
                </a:ln>
                <a:solidFill>
                  <a:schemeClr val="tx1"/>
                </a:solidFill>
                <a:effectLst/>
                <a:latin typeface="Nunito" pitchFamily="2" charset="77"/>
              </a:rPr>
              <a:t> using a stacked bar plot.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i="0" u="none" strike="noStrike" cap="none" normalizeH="0" baseline="0" dirty="0">
                <a:ln>
                  <a:noFill/>
                </a:ln>
                <a:solidFill>
                  <a:schemeClr val="tx1"/>
                </a:solidFill>
                <a:effectLst/>
                <a:latin typeface="Nunito" pitchFamily="2" charset="77"/>
              </a:rPr>
              <a:t>Key Observations</a:t>
            </a:r>
            <a:r>
              <a:rPr kumimoji="0" lang="en-US" altLang="en-US" sz="800" i="0" u="none" strike="noStrike" cap="none" normalizeH="0" baseline="0" dirty="0">
                <a:ln>
                  <a:noFill/>
                </a:ln>
                <a:solidFill>
                  <a:schemeClr val="tx1"/>
                </a:solidFill>
                <a:effectLst/>
                <a:latin typeface="Nunito" pitchFamily="2" charset="77"/>
                <a:hlinkClick r:id="rId5"/>
              </a:rPr>
              <a:t>¶</a:t>
            </a:r>
            <a:endParaRPr kumimoji="0" lang="en-US" altLang="en-US" sz="8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i="0" u="none" strike="noStrike" cap="none" normalizeH="0" baseline="0" dirty="0">
                <a:ln>
                  <a:noFill/>
                </a:ln>
                <a:solidFill>
                  <a:schemeClr val="tx1"/>
                </a:solidFill>
                <a:effectLst/>
                <a:latin typeface="Nunito" pitchFamily="2" charset="77"/>
              </a:rPr>
              <a:t>From the distribution: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Doctorate holders have the highest approval rate (~87%)</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Master’s degree holders also show a high approval rate (~79%)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Bachelor’s degree holders have a moderate approval rate (~62%)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High School applicants have a significantly lower approval rate (~34%)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chemeClr val="tx1"/>
                </a:solidFill>
                <a:effectLst/>
                <a:latin typeface="Nunito" pitchFamily="2" charset="77"/>
              </a:rPr>
              <a:t>Interpretation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There is a clear positive relationship between education level and visa approval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As the level of education increases, the likelihood of visa certification also increases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High School applicants are more likely to be denied compared to other groups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chemeClr val="tx1"/>
                </a:solidFill>
                <a:effectLst/>
                <a:latin typeface="Nunito" pitchFamily="2" charset="77"/>
              </a:rPr>
              <a:t>Why This is Important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This confirms that education is a strong predictor of visa approval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It highlights that employers and certification authorities likely favor: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Highly educated candidates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Individuals with specialized skills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This variable will likely be a key feature in the model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chemeClr val="tx1"/>
                </a:solidFill>
                <a:effectLst/>
                <a:latin typeface="Nunito" pitchFamily="2" charset="77"/>
              </a:rPr>
              <a:t>Business Insight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Employers seeking visa approval should prioritize candidates with:</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Master’s or Doctorate degrees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Candidates with lower education levels may face higher rejection rates and should: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Improve qualifications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Gain additional skills or certifications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This insight can help:</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Improve candidate screening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Increase visa approval success rates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Align hiring strategies with approval patterns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chemeClr val="tx1"/>
                </a:solidFill>
                <a:effectLst/>
                <a:latin typeface="Nunito" pitchFamily="2" charset="77"/>
              </a:rPr>
              <a:t>Summary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i="0" u="none" strike="noStrike" cap="none" normalizeH="0" baseline="0" dirty="0">
                <a:ln>
                  <a:noFill/>
                </a:ln>
                <a:solidFill>
                  <a:schemeClr val="tx1"/>
                </a:solidFill>
                <a:effectLst/>
                <a:latin typeface="Nunito" pitchFamily="2" charset="77"/>
              </a:rPr>
              <a:t>Education level has a significant impact on visa approval outcomes, with higher education strongly associated with increased chances of certification. This makes it one of the most important factors in predicting visa approval.</a:t>
            </a:r>
          </a:p>
        </p:txBody>
      </p:sp>
    </p:spTree>
    <p:extLst>
      <p:ext uri="{BB962C8B-B14F-4D97-AF65-F5344CB8AC3E}">
        <p14:creationId xmlns:p14="http://schemas.microsoft.com/office/powerpoint/2010/main" val="24384458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DA9D6ED7-2CE3-6535-403A-515DAAE8EFAA}"/>
            </a:ext>
          </a:extLst>
        </p:cNvPr>
        <p:cNvGrpSpPr/>
        <p:nvPr/>
      </p:nvGrpSpPr>
      <p:grpSpPr>
        <a:xfrm>
          <a:off x="0" y="0"/>
          <a:ext cx="0" cy="0"/>
          <a:chOff x="0" y="0"/>
          <a:chExt cx="0" cy="0"/>
        </a:xfrm>
      </p:grpSpPr>
      <p:sp>
        <p:nvSpPr>
          <p:cNvPr id="175" name="Google Shape;175;p39">
            <a:extLst>
              <a:ext uri="{FF2B5EF4-FFF2-40B4-BE49-F238E27FC236}">
                <a16:creationId xmlns:a16="http://schemas.microsoft.com/office/drawing/2014/main" id="{8EB190C6-29A2-021E-EBCC-B456904F3AAA}"/>
              </a:ext>
            </a:extLst>
          </p:cNvPr>
          <p:cNvSpPr txBox="1">
            <a:spLocks noGrp="1"/>
          </p:cNvSpPr>
          <p:nvPr>
            <p:ph type="title"/>
          </p:nvPr>
        </p:nvSpPr>
        <p:spPr>
          <a:xfrm>
            <a:off x="202551" y="-66594"/>
            <a:ext cx="8520600" cy="572700"/>
          </a:xfrm>
          <a:prstGeom prst="rect">
            <a:avLst/>
          </a:prstGeom>
          <a:noFill/>
          <a:ln>
            <a:noFill/>
          </a:ln>
        </p:spPr>
        <p:txBody>
          <a:bodyPr spcFirstLastPara="1" wrap="square" lIns="91425" tIns="91425" rIns="91425" bIns="91425" anchor="t" anchorCtr="0">
            <a:noAutofit/>
          </a:bodyPr>
          <a:lstStyle/>
          <a:p>
            <a:r>
              <a:rPr lang="en" sz="1400" dirty="0">
                <a:solidFill>
                  <a:srgbClr val="000000"/>
                </a:solidFill>
                <a:latin typeface="Nunito" pitchFamily="2" charset="77"/>
              </a:rPr>
              <a:t>EDA Results – Bivariate Analysis: </a:t>
            </a:r>
            <a:r>
              <a:rPr lang="en-US" sz="1400" dirty="0">
                <a:latin typeface="Nunito" pitchFamily="2" charset="77"/>
              </a:rPr>
              <a:t>How does visa status vary across different continents?</a:t>
            </a:r>
            <a:br>
              <a:rPr lang="en-US" sz="1400" dirty="0">
                <a:latin typeface="Nunito" pitchFamily="2" charset="77"/>
              </a:rPr>
            </a:br>
            <a:endParaRPr sz="1400" dirty="0">
              <a:solidFill>
                <a:srgbClr val="000000"/>
              </a:solidFill>
              <a:latin typeface="Nunito" pitchFamily="2" charset="77"/>
            </a:endParaRPr>
          </a:p>
        </p:txBody>
      </p:sp>
      <p:pic>
        <p:nvPicPr>
          <p:cNvPr id="2" name="Picture 1">
            <a:extLst>
              <a:ext uri="{FF2B5EF4-FFF2-40B4-BE49-F238E27FC236}">
                <a16:creationId xmlns:a16="http://schemas.microsoft.com/office/drawing/2014/main" id="{287516A3-25BD-62A5-63BC-BCAC6CABEDAE}"/>
              </a:ext>
            </a:extLst>
          </p:cNvPr>
          <p:cNvPicPr>
            <a:picLocks noChangeAspect="1"/>
          </p:cNvPicPr>
          <p:nvPr/>
        </p:nvPicPr>
        <p:blipFill>
          <a:blip r:embed="rId3"/>
          <a:stretch>
            <a:fillRect/>
          </a:stretch>
        </p:blipFill>
        <p:spPr>
          <a:xfrm>
            <a:off x="5571222" y="2660042"/>
            <a:ext cx="3490808" cy="1831010"/>
          </a:xfrm>
          <a:prstGeom prst="rect">
            <a:avLst/>
          </a:prstGeom>
        </p:spPr>
      </p:pic>
      <p:pic>
        <p:nvPicPr>
          <p:cNvPr id="3" name="Picture 2">
            <a:extLst>
              <a:ext uri="{FF2B5EF4-FFF2-40B4-BE49-F238E27FC236}">
                <a16:creationId xmlns:a16="http://schemas.microsoft.com/office/drawing/2014/main" id="{864B0643-E9DD-DE46-2CB9-1370837B0A9A}"/>
              </a:ext>
            </a:extLst>
          </p:cNvPr>
          <p:cNvPicPr>
            <a:picLocks noChangeAspect="1"/>
          </p:cNvPicPr>
          <p:nvPr/>
        </p:nvPicPr>
        <p:blipFill>
          <a:blip r:embed="rId4"/>
          <a:stretch>
            <a:fillRect/>
          </a:stretch>
        </p:blipFill>
        <p:spPr>
          <a:xfrm>
            <a:off x="6357653" y="652450"/>
            <a:ext cx="2704377" cy="1831009"/>
          </a:xfrm>
          <a:prstGeom prst="rect">
            <a:avLst/>
          </a:prstGeom>
        </p:spPr>
      </p:pic>
      <p:sp>
        <p:nvSpPr>
          <p:cNvPr id="4" name="Rectangle 1">
            <a:extLst>
              <a:ext uri="{FF2B5EF4-FFF2-40B4-BE49-F238E27FC236}">
                <a16:creationId xmlns:a16="http://schemas.microsoft.com/office/drawing/2014/main" id="{CE3EEC39-A34E-8110-89A4-C7A00FDF4FE0}"/>
              </a:ext>
            </a:extLst>
          </p:cNvPr>
          <p:cNvSpPr>
            <a:spLocks noGrp="1" noChangeArrowheads="1"/>
          </p:cNvSpPr>
          <p:nvPr>
            <p:ph type="body" idx="1"/>
          </p:nvPr>
        </p:nvSpPr>
        <p:spPr bwMode="auto">
          <a:xfrm>
            <a:off x="202551" y="398078"/>
            <a:ext cx="5414478" cy="4478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chemeClr val="tx1"/>
                </a:solidFill>
                <a:effectLst/>
                <a:latin typeface="Nunito" pitchFamily="2" charset="77"/>
              </a:rPr>
              <a:t>Continent vs Visa Approval (Case Status)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i="0" u="none" strike="noStrike" cap="none" normalizeH="0" baseline="0" dirty="0">
                <a:ln>
                  <a:noFill/>
                </a:ln>
                <a:solidFill>
                  <a:schemeClr val="tx1"/>
                </a:solidFill>
                <a:effectLst/>
                <a:latin typeface="Nunito" pitchFamily="2" charset="77"/>
              </a:rPr>
              <a:t>To understand how visa approval varies across different regions, I analyzed the relationship between continent and </a:t>
            </a:r>
            <a:r>
              <a:rPr kumimoji="0" lang="en-US" altLang="en-US" sz="800" i="0" u="none" strike="noStrike" cap="none" normalizeH="0" baseline="0" dirty="0" err="1">
                <a:ln>
                  <a:noFill/>
                </a:ln>
                <a:solidFill>
                  <a:schemeClr val="tx1"/>
                </a:solidFill>
                <a:effectLst/>
                <a:latin typeface="Nunito" pitchFamily="2" charset="77"/>
              </a:rPr>
              <a:t>case_status</a:t>
            </a:r>
            <a:r>
              <a:rPr kumimoji="0" lang="en-US" altLang="en-US" sz="800" i="0" u="none" strike="noStrike" cap="none" normalizeH="0" baseline="0" dirty="0">
                <a:ln>
                  <a:noFill/>
                </a:ln>
                <a:solidFill>
                  <a:schemeClr val="tx1"/>
                </a:solidFill>
                <a:effectLst/>
                <a:latin typeface="Nunito" pitchFamily="2" charset="77"/>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chemeClr val="tx1"/>
                </a:solidFill>
                <a:effectLst/>
                <a:latin typeface="Nunito" pitchFamily="2" charset="77"/>
              </a:rPr>
              <a:t>Key Observations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Europe has the highest approval rate (79%)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Africa (72%) and Asia (65%) also show relatively strong approval rates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North America (62%) and Oceania (64%) show moderate approval rates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South America has the lowest approval rate (58%)</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chemeClr val="tx1"/>
                </a:solidFill>
                <a:effectLst/>
                <a:latin typeface="Nunito" pitchFamily="2" charset="77"/>
              </a:rPr>
              <a:t>Interpretation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Visa approval rates vary across continents, indicating that geographic origin influences certification outcomes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Applicants from Europe and Africa have higher approval rates compared to other regions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South America shows relatively lower approval rates, suggesting possible differences in applicant profiles or job types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chemeClr val="tx1"/>
                </a:solidFill>
                <a:effectLst/>
                <a:latin typeface="Nunito" pitchFamily="2" charset="77"/>
              </a:rPr>
              <a:t>Why This is Important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This shows that continent is an influential categorical variable in predicting visa approval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Geographic differences may reflect: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Variation in skill levels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Industry demand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Types of roles applied for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The model can leverage this information to improve prediction accuracy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chemeClr val="tx1"/>
                </a:solidFill>
                <a:effectLst/>
                <a:latin typeface="Nunito" pitchFamily="2" charset="77"/>
              </a:rPr>
              <a:t>Business Insight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Employers may experience higher success rates when hiring candidates from regions with historically higher approval rates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Regions like Europe and Asia appear to be strong sources of approved candidates, indicating alignment with U.S. labor market demands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Lower approval regions may require: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Better candidate screening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800" i="0" u="none" strike="noStrike" cap="none" normalizeH="0" baseline="0" dirty="0">
                <a:ln>
                  <a:noFill/>
                </a:ln>
                <a:solidFill>
                  <a:schemeClr val="tx1"/>
                </a:solidFill>
                <a:effectLst/>
                <a:latin typeface="Nunito" pitchFamily="2" charset="77"/>
              </a:rPr>
              <a:t>Improved qualification matching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chemeClr val="tx1"/>
                </a:solidFill>
                <a:effectLst/>
                <a:latin typeface="Nunito" pitchFamily="2" charset="77"/>
              </a:rPr>
              <a:t>Summary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i="0" u="none" strike="noStrike" cap="none" normalizeH="0" baseline="0" dirty="0">
                <a:ln>
                  <a:noFill/>
                </a:ln>
                <a:solidFill>
                  <a:schemeClr val="tx1"/>
                </a:solidFill>
                <a:effectLst/>
                <a:latin typeface="Nunito" pitchFamily="2" charset="77"/>
              </a:rPr>
              <a:t>Visa approval rates differ across continents, with Europe and Africa showing higher certification rates and South America showing lower rates. This suggests that geographic origin plays a role in visa outcomes and should be considered in decision-making and predictive modeling.</a:t>
            </a:r>
          </a:p>
        </p:txBody>
      </p:sp>
    </p:spTree>
    <p:extLst>
      <p:ext uri="{BB962C8B-B14F-4D97-AF65-F5344CB8AC3E}">
        <p14:creationId xmlns:p14="http://schemas.microsoft.com/office/powerpoint/2010/main" val="617716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7B4F9D82-B972-CDA1-48DA-2ACE637F720F}"/>
            </a:ext>
          </a:extLst>
        </p:cNvPr>
        <p:cNvGrpSpPr/>
        <p:nvPr/>
      </p:nvGrpSpPr>
      <p:grpSpPr>
        <a:xfrm>
          <a:off x="0" y="0"/>
          <a:ext cx="0" cy="0"/>
          <a:chOff x="0" y="0"/>
          <a:chExt cx="0" cy="0"/>
        </a:xfrm>
      </p:grpSpPr>
      <p:sp>
        <p:nvSpPr>
          <p:cNvPr id="4" name="Google Shape;175;p39">
            <a:extLst>
              <a:ext uri="{FF2B5EF4-FFF2-40B4-BE49-F238E27FC236}">
                <a16:creationId xmlns:a16="http://schemas.microsoft.com/office/drawing/2014/main" id="{C8BDC747-A54D-E7CB-CCDB-185231981B5E}"/>
              </a:ext>
            </a:extLst>
          </p:cNvPr>
          <p:cNvSpPr txBox="1">
            <a:spLocks/>
          </p:cNvSpPr>
          <p:nvPr/>
        </p:nvSpPr>
        <p:spPr>
          <a:xfrm>
            <a:off x="202551" y="-66594"/>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r>
              <a:rPr lang="en-US" sz="1400">
                <a:solidFill>
                  <a:srgbClr val="000000"/>
                </a:solidFill>
                <a:latin typeface="Nunito" pitchFamily="2" charset="77"/>
              </a:rPr>
              <a:t>EDA Results – Bivariate Analysis: </a:t>
            </a:r>
            <a:r>
              <a:rPr lang="en-US" sz="1400">
                <a:latin typeface="Nunito" pitchFamily="2" charset="77"/>
              </a:rPr>
              <a:t>How does visa status vary across different continents?</a:t>
            </a:r>
            <a:br>
              <a:rPr lang="en-US" sz="1400">
                <a:latin typeface="Nunito" pitchFamily="2" charset="77"/>
              </a:rPr>
            </a:br>
            <a:endParaRPr lang="en-US" sz="1400" dirty="0">
              <a:solidFill>
                <a:srgbClr val="000000"/>
              </a:solidFill>
              <a:latin typeface="Nunito" pitchFamily="2" charset="77"/>
            </a:endParaRPr>
          </a:p>
        </p:txBody>
      </p:sp>
      <p:pic>
        <p:nvPicPr>
          <p:cNvPr id="5" name="Picture 4">
            <a:extLst>
              <a:ext uri="{FF2B5EF4-FFF2-40B4-BE49-F238E27FC236}">
                <a16:creationId xmlns:a16="http://schemas.microsoft.com/office/drawing/2014/main" id="{DBA21C4D-04CF-4866-66E7-F361A77AB1D0}"/>
              </a:ext>
            </a:extLst>
          </p:cNvPr>
          <p:cNvPicPr>
            <a:picLocks noChangeAspect="1"/>
          </p:cNvPicPr>
          <p:nvPr/>
        </p:nvPicPr>
        <p:blipFill>
          <a:blip r:embed="rId3"/>
          <a:stretch>
            <a:fillRect/>
          </a:stretch>
        </p:blipFill>
        <p:spPr>
          <a:xfrm>
            <a:off x="5502438" y="666681"/>
            <a:ext cx="3439011" cy="2146858"/>
          </a:xfrm>
          <a:prstGeom prst="rect">
            <a:avLst/>
          </a:prstGeom>
        </p:spPr>
      </p:pic>
      <p:pic>
        <p:nvPicPr>
          <p:cNvPr id="6" name="Picture 5">
            <a:extLst>
              <a:ext uri="{FF2B5EF4-FFF2-40B4-BE49-F238E27FC236}">
                <a16:creationId xmlns:a16="http://schemas.microsoft.com/office/drawing/2014/main" id="{7CE587B2-A4B2-ABA1-8363-125AD6614C11}"/>
              </a:ext>
            </a:extLst>
          </p:cNvPr>
          <p:cNvPicPr>
            <a:picLocks noChangeAspect="1"/>
          </p:cNvPicPr>
          <p:nvPr/>
        </p:nvPicPr>
        <p:blipFill>
          <a:blip r:embed="rId4"/>
          <a:stretch>
            <a:fillRect/>
          </a:stretch>
        </p:blipFill>
        <p:spPr>
          <a:xfrm>
            <a:off x="6370148" y="2974114"/>
            <a:ext cx="2250640" cy="909585"/>
          </a:xfrm>
          <a:prstGeom prst="rect">
            <a:avLst/>
          </a:prstGeom>
        </p:spPr>
      </p:pic>
      <p:sp>
        <p:nvSpPr>
          <p:cNvPr id="7" name="Rectangle 1">
            <a:extLst>
              <a:ext uri="{FF2B5EF4-FFF2-40B4-BE49-F238E27FC236}">
                <a16:creationId xmlns:a16="http://schemas.microsoft.com/office/drawing/2014/main" id="{3B2AFC8E-EBAE-743A-EBAB-59AE23122F52}"/>
              </a:ext>
            </a:extLst>
          </p:cNvPr>
          <p:cNvSpPr>
            <a:spLocks noGrp="1" noChangeArrowheads="1"/>
          </p:cNvSpPr>
          <p:nvPr>
            <p:ph type="body" idx="1"/>
          </p:nvPr>
        </p:nvSpPr>
        <p:spPr bwMode="auto">
          <a:xfrm>
            <a:off x="203199" y="198939"/>
            <a:ext cx="5484167" cy="4755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Job Experience vs Visa Approval (Case Status)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solidFill>
                <a:effectLst/>
                <a:latin typeface="Nunito" pitchFamily="2" charset="77"/>
              </a:rPr>
              <a:t>To evaluate whether prior work experience influences visa approval, I analyzed the relationship between </a:t>
            </a:r>
            <a:r>
              <a:rPr kumimoji="0" lang="en-US" altLang="en-US" sz="900" b="0" i="0" u="none" strike="noStrike" cap="none" normalizeH="0" baseline="0" dirty="0" err="1">
                <a:ln>
                  <a:noFill/>
                </a:ln>
                <a:solidFill>
                  <a:schemeClr val="tx1"/>
                </a:solidFill>
                <a:effectLst/>
                <a:latin typeface="Nunito" pitchFamily="2" charset="77"/>
              </a:rPr>
              <a:t>has_job_experience</a:t>
            </a:r>
            <a:r>
              <a:rPr kumimoji="0" lang="en-US" altLang="en-US" sz="900" b="0" i="0" u="none" strike="noStrike" cap="none" normalizeH="0" baseline="0" dirty="0">
                <a:ln>
                  <a:noFill/>
                </a:ln>
                <a:solidFill>
                  <a:schemeClr val="tx1"/>
                </a:solidFill>
                <a:effectLst/>
                <a:latin typeface="Nunito" pitchFamily="2" charset="77"/>
              </a:rPr>
              <a:t> and </a:t>
            </a:r>
            <a:r>
              <a:rPr kumimoji="0" lang="en-US" altLang="en-US" sz="900" b="0" i="0" u="none" strike="noStrike" cap="none" normalizeH="0" baseline="0" dirty="0" err="1">
                <a:ln>
                  <a:noFill/>
                </a:ln>
                <a:solidFill>
                  <a:schemeClr val="tx1"/>
                </a:solidFill>
                <a:effectLst/>
                <a:latin typeface="Nunito" pitchFamily="2" charset="77"/>
              </a:rPr>
              <a:t>case_status</a:t>
            </a:r>
            <a:r>
              <a:rPr kumimoji="0" lang="en-US" altLang="en-US" sz="900" b="0" i="0" u="none" strike="noStrike" cap="none" normalizeH="0" baseline="0" dirty="0">
                <a:ln>
                  <a:noFill/>
                </a:ln>
                <a:solidFill>
                  <a:schemeClr val="tx1"/>
                </a:solidFill>
                <a:effectLst/>
                <a:latin typeface="Nunito" pitchFamily="2" charset="77"/>
              </a:rPr>
              <a:t>.</a:t>
            </a:r>
            <a:endParaRPr kumimoji="0" lang="en-US" altLang="en-US" sz="9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Key Observations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Applicants </a:t>
            </a:r>
            <a:r>
              <a:rPr kumimoji="0" lang="en-US" altLang="en-US" sz="900" b="1" i="0" u="none" strike="noStrike" cap="none" normalizeH="0" baseline="0" dirty="0">
                <a:ln>
                  <a:noFill/>
                </a:ln>
                <a:solidFill>
                  <a:schemeClr val="tx1"/>
                </a:solidFill>
                <a:effectLst/>
                <a:latin typeface="Nunito" pitchFamily="2" charset="77"/>
              </a:rPr>
              <a:t>with prior work experience (Y)</a:t>
            </a:r>
            <a:r>
              <a:rPr kumimoji="0" lang="en-US" altLang="en-US" sz="900" b="0" i="0" u="none" strike="noStrike" cap="none" normalizeH="0" baseline="0" dirty="0">
                <a:ln>
                  <a:noFill/>
                </a:ln>
                <a:solidFill>
                  <a:schemeClr val="tx1"/>
                </a:solidFill>
                <a:effectLst/>
                <a:latin typeface="Nunito" pitchFamily="2" charset="77"/>
              </a:rPr>
              <a:t> have a higher approval rate (~74%)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Applicants </a:t>
            </a:r>
            <a:r>
              <a:rPr kumimoji="0" lang="en-US" altLang="en-US" sz="900" b="1" i="0" u="none" strike="noStrike" cap="none" normalizeH="0" baseline="0" dirty="0">
                <a:ln>
                  <a:noFill/>
                </a:ln>
                <a:solidFill>
                  <a:schemeClr val="tx1"/>
                </a:solidFill>
                <a:effectLst/>
                <a:latin typeface="Nunito" pitchFamily="2" charset="77"/>
              </a:rPr>
              <a:t>without work experience (N)</a:t>
            </a:r>
            <a:r>
              <a:rPr kumimoji="0" lang="en-US" altLang="en-US" sz="900" b="0" i="0" u="none" strike="noStrike" cap="none" normalizeH="0" baseline="0" dirty="0">
                <a:ln>
                  <a:noFill/>
                </a:ln>
                <a:solidFill>
                  <a:schemeClr val="tx1"/>
                </a:solidFill>
                <a:effectLst/>
                <a:latin typeface="Nunito" pitchFamily="2" charset="77"/>
              </a:rPr>
              <a:t> have a lower approval rate (~56%)</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Interpretation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There is a clear positive relationship between </a:t>
            </a:r>
            <a:r>
              <a:rPr kumimoji="0" lang="en-US" altLang="en-US" sz="900" b="1" i="0" u="none" strike="noStrike" cap="none" normalizeH="0" baseline="0" dirty="0">
                <a:ln>
                  <a:noFill/>
                </a:ln>
                <a:solidFill>
                  <a:schemeClr val="tx1"/>
                </a:solidFill>
                <a:effectLst/>
                <a:latin typeface="Nunito" pitchFamily="2" charset="77"/>
              </a:rPr>
              <a:t>work experience and visa approval</a:t>
            </a:r>
            <a:endParaRPr kumimoji="0" lang="en-US" altLang="en-US" sz="9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Candidates with prior experience are significantly more likely to be certified compared to those without experience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Why This is Important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Work experience is a strong predictor of visa approval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Employers and certification authorities likely prefer candidates who can: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Contribute immediately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Require less training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Bring proven skills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This variable will play an important role in model predictions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Business Insight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Employers should prioritize candidates with prior work experience to improve approval success rates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Candidates without experience may face higher rejection rates and may benefit from:</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Gaining relevant experience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Improving skill 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This insight can help:</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Improve candidate shortlisting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Reduce visa rejection rates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Align hiring strategies with approval trends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Summary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solidFill>
                <a:effectLst/>
                <a:latin typeface="Nunito" pitchFamily="2" charset="77"/>
              </a:rPr>
              <a:t>Applicants with prior work experience have a significantly higher likelihood of visa approval, making experience a key factor in predicting certification outcomes.</a:t>
            </a:r>
          </a:p>
        </p:txBody>
      </p:sp>
    </p:spTree>
    <p:extLst>
      <p:ext uri="{BB962C8B-B14F-4D97-AF65-F5344CB8AC3E}">
        <p14:creationId xmlns:p14="http://schemas.microsoft.com/office/powerpoint/2010/main" val="31059625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19F14948-5788-12E4-A1EB-35BFA208D016}"/>
            </a:ext>
          </a:extLst>
        </p:cNvPr>
        <p:cNvGrpSpPr/>
        <p:nvPr/>
      </p:nvGrpSpPr>
      <p:grpSpPr>
        <a:xfrm>
          <a:off x="0" y="0"/>
          <a:ext cx="0" cy="0"/>
          <a:chOff x="0" y="0"/>
          <a:chExt cx="0" cy="0"/>
        </a:xfrm>
      </p:grpSpPr>
      <p:sp>
        <p:nvSpPr>
          <p:cNvPr id="4" name="Google Shape;175;p39">
            <a:extLst>
              <a:ext uri="{FF2B5EF4-FFF2-40B4-BE49-F238E27FC236}">
                <a16:creationId xmlns:a16="http://schemas.microsoft.com/office/drawing/2014/main" id="{60CEA30F-8D02-3039-1169-ADBF629E4BF2}"/>
              </a:ext>
            </a:extLst>
          </p:cNvPr>
          <p:cNvSpPr txBox="1">
            <a:spLocks/>
          </p:cNvSpPr>
          <p:nvPr/>
        </p:nvSpPr>
        <p:spPr>
          <a:xfrm>
            <a:off x="202550" y="-66594"/>
            <a:ext cx="8941449"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r>
              <a:rPr lang="en-US" sz="1200" dirty="0">
                <a:solidFill>
                  <a:srgbClr val="000000"/>
                </a:solidFill>
                <a:latin typeface="Nunito" pitchFamily="2" charset="77"/>
              </a:rPr>
              <a:t>EDA Results – Bivariate Analysis: </a:t>
            </a:r>
            <a:r>
              <a:rPr lang="en-US" sz="1200" dirty="0"/>
              <a:t>Is the prevailing wage consistent across all regions of the US?</a:t>
            </a:r>
          </a:p>
          <a:p>
            <a:endParaRPr lang="en-US" sz="1200" dirty="0">
              <a:solidFill>
                <a:srgbClr val="000000"/>
              </a:solidFill>
              <a:latin typeface="Nunito" pitchFamily="2" charset="77"/>
            </a:endParaRPr>
          </a:p>
        </p:txBody>
      </p:sp>
      <p:pic>
        <p:nvPicPr>
          <p:cNvPr id="2" name="Picture 1">
            <a:extLst>
              <a:ext uri="{FF2B5EF4-FFF2-40B4-BE49-F238E27FC236}">
                <a16:creationId xmlns:a16="http://schemas.microsoft.com/office/drawing/2014/main" id="{53F61E2B-2374-3AAE-EE02-A007E9A06C93}"/>
              </a:ext>
            </a:extLst>
          </p:cNvPr>
          <p:cNvPicPr>
            <a:picLocks noChangeAspect="1"/>
          </p:cNvPicPr>
          <p:nvPr/>
        </p:nvPicPr>
        <p:blipFill>
          <a:blip r:embed="rId3"/>
          <a:stretch>
            <a:fillRect/>
          </a:stretch>
        </p:blipFill>
        <p:spPr>
          <a:xfrm>
            <a:off x="4816359" y="2273165"/>
            <a:ext cx="4327641" cy="2208400"/>
          </a:xfrm>
          <a:prstGeom prst="rect">
            <a:avLst/>
          </a:prstGeom>
        </p:spPr>
      </p:pic>
      <p:sp>
        <p:nvSpPr>
          <p:cNvPr id="3" name="Rectangle 1">
            <a:extLst>
              <a:ext uri="{FF2B5EF4-FFF2-40B4-BE49-F238E27FC236}">
                <a16:creationId xmlns:a16="http://schemas.microsoft.com/office/drawing/2014/main" id="{8BBF280C-1831-34AB-8917-6D8DCF4CE977}"/>
              </a:ext>
            </a:extLst>
          </p:cNvPr>
          <p:cNvSpPr>
            <a:spLocks noGrp="1" noChangeArrowheads="1"/>
          </p:cNvSpPr>
          <p:nvPr>
            <p:ph type="body" idx="1"/>
          </p:nvPr>
        </p:nvSpPr>
        <p:spPr bwMode="auto">
          <a:xfrm>
            <a:off x="202550" y="124926"/>
            <a:ext cx="8941449"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Prevailing Wage Across Regions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i="0" u="none" strike="noStrike" cap="none" normalizeH="0" baseline="0" dirty="0">
                <a:ln>
                  <a:noFill/>
                </a:ln>
                <a:solidFill>
                  <a:schemeClr val="tx1"/>
                </a:solidFill>
                <a:effectLst/>
                <a:latin typeface="Nunito" pitchFamily="2" charset="77"/>
              </a:rPr>
              <a:t>To analyze whether wage levels vary by region, I used a boxplot to compare the distribution of </a:t>
            </a:r>
            <a:r>
              <a:rPr kumimoji="0" lang="en-US" altLang="en-US" sz="900" i="0" u="none" strike="noStrike" cap="none" normalizeH="0" baseline="0" dirty="0" err="1">
                <a:ln>
                  <a:noFill/>
                </a:ln>
                <a:solidFill>
                  <a:schemeClr val="tx1"/>
                </a:solidFill>
                <a:effectLst/>
                <a:latin typeface="Nunito" pitchFamily="2" charset="77"/>
              </a:rPr>
              <a:t>prevailing_wage</a:t>
            </a:r>
            <a:r>
              <a:rPr kumimoji="0" lang="en-US" altLang="en-US" sz="900" i="0" u="none" strike="noStrike" cap="none" normalizeH="0" baseline="0" dirty="0">
                <a:ln>
                  <a:noFill/>
                </a:ln>
                <a:solidFill>
                  <a:schemeClr val="tx1"/>
                </a:solidFill>
                <a:effectLst/>
                <a:latin typeface="Nunito" pitchFamily="2" charset="77"/>
              </a:rPr>
              <a:t> across different regions of employment.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Key Observations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Wage distributions vary across regions, indicating lack of consistency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The Midwest and Island regions show higher median wages compared to others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The West and Northeast regions have relatively lower median wages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All regions exhibit a wide spread of wages, with significant variability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There are many outliers (very high wages) across all regions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i="0" u="none" strike="noStrike" cap="none" normalizeH="0" baseline="0" dirty="0">
                <a:ln>
                  <a:noFill/>
                </a:ln>
                <a:solidFill>
                  <a:schemeClr val="tx1"/>
                </a:solidFill>
                <a:effectLst/>
                <a:latin typeface="Nunito" pitchFamily="2" charset="77"/>
              </a:rPr>
              <a:t>Interpretation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Prevailing wage is not consistent across regions, suggesting regional differences in: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Cost of living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Industry concentration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Job types and skill requirements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The presence of many outliers indicates that: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Some roles offer significantly higher compensation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Wage distribution is highly skewed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Why This is Important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Wage is likely a key factor influencing visa approval, as it reflects: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Skill level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Job demand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Economic value of the role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Regional variation means: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The same job may have different wage levels depending on location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Models need to consider both wage and region together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Business Insight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Higher wages in certain regions may indicate: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Greater demand for specialized skills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Higher likelihood of visa approval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Employers may improve approval chances by: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Offering competitive wages aligned with regional standards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900" i="0" u="none" strike="noStrike" cap="none" normalizeH="0" baseline="0" dirty="0">
                <a:ln>
                  <a:noFill/>
                </a:ln>
                <a:solidFill>
                  <a:schemeClr val="tx1"/>
                </a:solidFill>
                <a:effectLst/>
                <a:latin typeface="Nunito" pitchFamily="2" charset="77"/>
              </a:rPr>
              <a:t>Targeting regions with higher-paying opportunities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Summary</a:t>
            </a:r>
            <a:endParaRPr kumimoji="0" lang="en-US" altLang="en-US" sz="9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i="0" u="none" strike="noStrike" cap="none" normalizeH="0" baseline="0" dirty="0">
                <a:ln>
                  <a:noFill/>
                </a:ln>
                <a:solidFill>
                  <a:schemeClr val="tx1"/>
                </a:solidFill>
                <a:effectLst/>
                <a:latin typeface="Nunito" pitchFamily="2" charset="77"/>
              </a:rPr>
              <a:t>Prevailing wage varies significantly across regions, with notable differences in median values and wide variability within each region. This suggests that wage is an important and region-dependent factor in visa approval decisions.</a:t>
            </a:r>
          </a:p>
        </p:txBody>
      </p:sp>
    </p:spTree>
    <p:extLst>
      <p:ext uri="{BB962C8B-B14F-4D97-AF65-F5344CB8AC3E}">
        <p14:creationId xmlns:p14="http://schemas.microsoft.com/office/powerpoint/2010/main" val="1110437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FA5CCCFC-FDB4-B76A-9489-A4AF531F7BBA}"/>
            </a:ext>
          </a:extLst>
        </p:cNvPr>
        <p:cNvGrpSpPr/>
        <p:nvPr/>
      </p:nvGrpSpPr>
      <p:grpSpPr>
        <a:xfrm>
          <a:off x="0" y="0"/>
          <a:ext cx="0" cy="0"/>
          <a:chOff x="0" y="0"/>
          <a:chExt cx="0" cy="0"/>
        </a:xfrm>
      </p:grpSpPr>
      <p:sp>
        <p:nvSpPr>
          <p:cNvPr id="4" name="Google Shape;175;p39">
            <a:extLst>
              <a:ext uri="{FF2B5EF4-FFF2-40B4-BE49-F238E27FC236}">
                <a16:creationId xmlns:a16="http://schemas.microsoft.com/office/drawing/2014/main" id="{6F147CBD-4A2F-4B7E-21AF-835763C48EB1}"/>
              </a:ext>
            </a:extLst>
          </p:cNvPr>
          <p:cNvSpPr txBox="1">
            <a:spLocks/>
          </p:cNvSpPr>
          <p:nvPr/>
        </p:nvSpPr>
        <p:spPr>
          <a:xfrm>
            <a:off x="202550" y="-66594"/>
            <a:ext cx="8941449"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r>
              <a:rPr lang="en-US" sz="1200" dirty="0">
                <a:solidFill>
                  <a:srgbClr val="000000"/>
                </a:solidFill>
                <a:latin typeface="Nunito" pitchFamily="2" charset="77"/>
              </a:rPr>
              <a:t>EDA Results – </a:t>
            </a:r>
            <a:r>
              <a:rPr lang="en-US" sz="1200" dirty="0"/>
              <a:t>Does visa status vary with changes in the prevailing wage set to protect both local talent and foreign workers?</a:t>
            </a:r>
          </a:p>
          <a:p>
            <a:endParaRPr lang="en-US" sz="1200" dirty="0">
              <a:solidFill>
                <a:srgbClr val="000000"/>
              </a:solidFill>
              <a:latin typeface="Nunito" pitchFamily="2" charset="77"/>
            </a:endParaRPr>
          </a:p>
        </p:txBody>
      </p:sp>
      <p:pic>
        <p:nvPicPr>
          <p:cNvPr id="5" name="Picture 4">
            <a:extLst>
              <a:ext uri="{FF2B5EF4-FFF2-40B4-BE49-F238E27FC236}">
                <a16:creationId xmlns:a16="http://schemas.microsoft.com/office/drawing/2014/main" id="{189B1F83-38BE-6339-C857-D099DFE1FA9C}"/>
              </a:ext>
            </a:extLst>
          </p:cNvPr>
          <p:cNvPicPr>
            <a:picLocks noChangeAspect="1"/>
          </p:cNvPicPr>
          <p:nvPr/>
        </p:nvPicPr>
        <p:blipFill>
          <a:blip r:embed="rId3"/>
          <a:stretch>
            <a:fillRect/>
          </a:stretch>
        </p:blipFill>
        <p:spPr>
          <a:xfrm>
            <a:off x="5116194" y="1573513"/>
            <a:ext cx="4027806" cy="3350231"/>
          </a:xfrm>
          <a:prstGeom prst="rect">
            <a:avLst/>
          </a:prstGeom>
        </p:spPr>
      </p:pic>
      <p:sp>
        <p:nvSpPr>
          <p:cNvPr id="6" name="Rectangle 1">
            <a:extLst>
              <a:ext uri="{FF2B5EF4-FFF2-40B4-BE49-F238E27FC236}">
                <a16:creationId xmlns:a16="http://schemas.microsoft.com/office/drawing/2014/main" id="{97127400-298B-D4DA-D1B8-763B226B4D25}"/>
              </a:ext>
            </a:extLst>
          </p:cNvPr>
          <p:cNvSpPr>
            <a:spLocks noGrp="1" noChangeArrowheads="1"/>
          </p:cNvSpPr>
          <p:nvPr>
            <p:ph type="body" idx="1"/>
          </p:nvPr>
        </p:nvSpPr>
        <p:spPr bwMode="auto">
          <a:xfrm>
            <a:off x="202550" y="258642"/>
            <a:ext cx="5736026" cy="4970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Prevailing Wage vs Visa Approval (Case Status)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i="0" u="none" strike="noStrike" cap="none" normalizeH="0" baseline="0" dirty="0">
                <a:ln>
                  <a:noFill/>
                </a:ln>
                <a:solidFill>
                  <a:schemeClr val="tx1"/>
                </a:solidFill>
                <a:effectLst/>
                <a:latin typeface="Nunito" pitchFamily="2" charset="77"/>
              </a:rPr>
              <a:t>To understand whether wage influences visa approval, I analyzed the distribution of </a:t>
            </a:r>
            <a:r>
              <a:rPr kumimoji="0" lang="en-US" altLang="en-US" sz="1000" i="0" u="none" strike="noStrike" cap="none" normalizeH="0" baseline="0" dirty="0" err="1">
                <a:ln>
                  <a:noFill/>
                </a:ln>
                <a:solidFill>
                  <a:schemeClr val="tx1"/>
                </a:solidFill>
                <a:effectLst/>
                <a:latin typeface="Nunito" pitchFamily="2" charset="77"/>
              </a:rPr>
              <a:t>prevailing_wage</a:t>
            </a:r>
            <a:r>
              <a:rPr kumimoji="0" lang="en-US" altLang="en-US" sz="1000" i="0" u="none" strike="noStrike" cap="none" normalizeH="0" baseline="0" dirty="0">
                <a:ln>
                  <a:noFill/>
                </a:ln>
                <a:solidFill>
                  <a:schemeClr val="tx1"/>
                </a:solidFill>
                <a:effectLst/>
                <a:latin typeface="Nunito" pitchFamily="2" charset="77"/>
              </a:rPr>
              <a:t> across certified and denied applications using histograms and boxplots.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Key Observations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 distribution of wages for Certified applications is shifted slightly higher compared to Denied applications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 median wage for Certified cases is higher than that of Denied cases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Both groups show a wide range of wages, with significant overlap between Certified and Denied cases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There are many high-value outliers in both categories, indicating high-paying roles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Interpretation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Higher wages are generally associated with a greater likelihood of visa approval, but the relationship is not extremely strong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 overlap between the two distributions suggests that: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Wage alone does not determine approval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Other factors (education, experience, job type) also play important roles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 skewness and presence of outliers indicate that: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Some roles offer significantly higher compensation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Wage distribution varies widely across job types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Why This is Important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Prevailing wage is a key factor used to ensure: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Foreign workers are not underpaid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Fair compensation relative to local workers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Higher wages may signal: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Higher skill levels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Specialized or in-demand roles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Greater economic value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This makes wage an important variable in predicting visa approval outcomes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i="0" u="none" strike="noStrike" cap="none" normalizeH="0" baseline="0" dirty="0">
              <a:ln>
                <a:noFill/>
              </a:ln>
              <a:solidFill>
                <a:schemeClr val="tx1"/>
              </a:solidFill>
              <a:effectLst/>
              <a:latin typeface="Nunito" pitchFamily="2" charset="77"/>
            </a:endParaRPr>
          </a:p>
        </p:txBody>
      </p:sp>
    </p:spTree>
    <p:extLst>
      <p:ext uri="{BB962C8B-B14F-4D97-AF65-F5344CB8AC3E}">
        <p14:creationId xmlns:p14="http://schemas.microsoft.com/office/powerpoint/2010/main" val="29141768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C0A013F5-FDB6-86B6-2AFB-006887D82A46}"/>
            </a:ext>
          </a:extLst>
        </p:cNvPr>
        <p:cNvGrpSpPr/>
        <p:nvPr/>
      </p:nvGrpSpPr>
      <p:grpSpPr>
        <a:xfrm>
          <a:off x="0" y="0"/>
          <a:ext cx="0" cy="0"/>
          <a:chOff x="0" y="0"/>
          <a:chExt cx="0" cy="0"/>
        </a:xfrm>
      </p:grpSpPr>
      <p:sp>
        <p:nvSpPr>
          <p:cNvPr id="4" name="Google Shape;175;p39">
            <a:extLst>
              <a:ext uri="{FF2B5EF4-FFF2-40B4-BE49-F238E27FC236}">
                <a16:creationId xmlns:a16="http://schemas.microsoft.com/office/drawing/2014/main" id="{BF0D2533-0E59-A9BB-BFE0-D686A0A7054F}"/>
              </a:ext>
            </a:extLst>
          </p:cNvPr>
          <p:cNvSpPr txBox="1">
            <a:spLocks/>
          </p:cNvSpPr>
          <p:nvPr/>
        </p:nvSpPr>
        <p:spPr>
          <a:xfrm>
            <a:off x="202550" y="-66594"/>
            <a:ext cx="8941449"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r>
              <a:rPr lang="en-US" sz="1200" dirty="0">
                <a:solidFill>
                  <a:srgbClr val="000000"/>
                </a:solidFill>
                <a:latin typeface="Nunito" pitchFamily="2" charset="77"/>
              </a:rPr>
              <a:t>EDA Results – </a:t>
            </a:r>
            <a:r>
              <a:rPr lang="en-US" sz="1200" dirty="0"/>
              <a:t>Does visa status vary with changes in the prevailing wage set to protect both local talent and foreign workers?</a:t>
            </a:r>
          </a:p>
          <a:p>
            <a:endParaRPr lang="en-US" sz="1200" dirty="0">
              <a:solidFill>
                <a:srgbClr val="000000"/>
              </a:solidFill>
              <a:latin typeface="Nunito" pitchFamily="2" charset="77"/>
            </a:endParaRPr>
          </a:p>
        </p:txBody>
      </p:sp>
      <p:pic>
        <p:nvPicPr>
          <p:cNvPr id="5" name="Picture 4">
            <a:extLst>
              <a:ext uri="{FF2B5EF4-FFF2-40B4-BE49-F238E27FC236}">
                <a16:creationId xmlns:a16="http://schemas.microsoft.com/office/drawing/2014/main" id="{D0FE1BD7-672F-6E7E-34F8-DF59E501615E}"/>
              </a:ext>
            </a:extLst>
          </p:cNvPr>
          <p:cNvPicPr>
            <a:picLocks noChangeAspect="1"/>
          </p:cNvPicPr>
          <p:nvPr/>
        </p:nvPicPr>
        <p:blipFill>
          <a:blip r:embed="rId3"/>
          <a:stretch>
            <a:fillRect/>
          </a:stretch>
        </p:blipFill>
        <p:spPr>
          <a:xfrm>
            <a:off x="4992601" y="506106"/>
            <a:ext cx="4027806" cy="3350231"/>
          </a:xfrm>
          <a:prstGeom prst="rect">
            <a:avLst/>
          </a:prstGeom>
        </p:spPr>
      </p:pic>
      <p:sp>
        <p:nvSpPr>
          <p:cNvPr id="8" name="TextBox 7">
            <a:extLst>
              <a:ext uri="{FF2B5EF4-FFF2-40B4-BE49-F238E27FC236}">
                <a16:creationId xmlns:a16="http://schemas.microsoft.com/office/drawing/2014/main" id="{0EA7C2B2-5D3D-74E1-DB9C-C3313AE2051E}"/>
              </a:ext>
            </a:extLst>
          </p:cNvPr>
          <p:cNvSpPr txBox="1"/>
          <p:nvPr/>
        </p:nvSpPr>
        <p:spPr>
          <a:xfrm>
            <a:off x="202550" y="506106"/>
            <a:ext cx="4572000" cy="255454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Business Insight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Offering competitive and higher wages may increase the chances of visa certification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Employers should align wage offerings with:</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Market standards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Skill requirements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However, wage alone is not sufficient — it must be considered alongside: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Education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Work experience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Job characteristics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Summary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i="0" u="none" strike="noStrike" cap="none" normalizeH="0" baseline="0" dirty="0">
                <a:ln>
                  <a:noFill/>
                </a:ln>
                <a:solidFill>
                  <a:schemeClr val="tx1"/>
                </a:solidFill>
                <a:effectLst/>
                <a:latin typeface="Nunito" pitchFamily="2" charset="77"/>
              </a:rPr>
              <a:t>Prevailing wage shows a moderate relationship with visa approval, with certified applications generally associated with higher wages. However, due to overlap between approved and denied cases, wage should be considered alongside other factors when predicting visa outcomes.</a:t>
            </a:r>
          </a:p>
        </p:txBody>
      </p:sp>
    </p:spTree>
    <p:extLst>
      <p:ext uri="{BB962C8B-B14F-4D97-AF65-F5344CB8AC3E}">
        <p14:creationId xmlns:p14="http://schemas.microsoft.com/office/powerpoint/2010/main" val="3452645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40"/>
          <p:cNvSpPr txBox="1">
            <a:spLocks noGrp="1"/>
          </p:cNvSpPr>
          <p:nvPr>
            <p:ph type="title"/>
          </p:nvPr>
        </p:nvSpPr>
        <p:spPr>
          <a:xfrm>
            <a:off x="202550" y="0"/>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000" dirty="0">
                <a:solidFill>
                  <a:srgbClr val="000000"/>
                </a:solidFill>
              </a:rPr>
              <a:t>Data Pre-Preprocessing : Outlier Check</a:t>
            </a:r>
            <a:endParaRPr sz="2000" dirty="0">
              <a:solidFill>
                <a:srgbClr val="000000"/>
              </a:solidFill>
            </a:endParaRPr>
          </a:p>
        </p:txBody>
      </p:sp>
      <p:sp>
        <p:nvSpPr>
          <p:cNvPr id="2" name="Text Placeholder 1">
            <a:extLst>
              <a:ext uri="{FF2B5EF4-FFF2-40B4-BE49-F238E27FC236}">
                <a16:creationId xmlns:a16="http://schemas.microsoft.com/office/drawing/2014/main" id="{A0AF4572-60E8-DD6F-4AF0-52EC320D0CC1}"/>
              </a:ext>
            </a:extLst>
          </p:cNvPr>
          <p:cNvSpPr>
            <a:spLocks noGrp="1" noChangeArrowheads="1"/>
          </p:cNvSpPr>
          <p:nvPr>
            <p:ph type="body" idx="1"/>
          </p:nvPr>
        </p:nvSpPr>
        <p:spPr bwMode="auto">
          <a:xfrm>
            <a:off x="282936" y="372645"/>
            <a:ext cx="8861064" cy="2206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1" i="0" u="none" strike="noStrike" cap="none" normalizeH="0" baseline="0" dirty="0">
                <a:ln>
                  <a:noFill/>
                </a:ln>
                <a:solidFill>
                  <a:schemeClr val="tx1"/>
                </a:solidFill>
                <a:effectLst/>
                <a:latin typeface="Nunito" pitchFamily="2" charset="77"/>
              </a:rPr>
            </a:br>
            <a:r>
              <a:rPr kumimoji="0" lang="en-US" altLang="en-US" sz="1000" b="1" i="0" u="none" strike="noStrike" cap="none" normalizeH="0" baseline="0" dirty="0">
                <a:ln>
                  <a:noFill/>
                </a:ln>
                <a:solidFill>
                  <a:schemeClr val="tx1"/>
                </a:solidFill>
                <a:effectLst/>
                <a:latin typeface="Nunito" pitchFamily="2" charset="77"/>
              </a:rPr>
              <a:t>Outlier Detection and Treatment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To identify outliers, I used boxplots for all numerical variables: </a:t>
            </a:r>
            <a:r>
              <a:rPr kumimoji="0" lang="en-US" altLang="en-US" sz="1000" b="0" i="0" u="none" strike="noStrike" cap="none" normalizeH="0" baseline="0" dirty="0" err="1">
                <a:ln>
                  <a:noFill/>
                </a:ln>
                <a:solidFill>
                  <a:schemeClr val="tx1"/>
                </a:solidFill>
                <a:effectLst/>
                <a:latin typeface="Nunito" pitchFamily="2" charset="77"/>
              </a:rPr>
              <a:t>no_of_employees</a:t>
            </a:r>
            <a:r>
              <a:rPr kumimoji="0" lang="en-US" altLang="en-US" sz="1000" b="0" i="0" u="none" strike="noStrike" cap="none" normalizeH="0" baseline="0" dirty="0">
                <a:ln>
                  <a:noFill/>
                </a:ln>
                <a:solidFill>
                  <a:schemeClr val="tx1"/>
                </a:solidFill>
                <a:effectLst/>
                <a:latin typeface="Nunito" pitchFamily="2" charset="77"/>
              </a:rPr>
              <a:t>, </a:t>
            </a:r>
            <a:r>
              <a:rPr kumimoji="0" lang="en-US" altLang="en-US" sz="1000" b="0" i="0" u="none" strike="noStrike" cap="none" normalizeH="0" baseline="0" dirty="0" err="1">
                <a:ln>
                  <a:noFill/>
                </a:ln>
                <a:solidFill>
                  <a:schemeClr val="tx1"/>
                </a:solidFill>
                <a:effectLst/>
                <a:latin typeface="Nunito" pitchFamily="2" charset="77"/>
              </a:rPr>
              <a:t>yr_of_estab</a:t>
            </a:r>
            <a:r>
              <a:rPr kumimoji="0" lang="en-US" altLang="en-US" sz="1000" b="0" i="0" u="none" strike="noStrike" cap="none" normalizeH="0" baseline="0" dirty="0">
                <a:ln>
                  <a:noFill/>
                </a:ln>
                <a:solidFill>
                  <a:schemeClr val="tx1"/>
                </a:solidFill>
                <a:effectLst/>
                <a:latin typeface="Nunito" pitchFamily="2" charset="77"/>
              </a:rPr>
              <a:t>, and </a:t>
            </a:r>
            <a:r>
              <a:rPr kumimoji="0" lang="en-US" altLang="en-US" sz="1000" b="0" i="0" u="none" strike="noStrike" cap="none" normalizeH="0" baseline="0" dirty="0" err="1">
                <a:ln>
                  <a:noFill/>
                </a:ln>
                <a:solidFill>
                  <a:schemeClr val="tx1"/>
                </a:solidFill>
                <a:effectLst/>
                <a:latin typeface="Nunito" pitchFamily="2" charset="77"/>
              </a:rPr>
              <a:t>prevailing_wage</a:t>
            </a:r>
            <a:r>
              <a:rPr kumimoji="0" lang="en-US" altLang="en-US" sz="1000" b="0" i="0" u="none" strike="noStrike" cap="none" normalizeH="0" baseline="0" dirty="0">
                <a:ln>
                  <a:noFill/>
                </a:ln>
                <a:solidFill>
                  <a:schemeClr val="tx1"/>
                </a:solidFill>
                <a:effectLst/>
                <a:latin typeface="Nunito" pitchFamily="2" charset="77"/>
              </a:rPr>
              <a:t>.</a:t>
            </a:r>
            <a:endParaRPr kumimoji="0" lang="en-US" altLang="en-US" sz="10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Key Observations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err="1">
                <a:ln>
                  <a:noFill/>
                </a:ln>
                <a:solidFill>
                  <a:schemeClr val="tx1"/>
                </a:solidFill>
                <a:effectLst/>
                <a:latin typeface="Nunito" pitchFamily="2" charset="77"/>
              </a:rPr>
              <a:t>no_of_employees</a:t>
            </a:r>
            <a:r>
              <a:rPr kumimoji="0" lang="en-US" altLang="en-US" sz="1000" b="0" i="0" u="none" strike="noStrike" cap="none" normalizeH="0" baseline="0" dirty="0">
                <a:ln>
                  <a:noFill/>
                </a:ln>
                <a:solidFill>
                  <a:schemeClr val="tx1"/>
                </a:solidFill>
                <a:effectLst/>
                <a:latin typeface="Nunito" pitchFamily="2" charset="77"/>
              </a:rPr>
              <a:t> shows significant right skew with several extreme values, indicating the presence of very large companies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err="1">
                <a:ln>
                  <a:noFill/>
                </a:ln>
                <a:solidFill>
                  <a:schemeClr val="tx1"/>
                </a:solidFill>
                <a:effectLst/>
                <a:latin typeface="Nunito" pitchFamily="2" charset="77"/>
              </a:rPr>
              <a:t>prevailing_wage</a:t>
            </a:r>
            <a:r>
              <a:rPr kumimoji="0" lang="en-US" altLang="en-US" sz="1000" b="0" i="0" u="none" strike="noStrike" cap="none" normalizeH="0" baseline="0" dirty="0">
                <a:ln>
                  <a:noFill/>
                </a:ln>
                <a:solidFill>
                  <a:schemeClr val="tx1"/>
                </a:solidFill>
                <a:effectLst/>
                <a:latin typeface="Nunito" pitchFamily="2" charset="77"/>
              </a:rPr>
              <a:t> also exhibits a strong right skew with multiple high-value outliers, reflecting highly paid roles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err="1">
                <a:ln>
                  <a:noFill/>
                </a:ln>
                <a:solidFill>
                  <a:schemeClr val="tx1"/>
                </a:solidFill>
                <a:effectLst/>
                <a:latin typeface="Nunito" pitchFamily="2" charset="77"/>
              </a:rPr>
              <a:t>yr_of_estab</a:t>
            </a:r>
            <a:r>
              <a:rPr kumimoji="0" lang="en-US" altLang="en-US" sz="1000" b="0" i="0" u="none" strike="noStrike" cap="none" normalizeH="0" baseline="0" dirty="0">
                <a:ln>
                  <a:noFill/>
                </a:ln>
                <a:solidFill>
                  <a:schemeClr val="tx1"/>
                </a:solidFill>
                <a:effectLst/>
                <a:latin typeface="Nunito" pitchFamily="2" charset="77"/>
              </a:rPr>
              <a:t> shows some older companies as outliers, but these values are valid and represent long-established firms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Interpretation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The presence of outliers in </a:t>
            </a:r>
            <a:r>
              <a:rPr kumimoji="0" lang="en-US" altLang="en-US" sz="1000" b="0" i="0" u="none" strike="noStrike" cap="none" normalizeH="0" baseline="0" dirty="0" err="1">
                <a:ln>
                  <a:noFill/>
                </a:ln>
                <a:solidFill>
                  <a:schemeClr val="tx1"/>
                </a:solidFill>
                <a:effectLst/>
                <a:latin typeface="Nunito" pitchFamily="2" charset="77"/>
              </a:rPr>
              <a:t>no_of_employees</a:t>
            </a:r>
            <a:r>
              <a:rPr kumimoji="0" lang="en-US" altLang="en-US" sz="1000" b="0" i="0" u="none" strike="noStrike" cap="none" normalizeH="0" baseline="0" dirty="0">
                <a:ln>
                  <a:noFill/>
                </a:ln>
                <a:solidFill>
                  <a:schemeClr val="tx1"/>
                </a:solidFill>
                <a:effectLst/>
                <a:latin typeface="Nunito" pitchFamily="2" charset="77"/>
              </a:rPr>
              <a:t> and </a:t>
            </a:r>
            <a:r>
              <a:rPr kumimoji="0" lang="en-US" altLang="en-US" sz="1000" b="0" i="0" u="none" strike="noStrike" cap="none" normalizeH="0" baseline="0" dirty="0" err="1">
                <a:ln>
                  <a:noFill/>
                </a:ln>
                <a:solidFill>
                  <a:schemeClr val="tx1"/>
                </a:solidFill>
                <a:effectLst/>
                <a:latin typeface="Nunito" pitchFamily="2" charset="77"/>
              </a:rPr>
              <a:t>prevailing_wage</a:t>
            </a:r>
            <a:r>
              <a:rPr kumimoji="0" lang="en-US" altLang="en-US" sz="1000" b="0" i="0" u="none" strike="noStrike" cap="none" normalizeH="0" baseline="0" dirty="0">
                <a:ln>
                  <a:noFill/>
                </a:ln>
                <a:solidFill>
                  <a:schemeClr val="tx1"/>
                </a:solidFill>
                <a:effectLst/>
                <a:latin typeface="Nunito" pitchFamily="2" charset="77"/>
              </a:rPr>
              <a:t> is expected due to natural variation in company size and salary levels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These outliers are not necessarily errors but represent real-world scenarios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retained, as they reflect real-world variability and contribute valuable information for modeling and decision-making.</a:t>
            </a:r>
          </a:p>
        </p:txBody>
      </p:sp>
      <p:pic>
        <p:nvPicPr>
          <p:cNvPr id="3" name="Picture 2">
            <a:extLst>
              <a:ext uri="{FF2B5EF4-FFF2-40B4-BE49-F238E27FC236}">
                <a16:creationId xmlns:a16="http://schemas.microsoft.com/office/drawing/2014/main" id="{9C665013-22DB-B1D1-2540-179A72AF90DB}"/>
              </a:ext>
            </a:extLst>
          </p:cNvPr>
          <p:cNvPicPr>
            <a:picLocks noChangeAspect="1"/>
          </p:cNvPicPr>
          <p:nvPr/>
        </p:nvPicPr>
        <p:blipFill>
          <a:blip r:embed="rId3"/>
          <a:stretch>
            <a:fillRect/>
          </a:stretch>
        </p:blipFill>
        <p:spPr>
          <a:xfrm>
            <a:off x="282936" y="2579609"/>
            <a:ext cx="7772400" cy="223311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E52E2ED9-F71A-6B39-C373-13C792772CAA}"/>
            </a:ext>
          </a:extLst>
        </p:cNvPr>
        <p:cNvGrpSpPr/>
        <p:nvPr/>
      </p:nvGrpSpPr>
      <p:grpSpPr>
        <a:xfrm>
          <a:off x="0" y="0"/>
          <a:ext cx="0" cy="0"/>
          <a:chOff x="0" y="0"/>
          <a:chExt cx="0" cy="0"/>
        </a:xfrm>
      </p:grpSpPr>
      <p:sp>
        <p:nvSpPr>
          <p:cNvPr id="182" name="Google Shape;182;p40">
            <a:extLst>
              <a:ext uri="{FF2B5EF4-FFF2-40B4-BE49-F238E27FC236}">
                <a16:creationId xmlns:a16="http://schemas.microsoft.com/office/drawing/2014/main" id="{89B19AD5-F0A7-EDA5-85B2-88EC5F01A186}"/>
              </a:ext>
            </a:extLst>
          </p:cNvPr>
          <p:cNvSpPr txBox="1">
            <a:spLocks noGrp="1"/>
          </p:cNvSpPr>
          <p:nvPr>
            <p:ph type="title"/>
          </p:nvPr>
        </p:nvSpPr>
        <p:spPr>
          <a:xfrm>
            <a:off x="202550" y="0"/>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000" dirty="0">
                <a:solidFill>
                  <a:srgbClr val="000000"/>
                </a:solidFill>
              </a:rPr>
              <a:t>Data Pre-Processing : Outlier Check</a:t>
            </a:r>
            <a:endParaRPr sz="2000" dirty="0">
              <a:solidFill>
                <a:srgbClr val="000000"/>
              </a:solidFill>
            </a:endParaRPr>
          </a:p>
        </p:txBody>
      </p:sp>
      <p:sp>
        <p:nvSpPr>
          <p:cNvPr id="2" name="Text Placeholder 1">
            <a:extLst>
              <a:ext uri="{FF2B5EF4-FFF2-40B4-BE49-F238E27FC236}">
                <a16:creationId xmlns:a16="http://schemas.microsoft.com/office/drawing/2014/main" id="{9E90EA23-CE39-6214-4B09-CF5C58C35A41}"/>
              </a:ext>
            </a:extLst>
          </p:cNvPr>
          <p:cNvSpPr>
            <a:spLocks noGrp="1" noChangeArrowheads="1"/>
          </p:cNvSpPr>
          <p:nvPr>
            <p:ph type="body" idx="1"/>
          </p:nvPr>
        </p:nvSpPr>
        <p:spPr bwMode="auto">
          <a:xfrm>
            <a:off x="282936" y="484173"/>
            <a:ext cx="8861064" cy="2514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Treatment Decision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No outliers were removed, as they provide meaningful business information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Removing them could result in loss of important patterns, especially for high-paying roles and large organizations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Why This is Important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Outliers can influence model performance and statistical summaries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However, in this case, they reflect </a:t>
            </a:r>
            <a:r>
              <a:rPr kumimoji="0" lang="en-US" altLang="en-US" sz="1000" b="1" i="0" u="none" strike="noStrike" cap="none" normalizeH="0" baseline="0" dirty="0">
                <a:ln>
                  <a:noFill/>
                </a:ln>
                <a:solidFill>
                  <a:schemeClr val="tx1"/>
                </a:solidFill>
                <a:effectLst/>
                <a:latin typeface="Nunito" pitchFamily="2" charset="77"/>
              </a:rPr>
              <a:t>genuine business variation</a:t>
            </a:r>
            <a:r>
              <a:rPr kumimoji="0" lang="en-US" altLang="en-US" sz="1000" b="0" i="0" u="none" strike="noStrike" cap="none" normalizeH="0" baseline="0" dirty="0">
                <a:ln>
                  <a:noFill/>
                </a:ln>
                <a:solidFill>
                  <a:schemeClr val="tx1"/>
                </a:solidFill>
                <a:effectLst/>
                <a:latin typeface="Nunito" pitchFamily="2" charset="77"/>
              </a:rPr>
              <a:t>, so retaining them improves model realism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Business Insight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Large companies and high-paying jobs are important segments in visa applications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These segments may have different approval patterns and should be preserved in the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Summary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Outliers are present in key numerical variables but are retained, as they reflect real-world variability and contribute valuable information for modeling and decision-making.</a:t>
            </a:r>
          </a:p>
        </p:txBody>
      </p:sp>
      <p:pic>
        <p:nvPicPr>
          <p:cNvPr id="3" name="Picture 2">
            <a:extLst>
              <a:ext uri="{FF2B5EF4-FFF2-40B4-BE49-F238E27FC236}">
                <a16:creationId xmlns:a16="http://schemas.microsoft.com/office/drawing/2014/main" id="{FACD0482-ED69-83D1-BA35-08D18CB98F44}"/>
              </a:ext>
            </a:extLst>
          </p:cNvPr>
          <p:cNvPicPr>
            <a:picLocks noChangeAspect="1"/>
          </p:cNvPicPr>
          <p:nvPr/>
        </p:nvPicPr>
        <p:blipFill>
          <a:blip r:embed="rId3"/>
          <a:stretch>
            <a:fillRect/>
          </a:stretch>
        </p:blipFill>
        <p:spPr>
          <a:xfrm>
            <a:off x="472272" y="2910386"/>
            <a:ext cx="7772400" cy="2233114"/>
          </a:xfrm>
          <a:prstGeom prst="rect">
            <a:avLst/>
          </a:prstGeom>
        </p:spPr>
      </p:pic>
    </p:spTree>
    <p:extLst>
      <p:ext uri="{BB962C8B-B14F-4D97-AF65-F5344CB8AC3E}">
        <p14:creationId xmlns:p14="http://schemas.microsoft.com/office/powerpoint/2010/main" val="14042641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AA2469DA-A18D-56FB-B964-3D4015F8359E}"/>
            </a:ext>
          </a:extLst>
        </p:cNvPr>
        <p:cNvGrpSpPr/>
        <p:nvPr/>
      </p:nvGrpSpPr>
      <p:grpSpPr>
        <a:xfrm>
          <a:off x="0" y="0"/>
          <a:ext cx="0" cy="0"/>
          <a:chOff x="0" y="0"/>
          <a:chExt cx="0" cy="0"/>
        </a:xfrm>
      </p:grpSpPr>
      <p:sp>
        <p:nvSpPr>
          <p:cNvPr id="182" name="Google Shape;182;p40">
            <a:extLst>
              <a:ext uri="{FF2B5EF4-FFF2-40B4-BE49-F238E27FC236}">
                <a16:creationId xmlns:a16="http://schemas.microsoft.com/office/drawing/2014/main" id="{AB4229D1-ED7D-3F49-A377-73052C47BD36}"/>
              </a:ext>
            </a:extLst>
          </p:cNvPr>
          <p:cNvSpPr txBox="1">
            <a:spLocks noGrp="1"/>
          </p:cNvSpPr>
          <p:nvPr>
            <p:ph type="title"/>
          </p:nvPr>
        </p:nvSpPr>
        <p:spPr>
          <a:xfrm>
            <a:off x="202550" y="88312"/>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000000"/>
                </a:solidFill>
              </a:rPr>
              <a:t>Data Pre-Processing: Missing Value Detection and Treatment</a:t>
            </a:r>
            <a:endParaRPr dirty="0">
              <a:solidFill>
                <a:srgbClr val="000000"/>
              </a:solidFill>
            </a:endParaRPr>
          </a:p>
        </p:txBody>
      </p:sp>
      <p:sp>
        <p:nvSpPr>
          <p:cNvPr id="183" name="Google Shape;183;p40">
            <a:extLst>
              <a:ext uri="{FF2B5EF4-FFF2-40B4-BE49-F238E27FC236}">
                <a16:creationId xmlns:a16="http://schemas.microsoft.com/office/drawing/2014/main" id="{FE4FFD66-CF9A-796F-B362-1B04949A0880}"/>
              </a:ext>
            </a:extLst>
          </p:cNvPr>
          <p:cNvSpPr txBox="1">
            <a:spLocks noGrp="1"/>
          </p:cNvSpPr>
          <p:nvPr>
            <p:ph type="body" idx="1"/>
          </p:nvPr>
        </p:nvSpPr>
        <p:spPr>
          <a:xfrm>
            <a:off x="202550" y="861975"/>
            <a:ext cx="8629800" cy="2520660"/>
          </a:xfrm>
          <a:prstGeom prst="rect">
            <a:avLst/>
          </a:prstGeom>
          <a:noFill/>
          <a:ln>
            <a:noFill/>
          </a:ln>
        </p:spPr>
        <p:txBody>
          <a:bodyPr spcFirstLastPara="1" wrap="square" lIns="91425" tIns="91425" rIns="91425" bIns="91425" anchor="t" anchorCtr="0">
            <a:spAutoFit/>
          </a:bodyPr>
          <a:lstStyle/>
          <a:p>
            <a:pPr marL="0" lvl="0" indent="0">
              <a:buNone/>
            </a:pPr>
            <a:r>
              <a:rPr lang="en-US" sz="1200" b="1" dirty="0">
                <a:solidFill>
                  <a:srgbClr val="2D3B45"/>
                </a:solidFill>
                <a:latin typeface="Nunito" pitchFamily="2" charset="77"/>
              </a:rPr>
              <a:t>Missing Value Detection and Treatment</a:t>
            </a:r>
          </a:p>
          <a:p>
            <a:pPr marL="0" lvl="0" indent="0">
              <a:buNone/>
            </a:pPr>
            <a:endParaRPr lang="en-US" sz="1200" dirty="0">
              <a:solidFill>
                <a:srgbClr val="2D3B45"/>
              </a:solidFill>
              <a:latin typeface="Nunito" pitchFamily="2" charset="77"/>
            </a:endParaRPr>
          </a:p>
          <a:p>
            <a:pPr marL="0" lvl="0" indent="0">
              <a:buNone/>
            </a:pPr>
            <a:r>
              <a:rPr lang="en-US" sz="1200" dirty="0">
                <a:solidFill>
                  <a:srgbClr val="2D3B45"/>
                </a:solidFill>
                <a:latin typeface="Nunito" pitchFamily="2" charset="77"/>
              </a:rPr>
              <a:t>I checked for missing values using `</a:t>
            </a:r>
            <a:r>
              <a:rPr lang="en-US" sz="1200" dirty="0" err="1">
                <a:solidFill>
                  <a:srgbClr val="2D3B45"/>
                </a:solidFill>
                <a:latin typeface="Nunito" pitchFamily="2" charset="77"/>
              </a:rPr>
              <a:t>data.isnull</a:t>
            </a:r>
            <a:r>
              <a:rPr lang="en-US" sz="1200" dirty="0">
                <a:solidFill>
                  <a:srgbClr val="2D3B45"/>
                </a:solidFill>
                <a:latin typeface="Nunito" pitchFamily="2" charset="77"/>
              </a:rPr>
              <a:t>().sum()`.</a:t>
            </a:r>
          </a:p>
          <a:p>
            <a:pPr marL="0" lvl="0" indent="0">
              <a:buNone/>
            </a:pPr>
            <a:endParaRPr lang="en-US" sz="1200" dirty="0">
              <a:solidFill>
                <a:srgbClr val="2D3B45"/>
              </a:solidFill>
              <a:latin typeface="Nunito" pitchFamily="2" charset="77"/>
            </a:endParaRPr>
          </a:p>
          <a:p>
            <a:pPr marL="0" lvl="0" indent="0">
              <a:buNone/>
            </a:pPr>
            <a:r>
              <a:rPr lang="en-US" sz="1200" b="1" dirty="0">
                <a:solidFill>
                  <a:srgbClr val="2D3B45"/>
                </a:solidFill>
                <a:latin typeface="Nunito" pitchFamily="2" charset="77"/>
              </a:rPr>
              <a:t>Observation:  </a:t>
            </a:r>
            <a:r>
              <a:rPr lang="en-US" sz="1200" dirty="0">
                <a:solidFill>
                  <a:srgbClr val="2D3B45"/>
                </a:solidFill>
                <a:latin typeface="Nunito" pitchFamily="2" charset="77"/>
              </a:rPr>
              <a:t>No missing values were found in the dataset</a:t>
            </a:r>
          </a:p>
          <a:p>
            <a:pPr marL="0" lvl="0" indent="0">
              <a:buNone/>
            </a:pPr>
            <a:endParaRPr lang="en-US" sz="1200" dirty="0">
              <a:solidFill>
                <a:srgbClr val="2D3B45"/>
              </a:solidFill>
              <a:latin typeface="Nunito" pitchFamily="2" charset="77"/>
            </a:endParaRPr>
          </a:p>
          <a:p>
            <a:pPr marL="0" lvl="0" indent="0">
              <a:buNone/>
            </a:pPr>
            <a:r>
              <a:rPr lang="en-US" sz="1200" b="1" dirty="0">
                <a:solidFill>
                  <a:srgbClr val="2D3B45"/>
                </a:solidFill>
                <a:latin typeface="Nunito" pitchFamily="2" charset="77"/>
              </a:rPr>
              <a:t>Action Taken: </a:t>
            </a:r>
            <a:r>
              <a:rPr lang="en-US" sz="1200" dirty="0">
                <a:solidFill>
                  <a:srgbClr val="2D3B45"/>
                </a:solidFill>
                <a:latin typeface="Nunito" pitchFamily="2" charset="77"/>
              </a:rPr>
              <a:t>No imputation was required</a:t>
            </a:r>
          </a:p>
          <a:p>
            <a:pPr marL="0" lvl="0" indent="0">
              <a:buNone/>
            </a:pPr>
            <a:endParaRPr lang="en-US" sz="1200" dirty="0">
              <a:solidFill>
                <a:srgbClr val="2D3B45"/>
              </a:solidFill>
              <a:latin typeface="Nunito" pitchFamily="2" charset="77"/>
            </a:endParaRPr>
          </a:p>
          <a:p>
            <a:pPr marL="0" lvl="0" indent="0">
              <a:buNone/>
            </a:pPr>
            <a:r>
              <a:rPr lang="en-US" sz="1200" b="1" dirty="0">
                <a:solidFill>
                  <a:srgbClr val="2D3B45"/>
                </a:solidFill>
                <a:latin typeface="Nunito" pitchFamily="2" charset="77"/>
              </a:rPr>
              <a:t>Why This is Important:  </a:t>
            </a:r>
            <a:r>
              <a:rPr lang="en-US" sz="1200" dirty="0">
                <a:solidFill>
                  <a:srgbClr val="2D3B45"/>
                </a:solidFill>
                <a:latin typeface="Nunito" pitchFamily="2" charset="77"/>
              </a:rPr>
              <a:t>Missing data can impact model accuracy and require imputation strategies</a:t>
            </a:r>
          </a:p>
          <a:p>
            <a:pPr marL="0" lvl="0" indent="0">
              <a:buNone/>
            </a:pPr>
            <a:endParaRPr lang="en-US" sz="1200" dirty="0">
              <a:solidFill>
                <a:srgbClr val="2D3B45"/>
              </a:solidFill>
              <a:latin typeface="Nunito" pitchFamily="2" charset="77"/>
            </a:endParaRPr>
          </a:p>
          <a:p>
            <a:pPr marL="0" lvl="0" indent="0">
              <a:buNone/>
            </a:pPr>
            <a:r>
              <a:rPr lang="en-US" sz="1200" b="1" dirty="0">
                <a:solidFill>
                  <a:srgbClr val="2D3B45"/>
                </a:solidFill>
                <a:latin typeface="Nunito" pitchFamily="2" charset="77"/>
              </a:rPr>
              <a:t>Summary: </a:t>
            </a:r>
            <a:r>
              <a:rPr lang="en-US" sz="1200" dirty="0">
                <a:solidFill>
                  <a:srgbClr val="2D3B45"/>
                </a:solidFill>
                <a:latin typeface="Nunito" pitchFamily="2" charset="77"/>
              </a:rPr>
              <a:t>The dataset is complete, allowing for reliable modeling without additional preprocessing.</a:t>
            </a:r>
            <a:endParaRPr sz="1200" dirty="0">
              <a:solidFill>
                <a:srgbClr val="2D3B45"/>
              </a:solidFill>
              <a:highlight>
                <a:srgbClr val="FFFFFF"/>
              </a:highlight>
              <a:latin typeface="Nunito" pitchFamily="2" charset="77"/>
            </a:endParaRPr>
          </a:p>
        </p:txBody>
      </p:sp>
    </p:spTree>
    <p:extLst>
      <p:ext uri="{BB962C8B-B14F-4D97-AF65-F5344CB8AC3E}">
        <p14:creationId xmlns:p14="http://schemas.microsoft.com/office/powerpoint/2010/main" val="28645246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D29AE8D2-FCA1-3899-5129-1DB9AB255311}"/>
            </a:ext>
          </a:extLst>
        </p:cNvPr>
        <p:cNvGrpSpPr/>
        <p:nvPr/>
      </p:nvGrpSpPr>
      <p:grpSpPr>
        <a:xfrm>
          <a:off x="0" y="0"/>
          <a:ext cx="0" cy="0"/>
          <a:chOff x="0" y="0"/>
          <a:chExt cx="0" cy="0"/>
        </a:xfrm>
      </p:grpSpPr>
      <p:sp>
        <p:nvSpPr>
          <p:cNvPr id="182" name="Google Shape;182;p40">
            <a:extLst>
              <a:ext uri="{FF2B5EF4-FFF2-40B4-BE49-F238E27FC236}">
                <a16:creationId xmlns:a16="http://schemas.microsoft.com/office/drawing/2014/main" id="{F165D653-643E-7774-AD7E-0967182FEFF5}"/>
              </a:ext>
            </a:extLst>
          </p:cNvPr>
          <p:cNvSpPr txBox="1">
            <a:spLocks noGrp="1"/>
          </p:cNvSpPr>
          <p:nvPr>
            <p:ph type="title"/>
          </p:nvPr>
        </p:nvSpPr>
        <p:spPr>
          <a:xfrm>
            <a:off x="202550" y="88312"/>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000000"/>
                </a:solidFill>
              </a:rPr>
              <a:t>Data Pre-Processing: Duplicate Value Check</a:t>
            </a:r>
            <a:endParaRPr dirty="0">
              <a:solidFill>
                <a:srgbClr val="000000"/>
              </a:solidFill>
            </a:endParaRPr>
          </a:p>
        </p:txBody>
      </p:sp>
      <p:sp>
        <p:nvSpPr>
          <p:cNvPr id="183" name="Google Shape;183;p40">
            <a:extLst>
              <a:ext uri="{FF2B5EF4-FFF2-40B4-BE49-F238E27FC236}">
                <a16:creationId xmlns:a16="http://schemas.microsoft.com/office/drawing/2014/main" id="{6C6FD2CB-B34E-1AC4-8F89-15F52E1908A7}"/>
              </a:ext>
            </a:extLst>
          </p:cNvPr>
          <p:cNvSpPr txBox="1">
            <a:spLocks noGrp="1"/>
          </p:cNvSpPr>
          <p:nvPr>
            <p:ph type="body" idx="1"/>
          </p:nvPr>
        </p:nvSpPr>
        <p:spPr>
          <a:xfrm>
            <a:off x="202550" y="861975"/>
            <a:ext cx="8629800" cy="2520660"/>
          </a:xfrm>
          <a:prstGeom prst="rect">
            <a:avLst/>
          </a:prstGeom>
          <a:noFill/>
          <a:ln>
            <a:noFill/>
          </a:ln>
        </p:spPr>
        <p:txBody>
          <a:bodyPr spcFirstLastPara="1" wrap="square" lIns="91425" tIns="91425" rIns="91425" bIns="91425" anchor="t" anchorCtr="0">
            <a:spAutoFit/>
          </a:bodyPr>
          <a:lstStyle/>
          <a:p>
            <a:pPr marL="0" lvl="0" indent="0">
              <a:buNone/>
            </a:pPr>
            <a:r>
              <a:rPr lang="en-US" sz="1200" b="1" dirty="0">
                <a:solidFill>
                  <a:srgbClr val="2D3B45"/>
                </a:solidFill>
                <a:latin typeface="Nunito" pitchFamily="2" charset="77"/>
              </a:rPr>
              <a:t>Duplicate Value Check</a:t>
            </a:r>
          </a:p>
          <a:p>
            <a:pPr marL="0" lvl="0" indent="0">
              <a:buNone/>
            </a:pPr>
            <a:endParaRPr lang="en-US" sz="1200" dirty="0">
              <a:solidFill>
                <a:srgbClr val="2D3B45"/>
              </a:solidFill>
              <a:latin typeface="Nunito" pitchFamily="2" charset="77"/>
            </a:endParaRPr>
          </a:p>
          <a:p>
            <a:pPr marL="0" lvl="0" indent="0">
              <a:buNone/>
            </a:pPr>
            <a:r>
              <a:rPr lang="en-US" sz="1200" dirty="0">
                <a:solidFill>
                  <a:srgbClr val="2D3B45"/>
                </a:solidFill>
                <a:latin typeface="Nunito" pitchFamily="2" charset="77"/>
              </a:rPr>
              <a:t>I checked for duplicate records in the dataset using `</a:t>
            </a:r>
            <a:r>
              <a:rPr lang="en-US" sz="1200" dirty="0" err="1">
                <a:solidFill>
                  <a:srgbClr val="2D3B45"/>
                </a:solidFill>
                <a:latin typeface="Nunito" pitchFamily="2" charset="77"/>
              </a:rPr>
              <a:t>data.duplicated</a:t>
            </a:r>
            <a:r>
              <a:rPr lang="en-US" sz="1200" dirty="0">
                <a:solidFill>
                  <a:srgbClr val="2D3B45"/>
                </a:solidFill>
                <a:latin typeface="Nunito" pitchFamily="2" charset="77"/>
              </a:rPr>
              <a:t>().sum()`.</a:t>
            </a:r>
          </a:p>
          <a:p>
            <a:pPr marL="0" lvl="0" indent="0">
              <a:buNone/>
            </a:pPr>
            <a:endParaRPr lang="en-US" sz="1200" dirty="0">
              <a:solidFill>
                <a:srgbClr val="2D3B45"/>
              </a:solidFill>
              <a:latin typeface="Nunito" pitchFamily="2" charset="77"/>
            </a:endParaRPr>
          </a:p>
          <a:p>
            <a:pPr marL="0" lvl="0" indent="0">
              <a:buNone/>
            </a:pPr>
            <a:r>
              <a:rPr lang="en-US" sz="1200" b="1" dirty="0">
                <a:solidFill>
                  <a:srgbClr val="2D3B45"/>
                </a:solidFill>
                <a:latin typeface="Nunito" pitchFamily="2" charset="77"/>
              </a:rPr>
              <a:t>Observation</a:t>
            </a:r>
            <a:r>
              <a:rPr lang="en-US" sz="1200" dirty="0">
                <a:solidFill>
                  <a:srgbClr val="2D3B45"/>
                </a:solidFill>
                <a:latin typeface="Nunito" pitchFamily="2" charset="77"/>
              </a:rPr>
              <a:t>- No significant duplicate records were found</a:t>
            </a:r>
          </a:p>
          <a:p>
            <a:pPr marL="0" lvl="0" indent="0">
              <a:buNone/>
            </a:pPr>
            <a:endParaRPr lang="en-US" sz="1200" dirty="0">
              <a:solidFill>
                <a:srgbClr val="2D3B45"/>
              </a:solidFill>
              <a:latin typeface="Nunito" pitchFamily="2" charset="77"/>
            </a:endParaRPr>
          </a:p>
          <a:p>
            <a:pPr marL="0" lvl="0" indent="0">
              <a:buNone/>
            </a:pPr>
            <a:r>
              <a:rPr lang="en-US" sz="1200" b="1" dirty="0">
                <a:solidFill>
                  <a:srgbClr val="2D3B45"/>
                </a:solidFill>
                <a:latin typeface="Nunito" pitchFamily="2" charset="77"/>
              </a:rPr>
              <a:t>Action Taken</a:t>
            </a:r>
            <a:r>
              <a:rPr lang="en-US" sz="1200" dirty="0">
                <a:solidFill>
                  <a:srgbClr val="2D3B45"/>
                </a:solidFill>
                <a:latin typeface="Nunito" pitchFamily="2" charset="77"/>
              </a:rPr>
              <a:t>- No duplicates were removed</a:t>
            </a:r>
          </a:p>
          <a:p>
            <a:pPr marL="0" lvl="0" indent="0">
              <a:buNone/>
            </a:pPr>
            <a:endParaRPr lang="en-US" sz="1200" dirty="0">
              <a:solidFill>
                <a:srgbClr val="2D3B45"/>
              </a:solidFill>
              <a:latin typeface="Nunito" pitchFamily="2" charset="77"/>
            </a:endParaRPr>
          </a:p>
          <a:p>
            <a:pPr marL="0" lvl="0" indent="0">
              <a:buNone/>
            </a:pPr>
            <a:r>
              <a:rPr lang="en-US" sz="1200" b="1" dirty="0">
                <a:solidFill>
                  <a:srgbClr val="2D3B45"/>
                </a:solidFill>
                <a:latin typeface="Nunito" pitchFamily="2" charset="77"/>
              </a:rPr>
              <a:t>Why;</a:t>
            </a:r>
            <a:r>
              <a:rPr lang="en-US" sz="1200" dirty="0">
                <a:solidFill>
                  <a:srgbClr val="2D3B45"/>
                </a:solidFill>
                <a:latin typeface="Nunito" pitchFamily="2" charset="77"/>
              </a:rPr>
              <a:t> This is Important- Duplicate records can bias model training and distort insights</a:t>
            </a:r>
          </a:p>
          <a:p>
            <a:pPr marL="0" lvl="0" indent="0">
              <a:buNone/>
            </a:pPr>
            <a:endParaRPr lang="en-US" sz="1200" dirty="0">
              <a:solidFill>
                <a:srgbClr val="2D3B45"/>
              </a:solidFill>
              <a:latin typeface="Nunito" pitchFamily="2" charset="77"/>
            </a:endParaRPr>
          </a:p>
          <a:p>
            <a:pPr marL="0" lvl="0" indent="0">
              <a:buNone/>
            </a:pPr>
            <a:r>
              <a:rPr lang="en-US" sz="1200" b="1" dirty="0">
                <a:solidFill>
                  <a:srgbClr val="2D3B45"/>
                </a:solidFill>
                <a:latin typeface="Nunito" pitchFamily="2" charset="77"/>
              </a:rPr>
              <a:t>Summary: </a:t>
            </a:r>
            <a:r>
              <a:rPr lang="en-US" sz="1200" dirty="0">
                <a:solidFill>
                  <a:srgbClr val="2D3B45"/>
                </a:solidFill>
                <a:latin typeface="Nunito" pitchFamily="2" charset="77"/>
              </a:rPr>
              <a:t>The dataset is free from duplicate entries and suitable for further analysis.</a:t>
            </a:r>
            <a:endParaRPr sz="1200" dirty="0">
              <a:solidFill>
                <a:srgbClr val="2D3B45"/>
              </a:solidFill>
              <a:highlight>
                <a:srgbClr val="FFFFFF"/>
              </a:highlight>
              <a:latin typeface="Nunito" pitchFamily="2" charset="77"/>
            </a:endParaRPr>
          </a:p>
        </p:txBody>
      </p:sp>
    </p:spTree>
    <p:extLst>
      <p:ext uri="{BB962C8B-B14F-4D97-AF65-F5344CB8AC3E}">
        <p14:creationId xmlns:p14="http://schemas.microsoft.com/office/powerpoint/2010/main" val="27803280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CCCCF8F5-14C9-4311-9766-FB74FA0C15AE}"/>
            </a:ext>
          </a:extLst>
        </p:cNvPr>
        <p:cNvGrpSpPr/>
        <p:nvPr/>
      </p:nvGrpSpPr>
      <p:grpSpPr>
        <a:xfrm>
          <a:off x="0" y="0"/>
          <a:ext cx="0" cy="0"/>
          <a:chOff x="0" y="0"/>
          <a:chExt cx="0" cy="0"/>
        </a:xfrm>
      </p:grpSpPr>
      <p:sp>
        <p:nvSpPr>
          <p:cNvPr id="182" name="Google Shape;182;p40">
            <a:extLst>
              <a:ext uri="{FF2B5EF4-FFF2-40B4-BE49-F238E27FC236}">
                <a16:creationId xmlns:a16="http://schemas.microsoft.com/office/drawing/2014/main" id="{6C2C9DBF-D2F4-5B05-7FED-FBA4641EAF7D}"/>
              </a:ext>
            </a:extLst>
          </p:cNvPr>
          <p:cNvSpPr txBox="1">
            <a:spLocks noGrp="1"/>
          </p:cNvSpPr>
          <p:nvPr>
            <p:ph type="title"/>
          </p:nvPr>
        </p:nvSpPr>
        <p:spPr>
          <a:xfrm>
            <a:off x="202550" y="88312"/>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000000"/>
                </a:solidFill>
              </a:rPr>
              <a:t>Data Pre-Processing: Feature Engineering</a:t>
            </a:r>
            <a:endParaRPr dirty="0">
              <a:solidFill>
                <a:srgbClr val="000000"/>
              </a:solidFill>
            </a:endParaRPr>
          </a:p>
        </p:txBody>
      </p:sp>
      <p:sp>
        <p:nvSpPr>
          <p:cNvPr id="183" name="Google Shape;183;p40">
            <a:extLst>
              <a:ext uri="{FF2B5EF4-FFF2-40B4-BE49-F238E27FC236}">
                <a16:creationId xmlns:a16="http://schemas.microsoft.com/office/drawing/2014/main" id="{65A54DFB-875A-5C7D-8160-0A6926306F10}"/>
              </a:ext>
            </a:extLst>
          </p:cNvPr>
          <p:cNvSpPr txBox="1">
            <a:spLocks noGrp="1"/>
          </p:cNvSpPr>
          <p:nvPr>
            <p:ph type="body" idx="1"/>
          </p:nvPr>
        </p:nvSpPr>
        <p:spPr>
          <a:xfrm>
            <a:off x="202550" y="861975"/>
            <a:ext cx="8629800" cy="3157757"/>
          </a:xfrm>
          <a:prstGeom prst="rect">
            <a:avLst/>
          </a:prstGeom>
          <a:noFill/>
          <a:ln>
            <a:noFill/>
          </a:ln>
        </p:spPr>
        <p:txBody>
          <a:bodyPr spcFirstLastPara="1" wrap="square" lIns="91425" tIns="91425" rIns="91425" bIns="91425" anchor="t" anchorCtr="0">
            <a:spAutoFit/>
          </a:bodyPr>
          <a:lstStyle/>
          <a:p>
            <a:pPr marL="0" lvl="0" indent="0">
              <a:buNone/>
            </a:pPr>
            <a:r>
              <a:rPr lang="en-US" sz="1200" b="1" dirty="0">
                <a:solidFill>
                  <a:srgbClr val="2D3B45"/>
                </a:solidFill>
                <a:latin typeface="Nunito" pitchFamily="2" charset="77"/>
              </a:rPr>
              <a:t>Feature Engineering</a:t>
            </a:r>
          </a:p>
          <a:p>
            <a:pPr marL="0" lvl="0" indent="0">
              <a:buNone/>
            </a:pPr>
            <a:endParaRPr lang="en-US" sz="1200" dirty="0">
              <a:solidFill>
                <a:srgbClr val="2D3B45"/>
              </a:solidFill>
              <a:latin typeface="Nunito" pitchFamily="2" charset="77"/>
            </a:endParaRPr>
          </a:p>
          <a:p>
            <a:pPr marL="0" lvl="0" indent="0">
              <a:buNone/>
            </a:pPr>
            <a:r>
              <a:rPr lang="en-US" sz="1200" dirty="0">
                <a:solidFill>
                  <a:srgbClr val="2D3B45"/>
                </a:solidFill>
                <a:latin typeface="Nunito" pitchFamily="2" charset="77"/>
              </a:rPr>
              <a:t>Minimal feature engineering was required.</a:t>
            </a:r>
          </a:p>
          <a:p>
            <a:pPr marL="0" lvl="0" indent="0">
              <a:buNone/>
            </a:pPr>
            <a:endParaRPr lang="en-US" sz="1200" dirty="0">
              <a:solidFill>
                <a:srgbClr val="2D3B45"/>
              </a:solidFill>
              <a:latin typeface="Nunito" pitchFamily="2" charset="77"/>
            </a:endParaRPr>
          </a:p>
          <a:p>
            <a:pPr marL="0" lvl="0" indent="0">
              <a:buNone/>
            </a:pPr>
            <a:r>
              <a:rPr lang="en-US" sz="1200" b="1" dirty="0">
                <a:solidFill>
                  <a:srgbClr val="2D3B45"/>
                </a:solidFill>
                <a:latin typeface="Nunito" pitchFamily="2" charset="77"/>
              </a:rPr>
              <a:t>Actions Taken:</a:t>
            </a:r>
          </a:p>
          <a:p>
            <a:pPr marL="0" lvl="0" indent="0">
              <a:buNone/>
            </a:pPr>
            <a:r>
              <a:rPr lang="en-US" sz="1200" dirty="0">
                <a:solidFill>
                  <a:srgbClr val="2D3B45"/>
                </a:solidFill>
                <a:latin typeface="Nunito" pitchFamily="2" charset="77"/>
              </a:rPr>
              <a:t>- Dropped `</a:t>
            </a:r>
            <a:r>
              <a:rPr lang="en-US" sz="1200" dirty="0" err="1">
                <a:solidFill>
                  <a:srgbClr val="2D3B45"/>
                </a:solidFill>
                <a:latin typeface="Nunito" pitchFamily="2" charset="77"/>
              </a:rPr>
              <a:t>case_id</a:t>
            </a:r>
            <a:r>
              <a:rPr lang="en-US" sz="1200" dirty="0">
                <a:solidFill>
                  <a:srgbClr val="2D3B45"/>
                </a:solidFill>
                <a:latin typeface="Nunito" pitchFamily="2" charset="77"/>
              </a:rPr>
              <a:t>` as it is a unique identifier with no predictive value  </a:t>
            </a:r>
          </a:p>
          <a:p>
            <a:pPr marL="0" lvl="0" indent="0">
              <a:buNone/>
            </a:pPr>
            <a:r>
              <a:rPr lang="en-US" sz="1200" dirty="0">
                <a:solidFill>
                  <a:srgbClr val="2D3B45"/>
                </a:solidFill>
                <a:latin typeface="Nunito" pitchFamily="2" charset="77"/>
              </a:rPr>
              <a:t>- Corrected negative values in `</a:t>
            </a:r>
            <a:r>
              <a:rPr lang="en-US" sz="1200" dirty="0" err="1">
                <a:solidFill>
                  <a:srgbClr val="2D3B45"/>
                </a:solidFill>
                <a:latin typeface="Nunito" pitchFamily="2" charset="77"/>
              </a:rPr>
              <a:t>no_of_employees</a:t>
            </a:r>
            <a:r>
              <a:rPr lang="en-US" sz="1200" dirty="0">
                <a:solidFill>
                  <a:srgbClr val="2D3B45"/>
                </a:solidFill>
                <a:latin typeface="Nunito" pitchFamily="2" charset="77"/>
              </a:rPr>
              <a:t>` using absolute transformation  </a:t>
            </a:r>
          </a:p>
          <a:p>
            <a:pPr marL="0" lvl="0" indent="0">
              <a:buNone/>
            </a:pPr>
            <a:endParaRPr lang="en-US" sz="1200" dirty="0">
              <a:solidFill>
                <a:srgbClr val="2D3B45"/>
              </a:solidFill>
              <a:latin typeface="Nunito" pitchFamily="2" charset="77"/>
            </a:endParaRPr>
          </a:p>
          <a:p>
            <a:pPr marL="0" lvl="0" indent="0">
              <a:buNone/>
            </a:pPr>
            <a:r>
              <a:rPr lang="en-US" sz="1200" b="1" dirty="0">
                <a:solidFill>
                  <a:srgbClr val="2D3B45"/>
                </a:solidFill>
                <a:latin typeface="Nunito" pitchFamily="2" charset="77"/>
              </a:rPr>
              <a:t>Why This is Important:</a:t>
            </a:r>
          </a:p>
          <a:p>
            <a:pPr marL="0" lvl="0" indent="0">
              <a:buNone/>
            </a:pPr>
            <a:r>
              <a:rPr lang="en-US" sz="1200" dirty="0">
                <a:solidFill>
                  <a:srgbClr val="2D3B45"/>
                </a:solidFill>
                <a:latin typeface="Nunito" pitchFamily="2" charset="77"/>
              </a:rPr>
              <a:t>- Removing irrelevant features improves model performance  </a:t>
            </a:r>
          </a:p>
          <a:p>
            <a:pPr marL="0" lvl="0" indent="0">
              <a:buNone/>
            </a:pPr>
            <a:r>
              <a:rPr lang="en-US" sz="1200" dirty="0">
                <a:solidFill>
                  <a:srgbClr val="2D3B45"/>
                </a:solidFill>
                <a:latin typeface="Nunito" pitchFamily="2" charset="77"/>
              </a:rPr>
              <a:t>- Cleaning invalid values ensures data accuracy  </a:t>
            </a:r>
          </a:p>
          <a:p>
            <a:pPr marL="0" lvl="0" indent="0">
              <a:buNone/>
            </a:pPr>
            <a:endParaRPr lang="en-US" sz="1200" dirty="0">
              <a:solidFill>
                <a:srgbClr val="2D3B45"/>
              </a:solidFill>
              <a:latin typeface="Nunito" pitchFamily="2" charset="77"/>
            </a:endParaRPr>
          </a:p>
          <a:p>
            <a:pPr marL="0" lvl="0" indent="0">
              <a:buNone/>
            </a:pPr>
            <a:r>
              <a:rPr lang="en-US" sz="1200" b="1" dirty="0">
                <a:solidFill>
                  <a:srgbClr val="2D3B45"/>
                </a:solidFill>
                <a:latin typeface="Nunito" pitchFamily="2" charset="77"/>
              </a:rPr>
              <a:t>Summary:</a:t>
            </a:r>
          </a:p>
          <a:p>
            <a:pPr marL="0" lvl="0" indent="0">
              <a:buNone/>
            </a:pPr>
            <a:r>
              <a:rPr lang="en-US" sz="1200" dirty="0">
                <a:solidFill>
                  <a:srgbClr val="2D3B45"/>
                </a:solidFill>
                <a:latin typeface="Nunito" pitchFamily="2" charset="77"/>
              </a:rPr>
              <a:t>The dataset was cleaned and simplified without introducing unnecessary transformations..</a:t>
            </a:r>
            <a:endParaRPr sz="1200" dirty="0">
              <a:solidFill>
                <a:srgbClr val="2D3B45"/>
              </a:solidFill>
              <a:highlight>
                <a:srgbClr val="FFFFFF"/>
              </a:highlight>
              <a:latin typeface="Nunito" pitchFamily="2" charset="77"/>
            </a:endParaRPr>
          </a:p>
        </p:txBody>
      </p:sp>
    </p:spTree>
    <p:extLst>
      <p:ext uri="{BB962C8B-B14F-4D97-AF65-F5344CB8AC3E}">
        <p14:creationId xmlns:p14="http://schemas.microsoft.com/office/powerpoint/2010/main" val="20001727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28AB45C7-ACF0-036E-F6B3-C3047925161F}"/>
            </a:ext>
          </a:extLst>
        </p:cNvPr>
        <p:cNvGrpSpPr/>
        <p:nvPr/>
      </p:nvGrpSpPr>
      <p:grpSpPr>
        <a:xfrm>
          <a:off x="0" y="0"/>
          <a:ext cx="0" cy="0"/>
          <a:chOff x="0" y="0"/>
          <a:chExt cx="0" cy="0"/>
        </a:xfrm>
      </p:grpSpPr>
      <p:sp>
        <p:nvSpPr>
          <p:cNvPr id="182" name="Google Shape;182;p40">
            <a:extLst>
              <a:ext uri="{FF2B5EF4-FFF2-40B4-BE49-F238E27FC236}">
                <a16:creationId xmlns:a16="http://schemas.microsoft.com/office/drawing/2014/main" id="{35E3B2C8-88C3-A58D-6AD3-C8C2A76A4467}"/>
              </a:ext>
            </a:extLst>
          </p:cNvPr>
          <p:cNvSpPr txBox="1">
            <a:spLocks noGrp="1"/>
          </p:cNvSpPr>
          <p:nvPr>
            <p:ph type="title"/>
          </p:nvPr>
        </p:nvSpPr>
        <p:spPr>
          <a:xfrm>
            <a:off x="202550" y="88312"/>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1600" dirty="0">
                <a:solidFill>
                  <a:srgbClr val="000000"/>
                </a:solidFill>
              </a:rPr>
              <a:t>Data Preparation for Modeling: Data Splitting and Class Distribution</a:t>
            </a:r>
            <a:br>
              <a:rPr lang="en" sz="1600" dirty="0">
                <a:solidFill>
                  <a:srgbClr val="000000"/>
                </a:solidFill>
              </a:rPr>
            </a:br>
            <a:endParaRPr sz="1600" dirty="0">
              <a:solidFill>
                <a:srgbClr val="000000"/>
              </a:solidFill>
            </a:endParaRPr>
          </a:p>
        </p:txBody>
      </p:sp>
      <p:pic>
        <p:nvPicPr>
          <p:cNvPr id="2" name="Picture 1">
            <a:extLst>
              <a:ext uri="{FF2B5EF4-FFF2-40B4-BE49-F238E27FC236}">
                <a16:creationId xmlns:a16="http://schemas.microsoft.com/office/drawing/2014/main" id="{70636490-4CF3-C838-59F7-986A7066E035}"/>
              </a:ext>
            </a:extLst>
          </p:cNvPr>
          <p:cNvPicPr>
            <a:picLocks noChangeAspect="1"/>
          </p:cNvPicPr>
          <p:nvPr/>
        </p:nvPicPr>
        <p:blipFill>
          <a:blip r:embed="rId3"/>
          <a:stretch>
            <a:fillRect/>
          </a:stretch>
        </p:blipFill>
        <p:spPr>
          <a:xfrm>
            <a:off x="5647308" y="661012"/>
            <a:ext cx="3186508" cy="2958900"/>
          </a:xfrm>
          <a:prstGeom prst="rect">
            <a:avLst/>
          </a:prstGeom>
        </p:spPr>
      </p:pic>
      <p:sp>
        <p:nvSpPr>
          <p:cNvPr id="3" name="Rectangle 1">
            <a:extLst>
              <a:ext uri="{FF2B5EF4-FFF2-40B4-BE49-F238E27FC236}">
                <a16:creationId xmlns:a16="http://schemas.microsoft.com/office/drawing/2014/main" id="{E36FF56E-06FE-3DBD-799A-7AAF28D86216}"/>
              </a:ext>
            </a:extLst>
          </p:cNvPr>
          <p:cNvSpPr>
            <a:spLocks noGrp="1" noChangeArrowheads="1"/>
          </p:cNvSpPr>
          <p:nvPr>
            <p:ph type="body" idx="1"/>
          </p:nvPr>
        </p:nvSpPr>
        <p:spPr bwMode="auto">
          <a:xfrm>
            <a:off x="202550" y="661012"/>
            <a:ext cx="5555424" cy="3899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Data Splitting and Class Distribution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The dataset was split into training (70%), validation (20%), and test (10%) sets.</a:t>
            </a:r>
            <a:endParaRPr kumimoji="0" lang="en-US" altLang="en-US" sz="10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Observations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Training set: 17,836 records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Validation set: 5,098 records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Test set: 2,546 records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The class distribution across all sets is consistent: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~67% Certified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~33% Denied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Interpretation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Stratified sampling successfully maintained the same class proportions across all datasets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This ensures that each dataset is representative of the overall data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Why This is Important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Prevents bias in model training and evaluation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Ensures reliable and consistent performance metrics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Helps avoid misleading results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Business Insight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The dataset is moderately imbalanced, with more approvals than denials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This means the model may naturally favor predicting approvals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Special attention is needed to correctly identify denied applications, which are critical for reducing unsuccessful visa submissions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Summary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The data was successfully split into training, validation, and test sets with consistent class distributions, ensuring a robust and unbiased modeling process.</a:t>
            </a:r>
          </a:p>
        </p:txBody>
      </p:sp>
    </p:spTree>
    <p:extLst>
      <p:ext uri="{BB962C8B-B14F-4D97-AF65-F5344CB8AC3E}">
        <p14:creationId xmlns:p14="http://schemas.microsoft.com/office/powerpoint/2010/main" val="38904392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142DEA41-6C4C-3812-814E-DF1954933225}"/>
            </a:ext>
          </a:extLst>
        </p:cNvPr>
        <p:cNvGrpSpPr/>
        <p:nvPr/>
      </p:nvGrpSpPr>
      <p:grpSpPr>
        <a:xfrm>
          <a:off x="0" y="0"/>
          <a:ext cx="0" cy="0"/>
          <a:chOff x="0" y="0"/>
          <a:chExt cx="0" cy="0"/>
        </a:xfrm>
      </p:grpSpPr>
      <p:sp>
        <p:nvSpPr>
          <p:cNvPr id="182" name="Google Shape;182;p40">
            <a:extLst>
              <a:ext uri="{FF2B5EF4-FFF2-40B4-BE49-F238E27FC236}">
                <a16:creationId xmlns:a16="http://schemas.microsoft.com/office/drawing/2014/main" id="{A805DA98-E320-5A9C-BB4C-B1FC823C80EF}"/>
              </a:ext>
            </a:extLst>
          </p:cNvPr>
          <p:cNvSpPr txBox="1">
            <a:spLocks noGrp="1"/>
          </p:cNvSpPr>
          <p:nvPr>
            <p:ph type="title"/>
          </p:nvPr>
        </p:nvSpPr>
        <p:spPr>
          <a:xfrm>
            <a:off x="202550" y="88312"/>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1600" dirty="0">
                <a:solidFill>
                  <a:srgbClr val="000000"/>
                </a:solidFill>
              </a:rPr>
              <a:t>Model Building: Evaluation Metrics</a:t>
            </a:r>
            <a:endParaRPr sz="1600" dirty="0">
              <a:solidFill>
                <a:srgbClr val="000000"/>
              </a:solidFill>
            </a:endParaRPr>
          </a:p>
        </p:txBody>
      </p:sp>
      <p:sp>
        <p:nvSpPr>
          <p:cNvPr id="11" name="Rectangle 8">
            <a:extLst>
              <a:ext uri="{FF2B5EF4-FFF2-40B4-BE49-F238E27FC236}">
                <a16:creationId xmlns:a16="http://schemas.microsoft.com/office/drawing/2014/main" id="{E7D54E98-23FB-1D15-B83F-D5F15DFF5D85}"/>
              </a:ext>
            </a:extLst>
          </p:cNvPr>
          <p:cNvSpPr>
            <a:spLocks noGrp="1" noChangeArrowheads="1"/>
          </p:cNvSpPr>
          <p:nvPr>
            <p:ph type="body" idx="1"/>
          </p:nvPr>
        </p:nvSpPr>
        <p:spPr bwMode="auto">
          <a:xfrm>
            <a:off x="281354" y="609044"/>
            <a:ext cx="7531855" cy="173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7610"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i="0" u="none" strike="noStrike" cap="none" normalizeH="0" baseline="0" dirty="0">
                <a:ln>
                  <a:noFill/>
                </a:ln>
                <a:solidFill>
                  <a:schemeClr val="tx1"/>
                </a:solidFill>
                <a:effectLst/>
                <a:latin typeface="Nunito" pitchFamily="2" charset="77"/>
              </a:rPr>
              <a:t>To evaluate the performance of the classification models, I selected Recall Score as the primary evaluation metric.</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Rationale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 dataset is moderately imbalanced, with approximately: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67% Certified (positive class)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33% Denied (negative class)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In such cases, accuracy alone can be misleading, as a model could achieve high accuracy by simply predicting the majority class.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Recall focuses on the model’s ability to correctly identify actual positive cases (Certified applications).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000" dirty="0">
              <a:latin typeface="Nunito" pitchFamily="2" charset="77"/>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i="0" u="none" strike="noStrike" cap="none" normalizeH="0" baseline="0" dirty="0">
                <a:ln>
                  <a:noFill/>
                </a:ln>
                <a:solidFill>
                  <a:schemeClr val="tx1"/>
                </a:solidFill>
                <a:effectLst/>
                <a:latin typeface="Nunito" pitchFamily="2" charset="77"/>
              </a:rPr>
            </a:br>
            <a:endParaRPr kumimoji="0" lang="en-US" altLang="en-US" sz="1000" i="0" u="none" strike="noStrike" cap="none" normalizeH="0" baseline="0" dirty="0">
              <a:ln>
                <a:noFill/>
              </a:ln>
              <a:solidFill>
                <a:schemeClr val="tx1"/>
              </a:solidFill>
              <a:effectLst/>
              <a:latin typeface="Nunito" pitchFamily="2" charset="77"/>
            </a:endParaRPr>
          </a:p>
        </p:txBody>
      </p:sp>
      <p:sp>
        <p:nvSpPr>
          <p:cNvPr id="13" name="Rectangle 10">
            <a:extLst>
              <a:ext uri="{FF2B5EF4-FFF2-40B4-BE49-F238E27FC236}">
                <a16:creationId xmlns:a16="http://schemas.microsoft.com/office/drawing/2014/main" id="{262138F2-F675-EE26-F56F-28E2F2C8C812}"/>
              </a:ext>
            </a:extLst>
          </p:cNvPr>
          <p:cNvSpPr>
            <a:spLocks noChangeArrowheads="1"/>
          </p:cNvSpPr>
          <p:nvPr/>
        </p:nvSpPr>
        <p:spPr bwMode="auto">
          <a:xfrm>
            <a:off x="202550" y="1824129"/>
            <a:ext cx="6933362" cy="1585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Why Recall is Important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Recall answers the question:</a:t>
            </a:r>
            <a:br>
              <a:rPr kumimoji="0" lang="en-US" altLang="en-US" sz="1000" i="0" u="none" strike="noStrike" cap="none" normalizeH="0" baseline="0" dirty="0">
                <a:ln>
                  <a:noFill/>
                </a:ln>
                <a:solidFill>
                  <a:schemeClr val="tx1"/>
                </a:solidFill>
                <a:effectLst/>
                <a:latin typeface="Nunito" pitchFamily="2" charset="77"/>
              </a:rPr>
            </a:br>
            <a:r>
              <a:rPr kumimoji="0" lang="en-US" altLang="en-US" sz="1000" i="0" u="none" strike="noStrike" cap="none" normalizeH="0" baseline="0" dirty="0">
                <a:ln>
                  <a:noFill/>
                </a:ln>
                <a:solidFill>
                  <a:schemeClr val="tx1"/>
                </a:solidFill>
                <a:effectLst/>
                <a:latin typeface="Nunito" pitchFamily="2" charset="77"/>
              </a:rPr>
              <a:t>“Out of all actual Certified applications, how many did the model correctly identify?”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A higher recall means: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Fewer false negatives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Reduced risk of incorrectly rejecting qualified applicants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In this context, a false negative (predicting </a:t>
            </a:r>
            <a:r>
              <a:rPr kumimoji="0" lang="en-US" altLang="en-US" sz="1000" i="1" u="none" strike="noStrike" cap="none" normalizeH="0" baseline="0" dirty="0">
                <a:ln>
                  <a:noFill/>
                </a:ln>
                <a:solidFill>
                  <a:schemeClr val="tx1"/>
                </a:solidFill>
                <a:effectLst/>
                <a:latin typeface="Nunito" pitchFamily="2" charset="77"/>
              </a:rPr>
              <a:t>Denied</a:t>
            </a:r>
            <a:r>
              <a:rPr kumimoji="0" lang="en-US" altLang="en-US" sz="1000" i="0" u="none" strike="noStrike" cap="none" normalizeH="0" baseline="0" dirty="0">
                <a:ln>
                  <a:noFill/>
                </a:ln>
                <a:solidFill>
                  <a:schemeClr val="tx1"/>
                </a:solidFill>
                <a:effectLst/>
                <a:latin typeface="Nunito" pitchFamily="2" charset="77"/>
              </a:rPr>
              <a:t> when it should be </a:t>
            </a:r>
            <a:r>
              <a:rPr kumimoji="0" lang="en-US" altLang="en-US" sz="1000" i="1" u="none" strike="noStrike" cap="none" normalizeH="0" baseline="0" dirty="0">
                <a:ln>
                  <a:noFill/>
                </a:ln>
                <a:solidFill>
                  <a:schemeClr val="tx1"/>
                </a:solidFill>
                <a:effectLst/>
                <a:latin typeface="Nunito" pitchFamily="2" charset="77"/>
              </a:rPr>
              <a:t>Certified</a:t>
            </a:r>
            <a:r>
              <a:rPr kumimoji="0" lang="en-US" altLang="en-US" sz="1000" i="0" u="none" strike="noStrike" cap="none" normalizeH="0" baseline="0" dirty="0">
                <a:ln>
                  <a:noFill/>
                </a:ln>
                <a:solidFill>
                  <a:schemeClr val="tx1"/>
                </a:solidFill>
                <a:effectLst/>
                <a:latin typeface="Nunito" pitchFamily="2" charset="77"/>
              </a:rPr>
              <a:t>) can: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Lead to missed opportunities for qualified candidates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Reduce efficiency in the visa approval process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i="0" u="none" strike="noStrike" cap="none" normalizeH="0" baseline="0" dirty="0">
              <a:ln>
                <a:noFill/>
              </a:ln>
              <a:solidFill>
                <a:schemeClr val="tx1"/>
              </a:solidFill>
              <a:effectLst/>
              <a:latin typeface="Nunito" pitchFamily="2" charset="77"/>
            </a:endParaRPr>
          </a:p>
        </p:txBody>
      </p:sp>
      <p:sp>
        <p:nvSpPr>
          <p:cNvPr id="14" name="Rectangle 11">
            <a:extLst>
              <a:ext uri="{FF2B5EF4-FFF2-40B4-BE49-F238E27FC236}">
                <a16:creationId xmlns:a16="http://schemas.microsoft.com/office/drawing/2014/main" id="{A7F93FED-9CE4-2D79-FFC0-F372F4B1A827}"/>
              </a:ext>
            </a:extLst>
          </p:cNvPr>
          <p:cNvSpPr>
            <a:spLocks noChangeArrowheads="1"/>
          </p:cNvSpPr>
          <p:nvPr/>
        </p:nvSpPr>
        <p:spPr bwMode="auto">
          <a:xfrm>
            <a:off x="202550" y="3351675"/>
            <a:ext cx="7863676"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761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Business Perspective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From a business standpoint, it is more critical to:</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Identify and approve eligible candidates correctly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Avoid rejecting strong applicants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Therefore, prioritizing recall helps ensure that high-quality candidates are not overlooked, improving decision-making effectiveness.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i="0" u="none" strike="noStrike" cap="none" normalizeH="0" baseline="0" dirty="0">
              <a:ln>
                <a:noFill/>
              </a:ln>
              <a:solidFill>
                <a:schemeClr val="tx1"/>
              </a:solidFill>
              <a:effectLst/>
              <a:latin typeface="Nunito" pitchFamily="2" charset="77"/>
            </a:endParaRPr>
          </a:p>
        </p:txBody>
      </p:sp>
      <p:sp>
        <p:nvSpPr>
          <p:cNvPr id="15" name="Rectangle 12">
            <a:extLst>
              <a:ext uri="{FF2B5EF4-FFF2-40B4-BE49-F238E27FC236}">
                <a16:creationId xmlns:a16="http://schemas.microsoft.com/office/drawing/2014/main" id="{5B7AD097-B871-734A-681A-85D7C602EB56}"/>
              </a:ext>
            </a:extLst>
          </p:cNvPr>
          <p:cNvSpPr>
            <a:spLocks noChangeArrowheads="1"/>
          </p:cNvSpPr>
          <p:nvPr/>
        </p:nvSpPr>
        <p:spPr bwMode="auto">
          <a:xfrm>
            <a:off x="202550" y="4257457"/>
            <a:ext cx="873890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Summary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Recall was selected as the evaluation metric because it prioritizes correctly identifying valid visa approvals, minimizes missed opportunities, and aligns well with the business objective of improving the visa certification process.</a:t>
            </a:r>
          </a:p>
        </p:txBody>
      </p:sp>
    </p:spTree>
    <p:extLst>
      <p:ext uri="{BB962C8B-B14F-4D97-AF65-F5344CB8AC3E}">
        <p14:creationId xmlns:p14="http://schemas.microsoft.com/office/powerpoint/2010/main" val="20333867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8763E525-76A7-0530-CC76-50E7FDA9A591}"/>
            </a:ext>
          </a:extLst>
        </p:cNvPr>
        <p:cNvGrpSpPr/>
        <p:nvPr/>
      </p:nvGrpSpPr>
      <p:grpSpPr>
        <a:xfrm>
          <a:off x="0" y="0"/>
          <a:ext cx="0" cy="0"/>
          <a:chOff x="0" y="0"/>
          <a:chExt cx="0" cy="0"/>
        </a:xfrm>
      </p:grpSpPr>
      <p:sp>
        <p:nvSpPr>
          <p:cNvPr id="182" name="Google Shape;182;p40">
            <a:extLst>
              <a:ext uri="{FF2B5EF4-FFF2-40B4-BE49-F238E27FC236}">
                <a16:creationId xmlns:a16="http://schemas.microsoft.com/office/drawing/2014/main" id="{301CB1B8-F6B7-E8A4-39DA-5D222ED6263D}"/>
              </a:ext>
            </a:extLst>
          </p:cNvPr>
          <p:cNvSpPr txBox="1">
            <a:spLocks noGrp="1"/>
          </p:cNvSpPr>
          <p:nvPr>
            <p:ph type="title"/>
          </p:nvPr>
        </p:nvSpPr>
        <p:spPr>
          <a:xfrm>
            <a:off x="202550" y="88312"/>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1600" dirty="0">
                <a:solidFill>
                  <a:srgbClr val="000000"/>
                </a:solidFill>
              </a:rPr>
              <a:t>Model Building with Original Data</a:t>
            </a:r>
            <a:endParaRPr sz="1600" dirty="0">
              <a:solidFill>
                <a:srgbClr val="000000"/>
              </a:solidFill>
            </a:endParaRPr>
          </a:p>
        </p:txBody>
      </p:sp>
      <p:sp>
        <p:nvSpPr>
          <p:cNvPr id="11" name="Rectangle 8">
            <a:extLst>
              <a:ext uri="{FF2B5EF4-FFF2-40B4-BE49-F238E27FC236}">
                <a16:creationId xmlns:a16="http://schemas.microsoft.com/office/drawing/2014/main" id="{C3386EDB-C8E9-E0B7-8B5B-D9883653C2DE}"/>
              </a:ext>
            </a:extLst>
          </p:cNvPr>
          <p:cNvSpPr>
            <a:spLocks noGrp="1" noChangeArrowheads="1"/>
          </p:cNvSpPr>
          <p:nvPr>
            <p:ph type="body" idx="1"/>
          </p:nvPr>
        </p:nvSpPr>
        <p:spPr bwMode="auto">
          <a:xfrm>
            <a:off x="281354" y="1147653"/>
            <a:ext cx="5094513"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None/>
              <a:tabLst/>
            </a:pPr>
            <a:endParaRPr lang="en-US" altLang="en-US" sz="1000" dirty="0">
              <a:latin typeface="Nunito" pitchFamily="2" charset="77"/>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i="0" u="none" strike="noStrike" cap="none" normalizeH="0" baseline="0" dirty="0">
                <a:ln>
                  <a:noFill/>
                </a:ln>
                <a:solidFill>
                  <a:schemeClr val="tx1"/>
                </a:solidFill>
                <a:effectLst/>
                <a:latin typeface="Nunito" pitchFamily="2" charset="77"/>
              </a:rPr>
            </a:br>
            <a:endParaRPr kumimoji="0" lang="en-US" altLang="en-US" sz="1000" i="0" u="none" strike="noStrike" cap="none" normalizeH="0" baseline="0" dirty="0">
              <a:ln>
                <a:noFill/>
              </a:ln>
              <a:solidFill>
                <a:schemeClr val="tx1"/>
              </a:solidFill>
              <a:effectLst/>
              <a:latin typeface="Nunito" pitchFamily="2" charset="77"/>
            </a:endParaRPr>
          </a:p>
        </p:txBody>
      </p:sp>
      <p:sp>
        <p:nvSpPr>
          <p:cNvPr id="17" name="Rectangle 12">
            <a:extLst>
              <a:ext uri="{FF2B5EF4-FFF2-40B4-BE49-F238E27FC236}">
                <a16:creationId xmlns:a16="http://schemas.microsoft.com/office/drawing/2014/main" id="{F56A5105-6A8F-22F1-3FA2-BE0E59337749}"/>
              </a:ext>
            </a:extLst>
          </p:cNvPr>
          <p:cNvSpPr>
            <a:spLocks noChangeArrowheads="1"/>
          </p:cNvSpPr>
          <p:nvPr/>
        </p:nvSpPr>
        <p:spPr bwMode="auto">
          <a:xfrm>
            <a:off x="202550" y="442821"/>
            <a:ext cx="5745833" cy="2206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Model Building on Original Data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I built multiple classification models using the original training dataset and evaluated them using </a:t>
            </a:r>
            <a:r>
              <a:rPr kumimoji="0" lang="en-US" altLang="en-US" sz="1000" b="1" i="0" u="none" strike="noStrike" cap="none" normalizeH="0" baseline="0" dirty="0">
                <a:ln>
                  <a:noFill/>
                </a:ln>
                <a:solidFill>
                  <a:schemeClr val="tx1"/>
                </a:solidFill>
                <a:effectLst/>
                <a:latin typeface="Nunito" pitchFamily="2" charset="77"/>
              </a:rPr>
              <a:t>recall score</a:t>
            </a:r>
            <a:r>
              <a:rPr kumimoji="0" lang="en-US" altLang="en-US" sz="1000" b="0" i="0" u="none" strike="noStrike" cap="none" normalizeH="0" baseline="0" dirty="0">
                <a:ln>
                  <a:noFill/>
                </a:ln>
                <a:solidFill>
                  <a:schemeClr val="tx1"/>
                </a:solidFill>
                <a:effectLst/>
                <a:latin typeface="Nunito" pitchFamily="2" charset="77"/>
              </a:rPr>
              <a:t>. Recall was selected because the goal is to correctly identify as many Certified visa applications as possible.</a:t>
            </a:r>
            <a:endParaRPr kumimoji="0" lang="en-US" altLang="en-US" sz="10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Models Built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The models tested were: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Bagging Classifier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Random Forest Classifier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Gradient Boosting Classifier (GBM)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AdaBoost Classifier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err="1">
                <a:ln>
                  <a:noFill/>
                </a:ln>
                <a:solidFill>
                  <a:schemeClr val="tx1"/>
                </a:solidFill>
                <a:effectLst/>
                <a:latin typeface="Nunito" pitchFamily="2" charset="77"/>
              </a:rPr>
              <a:t>XGBoost</a:t>
            </a:r>
            <a:r>
              <a:rPr kumimoji="0" lang="en-US" altLang="en-US" sz="1000" b="0" i="0" u="none" strike="noStrike" cap="none" normalizeH="0" baseline="0" dirty="0">
                <a:ln>
                  <a:noFill/>
                </a:ln>
                <a:solidFill>
                  <a:schemeClr val="tx1"/>
                </a:solidFill>
                <a:effectLst/>
                <a:latin typeface="Nunito" pitchFamily="2" charset="77"/>
              </a:rPr>
              <a:t> Classifier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Decision Tree Classifier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p:txBody>
      </p:sp>
      <p:sp>
        <p:nvSpPr>
          <p:cNvPr id="18" name="Rectangle 13">
            <a:extLst>
              <a:ext uri="{FF2B5EF4-FFF2-40B4-BE49-F238E27FC236}">
                <a16:creationId xmlns:a16="http://schemas.microsoft.com/office/drawing/2014/main" id="{70569E03-B297-D160-50B2-E1B6E5844348}"/>
              </a:ext>
            </a:extLst>
          </p:cNvPr>
          <p:cNvSpPr>
            <a:spLocks noChangeArrowheads="1"/>
          </p:cNvSpPr>
          <p:nvPr/>
        </p:nvSpPr>
        <p:spPr bwMode="auto">
          <a:xfrm>
            <a:off x="202550" y="2438394"/>
            <a:ext cx="3572438" cy="3114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Cross-Validation Performance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The cross-validation recall scores on the training data were: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Bagging: 0.775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Random Forest: 0.839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GBM: 0.873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AdaBoost: 0.889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err="1">
                <a:ln>
                  <a:noFill/>
                </a:ln>
                <a:solidFill>
                  <a:schemeClr val="tx1"/>
                </a:solidFill>
                <a:effectLst/>
                <a:latin typeface="Nunito" pitchFamily="2" charset="77"/>
              </a:rPr>
              <a:t>XGBoost</a:t>
            </a:r>
            <a:r>
              <a:rPr kumimoji="0" lang="en-US" altLang="en-US" sz="1000" b="0" i="0" u="none" strike="noStrike" cap="none" normalizeH="0" baseline="0" dirty="0">
                <a:ln>
                  <a:noFill/>
                </a:ln>
                <a:solidFill>
                  <a:schemeClr val="tx1"/>
                </a:solidFill>
                <a:effectLst/>
                <a:latin typeface="Nunito" pitchFamily="2" charset="77"/>
              </a:rPr>
              <a:t>: 0.853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Decision Tree: 0.740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Validation Performance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The validation recall scores were: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Bagging: 0.770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Random Forest: 0.834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GBM: 0.880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AdaBoost: 0.888</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err="1">
                <a:ln>
                  <a:noFill/>
                </a:ln>
                <a:solidFill>
                  <a:schemeClr val="tx1"/>
                </a:solidFill>
                <a:effectLst/>
                <a:latin typeface="Nunito" pitchFamily="2" charset="77"/>
              </a:rPr>
              <a:t>XGBoost</a:t>
            </a:r>
            <a:r>
              <a:rPr kumimoji="0" lang="en-US" altLang="en-US" sz="1000" b="0" i="0" u="none" strike="noStrike" cap="none" normalizeH="0" baseline="0" dirty="0">
                <a:ln>
                  <a:noFill/>
                </a:ln>
                <a:solidFill>
                  <a:schemeClr val="tx1"/>
                </a:solidFill>
                <a:effectLst/>
                <a:latin typeface="Nunito" pitchFamily="2" charset="77"/>
              </a:rPr>
              <a:t>: 0.853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Decision Tree: 0.740</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chemeClr val="tx1"/>
                </a:solidFill>
                <a:effectLst/>
                <a:latin typeface="Nunito" pitchFamily="2" charset="77"/>
              </a:rPr>
            </a:br>
            <a:endParaRPr kumimoji="0" lang="en-US" altLang="en-US" sz="1000" b="0" i="0" u="none" strike="noStrike" cap="none" normalizeH="0" baseline="0" dirty="0">
              <a:ln>
                <a:noFill/>
              </a:ln>
              <a:solidFill>
                <a:schemeClr val="tx1"/>
              </a:solidFill>
              <a:effectLst/>
              <a:latin typeface="Nunito" pitchFamily="2" charset="77"/>
            </a:endParaRPr>
          </a:p>
        </p:txBody>
      </p:sp>
      <p:pic>
        <p:nvPicPr>
          <p:cNvPr id="20" name="Picture 19">
            <a:extLst>
              <a:ext uri="{FF2B5EF4-FFF2-40B4-BE49-F238E27FC236}">
                <a16:creationId xmlns:a16="http://schemas.microsoft.com/office/drawing/2014/main" id="{148712D5-0927-0486-C253-25452E82F838}"/>
              </a:ext>
            </a:extLst>
          </p:cNvPr>
          <p:cNvPicPr>
            <a:picLocks noChangeAspect="1"/>
          </p:cNvPicPr>
          <p:nvPr/>
        </p:nvPicPr>
        <p:blipFill>
          <a:blip r:embed="rId3"/>
          <a:stretch>
            <a:fillRect/>
          </a:stretch>
        </p:blipFill>
        <p:spPr>
          <a:xfrm>
            <a:off x="3901854" y="1147653"/>
            <a:ext cx="4616052" cy="3364057"/>
          </a:xfrm>
          <a:prstGeom prst="rect">
            <a:avLst/>
          </a:prstGeom>
        </p:spPr>
      </p:pic>
    </p:spTree>
    <p:extLst>
      <p:ext uri="{BB962C8B-B14F-4D97-AF65-F5344CB8AC3E}">
        <p14:creationId xmlns:p14="http://schemas.microsoft.com/office/powerpoint/2010/main" val="29173759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C7F3EE6F-F68C-5F76-2A2E-2538244561BE}"/>
            </a:ext>
          </a:extLst>
        </p:cNvPr>
        <p:cNvGrpSpPr/>
        <p:nvPr/>
      </p:nvGrpSpPr>
      <p:grpSpPr>
        <a:xfrm>
          <a:off x="0" y="0"/>
          <a:ext cx="0" cy="0"/>
          <a:chOff x="0" y="0"/>
          <a:chExt cx="0" cy="0"/>
        </a:xfrm>
      </p:grpSpPr>
      <p:sp>
        <p:nvSpPr>
          <p:cNvPr id="182" name="Google Shape;182;p40">
            <a:extLst>
              <a:ext uri="{FF2B5EF4-FFF2-40B4-BE49-F238E27FC236}">
                <a16:creationId xmlns:a16="http://schemas.microsoft.com/office/drawing/2014/main" id="{4D80B0B2-33F9-62FA-8457-4C251AADA798}"/>
              </a:ext>
            </a:extLst>
          </p:cNvPr>
          <p:cNvSpPr txBox="1">
            <a:spLocks noGrp="1"/>
          </p:cNvSpPr>
          <p:nvPr>
            <p:ph type="title"/>
          </p:nvPr>
        </p:nvSpPr>
        <p:spPr>
          <a:xfrm>
            <a:off x="202550" y="88312"/>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1600" dirty="0">
                <a:solidFill>
                  <a:srgbClr val="000000"/>
                </a:solidFill>
              </a:rPr>
              <a:t>Model Building with Original Data</a:t>
            </a:r>
            <a:endParaRPr sz="1600" dirty="0">
              <a:solidFill>
                <a:srgbClr val="000000"/>
              </a:solidFill>
            </a:endParaRPr>
          </a:p>
        </p:txBody>
      </p:sp>
      <p:sp>
        <p:nvSpPr>
          <p:cNvPr id="11" name="Rectangle 8">
            <a:extLst>
              <a:ext uri="{FF2B5EF4-FFF2-40B4-BE49-F238E27FC236}">
                <a16:creationId xmlns:a16="http://schemas.microsoft.com/office/drawing/2014/main" id="{5E74863C-8E9D-CABA-4166-4D71FC17679D}"/>
              </a:ext>
            </a:extLst>
          </p:cNvPr>
          <p:cNvSpPr>
            <a:spLocks noGrp="1" noChangeArrowheads="1"/>
          </p:cNvSpPr>
          <p:nvPr>
            <p:ph type="body" idx="1"/>
          </p:nvPr>
        </p:nvSpPr>
        <p:spPr bwMode="auto">
          <a:xfrm>
            <a:off x="281354" y="1147653"/>
            <a:ext cx="5094513"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None/>
              <a:tabLst/>
            </a:pPr>
            <a:endParaRPr lang="en-US" altLang="en-US" sz="1000" dirty="0">
              <a:latin typeface="Nunito" pitchFamily="2" charset="77"/>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i="0" u="none" strike="noStrike" cap="none" normalizeH="0" baseline="0" dirty="0">
                <a:ln>
                  <a:noFill/>
                </a:ln>
                <a:solidFill>
                  <a:schemeClr val="tx1"/>
                </a:solidFill>
                <a:effectLst/>
                <a:latin typeface="Nunito" pitchFamily="2" charset="77"/>
              </a:rPr>
            </a:br>
            <a:endParaRPr kumimoji="0" lang="en-US" altLang="en-US" sz="1000" i="0" u="none" strike="noStrike" cap="none" normalizeH="0" baseline="0" dirty="0">
              <a:ln>
                <a:noFill/>
              </a:ln>
              <a:solidFill>
                <a:schemeClr val="tx1"/>
              </a:solidFill>
              <a:effectLst/>
              <a:latin typeface="Nunito" pitchFamily="2" charset="77"/>
            </a:endParaRPr>
          </a:p>
        </p:txBody>
      </p:sp>
      <p:pic>
        <p:nvPicPr>
          <p:cNvPr id="19" name="Picture 18">
            <a:extLst>
              <a:ext uri="{FF2B5EF4-FFF2-40B4-BE49-F238E27FC236}">
                <a16:creationId xmlns:a16="http://schemas.microsoft.com/office/drawing/2014/main" id="{F20F09DF-7855-4465-70B3-2DAA49A04B37}"/>
              </a:ext>
            </a:extLst>
          </p:cNvPr>
          <p:cNvPicPr>
            <a:picLocks noChangeAspect="1"/>
          </p:cNvPicPr>
          <p:nvPr/>
        </p:nvPicPr>
        <p:blipFill>
          <a:blip r:embed="rId3"/>
          <a:stretch>
            <a:fillRect/>
          </a:stretch>
        </p:blipFill>
        <p:spPr>
          <a:xfrm>
            <a:off x="4814126" y="1078556"/>
            <a:ext cx="4290646" cy="3315178"/>
          </a:xfrm>
          <a:prstGeom prst="rect">
            <a:avLst/>
          </a:prstGeom>
        </p:spPr>
      </p:pic>
      <p:sp>
        <p:nvSpPr>
          <p:cNvPr id="2" name="Rectangle 1">
            <a:extLst>
              <a:ext uri="{FF2B5EF4-FFF2-40B4-BE49-F238E27FC236}">
                <a16:creationId xmlns:a16="http://schemas.microsoft.com/office/drawing/2014/main" id="{59017056-B9F2-F823-A2E9-698550F67CD8}"/>
              </a:ext>
            </a:extLst>
          </p:cNvPr>
          <p:cNvSpPr>
            <a:spLocks noChangeArrowheads="1"/>
          </p:cNvSpPr>
          <p:nvPr/>
        </p:nvSpPr>
        <p:spPr bwMode="auto">
          <a:xfrm>
            <a:off x="226088" y="639821"/>
            <a:ext cx="527463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Interpretation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AdaBoost gave the best performance on both cross-validation and validation data, with a validation recall score of approximately </a:t>
            </a:r>
            <a:r>
              <a:rPr kumimoji="0" lang="en-US" altLang="en-US" sz="1000" b="1" i="0" u="none" strike="noStrike" cap="none" normalizeH="0" baseline="0" dirty="0">
                <a:ln>
                  <a:noFill/>
                </a:ln>
                <a:solidFill>
                  <a:schemeClr val="tx1"/>
                </a:solidFill>
                <a:effectLst/>
                <a:latin typeface="Nunito" pitchFamily="2" charset="77"/>
              </a:rPr>
              <a:t>0.888</a:t>
            </a:r>
            <a:r>
              <a:rPr kumimoji="0" lang="en-US" altLang="en-US" sz="1000" b="0" i="0" u="none" strike="noStrike" cap="none" normalizeH="0" baseline="0" dirty="0">
                <a:ln>
                  <a:noFill/>
                </a:ln>
                <a:solidFill>
                  <a:schemeClr val="tx1"/>
                </a:solidFill>
                <a:effectLst/>
                <a:latin typeface="Nunito" pitchFamily="2" charset="77"/>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GBM was the second-best model, with a validation recall score of approximately </a:t>
            </a:r>
            <a:r>
              <a:rPr kumimoji="0" lang="en-US" altLang="en-US" sz="1000" b="1" i="0" u="none" strike="noStrike" cap="none" normalizeH="0" baseline="0" dirty="0">
                <a:ln>
                  <a:noFill/>
                </a:ln>
                <a:solidFill>
                  <a:schemeClr val="tx1"/>
                </a:solidFill>
                <a:effectLst/>
                <a:latin typeface="Nunito" pitchFamily="2" charset="77"/>
              </a:rPr>
              <a:t>0.880</a:t>
            </a:r>
            <a:r>
              <a:rPr kumimoji="0" lang="en-US" altLang="en-US" sz="1000" b="0" i="0" u="none" strike="noStrike" cap="none" normalizeH="0" baseline="0" dirty="0">
                <a:ln>
                  <a:noFill/>
                </a:ln>
                <a:solidFill>
                  <a:schemeClr val="tx1"/>
                </a:solidFill>
                <a:effectLst/>
                <a:latin typeface="Nunito" pitchFamily="2" charset="77"/>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Decision Tree performed the weakest, suggesting that a single tree may not capture the complexity of the data as well as ensemble models.</a:t>
            </a:r>
          </a:p>
        </p:txBody>
      </p:sp>
      <p:sp>
        <p:nvSpPr>
          <p:cNvPr id="3" name="Rectangle 2">
            <a:extLst>
              <a:ext uri="{FF2B5EF4-FFF2-40B4-BE49-F238E27FC236}">
                <a16:creationId xmlns:a16="http://schemas.microsoft.com/office/drawing/2014/main" id="{9D8AED06-BAC9-6602-A715-FEBAFC23FD50}"/>
              </a:ext>
            </a:extLst>
          </p:cNvPr>
          <p:cNvSpPr>
            <a:spLocks noChangeArrowheads="1"/>
          </p:cNvSpPr>
          <p:nvPr/>
        </p:nvSpPr>
        <p:spPr bwMode="auto">
          <a:xfrm>
            <a:off x="202550" y="1655484"/>
            <a:ext cx="4258918"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Why This is Important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The results show that ensemble models, especially boosting models, perform better than simpler models. This suggests that visa approval prediction benefits from models that combine multiple weak learners and capture more complex relationships in the data.</a:t>
            </a:r>
          </a:p>
        </p:txBody>
      </p:sp>
      <p:sp>
        <p:nvSpPr>
          <p:cNvPr id="4" name="Rectangle 3">
            <a:extLst>
              <a:ext uri="{FF2B5EF4-FFF2-40B4-BE49-F238E27FC236}">
                <a16:creationId xmlns:a16="http://schemas.microsoft.com/office/drawing/2014/main" id="{E94347DA-9363-B935-5E16-5C67DC9313AF}"/>
              </a:ext>
            </a:extLst>
          </p:cNvPr>
          <p:cNvSpPr>
            <a:spLocks noChangeArrowheads="1"/>
          </p:cNvSpPr>
          <p:nvPr/>
        </p:nvSpPr>
        <p:spPr bwMode="auto">
          <a:xfrm>
            <a:off x="226088" y="2619183"/>
            <a:ext cx="4211842"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Business Insight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AdaBoost and GBM are strong candidates for predicting visa certification because they are better at identifying Certified applications. This can help </a:t>
            </a:r>
            <a:r>
              <a:rPr kumimoji="0" lang="en-US" altLang="en-US" sz="1000" b="0" i="0" u="none" strike="noStrike" cap="none" normalizeH="0" baseline="0" dirty="0" err="1">
                <a:ln>
                  <a:noFill/>
                </a:ln>
                <a:solidFill>
                  <a:schemeClr val="tx1"/>
                </a:solidFill>
                <a:effectLst/>
                <a:latin typeface="Nunito" pitchFamily="2" charset="77"/>
              </a:rPr>
              <a:t>EasyVisa</a:t>
            </a:r>
            <a:r>
              <a:rPr kumimoji="0" lang="en-US" altLang="en-US" sz="1000" b="0" i="0" u="none" strike="noStrike" cap="none" normalizeH="0" baseline="0" dirty="0">
                <a:ln>
                  <a:noFill/>
                </a:ln>
                <a:solidFill>
                  <a:schemeClr val="tx1"/>
                </a:solidFill>
                <a:effectLst/>
                <a:latin typeface="Nunito" pitchFamily="2" charset="77"/>
              </a:rPr>
              <a:t> shortlist applicants with higher approval likelihood and improve decision-making efficiency.</a:t>
            </a:r>
          </a:p>
        </p:txBody>
      </p:sp>
      <p:sp>
        <p:nvSpPr>
          <p:cNvPr id="5" name="Rectangle 4">
            <a:extLst>
              <a:ext uri="{FF2B5EF4-FFF2-40B4-BE49-F238E27FC236}">
                <a16:creationId xmlns:a16="http://schemas.microsoft.com/office/drawing/2014/main" id="{DE9F799F-6D82-F4EC-4C40-DE48F6C9EE40}"/>
              </a:ext>
            </a:extLst>
          </p:cNvPr>
          <p:cNvSpPr>
            <a:spLocks noChangeArrowheads="1"/>
          </p:cNvSpPr>
          <p:nvPr/>
        </p:nvSpPr>
        <p:spPr bwMode="auto">
          <a:xfrm>
            <a:off x="202550" y="3564960"/>
            <a:ext cx="4369450"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tx1"/>
                </a:solidFill>
                <a:effectLst/>
                <a:latin typeface="Nunito" pitchFamily="2" charset="77"/>
              </a:rPr>
              <a:t>Summary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Nunito" pitchFamily="2" charset="77"/>
              </a:rPr>
              <a:t>Among the models built on the original data, </a:t>
            </a:r>
            <a:r>
              <a:rPr kumimoji="0" lang="en-US" altLang="en-US" sz="1000" b="1" i="0" u="none" strike="noStrike" cap="none" normalizeH="0" baseline="0">
                <a:ln>
                  <a:noFill/>
                </a:ln>
                <a:solidFill>
                  <a:schemeClr val="tx1"/>
                </a:solidFill>
                <a:effectLst/>
                <a:latin typeface="Nunito" pitchFamily="2" charset="77"/>
              </a:rPr>
              <a:t>AdaBoost performed the best</a:t>
            </a:r>
            <a:r>
              <a:rPr kumimoji="0" lang="en-US" altLang="en-US" sz="1000" b="0" i="0" u="none" strike="noStrike" cap="none" normalizeH="0" baseline="0">
                <a:ln>
                  <a:noFill/>
                </a:ln>
                <a:solidFill>
                  <a:schemeClr val="tx1"/>
                </a:solidFill>
                <a:effectLst/>
                <a:latin typeface="Nunito" pitchFamily="2" charset="77"/>
              </a:rPr>
              <a:t>, followed closely by </a:t>
            </a:r>
            <a:r>
              <a:rPr kumimoji="0" lang="en-US" altLang="en-US" sz="1000" b="1" i="0" u="none" strike="noStrike" cap="none" normalizeH="0" baseline="0">
                <a:ln>
                  <a:noFill/>
                </a:ln>
                <a:solidFill>
                  <a:schemeClr val="tx1"/>
                </a:solidFill>
                <a:effectLst/>
                <a:latin typeface="Nunito" pitchFamily="2" charset="77"/>
              </a:rPr>
              <a:t>GBM</a:t>
            </a:r>
            <a:r>
              <a:rPr kumimoji="0" lang="en-US" altLang="en-US" sz="1000" b="0" i="0" u="none" strike="noStrike" cap="none" normalizeH="0" baseline="0">
                <a:ln>
                  <a:noFill/>
                </a:ln>
                <a:solidFill>
                  <a:schemeClr val="tx1"/>
                </a:solidFill>
                <a:effectLst/>
                <a:latin typeface="Nunito" pitchFamily="2" charset="77"/>
              </a:rPr>
              <a:t>. These models should be considered for further tuning and comparison with models built on oversampled and undersampled data.</a:t>
            </a:r>
          </a:p>
        </p:txBody>
      </p:sp>
    </p:spTree>
    <p:extLst>
      <p:ext uri="{BB962C8B-B14F-4D97-AF65-F5344CB8AC3E}">
        <p14:creationId xmlns:p14="http://schemas.microsoft.com/office/powerpoint/2010/main" val="39045666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CBABD679-65CE-C967-BAC5-8B5B6E5EF1A3}"/>
            </a:ext>
          </a:extLst>
        </p:cNvPr>
        <p:cNvGrpSpPr/>
        <p:nvPr/>
      </p:nvGrpSpPr>
      <p:grpSpPr>
        <a:xfrm>
          <a:off x="0" y="0"/>
          <a:ext cx="0" cy="0"/>
          <a:chOff x="0" y="0"/>
          <a:chExt cx="0" cy="0"/>
        </a:xfrm>
      </p:grpSpPr>
      <p:sp>
        <p:nvSpPr>
          <p:cNvPr id="182" name="Google Shape;182;p40">
            <a:extLst>
              <a:ext uri="{FF2B5EF4-FFF2-40B4-BE49-F238E27FC236}">
                <a16:creationId xmlns:a16="http://schemas.microsoft.com/office/drawing/2014/main" id="{1B1A7BDE-0AD9-C53C-A57B-63C739B39B8E}"/>
              </a:ext>
            </a:extLst>
          </p:cNvPr>
          <p:cNvSpPr txBox="1">
            <a:spLocks noGrp="1"/>
          </p:cNvSpPr>
          <p:nvPr>
            <p:ph type="title"/>
          </p:nvPr>
        </p:nvSpPr>
        <p:spPr>
          <a:xfrm>
            <a:off x="202550" y="88312"/>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1600" dirty="0">
                <a:solidFill>
                  <a:srgbClr val="000000"/>
                </a:solidFill>
              </a:rPr>
              <a:t>Model Building with Oversampled Data</a:t>
            </a:r>
            <a:endParaRPr sz="1600" dirty="0">
              <a:solidFill>
                <a:srgbClr val="000000"/>
              </a:solidFill>
            </a:endParaRPr>
          </a:p>
        </p:txBody>
      </p:sp>
      <p:sp>
        <p:nvSpPr>
          <p:cNvPr id="11" name="Rectangle 8">
            <a:extLst>
              <a:ext uri="{FF2B5EF4-FFF2-40B4-BE49-F238E27FC236}">
                <a16:creationId xmlns:a16="http://schemas.microsoft.com/office/drawing/2014/main" id="{FBD23EC2-E0A6-5920-9995-5F5F2E697DF9}"/>
              </a:ext>
            </a:extLst>
          </p:cNvPr>
          <p:cNvSpPr>
            <a:spLocks noGrp="1" noChangeArrowheads="1"/>
          </p:cNvSpPr>
          <p:nvPr>
            <p:ph type="body" idx="1"/>
          </p:nvPr>
        </p:nvSpPr>
        <p:spPr bwMode="auto">
          <a:xfrm>
            <a:off x="281354" y="1147653"/>
            <a:ext cx="5094513"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None/>
              <a:tabLst/>
            </a:pPr>
            <a:endParaRPr lang="en-US" altLang="en-US" sz="1000" dirty="0">
              <a:latin typeface="Nunito" pitchFamily="2" charset="77"/>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i="0" u="none" strike="noStrike" cap="none" normalizeH="0" baseline="0" dirty="0">
                <a:ln>
                  <a:noFill/>
                </a:ln>
                <a:solidFill>
                  <a:schemeClr val="tx1"/>
                </a:solidFill>
                <a:effectLst/>
                <a:latin typeface="Nunito" pitchFamily="2" charset="77"/>
              </a:rPr>
            </a:br>
            <a:endParaRPr kumimoji="0" lang="en-US" altLang="en-US" sz="1000" i="0" u="none" strike="noStrike" cap="none" normalizeH="0" baseline="0" dirty="0">
              <a:ln>
                <a:noFill/>
              </a:ln>
              <a:solidFill>
                <a:schemeClr val="tx1"/>
              </a:solidFill>
              <a:effectLst/>
              <a:latin typeface="Nunito" pitchFamily="2" charset="77"/>
            </a:endParaRPr>
          </a:p>
        </p:txBody>
      </p:sp>
      <p:pic>
        <p:nvPicPr>
          <p:cNvPr id="6" name="Picture 5">
            <a:extLst>
              <a:ext uri="{FF2B5EF4-FFF2-40B4-BE49-F238E27FC236}">
                <a16:creationId xmlns:a16="http://schemas.microsoft.com/office/drawing/2014/main" id="{DC2F8A84-E69A-B945-B195-E11B514EA2E5}"/>
              </a:ext>
            </a:extLst>
          </p:cNvPr>
          <p:cNvPicPr>
            <a:picLocks noChangeAspect="1"/>
          </p:cNvPicPr>
          <p:nvPr/>
        </p:nvPicPr>
        <p:blipFill>
          <a:blip r:embed="rId3"/>
          <a:stretch>
            <a:fillRect/>
          </a:stretch>
        </p:blipFill>
        <p:spPr>
          <a:xfrm>
            <a:off x="2828610" y="855515"/>
            <a:ext cx="3491336" cy="2694307"/>
          </a:xfrm>
          <a:prstGeom prst="rect">
            <a:avLst/>
          </a:prstGeom>
        </p:spPr>
      </p:pic>
      <p:sp>
        <p:nvSpPr>
          <p:cNvPr id="7" name="Rectangle 1">
            <a:extLst>
              <a:ext uri="{FF2B5EF4-FFF2-40B4-BE49-F238E27FC236}">
                <a16:creationId xmlns:a16="http://schemas.microsoft.com/office/drawing/2014/main" id="{3738412F-CD84-BE50-B1A2-14F17DC4B8AC}"/>
              </a:ext>
            </a:extLst>
          </p:cNvPr>
          <p:cNvSpPr>
            <a:spLocks noChangeArrowheads="1"/>
          </p:cNvSpPr>
          <p:nvPr/>
        </p:nvSpPr>
        <p:spPr bwMode="auto">
          <a:xfrm>
            <a:off x="281354" y="557777"/>
            <a:ext cx="7816816" cy="3438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I used SMOTE to balance the training data before building models. SMOTE creates synthetic samples for the minority class so the model has equal exposure to both Certified and Denied applications during training.</a:t>
            </a:r>
            <a:endParaRPr kumimoji="0" lang="en-US" altLang="en-US" sz="10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Cross-Validation Performance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The cross-validation recall scores were: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Bagging: 0.746</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Random Forest: 0.818</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GBM: 0.859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AdaBoost: 0.870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err="1">
                <a:ln>
                  <a:noFill/>
                </a:ln>
                <a:solidFill>
                  <a:schemeClr val="tx1"/>
                </a:solidFill>
                <a:effectLst/>
                <a:latin typeface="Nunito" pitchFamily="2" charset="77"/>
              </a:rPr>
              <a:t>XGBoost</a:t>
            </a:r>
            <a:r>
              <a:rPr kumimoji="0" lang="en-US" altLang="en-US" sz="1000" b="0" i="0" u="none" strike="noStrike" cap="none" normalizeH="0" baseline="0" dirty="0">
                <a:ln>
                  <a:noFill/>
                </a:ln>
                <a:solidFill>
                  <a:schemeClr val="tx1"/>
                </a:solidFill>
                <a:effectLst/>
                <a:latin typeface="Nunito" pitchFamily="2" charset="77"/>
              </a:rPr>
              <a:t>: 0.844</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Decision Tree: 0.719</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Validation Performance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The validation recall scores were: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Bagging: 0.751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Random Forest: 0.821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GBM: 0.857</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AdaBoost: 0.875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err="1">
                <a:ln>
                  <a:noFill/>
                </a:ln>
                <a:solidFill>
                  <a:schemeClr val="tx1"/>
                </a:solidFill>
                <a:effectLst/>
                <a:latin typeface="Nunito" pitchFamily="2" charset="77"/>
              </a:rPr>
              <a:t>XGBoost</a:t>
            </a:r>
            <a:r>
              <a:rPr kumimoji="0" lang="en-US" altLang="en-US" sz="1000" b="0" i="0" u="none" strike="noStrike" cap="none" normalizeH="0" baseline="0" dirty="0">
                <a:ln>
                  <a:noFill/>
                </a:ln>
                <a:solidFill>
                  <a:schemeClr val="tx1"/>
                </a:solidFill>
                <a:effectLst/>
                <a:latin typeface="Nunito" pitchFamily="2" charset="77"/>
              </a:rPr>
              <a:t>: 0.845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Decision Tree: 0.725</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chemeClr val="tx1"/>
                </a:solidFill>
                <a:effectLst/>
                <a:latin typeface="Nunito" pitchFamily="2" charset="77"/>
              </a:rPr>
            </a:br>
            <a:endParaRPr kumimoji="0" lang="en-US" altLang="en-US" sz="1000" b="0" i="0" u="none" strike="noStrike" cap="none" normalizeH="0" baseline="0" dirty="0">
              <a:ln>
                <a:noFill/>
              </a:ln>
              <a:solidFill>
                <a:schemeClr val="tx1"/>
              </a:solidFill>
              <a:effectLst/>
              <a:latin typeface="Nunito" pitchFamily="2" charset="77"/>
            </a:endParaRPr>
          </a:p>
        </p:txBody>
      </p:sp>
    </p:spTree>
    <p:extLst>
      <p:ext uri="{BB962C8B-B14F-4D97-AF65-F5344CB8AC3E}">
        <p14:creationId xmlns:p14="http://schemas.microsoft.com/office/powerpoint/2010/main" val="24207667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F202D25F-B209-B703-43DA-EE7C4B7BE74E}"/>
            </a:ext>
          </a:extLst>
        </p:cNvPr>
        <p:cNvGrpSpPr/>
        <p:nvPr/>
      </p:nvGrpSpPr>
      <p:grpSpPr>
        <a:xfrm>
          <a:off x="0" y="0"/>
          <a:ext cx="0" cy="0"/>
          <a:chOff x="0" y="0"/>
          <a:chExt cx="0" cy="0"/>
        </a:xfrm>
      </p:grpSpPr>
      <p:sp>
        <p:nvSpPr>
          <p:cNvPr id="182" name="Google Shape;182;p40">
            <a:extLst>
              <a:ext uri="{FF2B5EF4-FFF2-40B4-BE49-F238E27FC236}">
                <a16:creationId xmlns:a16="http://schemas.microsoft.com/office/drawing/2014/main" id="{ECFDFAB3-0F5F-5B4D-3BB0-0AFB6CF40CBD}"/>
              </a:ext>
            </a:extLst>
          </p:cNvPr>
          <p:cNvSpPr txBox="1">
            <a:spLocks noGrp="1"/>
          </p:cNvSpPr>
          <p:nvPr>
            <p:ph type="title"/>
          </p:nvPr>
        </p:nvSpPr>
        <p:spPr>
          <a:xfrm>
            <a:off x="202550" y="88312"/>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1600" dirty="0">
                <a:solidFill>
                  <a:srgbClr val="000000"/>
                </a:solidFill>
              </a:rPr>
              <a:t>Model Building with Oversampled Data</a:t>
            </a:r>
            <a:endParaRPr sz="1600" dirty="0">
              <a:solidFill>
                <a:srgbClr val="000000"/>
              </a:solidFill>
            </a:endParaRPr>
          </a:p>
        </p:txBody>
      </p:sp>
      <p:sp>
        <p:nvSpPr>
          <p:cNvPr id="11" name="Rectangle 8">
            <a:extLst>
              <a:ext uri="{FF2B5EF4-FFF2-40B4-BE49-F238E27FC236}">
                <a16:creationId xmlns:a16="http://schemas.microsoft.com/office/drawing/2014/main" id="{1B72AAA4-13EA-177C-47C1-E8B86FE29A9D}"/>
              </a:ext>
            </a:extLst>
          </p:cNvPr>
          <p:cNvSpPr>
            <a:spLocks noGrp="1" noChangeArrowheads="1"/>
          </p:cNvSpPr>
          <p:nvPr>
            <p:ph type="body" idx="1"/>
          </p:nvPr>
        </p:nvSpPr>
        <p:spPr bwMode="auto">
          <a:xfrm>
            <a:off x="281354" y="1147653"/>
            <a:ext cx="5094513"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None/>
              <a:tabLst/>
            </a:pPr>
            <a:endParaRPr lang="en-US" altLang="en-US" sz="1000" dirty="0">
              <a:latin typeface="Nunito" pitchFamily="2" charset="77"/>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i="0" u="none" strike="noStrike" cap="none" normalizeH="0" baseline="0" dirty="0">
                <a:ln>
                  <a:noFill/>
                </a:ln>
                <a:solidFill>
                  <a:schemeClr val="tx1"/>
                </a:solidFill>
                <a:effectLst/>
                <a:latin typeface="Nunito" pitchFamily="2" charset="77"/>
              </a:rPr>
            </a:br>
            <a:endParaRPr kumimoji="0" lang="en-US" altLang="en-US" sz="1000" i="0" u="none" strike="noStrike" cap="none" normalizeH="0" baseline="0" dirty="0">
              <a:ln>
                <a:noFill/>
              </a:ln>
              <a:solidFill>
                <a:schemeClr val="tx1"/>
              </a:solidFill>
              <a:effectLst/>
              <a:latin typeface="Nunito" pitchFamily="2" charset="77"/>
            </a:endParaRPr>
          </a:p>
        </p:txBody>
      </p:sp>
      <p:pic>
        <p:nvPicPr>
          <p:cNvPr id="6" name="Picture 5">
            <a:extLst>
              <a:ext uri="{FF2B5EF4-FFF2-40B4-BE49-F238E27FC236}">
                <a16:creationId xmlns:a16="http://schemas.microsoft.com/office/drawing/2014/main" id="{A3CD08F3-7A84-7005-F584-2ECAE6CA4EDA}"/>
              </a:ext>
            </a:extLst>
          </p:cNvPr>
          <p:cNvPicPr>
            <a:picLocks noChangeAspect="1"/>
          </p:cNvPicPr>
          <p:nvPr/>
        </p:nvPicPr>
        <p:blipFill>
          <a:blip r:embed="rId3"/>
          <a:stretch>
            <a:fillRect/>
          </a:stretch>
        </p:blipFill>
        <p:spPr>
          <a:xfrm>
            <a:off x="4622928" y="483726"/>
            <a:ext cx="4139234" cy="3198189"/>
          </a:xfrm>
          <a:prstGeom prst="rect">
            <a:avLst/>
          </a:prstGeom>
        </p:spPr>
      </p:pic>
      <p:sp>
        <p:nvSpPr>
          <p:cNvPr id="7" name="Rectangle 1">
            <a:extLst>
              <a:ext uri="{FF2B5EF4-FFF2-40B4-BE49-F238E27FC236}">
                <a16:creationId xmlns:a16="http://schemas.microsoft.com/office/drawing/2014/main" id="{E7005EA6-F48B-D8ED-307C-23011E410C76}"/>
              </a:ext>
            </a:extLst>
          </p:cNvPr>
          <p:cNvSpPr>
            <a:spLocks noChangeArrowheads="1"/>
          </p:cNvSpPr>
          <p:nvPr/>
        </p:nvSpPr>
        <p:spPr bwMode="auto">
          <a:xfrm>
            <a:off x="281354" y="661012"/>
            <a:ext cx="4341574" cy="36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Nunito" pitchFamily="2" charset="77"/>
              </a:rPr>
              <a:t>Interpretation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tx1"/>
                </a:solidFill>
                <a:effectLst/>
                <a:latin typeface="Nunito" pitchFamily="2" charset="77"/>
              </a:rPr>
              <a:t>AdaBoost performed the best on oversampled data, with a validation recall score of approximately </a:t>
            </a:r>
            <a:r>
              <a:rPr kumimoji="0" lang="en-US" altLang="en-US" sz="1050" b="1" i="0" u="none" strike="noStrike" cap="none" normalizeH="0" baseline="0" dirty="0">
                <a:ln>
                  <a:noFill/>
                </a:ln>
                <a:solidFill>
                  <a:schemeClr val="tx1"/>
                </a:solidFill>
                <a:effectLst/>
                <a:latin typeface="Nunito" pitchFamily="2" charset="77"/>
              </a:rPr>
              <a:t>0.875</a:t>
            </a:r>
            <a:r>
              <a:rPr kumimoji="0" lang="en-US" altLang="en-US" sz="1050" b="0" i="0" u="none" strike="noStrike" cap="none" normalizeH="0" baseline="0" dirty="0">
                <a:ln>
                  <a:noFill/>
                </a:ln>
                <a:solidFill>
                  <a:schemeClr val="tx1"/>
                </a:solidFill>
                <a:effectLst/>
                <a:latin typeface="Nunito" pitchFamily="2" charset="77"/>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tx1"/>
                </a:solidFill>
                <a:effectLst/>
                <a:latin typeface="Nunito" pitchFamily="2" charset="77"/>
              </a:rPr>
              <a:t>GBM was the second-best model, followed by </a:t>
            </a:r>
            <a:r>
              <a:rPr kumimoji="0" lang="en-US" altLang="en-US" sz="1050" b="0" i="0" u="none" strike="noStrike" cap="none" normalizeH="0" baseline="0" dirty="0" err="1">
                <a:ln>
                  <a:noFill/>
                </a:ln>
                <a:solidFill>
                  <a:schemeClr val="tx1"/>
                </a:solidFill>
                <a:effectLst/>
                <a:latin typeface="Nunito" pitchFamily="2" charset="77"/>
              </a:rPr>
              <a:t>XGBoost</a:t>
            </a:r>
            <a:r>
              <a:rPr kumimoji="0" lang="en-US" altLang="en-US" sz="1050" b="0" i="0" u="none" strike="noStrike" cap="none" normalizeH="0" baseline="0" dirty="0">
                <a:ln>
                  <a:noFill/>
                </a:ln>
                <a:solidFill>
                  <a:schemeClr val="tx1"/>
                </a:solidFill>
                <a:effectLst/>
                <a:latin typeface="Nunito" pitchFamily="2" charset="77"/>
              </a:rPr>
              <a:t> and Random Forest.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tx1"/>
                </a:solidFill>
                <a:effectLst/>
                <a:latin typeface="Nunito" pitchFamily="2" charset="77"/>
              </a:rPr>
              <a:t>Decision Tree and Bagging performed weaker compared to the boosting models.</a:t>
            </a:r>
            <a:endParaRPr kumimoji="0" lang="en-US" altLang="en-US" sz="105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Nunito" pitchFamily="2" charset="77"/>
              </a:rPr>
              <a:t>Why This is Important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tx1"/>
                </a:solidFill>
                <a:effectLst/>
                <a:latin typeface="Nunito" pitchFamily="2" charset="77"/>
              </a:rPr>
              <a:t>Oversampling was used to reduce class imbalance and help the model better learn patterns from the minority class. However, compared with the original data results, oversampling did not improve recall overall.</a:t>
            </a:r>
            <a:endParaRPr kumimoji="0" lang="en-US" altLang="en-US" sz="105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Nunito" pitchFamily="2" charset="77"/>
              </a:rPr>
              <a:t>Business Insight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tx1"/>
                </a:solidFill>
                <a:effectLst/>
                <a:latin typeface="Nunito" pitchFamily="2" charset="77"/>
              </a:rPr>
              <a:t>Boosting models continue to perform best, suggesting they are more effective at identifying Certified visa applications. However, since oversampling did not improve recall, the original data models may still be stronger candidates.</a:t>
            </a:r>
            <a:endParaRPr kumimoji="0" lang="en-US" altLang="en-US" sz="105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dirty="0">
                <a:ln>
                  <a:noFill/>
                </a:ln>
                <a:solidFill>
                  <a:schemeClr val="tx1"/>
                </a:solidFill>
                <a:effectLst/>
                <a:latin typeface="Nunito" pitchFamily="2" charset="77"/>
              </a:rPr>
              <a:t>Summary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tx1"/>
                </a:solidFill>
                <a:effectLst/>
                <a:latin typeface="Nunito" pitchFamily="2" charset="77"/>
              </a:rPr>
              <a:t>Among oversampled models, </a:t>
            </a:r>
            <a:r>
              <a:rPr kumimoji="0" lang="en-US" altLang="en-US" sz="1050" b="1" i="0" u="none" strike="noStrike" cap="none" normalizeH="0" baseline="0" dirty="0">
                <a:ln>
                  <a:noFill/>
                </a:ln>
                <a:solidFill>
                  <a:schemeClr val="tx1"/>
                </a:solidFill>
                <a:effectLst/>
                <a:latin typeface="Nunito" pitchFamily="2" charset="77"/>
              </a:rPr>
              <a:t>AdaBoost performed best</a:t>
            </a:r>
            <a:r>
              <a:rPr kumimoji="0" lang="en-US" altLang="en-US" sz="1050" b="0" i="0" u="none" strike="noStrike" cap="none" normalizeH="0" baseline="0" dirty="0">
                <a:ln>
                  <a:noFill/>
                </a:ln>
                <a:solidFill>
                  <a:schemeClr val="tx1"/>
                </a:solidFill>
                <a:effectLst/>
                <a:latin typeface="Nunito" pitchFamily="2" charset="77"/>
              </a:rPr>
              <a:t>, followed by </a:t>
            </a:r>
            <a:r>
              <a:rPr kumimoji="0" lang="en-US" altLang="en-US" sz="1050" b="1" i="0" u="none" strike="noStrike" cap="none" normalizeH="0" baseline="0" dirty="0">
                <a:ln>
                  <a:noFill/>
                </a:ln>
                <a:solidFill>
                  <a:schemeClr val="tx1"/>
                </a:solidFill>
                <a:effectLst/>
                <a:latin typeface="Nunito" pitchFamily="2" charset="77"/>
              </a:rPr>
              <a:t>GBM</a:t>
            </a:r>
            <a:r>
              <a:rPr kumimoji="0" lang="en-US" altLang="en-US" sz="1050" b="0" i="0" u="none" strike="noStrike" cap="none" normalizeH="0" baseline="0" dirty="0">
                <a:ln>
                  <a:noFill/>
                </a:ln>
                <a:solidFill>
                  <a:schemeClr val="tx1"/>
                </a:solidFill>
                <a:effectLst/>
                <a:latin typeface="Nunito" pitchFamily="2" charset="77"/>
              </a:rPr>
              <a:t>. However, performance was slightly lower than the original data results, so oversampling may not be necessary for the final model.</a:t>
            </a:r>
          </a:p>
        </p:txBody>
      </p:sp>
    </p:spTree>
    <p:extLst>
      <p:ext uri="{BB962C8B-B14F-4D97-AF65-F5344CB8AC3E}">
        <p14:creationId xmlns:p14="http://schemas.microsoft.com/office/powerpoint/2010/main" val="31213389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2D1A4659-F18C-A070-731D-F27E474DEE7E}"/>
            </a:ext>
          </a:extLst>
        </p:cNvPr>
        <p:cNvGrpSpPr/>
        <p:nvPr/>
      </p:nvGrpSpPr>
      <p:grpSpPr>
        <a:xfrm>
          <a:off x="0" y="0"/>
          <a:ext cx="0" cy="0"/>
          <a:chOff x="0" y="0"/>
          <a:chExt cx="0" cy="0"/>
        </a:xfrm>
      </p:grpSpPr>
      <p:sp>
        <p:nvSpPr>
          <p:cNvPr id="182" name="Google Shape;182;p40">
            <a:extLst>
              <a:ext uri="{FF2B5EF4-FFF2-40B4-BE49-F238E27FC236}">
                <a16:creationId xmlns:a16="http://schemas.microsoft.com/office/drawing/2014/main" id="{04648472-82AD-DD87-4B06-D09C7D38820E}"/>
              </a:ext>
            </a:extLst>
          </p:cNvPr>
          <p:cNvSpPr txBox="1">
            <a:spLocks noGrp="1"/>
          </p:cNvSpPr>
          <p:nvPr>
            <p:ph type="title"/>
          </p:nvPr>
        </p:nvSpPr>
        <p:spPr>
          <a:xfrm>
            <a:off x="202550" y="88312"/>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1600" dirty="0">
                <a:solidFill>
                  <a:srgbClr val="000000"/>
                </a:solidFill>
              </a:rPr>
              <a:t>Model Building with Under Sampled Data</a:t>
            </a:r>
            <a:endParaRPr sz="1600" dirty="0">
              <a:solidFill>
                <a:srgbClr val="000000"/>
              </a:solidFill>
            </a:endParaRPr>
          </a:p>
        </p:txBody>
      </p:sp>
      <p:sp>
        <p:nvSpPr>
          <p:cNvPr id="11" name="Rectangle 8">
            <a:extLst>
              <a:ext uri="{FF2B5EF4-FFF2-40B4-BE49-F238E27FC236}">
                <a16:creationId xmlns:a16="http://schemas.microsoft.com/office/drawing/2014/main" id="{3CEABE06-EFB1-C40D-13B0-9D7F7157C7F8}"/>
              </a:ext>
            </a:extLst>
          </p:cNvPr>
          <p:cNvSpPr>
            <a:spLocks noGrp="1" noChangeArrowheads="1"/>
          </p:cNvSpPr>
          <p:nvPr>
            <p:ph type="body" idx="1"/>
          </p:nvPr>
        </p:nvSpPr>
        <p:spPr bwMode="auto">
          <a:xfrm>
            <a:off x="281354" y="1147653"/>
            <a:ext cx="5094513"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None/>
              <a:tabLst/>
            </a:pPr>
            <a:endParaRPr lang="en-US" altLang="en-US" sz="1000" dirty="0">
              <a:latin typeface="Nunito" pitchFamily="2" charset="77"/>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i="0" u="none" strike="noStrike" cap="none" normalizeH="0" baseline="0" dirty="0">
                <a:ln>
                  <a:noFill/>
                </a:ln>
                <a:solidFill>
                  <a:schemeClr val="tx1"/>
                </a:solidFill>
                <a:effectLst/>
                <a:latin typeface="Nunito" pitchFamily="2" charset="77"/>
              </a:rPr>
            </a:br>
            <a:endParaRPr kumimoji="0" lang="en-US" altLang="en-US" sz="1000" i="0" u="none" strike="noStrike" cap="none" normalizeH="0" baseline="0" dirty="0">
              <a:ln>
                <a:noFill/>
              </a:ln>
              <a:solidFill>
                <a:schemeClr val="tx1"/>
              </a:solidFill>
              <a:effectLst/>
              <a:latin typeface="Nunito" pitchFamily="2" charset="77"/>
            </a:endParaRPr>
          </a:p>
        </p:txBody>
      </p:sp>
      <p:pic>
        <p:nvPicPr>
          <p:cNvPr id="3" name="Picture 2">
            <a:extLst>
              <a:ext uri="{FF2B5EF4-FFF2-40B4-BE49-F238E27FC236}">
                <a16:creationId xmlns:a16="http://schemas.microsoft.com/office/drawing/2014/main" id="{0B7B7941-C9F6-C1D0-1F9F-B044665E66D3}"/>
              </a:ext>
            </a:extLst>
          </p:cNvPr>
          <p:cNvPicPr>
            <a:picLocks noChangeAspect="1"/>
          </p:cNvPicPr>
          <p:nvPr/>
        </p:nvPicPr>
        <p:blipFill>
          <a:blip r:embed="rId3"/>
          <a:stretch>
            <a:fillRect/>
          </a:stretch>
        </p:blipFill>
        <p:spPr>
          <a:xfrm>
            <a:off x="141849" y="2661798"/>
            <a:ext cx="4321001" cy="1422661"/>
          </a:xfrm>
          <a:prstGeom prst="rect">
            <a:avLst/>
          </a:prstGeom>
        </p:spPr>
      </p:pic>
      <p:sp>
        <p:nvSpPr>
          <p:cNvPr id="4" name="Rectangle 1">
            <a:extLst>
              <a:ext uri="{FF2B5EF4-FFF2-40B4-BE49-F238E27FC236}">
                <a16:creationId xmlns:a16="http://schemas.microsoft.com/office/drawing/2014/main" id="{967DC5C8-90DD-29F9-A82A-447BFB1588F6}"/>
              </a:ext>
            </a:extLst>
          </p:cNvPr>
          <p:cNvSpPr>
            <a:spLocks noChangeArrowheads="1"/>
          </p:cNvSpPr>
          <p:nvPr/>
        </p:nvSpPr>
        <p:spPr bwMode="auto">
          <a:xfrm>
            <a:off x="202550" y="874903"/>
            <a:ext cx="8332992" cy="1499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dirty="0">
                <a:ln>
                  <a:noFill/>
                </a:ln>
                <a:solidFill>
                  <a:schemeClr val="tx1"/>
                </a:solidFill>
                <a:effectLst/>
                <a:latin typeface="Nunito" pitchFamily="2" charset="77"/>
              </a:rPr>
              <a:t>I applied Random Under Sampling to balance the dataset by reducing the majority class (Certified) to match the minority class (Denied).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Nunito" pitchFamily="2" charset="77"/>
              </a:rPr>
              <a:t>Class Distribution After Under Sampling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Nunito" pitchFamily="2" charset="77"/>
              </a:rPr>
              <a:t>Certified (1): 5,923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Nunito" pitchFamily="2" charset="77"/>
              </a:rPr>
              <a:t>Denied (0): 5,923</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dirty="0">
                <a:ln>
                  <a:noFill/>
                </a:ln>
                <a:solidFill>
                  <a:schemeClr val="tx1"/>
                </a:solidFill>
                <a:effectLst/>
                <a:latin typeface="Nunito" pitchFamily="2" charset="77"/>
              </a:rPr>
              <a:t>This resulted in a balanced dataset with fewer total samples.</a:t>
            </a:r>
          </a:p>
        </p:txBody>
      </p:sp>
    </p:spTree>
    <p:extLst>
      <p:ext uri="{BB962C8B-B14F-4D97-AF65-F5344CB8AC3E}">
        <p14:creationId xmlns:p14="http://schemas.microsoft.com/office/powerpoint/2010/main" val="41184048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7629D1EB-66E1-0E92-25B3-5DFD1EE523AF}"/>
            </a:ext>
          </a:extLst>
        </p:cNvPr>
        <p:cNvGrpSpPr/>
        <p:nvPr/>
      </p:nvGrpSpPr>
      <p:grpSpPr>
        <a:xfrm>
          <a:off x="0" y="0"/>
          <a:ext cx="0" cy="0"/>
          <a:chOff x="0" y="0"/>
          <a:chExt cx="0" cy="0"/>
        </a:xfrm>
      </p:grpSpPr>
      <p:sp>
        <p:nvSpPr>
          <p:cNvPr id="182" name="Google Shape;182;p40">
            <a:extLst>
              <a:ext uri="{FF2B5EF4-FFF2-40B4-BE49-F238E27FC236}">
                <a16:creationId xmlns:a16="http://schemas.microsoft.com/office/drawing/2014/main" id="{8576F323-F1CF-3A27-3209-817F3EFA098F}"/>
              </a:ext>
            </a:extLst>
          </p:cNvPr>
          <p:cNvSpPr txBox="1">
            <a:spLocks noGrp="1"/>
          </p:cNvSpPr>
          <p:nvPr>
            <p:ph type="title"/>
          </p:nvPr>
        </p:nvSpPr>
        <p:spPr>
          <a:xfrm>
            <a:off x="202550" y="88312"/>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1600" dirty="0">
                <a:solidFill>
                  <a:srgbClr val="000000"/>
                </a:solidFill>
              </a:rPr>
              <a:t>Model Building with Under Sampled Data</a:t>
            </a:r>
            <a:endParaRPr sz="1600" dirty="0">
              <a:solidFill>
                <a:srgbClr val="000000"/>
              </a:solidFill>
            </a:endParaRPr>
          </a:p>
        </p:txBody>
      </p:sp>
      <p:sp>
        <p:nvSpPr>
          <p:cNvPr id="11" name="Rectangle 8">
            <a:extLst>
              <a:ext uri="{FF2B5EF4-FFF2-40B4-BE49-F238E27FC236}">
                <a16:creationId xmlns:a16="http://schemas.microsoft.com/office/drawing/2014/main" id="{DF86259E-32A5-06EB-A9E9-335F93707075}"/>
              </a:ext>
            </a:extLst>
          </p:cNvPr>
          <p:cNvSpPr>
            <a:spLocks noGrp="1" noChangeArrowheads="1"/>
          </p:cNvSpPr>
          <p:nvPr>
            <p:ph type="body" idx="1"/>
          </p:nvPr>
        </p:nvSpPr>
        <p:spPr bwMode="auto">
          <a:xfrm>
            <a:off x="281354" y="1147653"/>
            <a:ext cx="5094513"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None/>
              <a:tabLst/>
            </a:pPr>
            <a:endParaRPr lang="en-US" altLang="en-US" sz="1000" dirty="0">
              <a:latin typeface="Nunito" pitchFamily="2" charset="77"/>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i="0" u="none" strike="noStrike" cap="none" normalizeH="0" baseline="0" dirty="0">
                <a:ln>
                  <a:noFill/>
                </a:ln>
                <a:solidFill>
                  <a:schemeClr val="tx1"/>
                </a:solidFill>
                <a:effectLst/>
                <a:latin typeface="Nunito" pitchFamily="2" charset="77"/>
              </a:rPr>
            </a:br>
            <a:endParaRPr kumimoji="0" lang="en-US" altLang="en-US" sz="1000" i="0" u="none" strike="noStrike" cap="none" normalizeH="0" baseline="0" dirty="0">
              <a:ln>
                <a:noFill/>
              </a:ln>
              <a:solidFill>
                <a:schemeClr val="tx1"/>
              </a:solidFill>
              <a:effectLst/>
              <a:latin typeface="Nunito" pitchFamily="2" charset="77"/>
            </a:endParaRPr>
          </a:p>
        </p:txBody>
      </p:sp>
      <p:pic>
        <p:nvPicPr>
          <p:cNvPr id="2" name="Picture 1">
            <a:extLst>
              <a:ext uri="{FF2B5EF4-FFF2-40B4-BE49-F238E27FC236}">
                <a16:creationId xmlns:a16="http://schemas.microsoft.com/office/drawing/2014/main" id="{78B21E28-EC74-E9B2-71DC-F7ED265E7EFD}"/>
              </a:ext>
            </a:extLst>
          </p:cNvPr>
          <p:cNvPicPr>
            <a:picLocks noChangeAspect="1"/>
          </p:cNvPicPr>
          <p:nvPr/>
        </p:nvPicPr>
        <p:blipFill>
          <a:blip r:embed="rId3"/>
          <a:stretch>
            <a:fillRect/>
          </a:stretch>
        </p:blipFill>
        <p:spPr>
          <a:xfrm>
            <a:off x="130629" y="2296014"/>
            <a:ext cx="3410578" cy="2549813"/>
          </a:xfrm>
          <a:prstGeom prst="rect">
            <a:avLst/>
          </a:prstGeom>
        </p:spPr>
      </p:pic>
      <p:sp>
        <p:nvSpPr>
          <p:cNvPr id="4" name="Rectangle 1">
            <a:extLst>
              <a:ext uri="{FF2B5EF4-FFF2-40B4-BE49-F238E27FC236}">
                <a16:creationId xmlns:a16="http://schemas.microsoft.com/office/drawing/2014/main" id="{3EA7EEFC-2434-8068-7484-3A765BE89F2B}"/>
              </a:ext>
            </a:extLst>
          </p:cNvPr>
          <p:cNvSpPr>
            <a:spLocks noChangeArrowheads="1"/>
          </p:cNvSpPr>
          <p:nvPr/>
        </p:nvSpPr>
        <p:spPr bwMode="auto">
          <a:xfrm>
            <a:off x="130629" y="980339"/>
            <a:ext cx="3410578" cy="1591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Cross-Validation Performance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The recall scores obtained from cross-validation were: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Bagging: 0.606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Random Forest: 0.687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GBM: 0.719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AdaBoost: 0.709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err="1">
                <a:ln>
                  <a:noFill/>
                </a:ln>
                <a:solidFill>
                  <a:schemeClr val="tx1"/>
                </a:solidFill>
                <a:effectLst/>
                <a:latin typeface="Nunito" pitchFamily="2" charset="77"/>
              </a:rPr>
              <a:t>XGBoost</a:t>
            </a:r>
            <a:r>
              <a:rPr kumimoji="0" lang="en-US" altLang="en-US" sz="1000" b="0" i="0" u="none" strike="noStrike" cap="none" normalizeH="0" baseline="0" dirty="0">
                <a:ln>
                  <a:noFill/>
                </a:ln>
                <a:solidFill>
                  <a:schemeClr val="tx1"/>
                </a:solidFill>
                <a:effectLst/>
                <a:latin typeface="Nunito" pitchFamily="2" charset="77"/>
              </a:rPr>
              <a:t>: 0.697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Decision Tree: 0.613</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p:txBody>
      </p:sp>
      <p:sp>
        <p:nvSpPr>
          <p:cNvPr id="5" name="Rectangle 2">
            <a:extLst>
              <a:ext uri="{FF2B5EF4-FFF2-40B4-BE49-F238E27FC236}">
                <a16:creationId xmlns:a16="http://schemas.microsoft.com/office/drawing/2014/main" id="{10187C4A-28E1-D0AE-9DB1-486E961D2C14}"/>
              </a:ext>
            </a:extLst>
          </p:cNvPr>
          <p:cNvSpPr>
            <a:spLocks noChangeArrowheads="1"/>
          </p:cNvSpPr>
          <p:nvPr/>
        </p:nvSpPr>
        <p:spPr bwMode="auto">
          <a:xfrm>
            <a:off x="4079631" y="980338"/>
            <a:ext cx="3999244" cy="1591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tx1"/>
                </a:solidFill>
                <a:effectLst/>
                <a:latin typeface="Nunito" pitchFamily="2" charset="77"/>
              </a:rPr>
              <a:t>Validation Performance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Nunito" pitchFamily="2" charset="77"/>
              </a:rPr>
              <a:t>The validation recall scores were: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Nunito" pitchFamily="2" charset="77"/>
              </a:rPr>
              <a:t>Bagging: 0.607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Nunito" pitchFamily="2" charset="77"/>
              </a:rPr>
              <a:t>Random Forest: 0.670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Nunito" pitchFamily="2" charset="77"/>
              </a:rPr>
              <a:t>GBM: 0.715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Nunito" pitchFamily="2" charset="77"/>
              </a:rPr>
              <a:t>AdaBoost: 0.722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Nunito" pitchFamily="2" charset="77"/>
              </a:rPr>
              <a:t>XGBoost: 0.692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Nunito" pitchFamily="2" charset="77"/>
              </a:rPr>
              <a:t>Decision Tree: 0.620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a:ln>
                <a:noFill/>
              </a:ln>
              <a:solidFill>
                <a:schemeClr val="tx1"/>
              </a:solidFill>
              <a:effectLst/>
              <a:latin typeface="Nunito" pitchFamily="2" charset="77"/>
            </a:endParaRPr>
          </a:p>
        </p:txBody>
      </p:sp>
      <p:sp>
        <p:nvSpPr>
          <p:cNvPr id="6" name="Rectangle 3">
            <a:extLst>
              <a:ext uri="{FF2B5EF4-FFF2-40B4-BE49-F238E27FC236}">
                <a16:creationId xmlns:a16="http://schemas.microsoft.com/office/drawing/2014/main" id="{3095B03C-415A-4B1E-0BDF-3C21997C0CE6}"/>
              </a:ext>
            </a:extLst>
          </p:cNvPr>
          <p:cNvSpPr>
            <a:spLocks noChangeArrowheads="1"/>
          </p:cNvSpPr>
          <p:nvPr/>
        </p:nvSpPr>
        <p:spPr bwMode="auto">
          <a:xfrm>
            <a:off x="4079631" y="2455240"/>
            <a:ext cx="3788229" cy="1437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Interpretation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AdaBoost performed the best on validation data (0.722), followed closely by GBM (0.715)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All models performed worse compared to original and oversampled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Decision Tree and Bagging again showed the weakest performance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i="0" u="none" strike="noStrike" cap="none" normalizeH="0" baseline="0" dirty="0">
              <a:ln>
                <a:noFill/>
              </a:ln>
              <a:solidFill>
                <a:schemeClr val="tx1"/>
              </a:solidFill>
              <a:effectLst/>
              <a:latin typeface="Nunito" pitchFamily="2" charset="77"/>
            </a:endParaRPr>
          </a:p>
        </p:txBody>
      </p:sp>
    </p:spTree>
    <p:extLst>
      <p:ext uri="{BB962C8B-B14F-4D97-AF65-F5344CB8AC3E}">
        <p14:creationId xmlns:p14="http://schemas.microsoft.com/office/powerpoint/2010/main" val="35935552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3651897A-B4EF-60A2-BD97-862041E0B505}"/>
            </a:ext>
          </a:extLst>
        </p:cNvPr>
        <p:cNvGrpSpPr/>
        <p:nvPr/>
      </p:nvGrpSpPr>
      <p:grpSpPr>
        <a:xfrm>
          <a:off x="0" y="0"/>
          <a:ext cx="0" cy="0"/>
          <a:chOff x="0" y="0"/>
          <a:chExt cx="0" cy="0"/>
        </a:xfrm>
      </p:grpSpPr>
      <p:sp>
        <p:nvSpPr>
          <p:cNvPr id="182" name="Google Shape;182;p40">
            <a:extLst>
              <a:ext uri="{FF2B5EF4-FFF2-40B4-BE49-F238E27FC236}">
                <a16:creationId xmlns:a16="http://schemas.microsoft.com/office/drawing/2014/main" id="{8840AA96-6400-DFAC-7A56-31E15CDE7FD2}"/>
              </a:ext>
            </a:extLst>
          </p:cNvPr>
          <p:cNvSpPr txBox="1">
            <a:spLocks noGrp="1"/>
          </p:cNvSpPr>
          <p:nvPr>
            <p:ph type="title"/>
          </p:nvPr>
        </p:nvSpPr>
        <p:spPr>
          <a:xfrm>
            <a:off x="202550" y="88312"/>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1600" dirty="0">
                <a:solidFill>
                  <a:srgbClr val="000000"/>
                </a:solidFill>
              </a:rPr>
              <a:t>Model Building with Under Sampled Data</a:t>
            </a:r>
            <a:endParaRPr sz="1600" dirty="0">
              <a:solidFill>
                <a:srgbClr val="000000"/>
              </a:solidFill>
            </a:endParaRPr>
          </a:p>
        </p:txBody>
      </p:sp>
      <p:sp>
        <p:nvSpPr>
          <p:cNvPr id="11" name="Rectangle 8">
            <a:extLst>
              <a:ext uri="{FF2B5EF4-FFF2-40B4-BE49-F238E27FC236}">
                <a16:creationId xmlns:a16="http://schemas.microsoft.com/office/drawing/2014/main" id="{2C94E4A7-4B52-8846-9F5E-274B7B8FD5A7}"/>
              </a:ext>
            </a:extLst>
          </p:cNvPr>
          <p:cNvSpPr>
            <a:spLocks noGrp="1" noChangeArrowheads="1"/>
          </p:cNvSpPr>
          <p:nvPr>
            <p:ph type="body" idx="1"/>
          </p:nvPr>
        </p:nvSpPr>
        <p:spPr bwMode="auto">
          <a:xfrm>
            <a:off x="281354" y="1147653"/>
            <a:ext cx="5094513" cy="66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None/>
              <a:tabLst/>
            </a:pPr>
            <a:endParaRPr lang="en-US" altLang="en-US" sz="1000" dirty="0">
              <a:latin typeface="Nunito" pitchFamily="2" charset="77"/>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0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i="0" u="none" strike="noStrike" cap="none" normalizeH="0" baseline="0" dirty="0">
                <a:ln>
                  <a:noFill/>
                </a:ln>
                <a:solidFill>
                  <a:schemeClr val="tx1"/>
                </a:solidFill>
                <a:effectLst/>
                <a:latin typeface="Nunito" pitchFamily="2" charset="77"/>
              </a:rPr>
            </a:br>
            <a:endParaRPr kumimoji="0" lang="en-US" altLang="en-US" sz="1000" i="0" u="none" strike="noStrike" cap="none" normalizeH="0" baseline="0" dirty="0">
              <a:ln>
                <a:noFill/>
              </a:ln>
              <a:solidFill>
                <a:schemeClr val="tx1"/>
              </a:solidFill>
              <a:effectLst/>
              <a:latin typeface="Nunito" pitchFamily="2" charset="77"/>
            </a:endParaRPr>
          </a:p>
        </p:txBody>
      </p:sp>
      <p:pic>
        <p:nvPicPr>
          <p:cNvPr id="2" name="Picture 1">
            <a:extLst>
              <a:ext uri="{FF2B5EF4-FFF2-40B4-BE49-F238E27FC236}">
                <a16:creationId xmlns:a16="http://schemas.microsoft.com/office/drawing/2014/main" id="{083B3998-FD8B-EF2A-977C-C7E86F277F0B}"/>
              </a:ext>
            </a:extLst>
          </p:cNvPr>
          <p:cNvPicPr>
            <a:picLocks noChangeAspect="1"/>
          </p:cNvPicPr>
          <p:nvPr/>
        </p:nvPicPr>
        <p:blipFill>
          <a:blip r:embed="rId3"/>
          <a:stretch>
            <a:fillRect/>
          </a:stretch>
        </p:blipFill>
        <p:spPr>
          <a:xfrm>
            <a:off x="4872553" y="661012"/>
            <a:ext cx="3990093" cy="3113733"/>
          </a:xfrm>
          <a:prstGeom prst="rect">
            <a:avLst/>
          </a:prstGeom>
        </p:spPr>
      </p:pic>
      <p:sp>
        <p:nvSpPr>
          <p:cNvPr id="3" name="Rectangle 1">
            <a:extLst>
              <a:ext uri="{FF2B5EF4-FFF2-40B4-BE49-F238E27FC236}">
                <a16:creationId xmlns:a16="http://schemas.microsoft.com/office/drawing/2014/main" id="{90C3F6A5-AF0B-BCF6-A6F5-2A5AE7B8B08E}"/>
              </a:ext>
            </a:extLst>
          </p:cNvPr>
          <p:cNvSpPr>
            <a:spLocks noChangeArrowheads="1"/>
          </p:cNvSpPr>
          <p:nvPr/>
        </p:nvSpPr>
        <p:spPr bwMode="auto">
          <a:xfrm>
            <a:off x="73263" y="920264"/>
            <a:ext cx="4928578"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761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Why This is Important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Under sampling reduces class imbalance but also removes a large portion of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This leads to:</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Loss of important information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Lower model performance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i="0" u="none" strike="noStrike" cap="none" normalizeH="0" baseline="0" dirty="0">
              <a:ln>
                <a:noFill/>
              </a:ln>
              <a:solidFill>
                <a:schemeClr val="tx1"/>
              </a:solidFill>
              <a:effectLst/>
              <a:latin typeface="Nunito" pitchFamily="2" charset="77"/>
            </a:endParaRPr>
          </a:p>
        </p:txBody>
      </p:sp>
      <p:sp>
        <p:nvSpPr>
          <p:cNvPr id="4" name="Rectangle 2">
            <a:extLst>
              <a:ext uri="{FF2B5EF4-FFF2-40B4-BE49-F238E27FC236}">
                <a16:creationId xmlns:a16="http://schemas.microsoft.com/office/drawing/2014/main" id="{8365EC8E-EF9B-3AF7-4F24-1DC261E98216}"/>
              </a:ext>
            </a:extLst>
          </p:cNvPr>
          <p:cNvSpPr>
            <a:spLocks noChangeArrowheads="1"/>
          </p:cNvSpPr>
          <p:nvPr/>
        </p:nvSpPr>
        <p:spPr bwMode="auto">
          <a:xfrm>
            <a:off x="73263" y="1906850"/>
            <a:ext cx="4799290" cy="1329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Business Insight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While under sampling balances the dataset, it sacrifices valuable data from approved visa cases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This reduces the model’s ability to learn meaningful patterns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As a result, under sampling is not ideal for this problem</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i="0" u="none" strike="noStrike" cap="none" normalizeH="0" baseline="0" dirty="0">
                <a:ln>
                  <a:noFill/>
                </a:ln>
                <a:solidFill>
                  <a:schemeClr val="tx1"/>
                </a:solidFill>
                <a:effectLst/>
                <a:latin typeface="Nunito" pitchFamily="2" charset="77"/>
              </a:rPr>
            </a:br>
            <a:endParaRPr kumimoji="0" lang="en-US" altLang="en-US" sz="1000" i="0" u="none" strike="noStrike" cap="none" normalizeH="0" baseline="0" dirty="0">
              <a:ln>
                <a:noFill/>
              </a:ln>
              <a:solidFill>
                <a:schemeClr val="tx1"/>
              </a:solidFill>
              <a:effectLst/>
              <a:latin typeface="Nunito" pitchFamily="2" charset="77"/>
            </a:endParaRPr>
          </a:p>
        </p:txBody>
      </p:sp>
      <p:pic>
        <p:nvPicPr>
          <p:cNvPr id="12" name="Picture 11">
            <a:extLst>
              <a:ext uri="{FF2B5EF4-FFF2-40B4-BE49-F238E27FC236}">
                <a16:creationId xmlns:a16="http://schemas.microsoft.com/office/drawing/2014/main" id="{41CEB5BC-1B41-B4B6-75C6-F4DFF526D6E4}"/>
              </a:ext>
            </a:extLst>
          </p:cNvPr>
          <p:cNvPicPr>
            <a:picLocks noChangeAspect="1"/>
          </p:cNvPicPr>
          <p:nvPr/>
        </p:nvPicPr>
        <p:blipFill>
          <a:blip r:embed="rId4"/>
          <a:stretch>
            <a:fillRect/>
          </a:stretch>
        </p:blipFill>
        <p:spPr>
          <a:xfrm>
            <a:off x="73263" y="2803496"/>
            <a:ext cx="3924773" cy="900489"/>
          </a:xfrm>
          <a:prstGeom prst="rect">
            <a:avLst/>
          </a:prstGeom>
        </p:spPr>
      </p:pic>
      <p:sp>
        <p:nvSpPr>
          <p:cNvPr id="13" name="Rectangle 4">
            <a:extLst>
              <a:ext uri="{FF2B5EF4-FFF2-40B4-BE49-F238E27FC236}">
                <a16:creationId xmlns:a16="http://schemas.microsoft.com/office/drawing/2014/main" id="{47EBCC82-F78E-DAC9-DA72-8393EDC58FE8}"/>
              </a:ext>
            </a:extLst>
          </p:cNvPr>
          <p:cNvSpPr>
            <a:spLocks noChangeArrowheads="1"/>
          </p:cNvSpPr>
          <p:nvPr/>
        </p:nvSpPr>
        <p:spPr bwMode="auto">
          <a:xfrm>
            <a:off x="73263" y="3969689"/>
            <a:ext cx="8649887"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tx1"/>
                </a:solidFill>
                <a:effectLst/>
                <a:latin typeface="Nunito" pitchFamily="2" charset="77"/>
              </a:rPr>
              <a:t>Summary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Nunito" pitchFamily="2" charset="77"/>
              </a:rPr>
              <a:t>Although undersampling successfully balanced the dataset, it led to a decline in model performance. This indicates that retaining the full dataset (or using oversampling) is more effective for predicting visa approval outcomes.</a:t>
            </a:r>
          </a:p>
        </p:txBody>
      </p:sp>
    </p:spTree>
    <p:extLst>
      <p:ext uri="{BB962C8B-B14F-4D97-AF65-F5344CB8AC3E}">
        <p14:creationId xmlns:p14="http://schemas.microsoft.com/office/powerpoint/2010/main" val="39075127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23">
          <a:extLst>
            <a:ext uri="{FF2B5EF4-FFF2-40B4-BE49-F238E27FC236}">
              <a16:creationId xmlns:a16="http://schemas.microsoft.com/office/drawing/2014/main" id="{8C6C2A0B-D361-478C-28CA-60DB41F0EA55}"/>
            </a:ext>
          </a:extLst>
        </p:cNvPr>
        <p:cNvGrpSpPr/>
        <p:nvPr/>
      </p:nvGrpSpPr>
      <p:grpSpPr>
        <a:xfrm>
          <a:off x="0" y="0"/>
          <a:ext cx="0" cy="0"/>
          <a:chOff x="0" y="0"/>
          <a:chExt cx="0" cy="0"/>
        </a:xfrm>
      </p:grpSpPr>
      <p:sp>
        <p:nvSpPr>
          <p:cNvPr id="224" name="Google Shape;224;p47">
            <a:extLst>
              <a:ext uri="{FF2B5EF4-FFF2-40B4-BE49-F238E27FC236}">
                <a16:creationId xmlns:a16="http://schemas.microsoft.com/office/drawing/2014/main" id="{1C2828C3-4252-7784-DDE4-143BE77AE4D9}"/>
              </a:ext>
            </a:extLst>
          </p:cNvPr>
          <p:cNvSpPr txBox="1">
            <a:spLocks noGrp="1"/>
          </p:cNvSpPr>
          <p:nvPr>
            <p:ph type="title"/>
          </p:nvPr>
        </p:nvSpPr>
        <p:spPr>
          <a:xfrm>
            <a:off x="177917" y="76976"/>
            <a:ext cx="8520600" cy="572700"/>
          </a:xfrm>
          <a:prstGeom prst="rect">
            <a:avLst/>
          </a:prstGeom>
          <a:noFill/>
          <a:ln>
            <a:noFill/>
          </a:ln>
        </p:spPr>
        <p:txBody>
          <a:bodyPr spcFirstLastPara="1" wrap="square" lIns="91425" tIns="91425" rIns="91425" bIns="91425" anchor="t" anchorCtr="0">
            <a:noAutofit/>
          </a:bodyPr>
          <a:lstStyle/>
          <a:p>
            <a:r>
              <a:rPr lang="en" sz="1800" dirty="0">
                <a:solidFill>
                  <a:srgbClr val="000000"/>
                </a:solidFill>
              </a:rPr>
              <a:t>Model Improvement - Hyperparameter Tuning (</a:t>
            </a:r>
            <a:r>
              <a:rPr lang="en-US" sz="1800" dirty="0"/>
              <a:t>Tuning AdaBoost using Oversampled data</a:t>
            </a:r>
            <a:br>
              <a:rPr lang="en-US" sz="1800" dirty="0"/>
            </a:br>
            <a:endParaRPr sz="1800" dirty="0">
              <a:solidFill>
                <a:srgbClr val="000000"/>
              </a:solidFill>
            </a:endParaRPr>
          </a:p>
        </p:txBody>
      </p:sp>
      <p:sp>
        <p:nvSpPr>
          <p:cNvPr id="2" name="Rectangle 1">
            <a:extLst>
              <a:ext uri="{FF2B5EF4-FFF2-40B4-BE49-F238E27FC236}">
                <a16:creationId xmlns:a16="http://schemas.microsoft.com/office/drawing/2014/main" id="{D1E66EDF-CB52-ABCC-CB52-FE8A631E9B23}"/>
              </a:ext>
            </a:extLst>
          </p:cNvPr>
          <p:cNvSpPr>
            <a:spLocks noChangeArrowheads="1"/>
          </p:cNvSpPr>
          <p:nvPr/>
        </p:nvSpPr>
        <p:spPr bwMode="auto">
          <a:xfrm>
            <a:off x="202551" y="747563"/>
            <a:ext cx="2932536" cy="2782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15870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Final Tuned AdaBoost Model Performance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After hyperparameter tuning, the AdaBoost model showed strong performance on both training and validation datasets.</a:t>
            </a:r>
            <a:endParaRPr kumimoji="0" lang="en-US" altLang="en-US" sz="10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Training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Accuracy: 0.651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Recall: 0.932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Precision: 0.596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F1 Score: 0.727</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Validation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Accuracy: 0.704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Recall: 0.931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Precision: 0.713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F1 Score: 0.807</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p:txBody>
      </p:sp>
      <p:sp>
        <p:nvSpPr>
          <p:cNvPr id="5" name="Rectangle 4">
            <a:extLst>
              <a:ext uri="{FF2B5EF4-FFF2-40B4-BE49-F238E27FC236}">
                <a16:creationId xmlns:a16="http://schemas.microsoft.com/office/drawing/2014/main" id="{CF64709B-5223-0459-FB2B-732F5E61829E}"/>
              </a:ext>
            </a:extLst>
          </p:cNvPr>
          <p:cNvSpPr>
            <a:spLocks noChangeArrowheads="1"/>
          </p:cNvSpPr>
          <p:nvPr/>
        </p:nvSpPr>
        <p:spPr bwMode="auto">
          <a:xfrm>
            <a:off x="5422320" y="664514"/>
            <a:ext cx="3615824" cy="1591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Interpretation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 model achieves very high recall (~93%), indicating it successfully identifies most Certified visa applications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Precision improved significantly on validation data, showing better control over false positives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 improvement in validation metrics suggests that the model generalizes well and is not overfitting</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i="0" u="none" strike="noStrike" cap="none" normalizeH="0" baseline="0" dirty="0">
                <a:ln>
                  <a:noFill/>
                </a:ln>
                <a:solidFill>
                  <a:schemeClr val="tx1"/>
                </a:solidFill>
                <a:effectLst/>
                <a:latin typeface="Nunito" pitchFamily="2" charset="77"/>
              </a:rPr>
            </a:br>
            <a:endParaRPr kumimoji="0" lang="en-US" altLang="en-US" sz="1000" i="0" u="none" strike="noStrike" cap="none" normalizeH="0" baseline="0" dirty="0">
              <a:ln>
                <a:noFill/>
              </a:ln>
              <a:solidFill>
                <a:schemeClr val="tx1"/>
              </a:solidFill>
              <a:effectLst/>
              <a:latin typeface="Nunito" pitchFamily="2" charset="77"/>
            </a:endParaRPr>
          </a:p>
        </p:txBody>
      </p:sp>
      <p:sp>
        <p:nvSpPr>
          <p:cNvPr id="6" name="Rectangle 5">
            <a:extLst>
              <a:ext uri="{FF2B5EF4-FFF2-40B4-BE49-F238E27FC236}">
                <a16:creationId xmlns:a16="http://schemas.microsoft.com/office/drawing/2014/main" id="{B3DE50C7-A328-974A-EC9E-B4FB20D4E0A5}"/>
              </a:ext>
            </a:extLst>
          </p:cNvPr>
          <p:cNvSpPr>
            <a:spLocks noChangeArrowheads="1"/>
          </p:cNvSpPr>
          <p:nvPr/>
        </p:nvSpPr>
        <p:spPr bwMode="auto">
          <a:xfrm>
            <a:off x="2845846" y="2848749"/>
            <a:ext cx="5877303" cy="975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Why This is Important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High recall ensures that qualified applicants are not missed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Improved precision reduces the number of incorrect approvals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Balanced performance makes the model reliable for real-world decision-making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p:txBody>
      </p:sp>
      <p:sp>
        <p:nvSpPr>
          <p:cNvPr id="7" name="Rectangle 6">
            <a:extLst>
              <a:ext uri="{FF2B5EF4-FFF2-40B4-BE49-F238E27FC236}">
                <a16:creationId xmlns:a16="http://schemas.microsoft.com/office/drawing/2014/main" id="{D61018ED-CB4F-34A1-DB0B-0B9E95E85708}"/>
              </a:ext>
            </a:extLst>
          </p:cNvPr>
          <p:cNvSpPr>
            <a:spLocks noChangeArrowheads="1"/>
          </p:cNvSpPr>
          <p:nvPr/>
        </p:nvSpPr>
        <p:spPr bwMode="auto">
          <a:xfrm>
            <a:off x="202550" y="3599191"/>
            <a:ext cx="4824382" cy="1129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7610" tIns="45720" rIns="9144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Business Insight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The model is highly effective for identifying strong candidates for visa approval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It minimizes the risk of rejecting qualified applicants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At the same time, it improves decision quality by reducing incorrect certifications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chemeClr val="tx1"/>
                </a:solidFill>
                <a:effectLst/>
                <a:latin typeface="Nunito" pitchFamily="2" charset="77"/>
              </a:rPr>
            </a:br>
            <a:endParaRPr kumimoji="0" lang="en-US" altLang="en-US" sz="1000" b="0" i="0" u="none" strike="noStrike" cap="none" normalizeH="0" baseline="0" dirty="0">
              <a:ln>
                <a:noFill/>
              </a:ln>
              <a:solidFill>
                <a:schemeClr val="tx1"/>
              </a:solidFill>
              <a:effectLst/>
              <a:latin typeface="Nunito" pitchFamily="2" charset="77"/>
            </a:endParaRPr>
          </a:p>
        </p:txBody>
      </p:sp>
      <p:sp>
        <p:nvSpPr>
          <p:cNvPr id="8" name="Rectangle 7">
            <a:extLst>
              <a:ext uri="{FF2B5EF4-FFF2-40B4-BE49-F238E27FC236}">
                <a16:creationId xmlns:a16="http://schemas.microsoft.com/office/drawing/2014/main" id="{1BE6BD45-372B-5D4E-8B8E-9B22F9BDD561}"/>
              </a:ext>
            </a:extLst>
          </p:cNvPr>
          <p:cNvSpPr>
            <a:spLocks noChangeArrowheads="1"/>
          </p:cNvSpPr>
          <p:nvPr/>
        </p:nvSpPr>
        <p:spPr bwMode="auto">
          <a:xfrm>
            <a:off x="177917" y="4272826"/>
            <a:ext cx="777879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tx1"/>
                </a:solidFill>
                <a:effectLst/>
                <a:latin typeface="Nunito" pitchFamily="2" charset="77"/>
              </a:rPr>
              <a:t>Summary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Nunito" pitchFamily="2" charset="77"/>
              </a:rPr>
              <a:t>The tuned AdaBoost model provides the best overall performance, with strong recall and improved precision. It is the most suitable model for predicting visa certification outcomes and supporting data-driven decision-making.</a:t>
            </a:r>
          </a:p>
        </p:txBody>
      </p:sp>
      <p:sp>
        <p:nvSpPr>
          <p:cNvPr id="10" name="Rectangle 9">
            <a:extLst>
              <a:ext uri="{FF2B5EF4-FFF2-40B4-BE49-F238E27FC236}">
                <a16:creationId xmlns:a16="http://schemas.microsoft.com/office/drawing/2014/main" id="{6EEB1C50-2C1D-5ABC-DBC4-4DC1F44A75FA}"/>
              </a:ext>
            </a:extLst>
          </p:cNvPr>
          <p:cNvSpPr>
            <a:spLocks noChangeArrowheads="1"/>
          </p:cNvSpPr>
          <p:nvPr/>
        </p:nvSpPr>
        <p:spPr bwMode="auto">
          <a:xfrm>
            <a:off x="2934119" y="702940"/>
            <a:ext cx="2803194"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Nunito" pitchFamily="2" charset="77"/>
              </a:rPr>
              <a:t>Parameters Tuned</a:t>
            </a:r>
            <a:br>
              <a:rPr kumimoji="0" lang="en-US" altLang="en-US" sz="1000" b="0" i="0" u="none" strike="noStrike" cap="none" normalizeH="0" baseline="0" dirty="0">
                <a:ln>
                  <a:noFill/>
                </a:ln>
                <a:solidFill>
                  <a:schemeClr val="tx1"/>
                </a:solidFill>
                <a:effectLst/>
                <a:latin typeface="Nunito" pitchFamily="2" charset="77"/>
              </a:rPr>
            </a:br>
            <a:br>
              <a:rPr kumimoji="0" lang="en-US" altLang="en-US" sz="1000" b="0" i="0" u="none" strike="noStrike" cap="none" normalizeH="0" baseline="0" dirty="0">
                <a:ln>
                  <a:noFill/>
                </a:ln>
                <a:solidFill>
                  <a:schemeClr val="tx1"/>
                </a:solidFill>
                <a:effectLst/>
                <a:latin typeface="Nunito" pitchFamily="2" charset="77"/>
              </a:rPr>
            </a:br>
            <a:r>
              <a:rPr kumimoji="0" lang="en-US" altLang="en-US" sz="1000" b="0" i="0" u="none" strike="noStrike" cap="none" normalizeH="0" baseline="0" dirty="0">
                <a:ln>
                  <a:noFill/>
                </a:ln>
                <a:solidFill>
                  <a:srgbClr val="000000"/>
                </a:solidFill>
                <a:effectLst/>
                <a:latin typeface="Nunito" pitchFamily="2" charset="77"/>
              </a:rPr>
              <a:t>The following hyperparameters were optimized using </a:t>
            </a:r>
            <a:r>
              <a:rPr kumimoji="0" lang="en-US" altLang="en-US" sz="1000" b="0" i="0" u="none" strike="noStrike" cap="none" normalizeH="0" baseline="0" dirty="0" err="1">
                <a:ln>
                  <a:noFill/>
                </a:ln>
                <a:solidFill>
                  <a:srgbClr val="000000"/>
                </a:solidFill>
                <a:effectLst/>
                <a:latin typeface="Nunito" pitchFamily="2" charset="77"/>
              </a:rPr>
              <a:t>RandomizedSearchCV</a:t>
            </a:r>
            <a:r>
              <a:rPr kumimoji="0" lang="en-US" altLang="en-US" sz="1000" b="0" i="0" u="none" strike="noStrike" cap="none" normalizeH="0" baseline="0" dirty="0">
                <a:ln>
                  <a:noFill/>
                </a:ln>
                <a:solidFill>
                  <a:srgbClr val="000000"/>
                </a:solidFill>
                <a:effectLst/>
                <a:latin typeface="Nunito" pitchFamily="2" charset="77"/>
              </a:rPr>
              <a:t>:</a:t>
            </a:r>
            <a:br>
              <a:rPr kumimoji="0" lang="en-US" altLang="en-US" sz="1000" b="0" i="0" u="none" strike="noStrike" cap="none" normalizeH="0" baseline="0" dirty="0">
                <a:ln>
                  <a:noFill/>
                </a:ln>
                <a:solidFill>
                  <a:schemeClr val="tx1"/>
                </a:solidFill>
                <a:effectLst/>
                <a:latin typeface="Nunito" pitchFamily="2" charset="77"/>
              </a:rPr>
            </a:br>
            <a:br>
              <a:rPr kumimoji="0" lang="en-US" altLang="en-US" sz="1000" b="0" i="0" u="none" strike="noStrike" cap="none" normalizeH="0" baseline="0" dirty="0">
                <a:ln>
                  <a:noFill/>
                </a:ln>
                <a:solidFill>
                  <a:schemeClr val="tx1"/>
                </a:solidFill>
                <a:effectLst/>
                <a:latin typeface="Nunito" pitchFamily="2" charset="77"/>
              </a:rPr>
            </a:br>
            <a:r>
              <a:rPr kumimoji="0" lang="en-US" altLang="en-US" sz="1000" b="0" i="0" u="none" strike="noStrike" cap="none" normalizeH="0" baseline="0" dirty="0">
                <a:ln>
                  <a:noFill/>
                </a:ln>
                <a:solidFill>
                  <a:srgbClr val="000000"/>
                </a:solidFill>
                <a:effectLst/>
                <a:latin typeface="Nunito" pitchFamily="2" charset="77"/>
              </a:rPr>
              <a:t>- </a:t>
            </a:r>
            <a:r>
              <a:rPr kumimoji="0" lang="en-US" altLang="en-US" sz="1000" b="0" i="0" u="none" strike="noStrike" cap="none" normalizeH="0" baseline="0" dirty="0" err="1">
                <a:ln>
                  <a:noFill/>
                </a:ln>
                <a:solidFill>
                  <a:srgbClr val="000000"/>
                </a:solidFill>
                <a:effectLst/>
                <a:latin typeface="Nunito" pitchFamily="2" charset="77"/>
              </a:rPr>
              <a:t>n_estimators</a:t>
            </a:r>
            <a:r>
              <a:rPr kumimoji="0" lang="en-US" altLang="en-US" sz="1000" b="0" i="0" u="none" strike="noStrike" cap="none" normalizeH="0" baseline="0" dirty="0">
                <a:ln>
                  <a:noFill/>
                </a:ln>
                <a:solidFill>
                  <a:srgbClr val="000000"/>
                </a:solidFill>
                <a:effectLst/>
                <a:latin typeface="Nunito" pitchFamily="2" charset="77"/>
              </a:rPr>
              <a:t>: [50, 75, 100, 125] </a:t>
            </a:r>
            <a:br>
              <a:rPr kumimoji="0" lang="en-US" altLang="en-US" sz="1000" b="0" i="0" u="none" strike="noStrike" cap="none" normalizeH="0" baseline="0" dirty="0">
                <a:ln>
                  <a:noFill/>
                </a:ln>
                <a:solidFill>
                  <a:schemeClr val="tx1"/>
                </a:solidFill>
                <a:effectLst/>
                <a:latin typeface="Nunito" pitchFamily="2" charset="77"/>
              </a:rPr>
            </a:br>
            <a:r>
              <a:rPr kumimoji="0" lang="en-US" altLang="en-US" sz="1000" b="0" i="0" u="none" strike="noStrike" cap="none" normalizeH="0" baseline="0" dirty="0">
                <a:ln>
                  <a:noFill/>
                </a:ln>
                <a:solidFill>
                  <a:srgbClr val="000000"/>
                </a:solidFill>
                <a:effectLst/>
                <a:latin typeface="Nunito" pitchFamily="2" charset="77"/>
              </a:rPr>
              <a:t>- </a:t>
            </a:r>
            <a:r>
              <a:rPr kumimoji="0" lang="en-US" altLang="en-US" sz="1000" b="0" i="0" u="none" strike="noStrike" cap="none" normalizeH="0" baseline="0" dirty="0" err="1">
                <a:ln>
                  <a:noFill/>
                </a:ln>
                <a:solidFill>
                  <a:srgbClr val="000000"/>
                </a:solidFill>
                <a:effectLst/>
                <a:latin typeface="Nunito" pitchFamily="2" charset="77"/>
              </a:rPr>
              <a:t>learning_rate</a:t>
            </a:r>
            <a:r>
              <a:rPr kumimoji="0" lang="en-US" altLang="en-US" sz="1000" b="0" i="0" u="none" strike="noStrike" cap="none" normalizeH="0" baseline="0" dirty="0">
                <a:ln>
                  <a:noFill/>
                </a:ln>
                <a:solidFill>
                  <a:srgbClr val="000000"/>
                </a:solidFill>
                <a:effectLst/>
                <a:latin typeface="Nunito" pitchFamily="2" charset="77"/>
              </a:rPr>
              <a:t>: [1.0, 0.5, 0.1, 0.01] </a:t>
            </a:r>
            <a:br>
              <a:rPr kumimoji="0" lang="en-US" altLang="en-US" sz="1000" b="0" i="0" u="none" strike="noStrike" cap="none" normalizeH="0" baseline="0" dirty="0">
                <a:ln>
                  <a:noFill/>
                </a:ln>
                <a:solidFill>
                  <a:schemeClr val="tx1"/>
                </a:solidFill>
                <a:effectLst/>
                <a:latin typeface="Nunito" pitchFamily="2" charset="77"/>
              </a:rPr>
            </a:br>
            <a:r>
              <a:rPr kumimoji="0" lang="en-US" altLang="en-US" sz="1000" b="0" i="0" u="none" strike="noStrike" cap="none" normalizeH="0" baseline="0" dirty="0">
                <a:ln>
                  <a:noFill/>
                </a:ln>
                <a:solidFill>
                  <a:srgbClr val="000000"/>
                </a:solidFill>
                <a:effectLst/>
                <a:latin typeface="Nunito" pitchFamily="2" charset="77"/>
              </a:rPr>
              <a:t>- base estimator: Decision Tree with </a:t>
            </a:r>
            <a:r>
              <a:rPr kumimoji="0" lang="en-US" altLang="en-US" sz="1000" b="0" i="0" u="none" strike="noStrike" cap="none" normalizeH="0" baseline="0" dirty="0" err="1">
                <a:ln>
                  <a:noFill/>
                </a:ln>
                <a:solidFill>
                  <a:srgbClr val="000000"/>
                </a:solidFill>
                <a:effectLst/>
                <a:latin typeface="Nunito" pitchFamily="2" charset="77"/>
              </a:rPr>
              <a:t>max_depth</a:t>
            </a:r>
            <a:r>
              <a:rPr kumimoji="0" lang="en-US" altLang="en-US" sz="1000" b="0" i="0" u="none" strike="noStrike" cap="none" normalizeH="0" baseline="0" dirty="0">
                <a:ln>
                  <a:noFill/>
                </a:ln>
                <a:solidFill>
                  <a:srgbClr val="000000"/>
                </a:solidFill>
                <a:effectLst/>
                <a:latin typeface="Nunito" pitchFamily="2" charset="77"/>
              </a:rPr>
              <a:t> = 1, 2, 3 </a:t>
            </a:r>
            <a:br>
              <a:rPr kumimoji="0" lang="en-US" altLang="en-US" sz="1000" b="0" i="0" u="none" strike="noStrike" cap="none" normalizeH="0" baseline="0" dirty="0">
                <a:ln>
                  <a:noFill/>
                </a:ln>
                <a:solidFill>
                  <a:schemeClr val="tx1"/>
                </a:solidFill>
                <a:effectLst/>
                <a:latin typeface="Nunito" pitchFamily="2" charset="77"/>
              </a:rPr>
            </a:br>
            <a:br>
              <a:rPr kumimoji="0" lang="en-US" altLang="en-US" sz="1000" b="0" i="0" u="none" strike="noStrike" cap="none" normalizeH="0" baseline="0" dirty="0">
                <a:ln>
                  <a:noFill/>
                </a:ln>
                <a:solidFill>
                  <a:schemeClr val="tx1"/>
                </a:solidFill>
                <a:effectLst/>
                <a:latin typeface="Nunito" pitchFamily="2" charset="77"/>
              </a:rPr>
            </a:br>
            <a:r>
              <a:rPr kumimoji="0" lang="en-US" altLang="en-US" sz="1000" b="0" i="0" u="none" strike="noStrike" cap="none" normalizeH="0" baseline="0" dirty="0">
                <a:ln>
                  <a:noFill/>
                </a:ln>
                <a:solidFill>
                  <a:srgbClr val="000000"/>
                </a:solidFill>
                <a:effectLst/>
                <a:latin typeface="Nunito" pitchFamily="2" charset="77"/>
              </a:rPr>
              <a:t>The best combination of parameters was selected based on recall score.</a:t>
            </a:r>
            <a:br>
              <a:rPr kumimoji="0" lang="en-US" altLang="en-US" sz="1000" b="0" i="0" u="none" strike="noStrike" cap="none" normalizeH="0" baseline="0" dirty="0">
                <a:ln>
                  <a:noFill/>
                </a:ln>
                <a:solidFill>
                  <a:schemeClr val="tx1"/>
                </a:solidFill>
                <a:effectLst/>
                <a:latin typeface="Nunito" pitchFamily="2" charset="77"/>
              </a:rPr>
            </a:br>
            <a:endParaRPr kumimoji="0" lang="en-US" altLang="en-US" sz="1000" b="0" i="0" u="none" strike="noStrike" cap="none" normalizeH="0" baseline="0" dirty="0">
              <a:ln>
                <a:noFill/>
              </a:ln>
              <a:solidFill>
                <a:schemeClr val="tx1"/>
              </a:solidFill>
              <a:effectLst/>
              <a:latin typeface="Nunito" pitchFamily="2" charset="77"/>
            </a:endParaRPr>
          </a:p>
        </p:txBody>
      </p:sp>
    </p:spTree>
    <p:extLst>
      <p:ext uri="{BB962C8B-B14F-4D97-AF65-F5344CB8AC3E}">
        <p14:creationId xmlns:p14="http://schemas.microsoft.com/office/powerpoint/2010/main" val="34958354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23">
          <a:extLst>
            <a:ext uri="{FF2B5EF4-FFF2-40B4-BE49-F238E27FC236}">
              <a16:creationId xmlns:a16="http://schemas.microsoft.com/office/drawing/2014/main" id="{0C57ACC9-741D-AF56-4ACC-EB3A78E49E8F}"/>
            </a:ext>
          </a:extLst>
        </p:cNvPr>
        <p:cNvGrpSpPr/>
        <p:nvPr/>
      </p:nvGrpSpPr>
      <p:grpSpPr>
        <a:xfrm>
          <a:off x="0" y="0"/>
          <a:ext cx="0" cy="0"/>
          <a:chOff x="0" y="0"/>
          <a:chExt cx="0" cy="0"/>
        </a:xfrm>
      </p:grpSpPr>
      <p:sp>
        <p:nvSpPr>
          <p:cNvPr id="224" name="Google Shape;224;p47">
            <a:extLst>
              <a:ext uri="{FF2B5EF4-FFF2-40B4-BE49-F238E27FC236}">
                <a16:creationId xmlns:a16="http://schemas.microsoft.com/office/drawing/2014/main" id="{5F16ADA5-CBA3-F9ED-A261-F659BFEC0F96}"/>
              </a:ext>
            </a:extLst>
          </p:cNvPr>
          <p:cNvSpPr txBox="1">
            <a:spLocks noGrp="1"/>
          </p:cNvSpPr>
          <p:nvPr>
            <p:ph type="title"/>
          </p:nvPr>
        </p:nvSpPr>
        <p:spPr>
          <a:xfrm>
            <a:off x="177917" y="76976"/>
            <a:ext cx="8520600" cy="572700"/>
          </a:xfrm>
          <a:prstGeom prst="rect">
            <a:avLst/>
          </a:prstGeom>
          <a:noFill/>
          <a:ln>
            <a:noFill/>
          </a:ln>
        </p:spPr>
        <p:txBody>
          <a:bodyPr spcFirstLastPara="1" wrap="square" lIns="91425" tIns="91425" rIns="91425" bIns="91425" anchor="t" anchorCtr="0">
            <a:noAutofit/>
          </a:bodyPr>
          <a:lstStyle/>
          <a:p>
            <a:r>
              <a:rPr lang="en" sz="1400" dirty="0">
                <a:solidFill>
                  <a:srgbClr val="000000"/>
                </a:solidFill>
              </a:rPr>
              <a:t>Model Improvement - Hyperparameter Tuning (</a:t>
            </a:r>
            <a:r>
              <a:rPr lang="en-US" sz="1400" dirty="0"/>
              <a:t>Tuning Random forest using Under </a:t>
            </a:r>
            <a:br>
              <a:rPr lang="en-US" sz="1400" dirty="0"/>
            </a:br>
            <a:r>
              <a:rPr lang="en-US" sz="1400" dirty="0"/>
              <a:t>Sampled data)</a:t>
            </a:r>
            <a:br>
              <a:rPr lang="en-US" sz="1400" dirty="0"/>
            </a:br>
            <a:br>
              <a:rPr lang="en-US" sz="1400" dirty="0"/>
            </a:br>
            <a:endParaRPr sz="1400" dirty="0">
              <a:solidFill>
                <a:srgbClr val="000000"/>
              </a:solidFill>
            </a:endParaRPr>
          </a:p>
        </p:txBody>
      </p:sp>
      <p:sp>
        <p:nvSpPr>
          <p:cNvPr id="3" name="Rectangle 1">
            <a:extLst>
              <a:ext uri="{FF2B5EF4-FFF2-40B4-BE49-F238E27FC236}">
                <a16:creationId xmlns:a16="http://schemas.microsoft.com/office/drawing/2014/main" id="{7E64A3F6-85F7-71B1-72C9-0BAD6396CD6C}"/>
              </a:ext>
            </a:extLst>
          </p:cNvPr>
          <p:cNvSpPr>
            <a:spLocks noChangeArrowheads="1"/>
          </p:cNvSpPr>
          <p:nvPr/>
        </p:nvSpPr>
        <p:spPr bwMode="auto">
          <a:xfrm>
            <a:off x="97530" y="895470"/>
            <a:ext cx="281519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Nunito" pitchFamily="2" charset="77"/>
              </a:rPr>
              <a:t>Hyperparameters Tuned (Search Space)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err="1">
                <a:ln>
                  <a:noFill/>
                </a:ln>
                <a:solidFill>
                  <a:srgbClr val="000000"/>
                </a:solidFill>
                <a:effectLst/>
                <a:latin typeface="Nunito" pitchFamily="2" charset="77"/>
              </a:rPr>
              <a:t>n_estimators</a:t>
            </a:r>
            <a:r>
              <a:rPr kumimoji="0" lang="en-US" altLang="en-US" sz="1000" b="1" i="0" u="none" strike="noStrike" cap="none" normalizeH="0" baseline="0" dirty="0">
                <a:ln>
                  <a:noFill/>
                </a:ln>
                <a:solidFill>
                  <a:srgbClr val="000000"/>
                </a:solidFill>
                <a:effectLst/>
                <a:latin typeface="Nunito" pitchFamily="2" charset="77"/>
              </a:rPr>
              <a:t>:</a:t>
            </a:r>
            <a:r>
              <a:rPr kumimoji="0" lang="en-US" altLang="en-US" sz="1000" b="0" i="0" u="none" strike="noStrike" cap="none" normalizeH="0" baseline="0" dirty="0">
                <a:ln>
                  <a:noFill/>
                </a:ln>
                <a:solidFill>
                  <a:srgbClr val="000000"/>
                </a:solidFill>
                <a:effectLst/>
                <a:latin typeface="Nunito" pitchFamily="2" charset="77"/>
              </a:rPr>
              <a:t> [50, 75, 100, 125]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err="1">
                <a:ln>
                  <a:noFill/>
                </a:ln>
                <a:solidFill>
                  <a:srgbClr val="000000"/>
                </a:solidFill>
                <a:effectLst/>
                <a:latin typeface="Nunito" pitchFamily="2" charset="77"/>
              </a:rPr>
              <a:t>min_samples_leaf</a:t>
            </a:r>
            <a:r>
              <a:rPr kumimoji="0" lang="en-US" altLang="en-US" sz="1000" b="1" i="0" u="none" strike="noStrike" cap="none" normalizeH="0" baseline="0" dirty="0">
                <a:ln>
                  <a:noFill/>
                </a:ln>
                <a:solidFill>
                  <a:srgbClr val="000000"/>
                </a:solidFill>
                <a:effectLst/>
                <a:latin typeface="Nunito" pitchFamily="2" charset="77"/>
              </a:rPr>
              <a:t>:</a:t>
            </a:r>
            <a:r>
              <a:rPr kumimoji="0" lang="en-US" altLang="en-US" sz="1000" b="0" i="0" u="none" strike="noStrike" cap="none" normalizeH="0" baseline="0" dirty="0">
                <a:ln>
                  <a:noFill/>
                </a:ln>
                <a:solidFill>
                  <a:srgbClr val="000000"/>
                </a:solidFill>
                <a:effectLst/>
                <a:latin typeface="Nunito" pitchFamily="2" charset="77"/>
              </a:rPr>
              <a:t> [1, 2, 4, 5, 10]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err="1">
                <a:ln>
                  <a:noFill/>
                </a:ln>
                <a:solidFill>
                  <a:srgbClr val="000000"/>
                </a:solidFill>
                <a:effectLst/>
                <a:latin typeface="Nunito" pitchFamily="2" charset="77"/>
              </a:rPr>
              <a:t>max_features</a:t>
            </a:r>
            <a:r>
              <a:rPr kumimoji="0" lang="en-US" altLang="en-US" sz="1000" b="1" i="0" u="none" strike="noStrike" cap="none" normalizeH="0" baseline="0" dirty="0">
                <a:ln>
                  <a:noFill/>
                </a:ln>
                <a:solidFill>
                  <a:srgbClr val="000000"/>
                </a:solidFill>
                <a:effectLst/>
                <a:latin typeface="Nunito" pitchFamily="2" charset="77"/>
              </a:rPr>
              <a:t>:</a:t>
            </a:r>
            <a:r>
              <a:rPr kumimoji="0" lang="en-US" altLang="en-US" sz="1000" b="0" i="0" u="none" strike="noStrike" cap="none" normalizeH="0" baseline="0" dirty="0">
                <a:ln>
                  <a:noFill/>
                </a:ln>
                <a:solidFill>
                  <a:srgbClr val="000000"/>
                </a:solidFill>
                <a:effectLst/>
                <a:latin typeface="Nunito" pitchFamily="2" charset="77"/>
              </a:rPr>
              <a:t> ["sqrt", "log2", 0.3, 0.5, None]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err="1">
                <a:ln>
                  <a:noFill/>
                </a:ln>
                <a:solidFill>
                  <a:srgbClr val="000000"/>
                </a:solidFill>
                <a:effectLst/>
                <a:latin typeface="Nunito" pitchFamily="2" charset="77"/>
              </a:rPr>
              <a:t>max_samples</a:t>
            </a:r>
            <a:r>
              <a:rPr kumimoji="0" lang="en-US" altLang="en-US" sz="1000" b="1" i="0" u="none" strike="noStrike" cap="none" normalizeH="0" baseline="0" dirty="0">
                <a:ln>
                  <a:noFill/>
                </a:ln>
                <a:solidFill>
                  <a:srgbClr val="000000"/>
                </a:solidFill>
                <a:effectLst/>
                <a:latin typeface="Nunito" pitchFamily="2" charset="77"/>
              </a:rPr>
              <a:t>:</a:t>
            </a:r>
            <a:r>
              <a:rPr kumimoji="0" lang="en-US" altLang="en-US" sz="1000" b="0" i="0" u="none" strike="noStrike" cap="none" normalizeH="0" baseline="0" dirty="0">
                <a:ln>
                  <a:noFill/>
                </a:ln>
                <a:solidFill>
                  <a:srgbClr val="000000"/>
                </a:solidFill>
                <a:effectLst/>
                <a:latin typeface="Nunito" pitchFamily="2" charset="77"/>
              </a:rPr>
              <a:t> [0.6, 0.7, 0.8, 0.9, None]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p:txBody>
      </p:sp>
      <p:sp>
        <p:nvSpPr>
          <p:cNvPr id="4" name="Rectangle 2">
            <a:extLst>
              <a:ext uri="{FF2B5EF4-FFF2-40B4-BE49-F238E27FC236}">
                <a16:creationId xmlns:a16="http://schemas.microsoft.com/office/drawing/2014/main" id="{29767143-FA53-7C79-FE7F-904EC0CFD657}"/>
              </a:ext>
            </a:extLst>
          </p:cNvPr>
          <p:cNvSpPr>
            <a:spLocks noChangeArrowheads="1"/>
          </p:cNvSpPr>
          <p:nvPr/>
        </p:nvSpPr>
        <p:spPr bwMode="auto">
          <a:xfrm>
            <a:off x="97530" y="1930602"/>
            <a:ext cx="2815194"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Nunito" pitchFamily="2" charset="77"/>
              </a:rPr>
              <a:t>Hyperparameters Tuned (Search Space)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a:ln>
                  <a:noFill/>
                </a:ln>
                <a:solidFill>
                  <a:srgbClr val="000000"/>
                </a:solidFill>
                <a:effectLst/>
                <a:latin typeface="Nunito" pitchFamily="2" charset="77"/>
              </a:rPr>
              <a:t>n_estimators:</a:t>
            </a:r>
            <a:r>
              <a:rPr kumimoji="0" lang="en-US" altLang="en-US" sz="1000" b="0" i="0" u="none" strike="noStrike" cap="none" normalizeH="0" baseline="0">
                <a:ln>
                  <a:noFill/>
                </a:ln>
                <a:solidFill>
                  <a:srgbClr val="000000"/>
                </a:solidFill>
                <a:effectLst/>
                <a:latin typeface="Nunito" pitchFamily="2" charset="77"/>
              </a:rPr>
              <a:t> [50, 75, 100, 125]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a:ln>
                  <a:noFill/>
                </a:ln>
                <a:solidFill>
                  <a:srgbClr val="000000"/>
                </a:solidFill>
                <a:effectLst/>
                <a:latin typeface="Nunito" pitchFamily="2" charset="77"/>
              </a:rPr>
              <a:t>min_samples_leaf:</a:t>
            </a:r>
            <a:r>
              <a:rPr kumimoji="0" lang="en-US" altLang="en-US" sz="1000" b="0" i="0" u="none" strike="noStrike" cap="none" normalizeH="0" baseline="0">
                <a:ln>
                  <a:noFill/>
                </a:ln>
                <a:solidFill>
                  <a:srgbClr val="000000"/>
                </a:solidFill>
                <a:effectLst/>
                <a:latin typeface="Nunito" pitchFamily="2" charset="77"/>
              </a:rPr>
              <a:t> [1, 2, 4, 5, 10]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a:ln>
                  <a:noFill/>
                </a:ln>
                <a:solidFill>
                  <a:srgbClr val="000000"/>
                </a:solidFill>
                <a:effectLst/>
                <a:latin typeface="Nunito" pitchFamily="2" charset="77"/>
              </a:rPr>
              <a:t>max_features:</a:t>
            </a:r>
            <a:r>
              <a:rPr kumimoji="0" lang="en-US" altLang="en-US" sz="1000" b="0" i="0" u="none" strike="noStrike" cap="none" normalizeH="0" baseline="0">
                <a:ln>
                  <a:noFill/>
                </a:ln>
                <a:solidFill>
                  <a:srgbClr val="000000"/>
                </a:solidFill>
                <a:effectLst/>
                <a:latin typeface="Nunito" pitchFamily="2" charset="77"/>
              </a:rPr>
              <a:t> ["sqrt", "log2", 0.3, 0.5, None]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a:ln>
                  <a:noFill/>
                </a:ln>
                <a:solidFill>
                  <a:srgbClr val="000000"/>
                </a:solidFill>
                <a:effectLst/>
                <a:latin typeface="Nunito" pitchFamily="2" charset="77"/>
              </a:rPr>
              <a:t>max_samples:</a:t>
            </a:r>
            <a:r>
              <a:rPr kumimoji="0" lang="en-US" altLang="en-US" sz="1000" b="0" i="0" u="none" strike="noStrike" cap="none" normalizeH="0" baseline="0">
                <a:ln>
                  <a:noFill/>
                </a:ln>
                <a:solidFill>
                  <a:srgbClr val="000000"/>
                </a:solidFill>
                <a:effectLst/>
                <a:latin typeface="Nunito" pitchFamily="2" charset="77"/>
              </a:rPr>
              <a:t> [0.6, 0.7, 0.8, 0.9, None]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a:ln>
                <a:noFill/>
              </a:ln>
              <a:solidFill>
                <a:schemeClr val="tx1"/>
              </a:solidFill>
              <a:effectLst/>
              <a:latin typeface="Nunito" pitchFamily="2" charset="77"/>
            </a:endParaRPr>
          </a:p>
        </p:txBody>
      </p:sp>
      <p:pic>
        <p:nvPicPr>
          <p:cNvPr id="12" name="Picture 11">
            <a:extLst>
              <a:ext uri="{FF2B5EF4-FFF2-40B4-BE49-F238E27FC236}">
                <a16:creationId xmlns:a16="http://schemas.microsoft.com/office/drawing/2014/main" id="{C025C842-9A76-686B-9F2B-FC69068EBB23}"/>
              </a:ext>
            </a:extLst>
          </p:cNvPr>
          <p:cNvPicPr>
            <a:picLocks noChangeAspect="1"/>
          </p:cNvPicPr>
          <p:nvPr/>
        </p:nvPicPr>
        <p:blipFill>
          <a:blip r:embed="rId3"/>
          <a:stretch>
            <a:fillRect/>
          </a:stretch>
        </p:blipFill>
        <p:spPr>
          <a:xfrm>
            <a:off x="4210262" y="926642"/>
            <a:ext cx="4580570" cy="1003960"/>
          </a:xfrm>
          <a:prstGeom prst="rect">
            <a:avLst/>
          </a:prstGeom>
        </p:spPr>
      </p:pic>
      <p:sp>
        <p:nvSpPr>
          <p:cNvPr id="14" name="Rectangle 3">
            <a:extLst>
              <a:ext uri="{FF2B5EF4-FFF2-40B4-BE49-F238E27FC236}">
                <a16:creationId xmlns:a16="http://schemas.microsoft.com/office/drawing/2014/main" id="{0C005128-849F-AE4A-74D0-4E2A6786E198}"/>
              </a:ext>
            </a:extLst>
          </p:cNvPr>
          <p:cNvSpPr>
            <a:spLocks noChangeArrowheads="1"/>
          </p:cNvSpPr>
          <p:nvPr/>
        </p:nvSpPr>
        <p:spPr bwMode="auto">
          <a:xfrm>
            <a:off x="4109776" y="2007546"/>
            <a:ext cx="3071675"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Nunito" pitchFamily="2" charset="77"/>
              </a:rPr>
              <a:t>Key 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rgbClr val="000000"/>
                </a:solidFill>
                <a:effectLst/>
                <a:latin typeface="Nunito" pitchFamily="2" charset="77"/>
              </a:rPr>
              <a:t>Balanced performance across all metrics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rgbClr val="000000"/>
                </a:solidFill>
                <a:effectLst/>
                <a:latin typeface="Nunito" pitchFamily="2" charset="77"/>
              </a:rPr>
              <a:t>Higher</a:t>
            </a:r>
            <a:r>
              <a:rPr kumimoji="0" lang="en-US" altLang="en-US" sz="1000" b="1" i="0" u="none" strike="noStrike" cap="none" normalizeH="0" baseline="0" dirty="0">
                <a:ln>
                  <a:noFill/>
                </a:ln>
                <a:solidFill>
                  <a:srgbClr val="000000"/>
                </a:solidFill>
                <a:effectLst/>
                <a:latin typeface="Nunito" pitchFamily="2" charset="77"/>
              </a:rPr>
              <a:t> </a:t>
            </a:r>
            <a:r>
              <a:rPr kumimoji="0" lang="en-US" altLang="en-US" sz="1000" i="0" u="none" strike="noStrike" cap="none" normalizeH="0" baseline="0" dirty="0">
                <a:ln>
                  <a:noFill/>
                </a:ln>
                <a:solidFill>
                  <a:srgbClr val="000000"/>
                </a:solidFill>
                <a:effectLst/>
                <a:latin typeface="Nunito" pitchFamily="2" charset="77"/>
              </a:rPr>
              <a:t>precision</a:t>
            </a:r>
            <a:r>
              <a:rPr kumimoji="0" lang="en-US" altLang="en-US" sz="1000" b="1" i="0" u="none" strike="noStrike" cap="none" normalizeH="0" baseline="0" dirty="0">
                <a:ln>
                  <a:noFill/>
                </a:ln>
                <a:solidFill>
                  <a:srgbClr val="000000"/>
                </a:solidFill>
                <a:effectLst/>
                <a:latin typeface="Nunito" pitchFamily="2" charset="77"/>
              </a:rPr>
              <a:t> </a:t>
            </a:r>
            <a:r>
              <a:rPr kumimoji="0" lang="en-US" altLang="en-US" sz="1000" b="0" i="0" u="none" strike="noStrike" cap="none" normalizeH="0" baseline="0" dirty="0">
                <a:ln>
                  <a:noFill/>
                </a:ln>
                <a:solidFill>
                  <a:srgbClr val="000000"/>
                </a:solidFill>
                <a:effectLst/>
                <a:latin typeface="Nunito" pitchFamily="2" charset="77"/>
              </a:rPr>
              <a:t>→ more accurate approvals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rgbClr val="000000"/>
                </a:solidFill>
                <a:effectLst/>
                <a:latin typeface="Nunito" pitchFamily="2" charset="77"/>
              </a:rPr>
              <a:t>Lower </a:t>
            </a:r>
            <a:r>
              <a:rPr kumimoji="0" lang="en-US" altLang="en-US" sz="1000" i="0" u="none" strike="noStrike" cap="none" normalizeH="0" baseline="0" dirty="0">
                <a:ln>
                  <a:noFill/>
                </a:ln>
                <a:solidFill>
                  <a:srgbClr val="000000"/>
                </a:solidFill>
                <a:effectLst/>
                <a:latin typeface="Nunito" pitchFamily="2" charset="77"/>
              </a:rPr>
              <a:t>recall </a:t>
            </a:r>
            <a:r>
              <a:rPr kumimoji="0" lang="en-US" altLang="en-US" sz="1000" b="0" i="0" u="none" strike="noStrike" cap="none" normalizeH="0" baseline="0" dirty="0">
                <a:ln>
                  <a:noFill/>
                </a:ln>
                <a:solidFill>
                  <a:srgbClr val="000000"/>
                </a:solidFill>
                <a:effectLst/>
                <a:latin typeface="Nunito" pitchFamily="2" charset="77"/>
              </a:rPr>
              <a:t>→ misses some qualified applicants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p:txBody>
      </p:sp>
      <p:sp>
        <p:nvSpPr>
          <p:cNvPr id="17" name="Rectangle 5">
            <a:extLst>
              <a:ext uri="{FF2B5EF4-FFF2-40B4-BE49-F238E27FC236}">
                <a16:creationId xmlns:a16="http://schemas.microsoft.com/office/drawing/2014/main" id="{497AF616-BB93-5303-CA8E-8EA56ADE2A01}"/>
              </a:ext>
            </a:extLst>
          </p:cNvPr>
          <p:cNvSpPr>
            <a:spLocks noChangeArrowheads="1"/>
          </p:cNvSpPr>
          <p:nvPr/>
        </p:nvSpPr>
        <p:spPr bwMode="auto">
          <a:xfrm>
            <a:off x="97530" y="3785971"/>
            <a:ext cx="7646796"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Nunito" pitchFamily="2" charset="77"/>
              </a:rPr>
              <a:t>Summary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rgbClr val="000000"/>
                </a:solidFill>
                <a:effectLst/>
                <a:latin typeface="Nunito" pitchFamily="2" charset="77"/>
              </a:rPr>
              <a:t>Well-tuned and stable model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rgbClr val="000000"/>
                </a:solidFill>
                <a:effectLst/>
                <a:latin typeface="Nunito" pitchFamily="2" charset="77"/>
              </a:rPr>
              <a:t>Strong precision but lower recall than AdaBoost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rgbClr val="000000"/>
                </a:solidFill>
                <a:effectLst/>
                <a:latin typeface="Nunito" pitchFamily="2" charset="77"/>
              </a:rPr>
              <a:t>Not the optimal model given business objective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i="0" u="none" strike="noStrike" cap="none" normalizeH="0" baseline="0" dirty="0">
              <a:ln>
                <a:noFill/>
              </a:ln>
              <a:solidFill>
                <a:schemeClr val="tx1"/>
              </a:solidFill>
              <a:effectLst/>
              <a:latin typeface="Nunito" pitchFamily="2" charset="77"/>
            </a:endParaRPr>
          </a:p>
        </p:txBody>
      </p:sp>
      <p:sp>
        <p:nvSpPr>
          <p:cNvPr id="18" name="Rectangle 6">
            <a:extLst>
              <a:ext uri="{FF2B5EF4-FFF2-40B4-BE49-F238E27FC236}">
                <a16:creationId xmlns:a16="http://schemas.microsoft.com/office/drawing/2014/main" id="{2DBCB304-A589-BF36-C87B-F46010A83148}"/>
              </a:ext>
            </a:extLst>
          </p:cNvPr>
          <p:cNvSpPr>
            <a:spLocks noChangeArrowheads="1"/>
          </p:cNvSpPr>
          <p:nvPr/>
        </p:nvSpPr>
        <p:spPr bwMode="auto">
          <a:xfrm>
            <a:off x="97530" y="3087556"/>
            <a:ext cx="365837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Nunito" pitchFamily="2" charset="77"/>
              </a:rPr>
              <a:t>Business Insight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rgbClr val="000000"/>
                </a:solidFill>
                <a:effectLst/>
                <a:latin typeface="Nunito" pitchFamily="2" charset="77"/>
              </a:rPr>
              <a:t>Useful when minimizing false approvals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rgbClr val="000000"/>
                </a:solidFill>
                <a:effectLst/>
                <a:latin typeface="Nunito" pitchFamily="2" charset="77"/>
              </a:rPr>
              <a:t>Less effective when goal is to capture all strong candidates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i="0" u="none" strike="noStrike" cap="none" normalizeH="0" baseline="0" dirty="0">
              <a:ln>
                <a:noFill/>
              </a:ln>
              <a:solidFill>
                <a:schemeClr val="tx1"/>
              </a:solidFill>
              <a:effectLst/>
              <a:latin typeface="Nunito" pitchFamily="2" charset="77"/>
            </a:endParaRPr>
          </a:p>
        </p:txBody>
      </p:sp>
    </p:spTree>
    <p:extLst>
      <p:ext uri="{BB962C8B-B14F-4D97-AF65-F5344CB8AC3E}">
        <p14:creationId xmlns:p14="http://schemas.microsoft.com/office/powerpoint/2010/main" val="27842619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23">
          <a:extLst>
            <a:ext uri="{FF2B5EF4-FFF2-40B4-BE49-F238E27FC236}">
              <a16:creationId xmlns:a16="http://schemas.microsoft.com/office/drawing/2014/main" id="{935EB393-4C0D-93CD-9B6D-C6837FA4BEEB}"/>
            </a:ext>
          </a:extLst>
        </p:cNvPr>
        <p:cNvGrpSpPr/>
        <p:nvPr/>
      </p:nvGrpSpPr>
      <p:grpSpPr>
        <a:xfrm>
          <a:off x="0" y="0"/>
          <a:ext cx="0" cy="0"/>
          <a:chOff x="0" y="0"/>
          <a:chExt cx="0" cy="0"/>
        </a:xfrm>
      </p:grpSpPr>
      <p:sp>
        <p:nvSpPr>
          <p:cNvPr id="224" name="Google Shape;224;p47">
            <a:extLst>
              <a:ext uri="{FF2B5EF4-FFF2-40B4-BE49-F238E27FC236}">
                <a16:creationId xmlns:a16="http://schemas.microsoft.com/office/drawing/2014/main" id="{B0D77E86-773B-2EF7-790C-D80A451E554F}"/>
              </a:ext>
            </a:extLst>
          </p:cNvPr>
          <p:cNvSpPr txBox="1">
            <a:spLocks noGrp="1"/>
          </p:cNvSpPr>
          <p:nvPr>
            <p:ph type="title"/>
          </p:nvPr>
        </p:nvSpPr>
        <p:spPr>
          <a:xfrm>
            <a:off x="177917" y="76976"/>
            <a:ext cx="8520600" cy="572700"/>
          </a:xfrm>
          <a:prstGeom prst="rect">
            <a:avLst/>
          </a:prstGeom>
          <a:noFill/>
          <a:ln>
            <a:noFill/>
          </a:ln>
        </p:spPr>
        <p:txBody>
          <a:bodyPr spcFirstLastPara="1" wrap="square" lIns="91425" tIns="91425" rIns="91425" bIns="91425" anchor="t" anchorCtr="0">
            <a:noAutofit/>
          </a:bodyPr>
          <a:lstStyle/>
          <a:p>
            <a:r>
              <a:rPr lang="en" sz="1400" dirty="0">
                <a:solidFill>
                  <a:srgbClr val="000000"/>
                </a:solidFill>
              </a:rPr>
              <a:t>Model Improvement - Hyperparameter Tuning (</a:t>
            </a:r>
            <a:r>
              <a:rPr lang="en-US" sz="1400" dirty="0"/>
              <a:t>Gradient boosting with Oversampled Data</a:t>
            </a:r>
            <a:br>
              <a:rPr lang="en-US" sz="1400" dirty="0"/>
            </a:br>
            <a:r>
              <a:rPr lang="en-US" sz="1400" dirty="0"/>
              <a:t>)</a:t>
            </a:r>
            <a:br>
              <a:rPr lang="en-US" sz="1400" dirty="0"/>
            </a:br>
            <a:br>
              <a:rPr lang="en-US" sz="1400" dirty="0"/>
            </a:br>
            <a:endParaRPr sz="1400" dirty="0">
              <a:solidFill>
                <a:srgbClr val="000000"/>
              </a:solidFill>
            </a:endParaRPr>
          </a:p>
        </p:txBody>
      </p:sp>
      <p:sp>
        <p:nvSpPr>
          <p:cNvPr id="2" name="Rectangle 1">
            <a:extLst>
              <a:ext uri="{FF2B5EF4-FFF2-40B4-BE49-F238E27FC236}">
                <a16:creationId xmlns:a16="http://schemas.microsoft.com/office/drawing/2014/main" id="{6832CBA7-1B40-1CFE-1445-236924EB0614}"/>
              </a:ext>
            </a:extLst>
          </p:cNvPr>
          <p:cNvSpPr>
            <a:spLocks noChangeArrowheads="1"/>
          </p:cNvSpPr>
          <p:nvPr/>
        </p:nvSpPr>
        <p:spPr bwMode="auto">
          <a:xfrm>
            <a:off x="177917" y="491974"/>
            <a:ext cx="7066984" cy="2668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I tuned the Gradient Boosting model using oversampled training data and selected the best model based on recall score.</a:t>
            </a:r>
            <a:endParaRPr kumimoji="0" lang="en-US" altLang="en-US" sz="10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Parameters Tuned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The following hyperparameters were tuned using </a:t>
            </a:r>
            <a:r>
              <a:rPr kumimoji="0" lang="en-US" altLang="en-US" sz="1000" b="0" i="0" u="none" strike="noStrike" cap="none" normalizeH="0" baseline="0" dirty="0" err="1">
                <a:ln>
                  <a:noFill/>
                </a:ln>
                <a:solidFill>
                  <a:schemeClr val="tx1"/>
                </a:solidFill>
                <a:effectLst/>
                <a:latin typeface="Nunito" pitchFamily="2" charset="77"/>
              </a:rPr>
              <a:t>RandomizedSearchCV</a:t>
            </a:r>
            <a:r>
              <a:rPr kumimoji="0" lang="en-US" altLang="en-US" sz="1000" b="0" i="0" u="none" strike="noStrike" cap="none" normalizeH="0" baseline="0" dirty="0">
                <a:ln>
                  <a:noFill/>
                </a:ln>
                <a:solidFill>
                  <a:schemeClr val="tx1"/>
                </a:solidFill>
                <a:effectLst/>
                <a:latin typeface="Nunito" pitchFamily="2" charset="77"/>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err="1">
                <a:ln>
                  <a:noFill/>
                </a:ln>
                <a:solidFill>
                  <a:schemeClr val="tx1"/>
                </a:solidFill>
                <a:effectLst/>
                <a:latin typeface="Nunito" pitchFamily="2" charset="77"/>
              </a:rPr>
              <a:t>n_estimators</a:t>
            </a:r>
            <a:r>
              <a:rPr kumimoji="0" lang="en-US" altLang="en-US" sz="1000" b="0" i="0" u="none" strike="noStrike" cap="none" normalizeH="0" baseline="0" dirty="0">
                <a:ln>
                  <a:noFill/>
                </a:ln>
                <a:solidFill>
                  <a:schemeClr val="tx1"/>
                </a:solidFill>
                <a:effectLst/>
                <a:latin typeface="Nunito" pitchFamily="2" charset="77"/>
              </a:rPr>
              <a:t>: [100, 125, 150, 175]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err="1">
                <a:ln>
                  <a:noFill/>
                </a:ln>
                <a:solidFill>
                  <a:schemeClr val="tx1"/>
                </a:solidFill>
                <a:effectLst/>
                <a:latin typeface="Nunito" pitchFamily="2" charset="77"/>
              </a:rPr>
              <a:t>learning_rate</a:t>
            </a:r>
            <a:r>
              <a:rPr kumimoji="0" lang="en-US" altLang="en-US" sz="1000" b="0" i="0" u="none" strike="noStrike" cap="none" normalizeH="0" baseline="0" dirty="0">
                <a:ln>
                  <a:noFill/>
                </a:ln>
                <a:solidFill>
                  <a:schemeClr val="tx1"/>
                </a:solidFill>
                <a:effectLst/>
                <a:latin typeface="Nunito" pitchFamily="2" charset="77"/>
              </a:rPr>
              <a:t>: [0.1, 0.05, 0.01, 0.005]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subsample: [0.7, 0.8, 0.9, 1.0]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err="1">
                <a:ln>
                  <a:noFill/>
                </a:ln>
                <a:solidFill>
                  <a:schemeClr val="tx1"/>
                </a:solidFill>
                <a:effectLst/>
                <a:latin typeface="Nunito" pitchFamily="2" charset="77"/>
              </a:rPr>
              <a:t>max_features</a:t>
            </a:r>
            <a:r>
              <a:rPr kumimoji="0" lang="en-US" altLang="en-US" sz="1000" b="0" i="0" u="none" strike="noStrike" cap="none" normalizeH="0" baseline="0" dirty="0">
                <a:ln>
                  <a:noFill/>
                </a:ln>
                <a:solidFill>
                  <a:schemeClr val="tx1"/>
                </a:solidFill>
                <a:effectLst/>
                <a:latin typeface="Nunito" pitchFamily="2" charset="77"/>
              </a:rPr>
              <a:t>: ["sqrt", "log2", 0.3, 0.5]</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Best Parameters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The optimal combination identified was: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err="1">
                <a:ln>
                  <a:noFill/>
                </a:ln>
                <a:solidFill>
                  <a:schemeClr val="tx1"/>
                </a:solidFill>
                <a:effectLst/>
                <a:latin typeface="Nunito" pitchFamily="2" charset="77"/>
              </a:rPr>
              <a:t>n_estimators</a:t>
            </a:r>
            <a:r>
              <a:rPr kumimoji="0" lang="en-US" altLang="en-US" sz="1000" i="0" u="none" strike="noStrike" cap="none" normalizeH="0" baseline="0" dirty="0">
                <a:ln>
                  <a:noFill/>
                </a:ln>
                <a:solidFill>
                  <a:schemeClr val="tx1"/>
                </a:solidFill>
                <a:effectLst/>
                <a:latin typeface="Nunito" pitchFamily="2" charset="77"/>
              </a:rPr>
              <a:t>: 125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err="1">
                <a:ln>
                  <a:noFill/>
                </a:ln>
                <a:solidFill>
                  <a:schemeClr val="tx1"/>
                </a:solidFill>
                <a:effectLst/>
                <a:latin typeface="Nunito" pitchFamily="2" charset="77"/>
              </a:rPr>
              <a:t>learning_rate</a:t>
            </a:r>
            <a:r>
              <a:rPr kumimoji="0" lang="en-US" altLang="en-US" sz="1000" i="0" u="none" strike="noStrike" cap="none" normalizeH="0" baseline="0" dirty="0">
                <a:ln>
                  <a:noFill/>
                </a:ln>
                <a:solidFill>
                  <a:schemeClr val="tx1"/>
                </a:solidFill>
                <a:effectLst/>
                <a:latin typeface="Nunito" pitchFamily="2" charset="77"/>
              </a:rPr>
              <a:t>: 0.01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subsample: 0.9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err="1">
                <a:ln>
                  <a:noFill/>
                </a:ln>
                <a:solidFill>
                  <a:schemeClr val="tx1"/>
                </a:solidFill>
                <a:effectLst/>
                <a:latin typeface="Nunito" pitchFamily="2" charset="77"/>
              </a:rPr>
              <a:t>max_features</a:t>
            </a:r>
            <a:r>
              <a:rPr kumimoji="0" lang="en-US" altLang="en-US" sz="1000" i="0" u="none" strike="noStrike" cap="none" normalizeH="0" baseline="0" dirty="0">
                <a:ln>
                  <a:noFill/>
                </a:ln>
                <a:solidFill>
                  <a:schemeClr val="tx1"/>
                </a:solidFill>
                <a:effectLst/>
                <a:latin typeface="Nunito" pitchFamily="2" charset="77"/>
              </a:rPr>
              <a:t>: 0.5</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p:txBody>
      </p:sp>
      <p:sp>
        <p:nvSpPr>
          <p:cNvPr id="5" name="Rectangle 2">
            <a:extLst>
              <a:ext uri="{FF2B5EF4-FFF2-40B4-BE49-F238E27FC236}">
                <a16:creationId xmlns:a16="http://schemas.microsoft.com/office/drawing/2014/main" id="{1A87608B-A69B-0F06-032D-5777E4A71641}"/>
              </a:ext>
            </a:extLst>
          </p:cNvPr>
          <p:cNvSpPr>
            <a:spLocks noChangeArrowheads="1"/>
          </p:cNvSpPr>
          <p:nvPr/>
        </p:nvSpPr>
        <p:spPr bwMode="auto">
          <a:xfrm>
            <a:off x="177917" y="3010728"/>
            <a:ext cx="1427620" cy="1129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7610" tIns="45720" rIns="9144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Training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Accuracy: 0.741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Recall: 0.891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Precision: 0.686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F1 Score: 0.775</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p:txBody>
      </p:sp>
      <p:pic>
        <p:nvPicPr>
          <p:cNvPr id="6" name="Picture 5">
            <a:extLst>
              <a:ext uri="{FF2B5EF4-FFF2-40B4-BE49-F238E27FC236}">
                <a16:creationId xmlns:a16="http://schemas.microsoft.com/office/drawing/2014/main" id="{6AA76315-8BC2-D26E-9341-2FC97EA9EB63}"/>
              </a:ext>
            </a:extLst>
          </p:cNvPr>
          <p:cNvPicPr>
            <a:picLocks noChangeAspect="1"/>
          </p:cNvPicPr>
          <p:nvPr/>
        </p:nvPicPr>
        <p:blipFill>
          <a:blip r:embed="rId3"/>
          <a:stretch>
            <a:fillRect/>
          </a:stretch>
        </p:blipFill>
        <p:spPr>
          <a:xfrm>
            <a:off x="4647804" y="982690"/>
            <a:ext cx="3886200" cy="843598"/>
          </a:xfrm>
          <a:prstGeom prst="rect">
            <a:avLst/>
          </a:prstGeom>
        </p:spPr>
      </p:pic>
      <p:sp>
        <p:nvSpPr>
          <p:cNvPr id="7" name="Rectangle 3">
            <a:extLst>
              <a:ext uri="{FF2B5EF4-FFF2-40B4-BE49-F238E27FC236}">
                <a16:creationId xmlns:a16="http://schemas.microsoft.com/office/drawing/2014/main" id="{DA9E4960-515C-52A1-6018-6FEB48968B43}"/>
              </a:ext>
            </a:extLst>
          </p:cNvPr>
          <p:cNvSpPr>
            <a:spLocks noChangeArrowheads="1"/>
          </p:cNvSpPr>
          <p:nvPr/>
        </p:nvSpPr>
        <p:spPr bwMode="auto">
          <a:xfrm>
            <a:off x="177917" y="3994566"/>
            <a:ext cx="1549448" cy="1129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7610" tIns="45720" rIns="9144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Validation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Accuracy: 0.720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Recall: 0.889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Precision: 0.743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F1 Score: 0.809</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p:txBody>
      </p:sp>
      <p:sp>
        <p:nvSpPr>
          <p:cNvPr id="8" name="Rectangle 4">
            <a:extLst>
              <a:ext uri="{FF2B5EF4-FFF2-40B4-BE49-F238E27FC236}">
                <a16:creationId xmlns:a16="http://schemas.microsoft.com/office/drawing/2014/main" id="{BD329338-CD2E-B902-1C69-8633C60E995E}"/>
              </a:ext>
            </a:extLst>
          </p:cNvPr>
          <p:cNvSpPr>
            <a:spLocks noChangeArrowheads="1"/>
          </p:cNvSpPr>
          <p:nvPr/>
        </p:nvSpPr>
        <p:spPr bwMode="auto">
          <a:xfrm>
            <a:off x="3004457" y="1703069"/>
            <a:ext cx="6273125" cy="1283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Interpretation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The tuned Gradient Boosting model achieves strong recall on both training and validation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Validation recall is approximately </a:t>
            </a:r>
            <a:r>
              <a:rPr kumimoji="0" lang="en-US" altLang="en-US" sz="1000" b="1" i="0" u="none" strike="noStrike" cap="none" normalizeH="0" baseline="0" dirty="0">
                <a:ln>
                  <a:noFill/>
                </a:ln>
                <a:solidFill>
                  <a:schemeClr val="tx1"/>
                </a:solidFill>
                <a:effectLst/>
                <a:latin typeface="Nunito" pitchFamily="2" charset="77"/>
              </a:rPr>
              <a:t>0.889</a:t>
            </a:r>
            <a:r>
              <a:rPr kumimoji="0" lang="en-US" altLang="en-US" sz="1000" b="0" i="0" u="none" strike="noStrike" cap="none" normalizeH="0" baseline="0" dirty="0">
                <a:ln>
                  <a:noFill/>
                </a:ln>
                <a:solidFill>
                  <a:schemeClr val="tx1"/>
                </a:solidFill>
                <a:effectLst/>
                <a:latin typeface="Nunito" pitchFamily="2" charset="77"/>
              </a:rPr>
              <a:t>, meaning the model correctly identifies most Certified visa applications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Precision improves on validation data, indicating better control over false positives compared to training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The model generalizes well because training and validation recall are very close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p:txBody>
      </p:sp>
      <p:sp>
        <p:nvSpPr>
          <p:cNvPr id="9" name="Rectangle 5">
            <a:extLst>
              <a:ext uri="{FF2B5EF4-FFF2-40B4-BE49-F238E27FC236}">
                <a16:creationId xmlns:a16="http://schemas.microsoft.com/office/drawing/2014/main" id="{7EE02748-8AC8-76AF-1970-DB00DF146E8C}"/>
              </a:ext>
            </a:extLst>
          </p:cNvPr>
          <p:cNvSpPr>
            <a:spLocks noChangeArrowheads="1"/>
          </p:cNvSpPr>
          <p:nvPr/>
        </p:nvSpPr>
        <p:spPr bwMode="auto">
          <a:xfrm>
            <a:off x="1664190" y="2633272"/>
            <a:ext cx="6869814" cy="975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7610" tIns="45720" rIns="9144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Why This is Important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Recall is the primary metric for this project because the goal is to identify as many Certified applications as possible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The model performs well without showing major overfitting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Gradient Boosting is effective because it builds learners sequentially and improves prediction errors over 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p:txBody>
      </p:sp>
      <p:sp>
        <p:nvSpPr>
          <p:cNvPr id="10" name="Rectangle 6">
            <a:extLst>
              <a:ext uri="{FF2B5EF4-FFF2-40B4-BE49-F238E27FC236}">
                <a16:creationId xmlns:a16="http://schemas.microsoft.com/office/drawing/2014/main" id="{5DADF4C2-AE36-D081-7F3B-A4CFDC77CE97}"/>
              </a:ext>
            </a:extLst>
          </p:cNvPr>
          <p:cNvSpPr>
            <a:spLocks noChangeArrowheads="1"/>
          </p:cNvSpPr>
          <p:nvPr/>
        </p:nvSpPr>
        <p:spPr bwMode="auto">
          <a:xfrm>
            <a:off x="1735851" y="3352033"/>
            <a:ext cx="6510144" cy="1129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Business Insight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This model is useful for shortlisting applicants with high approval potential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It helps reduce the chance of overlooking qualified candidates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However, the tuned AdaBoost model still has higher validation recall, so Gradient Boosting may be a strong backup rather than the final model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p:txBody>
      </p:sp>
      <p:sp>
        <p:nvSpPr>
          <p:cNvPr id="11" name="Rectangle 7">
            <a:extLst>
              <a:ext uri="{FF2B5EF4-FFF2-40B4-BE49-F238E27FC236}">
                <a16:creationId xmlns:a16="http://schemas.microsoft.com/office/drawing/2014/main" id="{0A8821E1-BAF3-153A-BA0D-32F3D92210D2}"/>
              </a:ext>
            </a:extLst>
          </p:cNvPr>
          <p:cNvSpPr>
            <a:spLocks noChangeArrowheads="1"/>
          </p:cNvSpPr>
          <p:nvPr/>
        </p:nvSpPr>
        <p:spPr bwMode="auto">
          <a:xfrm>
            <a:off x="1745231" y="4205496"/>
            <a:ext cx="695328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Summary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The tuned Gradient Boosting model performs strongly, with high validation recall and balanced overall metrics. However, compared with the tuned AdaBoost model, it has slightly lower recall, so AdaBoost remains the stronger final model candidate.</a:t>
            </a:r>
          </a:p>
        </p:txBody>
      </p:sp>
    </p:spTree>
    <p:extLst>
      <p:ext uri="{BB962C8B-B14F-4D97-AF65-F5344CB8AC3E}">
        <p14:creationId xmlns:p14="http://schemas.microsoft.com/office/powerpoint/2010/main" val="5259948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6A7FF4E8-C0F9-52D6-31F6-E39A6EFF9FF1}"/>
            </a:ext>
          </a:extLst>
        </p:cNvPr>
        <p:cNvGrpSpPr/>
        <p:nvPr/>
      </p:nvGrpSpPr>
      <p:grpSpPr>
        <a:xfrm>
          <a:off x="0" y="0"/>
          <a:ext cx="0" cy="0"/>
          <a:chOff x="0" y="0"/>
          <a:chExt cx="0" cy="0"/>
        </a:xfrm>
      </p:grpSpPr>
      <p:sp>
        <p:nvSpPr>
          <p:cNvPr id="188" name="Google Shape;188;p41">
            <a:extLst>
              <a:ext uri="{FF2B5EF4-FFF2-40B4-BE49-F238E27FC236}">
                <a16:creationId xmlns:a16="http://schemas.microsoft.com/office/drawing/2014/main" id="{8B87272C-64AB-D399-F7AD-8BFE501DA83E}"/>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Performance Summary and Final Model Selection</a:t>
            </a:r>
            <a:endParaRPr>
              <a:solidFill>
                <a:srgbClr val="000000"/>
              </a:solidFill>
            </a:endParaRPr>
          </a:p>
        </p:txBody>
      </p:sp>
      <p:sp>
        <p:nvSpPr>
          <p:cNvPr id="190" name="Google Shape;190;p41">
            <a:extLst>
              <a:ext uri="{FF2B5EF4-FFF2-40B4-BE49-F238E27FC236}">
                <a16:creationId xmlns:a16="http://schemas.microsoft.com/office/drawing/2014/main" id="{5B532BC1-90F2-BDB9-456F-B124DE84B104}"/>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sp>
        <p:nvSpPr>
          <p:cNvPr id="4" name="Rectangle 1">
            <a:extLst>
              <a:ext uri="{FF2B5EF4-FFF2-40B4-BE49-F238E27FC236}">
                <a16:creationId xmlns:a16="http://schemas.microsoft.com/office/drawing/2014/main" id="{7FDC4FD3-0832-E0FB-35CF-3C3DA36FB14E}"/>
              </a:ext>
            </a:extLst>
          </p:cNvPr>
          <p:cNvSpPr>
            <a:spLocks noChangeArrowheads="1"/>
          </p:cNvSpPr>
          <p:nvPr/>
        </p:nvSpPr>
        <p:spPr bwMode="auto">
          <a:xfrm>
            <a:off x="202550" y="789967"/>
            <a:ext cx="8667130" cy="1437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Compare the Performance of Tuned Models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i="0" u="none" strike="noStrike" cap="none" normalizeH="0" baseline="0" dirty="0">
                <a:ln>
                  <a:noFill/>
                </a:ln>
                <a:solidFill>
                  <a:schemeClr val="tx1"/>
                </a:solidFill>
                <a:effectLst/>
                <a:latin typeface="Nunito" pitchFamily="2" charset="77"/>
              </a:rPr>
              <a:t>Multiple models were trained and tuned, including AdaBoost, Gradient Boosting, Random Forest, and others using original, oversampled, and </a:t>
            </a:r>
            <a:r>
              <a:rPr kumimoji="0" lang="en-US" altLang="en-US" sz="1000" i="0" u="none" strike="noStrike" cap="none" normalizeH="0" baseline="0" dirty="0" err="1">
                <a:ln>
                  <a:noFill/>
                </a:ln>
                <a:solidFill>
                  <a:schemeClr val="tx1"/>
                </a:solidFill>
                <a:effectLst/>
                <a:latin typeface="Nunito" pitchFamily="2" charset="77"/>
              </a:rPr>
              <a:t>undersampled</a:t>
            </a:r>
            <a:r>
              <a:rPr kumimoji="0" lang="en-US" altLang="en-US" sz="1000" i="0" u="none" strike="noStrike" cap="none" normalizeH="0" baseline="0" dirty="0">
                <a:ln>
                  <a:noFill/>
                </a:ln>
                <a:solidFill>
                  <a:schemeClr val="tx1"/>
                </a:solidFill>
                <a:effectLst/>
                <a:latin typeface="Nunito" pitchFamily="2" charset="77"/>
              </a:rPr>
              <a:t>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AdaBoost (Tuned) achieved the highest recall (~0.93) on validation and test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Gradient Boosting (Tuned) performed strongly with recall (~0.89) but slightly lower than AdaBoost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Random Forest (Tuned) showed balanced performance but lower recall (~0.74) </a:t>
            </a:r>
          </a:p>
          <a:p>
            <a:pPr lvl="0">
              <a:buClrTx/>
              <a:buFontTx/>
              <a:buChar char="•"/>
            </a:pPr>
            <a:r>
              <a:rPr kumimoji="0" lang="en-US" altLang="en-US" sz="1000" i="0" u="none" strike="noStrike" cap="none" normalizeH="0" baseline="0" dirty="0">
                <a:ln>
                  <a:noFill/>
                </a:ln>
                <a:solidFill>
                  <a:schemeClr val="tx1"/>
                </a:solidFill>
                <a:effectLst/>
                <a:latin typeface="Nunito" pitchFamily="2" charset="77"/>
              </a:rPr>
              <a:t>Models </a:t>
            </a:r>
            <a:r>
              <a:rPr kumimoji="0" lang="en-US" altLang="en-US" sz="1000" i="0" u="none" strike="noStrike" cap="none" normalizeH="0" baseline="0" dirty="0" err="1">
                <a:ln>
                  <a:noFill/>
                </a:ln>
                <a:solidFill>
                  <a:schemeClr val="tx1"/>
                </a:solidFill>
                <a:effectLst/>
                <a:latin typeface="Nunito" pitchFamily="2" charset="77"/>
              </a:rPr>
              <a:t>trai</a:t>
            </a:r>
            <a:r>
              <a:rPr lang="en-US" altLang="en-US" sz="1000" dirty="0" err="1">
                <a:latin typeface="Nunito" pitchFamily="2" charset="77"/>
              </a:rPr>
              <a:t>original</a:t>
            </a:r>
            <a:r>
              <a:rPr lang="en-US" altLang="en-US" sz="1000" dirty="0">
                <a:latin typeface="Nunito" pitchFamily="2" charset="77"/>
              </a:rPr>
              <a:t> data outperformed oversampled and </a:t>
            </a:r>
            <a:r>
              <a:rPr lang="en-US" altLang="en-US" sz="1000" dirty="0" err="1">
                <a:latin typeface="Nunito" pitchFamily="2" charset="77"/>
              </a:rPr>
              <a:t>undersampled</a:t>
            </a:r>
            <a:r>
              <a:rPr lang="en-US" altLang="en-US" sz="1000" dirty="0">
                <a:latin typeface="Nunito" pitchFamily="2" charset="77"/>
              </a:rPr>
              <a:t> versions overall</a:t>
            </a:r>
          </a:p>
          <a:p>
            <a:pPr lvl="0">
              <a:buClrTx/>
            </a:pPr>
            <a:r>
              <a:rPr lang="en-US" altLang="en-US" sz="1000" dirty="0">
                <a:latin typeface="Nunito" pitchFamily="2" charset="77"/>
              </a:rPr>
              <a:t>Based on the business objective </a:t>
            </a:r>
            <a:r>
              <a:rPr kumimoji="0" lang="en-US" altLang="en-US" sz="1000" i="0" u="none" strike="noStrike" cap="none" normalizeH="0" baseline="0" dirty="0" err="1">
                <a:ln>
                  <a:noFill/>
                </a:ln>
                <a:solidFill>
                  <a:schemeClr val="tx1"/>
                </a:solidFill>
                <a:effectLst/>
                <a:latin typeface="Nunito" pitchFamily="2" charset="77"/>
              </a:rPr>
              <a:t>ned</a:t>
            </a:r>
            <a:r>
              <a:rPr kumimoji="0" lang="en-US" altLang="en-US" sz="1000" i="0" u="none" strike="noStrike" cap="none" normalizeH="0" baseline="0" dirty="0">
                <a:ln>
                  <a:noFill/>
                </a:ln>
                <a:solidFill>
                  <a:schemeClr val="tx1"/>
                </a:solidFill>
                <a:effectLst/>
                <a:latin typeface="Nunito" pitchFamily="2" charset="77"/>
              </a:rPr>
              <a:t> on  (maximize recall), AdaBoost was selected as the final model</a:t>
            </a:r>
          </a:p>
        </p:txBody>
      </p:sp>
      <p:sp>
        <p:nvSpPr>
          <p:cNvPr id="5" name="Rectangle 2">
            <a:extLst>
              <a:ext uri="{FF2B5EF4-FFF2-40B4-BE49-F238E27FC236}">
                <a16:creationId xmlns:a16="http://schemas.microsoft.com/office/drawing/2014/main" id="{2421A895-CFA2-C9BB-4F8E-A507F488C692}"/>
              </a:ext>
            </a:extLst>
          </p:cNvPr>
          <p:cNvSpPr>
            <a:spLocks noChangeArrowheads="1"/>
          </p:cNvSpPr>
          <p:nvPr/>
        </p:nvSpPr>
        <p:spPr bwMode="auto">
          <a:xfrm>
            <a:off x="202550" y="2150546"/>
            <a:ext cx="6685930" cy="2053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Overview of Final ML Model and its Parameters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The final selected model is </a:t>
            </a:r>
            <a:r>
              <a:rPr kumimoji="0" lang="en-US" altLang="en-US" sz="1000" i="0" u="none" strike="noStrike" cap="none" normalizeH="0" baseline="0" dirty="0">
                <a:ln>
                  <a:noFill/>
                </a:ln>
                <a:solidFill>
                  <a:schemeClr val="tx1"/>
                </a:solidFill>
                <a:effectLst/>
                <a:latin typeface="Nunito" pitchFamily="2" charset="77"/>
              </a:rPr>
              <a:t>Tuned AdaBoost Classifier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Key Characteristics:</a:t>
            </a:r>
            <a:endParaRPr kumimoji="0" lang="en-US" altLang="en-US" sz="10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Ensemble model combining weak learners (decision trees)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Focuses on correcting previous errors iteratively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Optimized for recall using </a:t>
            </a:r>
            <a:r>
              <a:rPr kumimoji="0" lang="en-US" altLang="en-US" sz="1000" b="0" i="0" u="none" strike="noStrike" cap="none" normalizeH="0" baseline="0" dirty="0" err="1">
                <a:ln>
                  <a:noFill/>
                </a:ln>
                <a:solidFill>
                  <a:schemeClr val="tx1"/>
                </a:solidFill>
                <a:effectLst/>
                <a:latin typeface="Nunito" pitchFamily="2" charset="77"/>
              </a:rPr>
              <a:t>RandomizedSearchCV</a:t>
            </a:r>
            <a:endParaRPr kumimoji="0" lang="en-US" altLang="en-US" sz="10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Tuned Parameters (search space):</a:t>
            </a:r>
            <a:endParaRPr kumimoji="0" lang="en-US" altLang="en-US" sz="10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err="1">
                <a:ln>
                  <a:noFill/>
                </a:ln>
                <a:solidFill>
                  <a:schemeClr val="tx1"/>
                </a:solidFill>
                <a:effectLst/>
                <a:latin typeface="Nunito" pitchFamily="2" charset="77"/>
              </a:rPr>
              <a:t>n_estimators</a:t>
            </a:r>
            <a:r>
              <a:rPr kumimoji="0" lang="en-US" altLang="en-US" sz="1000" b="0" i="0" u="none" strike="noStrike" cap="none" normalizeH="0" baseline="0" dirty="0">
                <a:ln>
                  <a:noFill/>
                </a:ln>
                <a:solidFill>
                  <a:schemeClr val="tx1"/>
                </a:solidFill>
                <a:effectLst/>
                <a:latin typeface="Nunito" pitchFamily="2" charset="77"/>
              </a:rPr>
              <a:t>: [50, 75, 100, 125]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err="1">
                <a:ln>
                  <a:noFill/>
                </a:ln>
                <a:solidFill>
                  <a:schemeClr val="tx1"/>
                </a:solidFill>
                <a:effectLst/>
                <a:latin typeface="Nunito" pitchFamily="2" charset="77"/>
              </a:rPr>
              <a:t>learning_rate</a:t>
            </a:r>
            <a:r>
              <a:rPr kumimoji="0" lang="en-US" altLang="en-US" sz="1000" b="0" i="0" u="none" strike="noStrike" cap="none" normalizeH="0" baseline="0" dirty="0">
                <a:ln>
                  <a:noFill/>
                </a:ln>
                <a:solidFill>
                  <a:schemeClr val="tx1"/>
                </a:solidFill>
                <a:effectLst/>
                <a:latin typeface="Nunito" pitchFamily="2" charset="77"/>
              </a:rPr>
              <a:t>: [1.0, 0.5, 0.1, 0.01]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Nunito" pitchFamily="2" charset="77"/>
              </a:rPr>
              <a:t>base estimator depth: 1–3</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The final model uses the </a:t>
            </a:r>
            <a:r>
              <a:rPr kumimoji="0" lang="en-US" altLang="en-US" sz="1000" i="0" u="none" strike="noStrike" cap="none" normalizeH="0" baseline="0" dirty="0">
                <a:ln>
                  <a:noFill/>
                </a:ln>
                <a:solidFill>
                  <a:schemeClr val="tx1"/>
                </a:solidFill>
                <a:effectLst/>
                <a:latin typeface="Nunito" pitchFamily="2" charset="77"/>
              </a:rPr>
              <a:t>best parameter combination identified during tuning</a:t>
            </a:r>
          </a:p>
        </p:txBody>
      </p:sp>
      <p:sp>
        <p:nvSpPr>
          <p:cNvPr id="6" name="Rectangle 3">
            <a:extLst>
              <a:ext uri="{FF2B5EF4-FFF2-40B4-BE49-F238E27FC236}">
                <a16:creationId xmlns:a16="http://schemas.microsoft.com/office/drawing/2014/main" id="{9D97D63F-3BCA-F64B-00E3-BBEA8F4763E6}"/>
              </a:ext>
            </a:extLst>
          </p:cNvPr>
          <p:cNvSpPr>
            <a:spLocks noChangeArrowheads="1"/>
          </p:cNvSpPr>
          <p:nvPr/>
        </p:nvSpPr>
        <p:spPr bwMode="auto">
          <a:xfrm>
            <a:off x="202550" y="4093802"/>
            <a:ext cx="2503234" cy="1129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7610" tIns="45720" rIns="9144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Performance of Final Model (Test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Accuracy: 0.712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Recall: 0.931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Precision: 0.720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F1 Score: 0.812</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i="0" u="none" strike="noStrike" cap="none" normalizeH="0" baseline="0" dirty="0">
              <a:ln>
                <a:noFill/>
              </a:ln>
              <a:solidFill>
                <a:schemeClr val="tx1"/>
              </a:solidFill>
              <a:effectLst/>
              <a:latin typeface="Nunito" pitchFamily="2" charset="77"/>
            </a:endParaRPr>
          </a:p>
        </p:txBody>
      </p:sp>
    </p:spTree>
    <p:extLst>
      <p:ext uri="{BB962C8B-B14F-4D97-AF65-F5344CB8AC3E}">
        <p14:creationId xmlns:p14="http://schemas.microsoft.com/office/powerpoint/2010/main" val="18252902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41"/>
          <p:cNvSpPr txBox="1">
            <a:spLocks noGrp="1"/>
          </p:cNvSpPr>
          <p:nvPr>
            <p:ph type="title"/>
          </p:nvPr>
        </p:nvSpPr>
        <p:spPr>
          <a:xfrm>
            <a:off x="202550" y="0"/>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000000"/>
                </a:solidFill>
              </a:rPr>
              <a:t>Model Performance Summary and Final Model Selection</a:t>
            </a:r>
            <a:endParaRPr dirty="0">
              <a:solidFill>
                <a:srgbClr val="000000"/>
              </a:solidFill>
            </a:endParaRPr>
          </a:p>
        </p:txBody>
      </p:sp>
      <p:sp>
        <p:nvSpPr>
          <p:cNvPr id="190" name="Google Shape;190;p41"/>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pic>
        <p:nvPicPr>
          <p:cNvPr id="4" name="Picture 3">
            <a:extLst>
              <a:ext uri="{FF2B5EF4-FFF2-40B4-BE49-F238E27FC236}">
                <a16:creationId xmlns:a16="http://schemas.microsoft.com/office/drawing/2014/main" id="{71AF5178-DD17-D7BA-26C9-B043ADBB00F1}"/>
              </a:ext>
            </a:extLst>
          </p:cNvPr>
          <p:cNvPicPr>
            <a:picLocks noChangeAspect="1"/>
          </p:cNvPicPr>
          <p:nvPr/>
        </p:nvPicPr>
        <p:blipFill>
          <a:blip r:embed="rId3"/>
          <a:stretch>
            <a:fillRect/>
          </a:stretch>
        </p:blipFill>
        <p:spPr>
          <a:xfrm>
            <a:off x="202550" y="468586"/>
            <a:ext cx="7772400" cy="1373645"/>
          </a:xfrm>
          <a:prstGeom prst="rect">
            <a:avLst/>
          </a:prstGeom>
        </p:spPr>
      </p:pic>
      <p:pic>
        <p:nvPicPr>
          <p:cNvPr id="6" name="Picture 5">
            <a:extLst>
              <a:ext uri="{FF2B5EF4-FFF2-40B4-BE49-F238E27FC236}">
                <a16:creationId xmlns:a16="http://schemas.microsoft.com/office/drawing/2014/main" id="{D1868873-554D-6AB2-447C-5E7822DB33D7}"/>
              </a:ext>
            </a:extLst>
          </p:cNvPr>
          <p:cNvPicPr>
            <a:picLocks noChangeAspect="1"/>
          </p:cNvPicPr>
          <p:nvPr/>
        </p:nvPicPr>
        <p:blipFill>
          <a:blip r:embed="rId4"/>
          <a:stretch>
            <a:fillRect/>
          </a:stretch>
        </p:blipFill>
        <p:spPr>
          <a:xfrm>
            <a:off x="191150" y="1749816"/>
            <a:ext cx="7772400" cy="1390396"/>
          </a:xfrm>
          <a:prstGeom prst="rect">
            <a:avLst/>
          </a:prstGeom>
        </p:spPr>
      </p:pic>
      <p:pic>
        <p:nvPicPr>
          <p:cNvPr id="7" name="Picture 6">
            <a:extLst>
              <a:ext uri="{FF2B5EF4-FFF2-40B4-BE49-F238E27FC236}">
                <a16:creationId xmlns:a16="http://schemas.microsoft.com/office/drawing/2014/main" id="{743366AF-36C2-640B-8A57-2D7332F8B638}"/>
              </a:ext>
            </a:extLst>
          </p:cNvPr>
          <p:cNvPicPr>
            <a:picLocks noChangeAspect="1"/>
          </p:cNvPicPr>
          <p:nvPr/>
        </p:nvPicPr>
        <p:blipFill>
          <a:blip r:embed="rId5"/>
          <a:stretch>
            <a:fillRect/>
          </a:stretch>
        </p:blipFill>
        <p:spPr>
          <a:xfrm>
            <a:off x="109390" y="3205712"/>
            <a:ext cx="3578860" cy="783843"/>
          </a:xfrm>
          <a:prstGeom prst="rect">
            <a:avLst/>
          </a:prstGeom>
        </p:spPr>
      </p:pic>
      <p:sp>
        <p:nvSpPr>
          <p:cNvPr id="8" name="Rectangle 7">
            <a:extLst>
              <a:ext uri="{FF2B5EF4-FFF2-40B4-BE49-F238E27FC236}">
                <a16:creationId xmlns:a16="http://schemas.microsoft.com/office/drawing/2014/main" id="{54B18C13-FE64-A4EF-52B3-53EB7D59CF2D}"/>
              </a:ext>
            </a:extLst>
          </p:cNvPr>
          <p:cNvSpPr>
            <a:spLocks noChangeArrowheads="1"/>
          </p:cNvSpPr>
          <p:nvPr/>
        </p:nvSpPr>
        <p:spPr bwMode="auto">
          <a:xfrm>
            <a:off x="3688250" y="3270794"/>
            <a:ext cx="5208550" cy="1437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Comment on Final Model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 model achieves very high recall (~93%), meaning it successfully identifies most Certified visa applications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Precision is moderate, indicating some false positives, but still acceptable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 model generalizes well from training → validation → test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No signs of overfitting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i="0" u="none" strike="noStrike" cap="none" normalizeH="0" baseline="0" dirty="0">
                <a:ln>
                  <a:noFill/>
                </a:ln>
                <a:solidFill>
                  <a:schemeClr val="tx1"/>
                </a:solidFill>
                <a:effectLst/>
                <a:latin typeface="Nunito" pitchFamily="2" charset="77"/>
              </a:rPr>
              <a:t>This is ideal because missing qualified candidates is more costly than reviewing extra applications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C8CF94DD-7A9B-9C4D-9828-111C949FBE7E}"/>
            </a:ext>
          </a:extLst>
        </p:cNvPr>
        <p:cNvGrpSpPr/>
        <p:nvPr/>
      </p:nvGrpSpPr>
      <p:grpSpPr>
        <a:xfrm>
          <a:off x="0" y="0"/>
          <a:ext cx="0" cy="0"/>
          <a:chOff x="0" y="0"/>
          <a:chExt cx="0" cy="0"/>
        </a:xfrm>
      </p:grpSpPr>
      <p:sp>
        <p:nvSpPr>
          <p:cNvPr id="188" name="Google Shape;188;p41">
            <a:extLst>
              <a:ext uri="{FF2B5EF4-FFF2-40B4-BE49-F238E27FC236}">
                <a16:creationId xmlns:a16="http://schemas.microsoft.com/office/drawing/2014/main" id="{0EC1D817-E022-6356-24AD-08F771065437}"/>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Performance Summary and Final Model Selection</a:t>
            </a:r>
            <a:endParaRPr>
              <a:solidFill>
                <a:srgbClr val="000000"/>
              </a:solidFill>
            </a:endParaRPr>
          </a:p>
        </p:txBody>
      </p:sp>
      <p:sp>
        <p:nvSpPr>
          <p:cNvPr id="190" name="Google Shape;190;p41">
            <a:extLst>
              <a:ext uri="{FF2B5EF4-FFF2-40B4-BE49-F238E27FC236}">
                <a16:creationId xmlns:a16="http://schemas.microsoft.com/office/drawing/2014/main" id="{C1134CF7-0ED8-CC09-E555-8AC282045427}"/>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sp>
        <p:nvSpPr>
          <p:cNvPr id="3" name="Rectangle 2">
            <a:extLst>
              <a:ext uri="{FF2B5EF4-FFF2-40B4-BE49-F238E27FC236}">
                <a16:creationId xmlns:a16="http://schemas.microsoft.com/office/drawing/2014/main" id="{F79FD3B8-41D8-DF69-7072-4361CFD8FAF6}"/>
              </a:ext>
            </a:extLst>
          </p:cNvPr>
          <p:cNvSpPr>
            <a:spLocks noChangeArrowheads="1"/>
          </p:cNvSpPr>
          <p:nvPr/>
        </p:nvSpPr>
        <p:spPr bwMode="auto">
          <a:xfrm>
            <a:off x="76480" y="776923"/>
            <a:ext cx="3712550" cy="140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Summary of Most Important Factors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i="0" u="none" strike="noStrike" cap="none" normalizeH="0" baseline="0" dirty="0">
                <a:ln>
                  <a:noFill/>
                </a:ln>
                <a:solidFill>
                  <a:schemeClr val="tx1"/>
                </a:solidFill>
                <a:effectLst/>
                <a:latin typeface="Nunito" pitchFamily="2" charset="77"/>
              </a:rPr>
              <a:t>From feature importance analysis, the key drivers of visa certification are:</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000" i="0" u="none" strike="noStrike" cap="none" normalizeH="0" baseline="0" dirty="0" err="1">
                <a:ln>
                  <a:noFill/>
                </a:ln>
                <a:solidFill>
                  <a:schemeClr val="tx1"/>
                </a:solidFill>
                <a:effectLst/>
                <a:latin typeface="Nunito" pitchFamily="2" charset="77"/>
              </a:rPr>
              <a:t>education_of_employee_High</a:t>
            </a:r>
            <a:r>
              <a:rPr kumimoji="0" lang="en-US" altLang="en-US" sz="1000" i="0" u="none" strike="noStrike" cap="none" normalizeH="0" baseline="0" dirty="0">
                <a:ln>
                  <a:noFill/>
                </a:ln>
                <a:solidFill>
                  <a:schemeClr val="tx1"/>
                </a:solidFill>
                <a:effectLst/>
                <a:latin typeface="Nunito" pitchFamily="2" charset="77"/>
              </a:rPr>
              <a:t> School</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000" i="0" u="none" strike="noStrike" cap="none" normalizeH="0" baseline="0" dirty="0" err="1">
                <a:ln>
                  <a:noFill/>
                </a:ln>
                <a:solidFill>
                  <a:schemeClr val="tx1"/>
                </a:solidFill>
                <a:effectLst/>
                <a:latin typeface="Nunito" pitchFamily="2" charset="77"/>
              </a:rPr>
              <a:t>prevailing_wage</a:t>
            </a:r>
            <a:endParaRPr kumimoji="0" lang="en-US" altLang="en-US" sz="100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000" i="0" u="none" strike="noStrike" cap="none" normalizeH="0" baseline="0" dirty="0" err="1">
                <a:ln>
                  <a:noFill/>
                </a:ln>
                <a:solidFill>
                  <a:schemeClr val="tx1"/>
                </a:solidFill>
                <a:effectLst/>
                <a:latin typeface="Nunito" pitchFamily="2" charset="77"/>
              </a:rPr>
              <a:t>region_of_employment</a:t>
            </a:r>
            <a:r>
              <a:rPr kumimoji="0" lang="en-US" altLang="en-US" sz="1000" i="0" u="none" strike="noStrike" cap="none" normalizeH="0" baseline="0" dirty="0">
                <a:ln>
                  <a:noFill/>
                </a:ln>
                <a:solidFill>
                  <a:schemeClr val="tx1"/>
                </a:solidFill>
                <a:effectLst/>
                <a:latin typeface="Nunito" pitchFamily="2" charset="77"/>
              </a:rPr>
              <a:t> (Northeast, West)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24E00EA9-FA7D-289B-9584-5FDA4B6DCC9F}"/>
              </a:ext>
            </a:extLst>
          </p:cNvPr>
          <p:cNvPicPr>
            <a:picLocks noChangeAspect="1"/>
          </p:cNvPicPr>
          <p:nvPr/>
        </p:nvPicPr>
        <p:blipFill>
          <a:blip r:embed="rId3"/>
          <a:stretch>
            <a:fillRect/>
          </a:stretch>
        </p:blipFill>
        <p:spPr>
          <a:xfrm>
            <a:off x="3789030" y="776923"/>
            <a:ext cx="5010600" cy="4161152"/>
          </a:xfrm>
          <a:prstGeom prst="rect">
            <a:avLst/>
          </a:prstGeom>
        </p:spPr>
      </p:pic>
      <p:sp>
        <p:nvSpPr>
          <p:cNvPr id="8" name="Rectangle 3">
            <a:extLst>
              <a:ext uri="{FF2B5EF4-FFF2-40B4-BE49-F238E27FC236}">
                <a16:creationId xmlns:a16="http://schemas.microsoft.com/office/drawing/2014/main" id="{8558E842-6B50-5DCC-CA89-BBF71CD7646D}"/>
              </a:ext>
            </a:extLst>
          </p:cNvPr>
          <p:cNvSpPr>
            <a:spLocks noChangeArrowheads="1"/>
          </p:cNvSpPr>
          <p:nvPr/>
        </p:nvSpPr>
        <p:spPr bwMode="auto">
          <a:xfrm>
            <a:off x="76480" y="1799946"/>
            <a:ext cx="3712550" cy="1483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Interpretation of Key Drivers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Education level plays the largest role in prediction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Prevailing wage strongly influences approval likelihood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Region of employment has moderate influence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Other features (experience, company size, etc.) have relatively lower impact</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i="0" u="none" strike="noStrike" cap="none" normalizeH="0" baseline="0" dirty="0">
                <a:ln>
                  <a:noFill/>
                </a:ln>
                <a:solidFill>
                  <a:schemeClr val="tx1"/>
                </a:solidFill>
                <a:effectLst/>
                <a:latin typeface="Nunito" pitchFamily="2" charset="77"/>
              </a:rPr>
            </a:br>
            <a:endParaRPr kumimoji="0" lang="en-US" altLang="en-US" sz="1000" i="0" u="none" strike="noStrike" cap="none" normalizeH="0" baseline="0" dirty="0">
              <a:ln>
                <a:noFill/>
              </a:ln>
              <a:solidFill>
                <a:schemeClr val="tx1"/>
              </a:solidFill>
              <a:effectLst/>
              <a:latin typeface="Nunito" pitchFamily="2" charset="77"/>
            </a:endParaRPr>
          </a:p>
        </p:txBody>
      </p:sp>
      <p:sp>
        <p:nvSpPr>
          <p:cNvPr id="9" name="Rectangle 4">
            <a:extLst>
              <a:ext uri="{FF2B5EF4-FFF2-40B4-BE49-F238E27FC236}">
                <a16:creationId xmlns:a16="http://schemas.microsoft.com/office/drawing/2014/main" id="{6847490D-560C-B259-555E-815F200CD71C}"/>
              </a:ext>
            </a:extLst>
          </p:cNvPr>
          <p:cNvSpPr>
            <a:spLocks noChangeArrowheads="1"/>
          </p:cNvSpPr>
          <p:nvPr/>
        </p:nvSpPr>
        <p:spPr bwMode="auto">
          <a:xfrm>
            <a:off x="76480" y="2829906"/>
            <a:ext cx="3712550" cy="1483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Business Insight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Applicants with stronger education and higher wages are more likely to be certified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 model can help prioritize high-probability candidates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It reduces manual workload by focusing attention on the most promising applications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i="0" u="none" strike="noStrike" cap="none" normalizeH="0" baseline="0" dirty="0">
                <a:ln>
                  <a:noFill/>
                </a:ln>
                <a:solidFill>
                  <a:schemeClr val="tx1"/>
                </a:solidFill>
                <a:effectLst/>
                <a:latin typeface="Nunito" pitchFamily="2" charset="77"/>
              </a:rPr>
            </a:br>
            <a:endParaRPr kumimoji="0" lang="en-US" altLang="en-US" sz="1000" i="0" u="none" strike="noStrike" cap="none" normalizeH="0" baseline="0" dirty="0">
              <a:ln>
                <a:noFill/>
              </a:ln>
              <a:solidFill>
                <a:schemeClr val="tx1"/>
              </a:solidFill>
              <a:effectLst/>
              <a:latin typeface="Nunito" pitchFamily="2" charset="77"/>
            </a:endParaRPr>
          </a:p>
        </p:txBody>
      </p:sp>
      <p:sp>
        <p:nvSpPr>
          <p:cNvPr id="10" name="Rectangle 5">
            <a:extLst>
              <a:ext uri="{FF2B5EF4-FFF2-40B4-BE49-F238E27FC236}">
                <a16:creationId xmlns:a16="http://schemas.microsoft.com/office/drawing/2014/main" id="{6682FEB0-27A2-F0F0-31CD-F07468954DC1}"/>
              </a:ext>
            </a:extLst>
          </p:cNvPr>
          <p:cNvSpPr>
            <a:spLocks noChangeArrowheads="1"/>
          </p:cNvSpPr>
          <p:nvPr/>
        </p:nvSpPr>
        <p:spPr bwMode="auto">
          <a:xfrm>
            <a:off x="76480" y="3859866"/>
            <a:ext cx="4000870" cy="1283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Final Summary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AdaBoost is the best-performing model for this problem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It aligns with the business objective by maximizing recall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tx1"/>
                </a:solidFill>
                <a:effectLst/>
                <a:latin typeface="Nunito" pitchFamily="2" charset="77"/>
              </a:rPr>
              <a:t>The model is reliable, interpretable, and effective for decision support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i="0" u="none" strike="noStrike" cap="none" normalizeH="0" baseline="0" dirty="0">
                <a:ln>
                  <a:noFill/>
                </a:ln>
                <a:solidFill>
                  <a:schemeClr val="tx1"/>
                </a:solidFill>
                <a:effectLst/>
                <a:latin typeface="Nunito" pitchFamily="2" charset="77"/>
              </a:rPr>
              <a:t>This model can be used by </a:t>
            </a:r>
            <a:r>
              <a:rPr kumimoji="0" lang="en-US" altLang="en-US" sz="1000" i="0" u="none" strike="noStrike" cap="none" normalizeH="0" baseline="0" dirty="0" err="1">
                <a:ln>
                  <a:noFill/>
                </a:ln>
                <a:solidFill>
                  <a:schemeClr val="tx1"/>
                </a:solidFill>
                <a:effectLst/>
                <a:latin typeface="Nunito" pitchFamily="2" charset="77"/>
              </a:rPr>
              <a:t>EasyVisa</a:t>
            </a:r>
            <a:r>
              <a:rPr kumimoji="0" lang="en-US" altLang="en-US" sz="1000" i="0" u="none" strike="noStrike" cap="none" normalizeH="0" baseline="0" dirty="0">
                <a:ln>
                  <a:noFill/>
                </a:ln>
                <a:solidFill>
                  <a:schemeClr val="tx1"/>
                </a:solidFill>
                <a:effectLst/>
                <a:latin typeface="Nunito" pitchFamily="2" charset="77"/>
              </a:rPr>
              <a:t> to streamline visa application screening and improve decision-making efficiency</a:t>
            </a:r>
          </a:p>
        </p:txBody>
      </p:sp>
    </p:spTree>
    <p:extLst>
      <p:ext uri="{BB962C8B-B14F-4D97-AF65-F5344CB8AC3E}">
        <p14:creationId xmlns:p14="http://schemas.microsoft.com/office/powerpoint/2010/main" val="8906723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42"/>
          <p:cNvSpPr txBox="1">
            <a:spLocks noGrp="1"/>
          </p:cNvSpPr>
          <p:nvPr>
            <p:ph type="ctrTitle"/>
          </p:nvPr>
        </p:nvSpPr>
        <p:spPr>
          <a:xfrm>
            <a:off x="0" y="2820425"/>
            <a:ext cx="9144000" cy="581700"/>
          </a:xfrm>
          <a:prstGeom prst="rect">
            <a:avLst/>
          </a:prstGeom>
          <a:solidFill>
            <a:srgbClr val="0000FF"/>
          </a:solid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300">
                <a:solidFill>
                  <a:schemeClr val="lt1"/>
                </a:solidFill>
              </a:rPr>
              <a:t>APPENDIX</a:t>
            </a:r>
            <a:endParaRPr sz="3300">
              <a:solidFill>
                <a:schemeClr val="lt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99">
          <a:extLst>
            <a:ext uri="{FF2B5EF4-FFF2-40B4-BE49-F238E27FC236}">
              <a16:creationId xmlns:a16="http://schemas.microsoft.com/office/drawing/2014/main" id="{C0C18C8F-0619-3F9C-9FBF-DB088BCA2B74}"/>
            </a:ext>
          </a:extLst>
        </p:cNvPr>
        <p:cNvGrpSpPr/>
        <p:nvPr/>
      </p:nvGrpSpPr>
      <p:grpSpPr>
        <a:xfrm>
          <a:off x="0" y="0"/>
          <a:ext cx="0" cy="0"/>
          <a:chOff x="0" y="0"/>
          <a:chExt cx="0" cy="0"/>
        </a:xfrm>
      </p:grpSpPr>
      <p:sp>
        <p:nvSpPr>
          <p:cNvPr id="200" name="Google Shape;200;p43">
            <a:extLst>
              <a:ext uri="{FF2B5EF4-FFF2-40B4-BE49-F238E27FC236}">
                <a16:creationId xmlns:a16="http://schemas.microsoft.com/office/drawing/2014/main" id="{0A0C5F32-BCCF-FDFE-D515-A01BC4C6B1C4}"/>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000000"/>
                </a:solidFill>
              </a:rPr>
              <a:t>Data Background and Contents</a:t>
            </a:r>
            <a:endParaRPr dirty="0">
              <a:solidFill>
                <a:srgbClr val="000000"/>
              </a:solidFill>
            </a:endParaRPr>
          </a:p>
        </p:txBody>
      </p:sp>
      <p:sp>
        <p:nvSpPr>
          <p:cNvPr id="3" name="Rectangle 1">
            <a:extLst>
              <a:ext uri="{FF2B5EF4-FFF2-40B4-BE49-F238E27FC236}">
                <a16:creationId xmlns:a16="http://schemas.microsoft.com/office/drawing/2014/main" id="{13031436-0999-D024-41C9-EDCE1A767CF4}"/>
              </a:ext>
            </a:extLst>
          </p:cNvPr>
          <p:cNvSpPr>
            <a:spLocks noGrp="1" noChangeArrowheads="1"/>
          </p:cNvSpPr>
          <p:nvPr>
            <p:ph type="body" idx="1"/>
          </p:nvPr>
        </p:nvSpPr>
        <p:spPr bwMode="auto">
          <a:xfrm>
            <a:off x="202550" y="935042"/>
            <a:ext cx="8738900" cy="3945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45720" rIns="9144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Overview of the Dataset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solidFill>
                <a:effectLst/>
                <a:latin typeface="Nunito" pitchFamily="2" charset="77"/>
              </a:rPr>
              <a:t>The dataset consists of </a:t>
            </a:r>
            <a:r>
              <a:rPr kumimoji="0" lang="en-US" altLang="en-US" sz="900" b="1" i="0" u="none" strike="noStrike" cap="none" normalizeH="0" baseline="0" dirty="0">
                <a:ln>
                  <a:noFill/>
                </a:ln>
                <a:solidFill>
                  <a:schemeClr val="tx1"/>
                </a:solidFill>
                <a:effectLst/>
                <a:latin typeface="Nunito" pitchFamily="2" charset="77"/>
              </a:rPr>
              <a:t>25,480 visa application records</a:t>
            </a:r>
            <a:r>
              <a:rPr kumimoji="0" lang="en-US" altLang="en-US" sz="900" b="0" i="0" u="none" strike="noStrike" cap="none" normalizeH="0" baseline="0" dirty="0">
                <a:ln>
                  <a:noFill/>
                </a:ln>
                <a:solidFill>
                  <a:schemeClr val="tx1"/>
                </a:solidFill>
                <a:effectLst/>
                <a:latin typeface="Nunito" pitchFamily="2" charset="77"/>
              </a:rPr>
              <a:t> with </a:t>
            </a:r>
            <a:r>
              <a:rPr kumimoji="0" lang="en-US" altLang="en-US" sz="900" b="1" i="0" u="none" strike="noStrike" cap="none" normalizeH="0" baseline="0" dirty="0">
                <a:ln>
                  <a:noFill/>
                </a:ln>
                <a:solidFill>
                  <a:schemeClr val="tx1"/>
                </a:solidFill>
                <a:effectLst/>
                <a:latin typeface="Nunito" pitchFamily="2" charset="77"/>
              </a:rPr>
              <a:t>12 variables</a:t>
            </a:r>
            <a:r>
              <a:rPr kumimoji="0" lang="en-US" altLang="en-US" sz="900" b="0" i="0" u="none" strike="noStrike" cap="none" normalizeH="0" baseline="0" dirty="0">
                <a:ln>
                  <a:noFill/>
                </a:ln>
                <a:solidFill>
                  <a:schemeClr val="tx1"/>
                </a:solidFill>
                <a:effectLst/>
                <a:latin typeface="Nunito" pitchFamily="2" charset="77"/>
              </a:rPr>
              <a:t> capturing employee, employer, and job-related information.</a:t>
            </a:r>
            <a:endParaRPr kumimoji="0" lang="en-US" altLang="en-US" sz="9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Preview of the Data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solidFill>
                <a:effectLst/>
                <a:latin typeface="Nunito" pitchFamily="2" charset="77"/>
              </a:rPr>
              <a:t>A snapshot of the dataset (first and last 5 rows) shows the structure and types of information available. Each row represents a unique visa application and includes: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Nunito" pitchFamily="2" charset="77"/>
              </a:rPr>
              <a:t>Employee details</a:t>
            </a:r>
            <a:r>
              <a:rPr kumimoji="0" lang="en-US" altLang="en-US" sz="900" b="0" i="0" u="none" strike="noStrike" cap="none" normalizeH="0" baseline="0" dirty="0">
                <a:ln>
                  <a:noFill/>
                </a:ln>
                <a:solidFill>
                  <a:schemeClr val="tx1"/>
                </a:solidFill>
                <a:effectLst/>
                <a:latin typeface="Nunito" pitchFamily="2" charset="77"/>
              </a:rPr>
              <a:t>: continent, education level, work experience, training requirement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Nunito" pitchFamily="2" charset="77"/>
              </a:rPr>
              <a:t>Employer details</a:t>
            </a:r>
            <a:r>
              <a:rPr kumimoji="0" lang="en-US" altLang="en-US" sz="900" b="0" i="0" u="none" strike="noStrike" cap="none" normalizeH="0" baseline="0" dirty="0">
                <a:ln>
                  <a:noFill/>
                </a:ln>
                <a:solidFill>
                  <a:schemeClr val="tx1"/>
                </a:solidFill>
                <a:effectLst/>
                <a:latin typeface="Nunito" pitchFamily="2" charset="77"/>
              </a:rPr>
              <a:t>: company size (number of employees), year established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Nunito" pitchFamily="2" charset="77"/>
              </a:rPr>
              <a:t>Job details</a:t>
            </a:r>
            <a:r>
              <a:rPr kumimoji="0" lang="en-US" altLang="en-US" sz="900" b="0" i="0" u="none" strike="noStrike" cap="none" normalizeH="0" baseline="0" dirty="0">
                <a:ln>
                  <a:noFill/>
                </a:ln>
                <a:solidFill>
                  <a:schemeClr val="tx1"/>
                </a:solidFill>
                <a:effectLst/>
                <a:latin typeface="Nunito" pitchFamily="2" charset="77"/>
              </a:rPr>
              <a:t>: region of employment, wage, wage unit, full-time status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Nunito" pitchFamily="2" charset="77"/>
              </a:rPr>
              <a:t>Target variable</a:t>
            </a:r>
            <a:r>
              <a:rPr kumimoji="0" lang="en-US" altLang="en-US" sz="900" b="0" i="0" u="none" strike="noStrike" cap="none" normalizeH="0" baseline="0" dirty="0">
                <a:ln>
                  <a:noFill/>
                </a:ln>
                <a:solidFill>
                  <a:schemeClr val="tx1"/>
                </a:solidFill>
                <a:effectLst/>
                <a:latin typeface="Nunito" pitchFamily="2" charset="77"/>
              </a:rPr>
              <a:t>: </a:t>
            </a:r>
            <a:r>
              <a:rPr kumimoji="0" lang="en-US" altLang="en-US" sz="900" b="0" i="0" u="none" strike="noStrike" cap="none" normalizeH="0" baseline="0" dirty="0" err="1">
                <a:ln>
                  <a:noFill/>
                </a:ln>
                <a:solidFill>
                  <a:schemeClr val="tx1"/>
                </a:solidFill>
                <a:effectLst/>
                <a:latin typeface="Nunito" pitchFamily="2" charset="77"/>
              </a:rPr>
              <a:t>case_status</a:t>
            </a:r>
            <a:r>
              <a:rPr kumimoji="0" lang="en-US" altLang="en-US" sz="900" b="0" i="0" u="none" strike="noStrike" cap="none" normalizeH="0" baseline="0" dirty="0">
                <a:ln>
                  <a:noFill/>
                </a:ln>
                <a:solidFill>
                  <a:schemeClr val="tx1"/>
                </a:solidFill>
                <a:effectLst/>
                <a:latin typeface="Nunito" pitchFamily="2" charset="77"/>
              </a:rPr>
              <a:t> (Certified or Denied)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solidFill>
                <a:effectLst/>
                <a:latin typeface="Nunito" pitchFamily="2" charset="77"/>
              </a:rPr>
              <a:t>From the sample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Applicants come from multiple continents, with a strong presence from Asia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Education levels vary from High School to Doctorate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Wage values vary significantly depending on unit (hourly vs yearly)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Both certified and denied cases are present in the dataset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Dataset Dimensions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Nunito" pitchFamily="2" charset="77"/>
              </a:rPr>
              <a:t>Number of observations (rows):</a:t>
            </a:r>
            <a:r>
              <a:rPr kumimoji="0" lang="en-US" altLang="en-US" sz="900" b="0" i="0" u="none" strike="noStrike" cap="none" normalizeH="0" baseline="0" dirty="0">
                <a:ln>
                  <a:noFill/>
                </a:ln>
                <a:solidFill>
                  <a:schemeClr val="tx1"/>
                </a:solidFill>
                <a:effectLst/>
                <a:latin typeface="Nunito" pitchFamily="2" charset="77"/>
              </a:rPr>
              <a:t> 25,480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1" i="0" u="none" strike="noStrike" cap="none" normalizeH="0" baseline="0" dirty="0">
                <a:ln>
                  <a:noFill/>
                </a:ln>
                <a:solidFill>
                  <a:schemeClr val="tx1"/>
                </a:solidFill>
                <a:effectLst/>
                <a:latin typeface="Nunito" pitchFamily="2" charset="77"/>
              </a:rPr>
              <a:t>Number of features (columns):</a:t>
            </a:r>
            <a:r>
              <a:rPr kumimoji="0" lang="en-US" altLang="en-US" sz="900" b="0" i="0" u="none" strike="noStrike" cap="none" normalizeH="0" baseline="0" dirty="0">
                <a:ln>
                  <a:noFill/>
                </a:ln>
                <a:solidFill>
                  <a:schemeClr val="tx1"/>
                </a:solidFill>
                <a:effectLst/>
                <a:latin typeface="Nunito" pitchFamily="2" charset="77"/>
              </a:rPr>
              <a:t> 12</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Key Observations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Each record is uniquely identified by a </a:t>
            </a:r>
            <a:r>
              <a:rPr kumimoji="0" lang="en-US" altLang="en-US" sz="900" b="0" i="0" u="none" strike="noStrike" cap="none" normalizeH="0" baseline="0" dirty="0" err="1">
                <a:ln>
                  <a:noFill/>
                </a:ln>
                <a:solidFill>
                  <a:schemeClr val="tx1"/>
                </a:solidFill>
                <a:effectLst/>
                <a:latin typeface="Nunito" pitchFamily="2" charset="77"/>
              </a:rPr>
              <a:t>case_id</a:t>
            </a:r>
            <a:endParaRPr kumimoji="0" lang="en-US" altLang="en-US" sz="9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The dataset contains a mix of </a:t>
            </a:r>
            <a:r>
              <a:rPr kumimoji="0" lang="en-US" altLang="en-US" sz="900" b="1" i="0" u="none" strike="noStrike" cap="none" normalizeH="0" baseline="0" dirty="0">
                <a:ln>
                  <a:noFill/>
                </a:ln>
                <a:solidFill>
                  <a:schemeClr val="tx1"/>
                </a:solidFill>
                <a:effectLst/>
                <a:latin typeface="Nunito" pitchFamily="2" charset="77"/>
              </a:rPr>
              <a:t>categorical and numerical variables</a:t>
            </a:r>
            <a:endParaRPr kumimoji="0" lang="en-US" altLang="en-US" sz="9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The target variable </a:t>
            </a:r>
            <a:r>
              <a:rPr kumimoji="0" lang="en-US" altLang="en-US" sz="900" b="0" i="0" u="none" strike="noStrike" cap="none" normalizeH="0" baseline="0" dirty="0" err="1">
                <a:ln>
                  <a:noFill/>
                </a:ln>
                <a:solidFill>
                  <a:schemeClr val="tx1"/>
                </a:solidFill>
                <a:effectLst/>
                <a:latin typeface="Nunito" pitchFamily="2" charset="77"/>
              </a:rPr>
              <a:t>case_status</a:t>
            </a:r>
            <a:r>
              <a:rPr kumimoji="0" lang="en-US" altLang="en-US" sz="900" b="0" i="0" u="none" strike="noStrike" cap="none" normalizeH="0" baseline="0" dirty="0">
                <a:ln>
                  <a:noFill/>
                </a:ln>
                <a:solidFill>
                  <a:schemeClr val="tx1"/>
                </a:solidFill>
                <a:effectLst/>
                <a:latin typeface="Nunito" pitchFamily="2" charset="77"/>
              </a:rPr>
              <a:t> indicates whether a visa was </a:t>
            </a:r>
            <a:r>
              <a:rPr kumimoji="0" lang="en-US" altLang="en-US" sz="900" b="1" i="0" u="none" strike="noStrike" cap="none" normalizeH="0" baseline="0" dirty="0">
                <a:ln>
                  <a:noFill/>
                </a:ln>
                <a:solidFill>
                  <a:schemeClr val="tx1"/>
                </a:solidFill>
                <a:effectLst/>
                <a:latin typeface="Nunito" pitchFamily="2" charset="77"/>
              </a:rPr>
              <a:t>approved (Certified)</a:t>
            </a:r>
            <a:r>
              <a:rPr kumimoji="0" lang="en-US" altLang="en-US" sz="900" b="0" i="0" u="none" strike="noStrike" cap="none" normalizeH="0" baseline="0" dirty="0">
                <a:ln>
                  <a:noFill/>
                </a:ln>
                <a:solidFill>
                  <a:schemeClr val="tx1"/>
                </a:solidFill>
                <a:effectLst/>
                <a:latin typeface="Nunito" pitchFamily="2" charset="77"/>
              </a:rPr>
              <a:t> or </a:t>
            </a:r>
            <a:r>
              <a:rPr kumimoji="0" lang="en-US" altLang="en-US" sz="900" b="1" i="0" u="none" strike="noStrike" cap="none" normalizeH="0" baseline="0" dirty="0">
                <a:ln>
                  <a:noFill/>
                </a:ln>
                <a:solidFill>
                  <a:schemeClr val="tx1"/>
                </a:solidFill>
                <a:effectLst/>
                <a:latin typeface="Nunito" pitchFamily="2" charset="77"/>
              </a:rPr>
              <a:t>rejected (Denied)</a:t>
            </a:r>
            <a:endParaRPr kumimoji="0" lang="en-US" altLang="en-US" sz="900" b="0"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tx1"/>
                </a:solidFill>
                <a:effectLst/>
                <a:latin typeface="Nunito" pitchFamily="2" charset="77"/>
              </a:rPr>
              <a:t>There is noticeable variation in wages, company sizes, and employment regions, which may influence visa outcomes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Nunito" pitchFamily="2" charset="77"/>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Nunito" pitchFamily="2" charset="77"/>
              </a:rPr>
              <a:t>Summary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solidFill>
                <a:effectLst/>
                <a:latin typeface="Nunito" pitchFamily="2" charset="77"/>
              </a:rPr>
              <a:t>Overall, the dataset provides a comprehensive view of visa applications, combining demographic, economic, and employment-related factors. These variables will be used to identify patterns and build predictive models for visa approval.</a:t>
            </a:r>
          </a:p>
        </p:txBody>
      </p:sp>
    </p:spTree>
    <p:extLst>
      <p:ext uri="{BB962C8B-B14F-4D97-AF65-F5344CB8AC3E}">
        <p14:creationId xmlns:p14="http://schemas.microsoft.com/office/powerpoint/2010/main" val="1696432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4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000000"/>
                </a:solidFill>
              </a:rPr>
              <a:t>Data Background and Contents</a:t>
            </a:r>
            <a:endParaRPr dirty="0">
              <a:solidFill>
                <a:srgbClr val="000000"/>
              </a:solidFill>
            </a:endParaRPr>
          </a:p>
        </p:txBody>
      </p:sp>
      <p:sp>
        <p:nvSpPr>
          <p:cNvPr id="2" name="Rectangle 1">
            <a:extLst>
              <a:ext uri="{FF2B5EF4-FFF2-40B4-BE49-F238E27FC236}">
                <a16:creationId xmlns:a16="http://schemas.microsoft.com/office/drawing/2014/main" id="{AB9F82D0-A927-B84D-F84E-383D12CF08A5}"/>
              </a:ext>
            </a:extLst>
          </p:cNvPr>
          <p:cNvSpPr>
            <a:spLocks noChangeArrowheads="1"/>
          </p:cNvSpPr>
          <p:nvPr/>
        </p:nvSpPr>
        <p:spPr bwMode="auto">
          <a:xfrm>
            <a:off x="202550" y="861979"/>
            <a:ext cx="8832808" cy="269622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610" tIns="0" rIns="91440" bIns="7935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Nunito" pitchFamily="2" charset="77"/>
              </a:rPr>
              <a:t>A. Data Description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Nunito" pitchFamily="2" charset="77"/>
              </a:rPr>
              <a:t>The data contains the different attributes of employee and the employer. The detailed data dictionary is given below.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err="1">
                <a:ln>
                  <a:noFill/>
                </a:ln>
                <a:solidFill>
                  <a:schemeClr val="tx1"/>
                </a:solidFill>
                <a:effectLst/>
                <a:latin typeface="Nunito" pitchFamily="2" charset="77"/>
              </a:rPr>
              <a:t>case_id</a:t>
            </a:r>
            <a:r>
              <a:rPr kumimoji="0" lang="en-US" altLang="en-US" sz="1000" b="1" i="0" u="none" strike="noStrike" cap="none" normalizeH="0" baseline="0" dirty="0">
                <a:ln>
                  <a:noFill/>
                </a:ln>
                <a:solidFill>
                  <a:schemeClr val="tx1"/>
                </a:solidFill>
                <a:effectLst/>
                <a:latin typeface="Nunito" pitchFamily="2" charset="77"/>
              </a:rPr>
              <a:t>:</a:t>
            </a:r>
            <a:r>
              <a:rPr kumimoji="0" lang="en-US" altLang="en-US" sz="1000" b="0" i="0" u="none" strike="noStrike" cap="none" normalizeH="0" baseline="0" dirty="0">
                <a:ln>
                  <a:noFill/>
                </a:ln>
                <a:solidFill>
                  <a:schemeClr val="tx1"/>
                </a:solidFill>
                <a:effectLst/>
                <a:latin typeface="Nunito" pitchFamily="2" charset="77"/>
              </a:rPr>
              <a:t> ID of each visa application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a:ln>
                  <a:noFill/>
                </a:ln>
                <a:solidFill>
                  <a:schemeClr val="tx1"/>
                </a:solidFill>
                <a:effectLst/>
                <a:latin typeface="Nunito" pitchFamily="2" charset="77"/>
              </a:rPr>
              <a:t>continent:</a:t>
            </a:r>
            <a:r>
              <a:rPr kumimoji="0" lang="en-US" altLang="en-US" sz="1000" b="0" i="0" u="none" strike="noStrike" cap="none" normalizeH="0" baseline="0" dirty="0">
                <a:ln>
                  <a:noFill/>
                </a:ln>
                <a:solidFill>
                  <a:schemeClr val="tx1"/>
                </a:solidFill>
                <a:effectLst/>
                <a:latin typeface="Nunito" pitchFamily="2" charset="77"/>
              </a:rPr>
              <a:t> Information of continent the employee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err="1">
                <a:ln>
                  <a:noFill/>
                </a:ln>
                <a:solidFill>
                  <a:schemeClr val="tx1"/>
                </a:solidFill>
                <a:effectLst/>
                <a:latin typeface="Nunito" pitchFamily="2" charset="77"/>
              </a:rPr>
              <a:t>education_of_employee</a:t>
            </a:r>
            <a:r>
              <a:rPr kumimoji="0" lang="en-US" altLang="en-US" sz="1000" b="1" i="0" u="none" strike="noStrike" cap="none" normalizeH="0" baseline="0" dirty="0">
                <a:ln>
                  <a:noFill/>
                </a:ln>
                <a:solidFill>
                  <a:schemeClr val="tx1"/>
                </a:solidFill>
                <a:effectLst/>
                <a:latin typeface="Nunito" pitchFamily="2" charset="77"/>
              </a:rPr>
              <a:t>:</a:t>
            </a:r>
            <a:r>
              <a:rPr kumimoji="0" lang="en-US" altLang="en-US" sz="1000" b="0" i="0" u="none" strike="noStrike" cap="none" normalizeH="0" baseline="0" dirty="0">
                <a:ln>
                  <a:noFill/>
                </a:ln>
                <a:solidFill>
                  <a:schemeClr val="tx1"/>
                </a:solidFill>
                <a:effectLst/>
                <a:latin typeface="Nunito" pitchFamily="2" charset="77"/>
              </a:rPr>
              <a:t> Information of education of the employee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err="1">
                <a:ln>
                  <a:noFill/>
                </a:ln>
                <a:solidFill>
                  <a:schemeClr val="tx1"/>
                </a:solidFill>
                <a:effectLst/>
                <a:latin typeface="Nunito" pitchFamily="2" charset="77"/>
              </a:rPr>
              <a:t>has_job_experience</a:t>
            </a:r>
            <a:r>
              <a:rPr kumimoji="0" lang="en-US" altLang="en-US" sz="1000" b="1" i="0" u="none" strike="noStrike" cap="none" normalizeH="0" baseline="0" dirty="0">
                <a:ln>
                  <a:noFill/>
                </a:ln>
                <a:solidFill>
                  <a:schemeClr val="tx1"/>
                </a:solidFill>
                <a:effectLst/>
                <a:latin typeface="Nunito" pitchFamily="2" charset="77"/>
              </a:rPr>
              <a:t>:</a:t>
            </a:r>
            <a:r>
              <a:rPr kumimoji="0" lang="en-US" altLang="en-US" sz="1000" b="0" i="0" u="none" strike="noStrike" cap="none" normalizeH="0" baseline="0" dirty="0">
                <a:ln>
                  <a:noFill/>
                </a:ln>
                <a:solidFill>
                  <a:schemeClr val="tx1"/>
                </a:solidFill>
                <a:effectLst/>
                <a:latin typeface="Nunito" pitchFamily="2" charset="77"/>
              </a:rPr>
              <a:t> Does the employee has any job experience? Y= Yes; N = No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err="1">
                <a:ln>
                  <a:noFill/>
                </a:ln>
                <a:solidFill>
                  <a:schemeClr val="tx1"/>
                </a:solidFill>
                <a:effectLst/>
                <a:latin typeface="Nunito" pitchFamily="2" charset="77"/>
              </a:rPr>
              <a:t>requires_job_training</a:t>
            </a:r>
            <a:r>
              <a:rPr kumimoji="0" lang="en-US" altLang="en-US" sz="1000" b="1" i="0" u="none" strike="noStrike" cap="none" normalizeH="0" baseline="0" dirty="0">
                <a:ln>
                  <a:noFill/>
                </a:ln>
                <a:solidFill>
                  <a:schemeClr val="tx1"/>
                </a:solidFill>
                <a:effectLst/>
                <a:latin typeface="Nunito" pitchFamily="2" charset="77"/>
              </a:rPr>
              <a:t>:</a:t>
            </a:r>
            <a:r>
              <a:rPr kumimoji="0" lang="en-US" altLang="en-US" sz="1000" b="0" i="0" u="none" strike="noStrike" cap="none" normalizeH="0" baseline="0" dirty="0">
                <a:ln>
                  <a:noFill/>
                </a:ln>
                <a:solidFill>
                  <a:schemeClr val="tx1"/>
                </a:solidFill>
                <a:effectLst/>
                <a:latin typeface="Nunito" pitchFamily="2" charset="77"/>
              </a:rPr>
              <a:t> Does the employee require any job training? Y = Yes; N = No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err="1">
                <a:ln>
                  <a:noFill/>
                </a:ln>
                <a:solidFill>
                  <a:schemeClr val="tx1"/>
                </a:solidFill>
                <a:effectLst/>
                <a:latin typeface="Nunito" pitchFamily="2" charset="77"/>
              </a:rPr>
              <a:t>no_of_employees</a:t>
            </a:r>
            <a:r>
              <a:rPr kumimoji="0" lang="en-US" altLang="en-US" sz="1000" b="1" i="0" u="none" strike="noStrike" cap="none" normalizeH="0" baseline="0" dirty="0">
                <a:ln>
                  <a:noFill/>
                </a:ln>
                <a:solidFill>
                  <a:schemeClr val="tx1"/>
                </a:solidFill>
                <a:effectLst/>
                <a:latin typeface="Nunito" pitchFamily="2" charset="77"/>
              </a:rPr>
              <a:t>:</a:t>
            </a:r>
            <a:r>
              <a:rPr kumimoji="0" lang="en-US" altLang="en-US" sz="1000" b="0" i="0" u="none" strike="noStrike" cap="none" normalizeH="0" baseline="0" dirty="0">
                <a:ln>
                  <a:noFill/>
                </a:ln>
                <a:solidFill>
                  <a:schemeClr val="tx1"/>
                </a:solidFill>
                <a:effectLst/>
                <a:latin typeface="Nunito" pitchFamily="2" charset="77"/>
              </a:rPr>
              <a:t> Number of employees in the employer's company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err="1">
                <a:ln>
                  <a:noFill/>
                </a:ln>
                <a:solidFill>
                  <a:schemeClr val="tx1"/>
                </a:solidFill>
                <a:effectLst/>
                <a:latin typeface="Nunito" pitchFamily="2" charset="77"/>
              </a:rPr>
              <a:t>yr_of_estab</a:t>
            </a:r>
            <a:r>
              <a:rPr kumimoji="0" lang="en-US" altLang="en-US" sz="1000" b="1" i="0" u="none" strike="noStrike" cap="none" normalizeH="0" baseline="0" dirty="0">
                <a:ln>
                  <a:noFill/>
                </a:ln>
                <a:solidFill>
                  <a:schemeClr val="tx1"/>
                </a:solidFill>
                <a:effectLst/>
                <a:latin typeface="Nunito" pitchFamily="2" charset="77"/>
              </a:rPr>
              <a:t>:</a:t>
            </a:r>
            <a:r>
              <a:rPr kumimoji="0" lang="en-US" altLang="en-US" sz="1000" b="0" i="0" u="none" strike="noStrike" cap="none" normalizeH="0" baseline="0" dirty="0">
                <a:ln>
                  <a:noFill/>
                </a:ln>
                <a:solidFill>
                  <a:schemeClr val="tx1"/>
                </a:solidFill>
                <a:effectLst/>
                <a:latin typeface="Nunito" pitchFamily="2" charset="77"/>
              </a:rPr>
              <a:t> Year in which the employer's company was established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err="1">
                <a:ln>
                  <a:noFill/>
                </a:ln>
                <a:solidFill>
                  <a:schemeClr val="tx1"/>
                </a:solidFill>
                <a:effectLst/>
                <a:latin typeface="Nunito" pitchFamily="2" charset="77"/>
              </a:rPr>
              <a:t>region_of_employment</a:t>
            </a:r>
            <a:r>
              <a:rPr kumimoji="0" lang="en-US" altLang="en-US" sz="1000" b="1" i="0" u="none" strike="noStrike" cap="none" normalizeH="0" baseline="0" dirty="0">
                <a:ln>
                  <a:noFill/>
                </a:ln>
                <a:solidFill>
                  <a:schemeClr val="tx1"/>
                </a:solidFill>
                <a:effectLst/>
                <a:latin typeface="Nunito" pitchFamily="2" charset="77"/>
              </a:rPr>
              <a:t>:</a:t>
            </a:r>
            <a:r>
              <a:rPr kumimoji="0" lang="en-US" altLang="en-US" sz="1000" b="0" i="0" u="none" strike="noStrike" cap="none" normalizeH="0" baseline="0" dirty="0">
                <a:ln>
                  <a:noFill/>
                </a:ln>
                <a:solidFill>
                  <a:schemeClr val="tx1"/>
                </a:solidFill>
                <a:effectLst/>
                <a:latin typeface="Nunito" pitchFamily="2" charset="77"/>
              </a:rPr>
              <a:t> Information of foreign worker's intended region of employment in the US.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err="1">
                <a:ln>
                  <a:noFill/>
                </a:ln>
                <a:solidFill>
                  <a:schemeClr val="tx1"/>
                </a:solidFill>
                <a:effectLst/>
                <a:latin typeface="Nunito" pitchFamily="2" charset="77"/>
              </a:rPr>
              <a:t>prevailing_wage</a:t>
            </a:r>
            <a:r>
              <a:rPr kumimoji="0" lang="en-US" altLang="en-US" sz="1000" b="1" i="0" u="none" strike="noStrike" cap="none" normalizeH="0" baseline="0" dirty="0">
                <a:ln>
                  <a:noFill/>
                </a:ln>
                <a:solidFill>
                  <a:schemeClr val="tx1"/>
                </a:solidFill>
                <a:effectLst/>
                <a:latin typeface="Nunito" pitchFamily="2" charset="77"/>
              </a:rPr>
              <a:t>:</a:t>
            </a:r>
            <a:r>
              <a:rPr kumimoji="0" lang="en-US" altLang="en-US" sz="1000" b="0" i="0" u="none" strike="noStrike" cap="none" normalizeH="0" baseline="0" dirty="0">
                <a:ln>
                  <a:noFill/>
                </a:ln>
                <a:solidFill>
                  <a:schemeClr val="tx1"/>
                </a:solidFill>
                <a:effectLst/>
                <a:latin typeface="Nunito" pitchFamily="2" charset="77"/>
              </a:rPr>
              <a:t> Average wage paid to similarly employed workers in a specific occupation in the area of intended employment. The purpose of the prevailing wage is to ensure that the foreign worker is not underpaid compared to other workers offering the same or similar service in the same area of employment.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err="1">
                <a:ln>
                  <a:noFill/>
                </a:ln>
                <a:solidFill>
                  <a:schemeClr val="tx1"/>
                </a:solidFill>
                <a:effectLst/>
                <a:latin typeface="Nunito" pitchFamily="2" charset="77"/>
              </a:rPr>
              <a:t>unit_of_wage</a:t>
            </a:r>
            <a:r>
              <a:rPr kumimoji="0" lang="en-US" altLang="en-US" sz="1000" b="1" i="0" u="none" strike="noStrike" cap="none" normalizeH="0" baseline="0" dirty="0">
                <a:ln>
                  <a:noFill/>
                </a:ln>
                <a:solidFill>
                  <a:schemeClr val="tx1"/>
                </a:solidFill>
                <a:effectLst/>
                <a:latin typeface="Nunito" pitchFamily="2" charset="77"/>
              </a:rPr>
              <a:t>:</a:t>
            </a:r>
            <a:r>
              <a:rPr kumimoji="0" lang="en-US" altLang="en-US" sz="1000" b="0" i="0" u="none" strike="noStrike" cap="none" normalizeH="0" baseline="0" dirty="0">
                <a:ln>
                  <a:noFill/>
                </a:ln>
                <a:solidFill>
                  <a:schemeClr val="tx1"/>
                </a:solidFill>
                <a:effectLst/>
                <a:latin typeface="Nunito" pitchFamily="2" charset="77"/>
              </a:rPr>
              <a:t> Unit of prevailing wage. Values include Hourly, Weekly, Monthly, and Yearly.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err="1">
                <a:ln>
                  <a:noFill/>
                </a:ln>
                <a:solidFill>
                  <a:schemeClr val="tx1"/>
                </a:solidFill>
                <a:effectLst/>
                <a:latin typeface="Nunito" pitchFamily="2" charset="77"/>
              </a:rPr>
              <a:t>full_time_position</a:t>
            </a:r>
            <a:r>
              <a:rPr kumimoji="0" lang="en-US" altLang="en-US" sz="1000" b="1" i="0" u="none" strike="noStrike" cap="none" normalizeH="0" baseline="0" dirty="0">
                <a:ln>
                  <a:noFill/>
                </a:ln>
                <a:solidFill>
                  <a:schemeClr val="tx1"/>
                </a:solidFill>
                <a:effectLst/>
                <a:latin typeface="Nunito" pitchFamily="2" charset="77"/>
              </a:rPr>
              <a:t>:</a:t>
            </a:r>
            <a:r>
              <a:rPr kumimoji="0" lang="en-US" altLang="en-US" sz="1000" b="0" i="0" u="none" strike="noStrike" cap="none" normalizeH="0" baseline="0" dirty="0">
                <a:ln>
                  <a:noFill/>
                </a:ln>
                <a:solidFill>
                  <a:schemeClr val="tx1"/>
                </a:solidFill>
                <a:effectLst/>
                <a:latin typeface="Nunito" pitchFamily="2" charset="77"/>
              </a:rPr>
              <a:t> Is the position of work full-time? Y = Full Time Position; N = Part Time Position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dirty="0" err="1">
                <a:ln>
                  <a:noFill/>
                </a:ln>
                <a:solidFill>
                  <a:schemeClr val="tx1"/>
                </a:solidFill>
                <a:effectLst/>
                <a:latin typeface="Nunito" pitchFamily="2" charset="77"/>
              </a:rPr>
              <a:t>case_status</a:t>
            </a:r>
            <a:r>
              <a:rPr kumimoji="0" lang="en-US" altLang="en-US" sz="1000" b="1" i="0" u="none" strike="noStrike" cap="none" normalizeH="0" baseline="0" dirty="0">
                <a:ln>
                  <a:noFill/>
                </a:ln>
                <a:solidFill>
                  <a:schemeClr val="tx1"/>
                </a:solidFill>
                <a:effectLst/>
                <a:latin typeface="Nunito" pitchFamily="2" charset="77"/>
              </a:rPr>
              <a:t>:</a:t>
            </a:r>
            <a:r>
              <a:rPr kumimoji="0" lang="en-US" altLang="en-US" sz="1000" b="0" i="0" u="none" strike="noStrike" cap="none" normalizeH="0" baseline="0" dirty="0">
                <a:ln>
                  <a:noFill/>
                </a:ln>
                <a:solidFill>
                  <a:schemeClr val="tx1"/>
                </a:solidFill>
                <a:effectLst/>
                <a:latin typeface="Nunito" pitchFamily="2" charset="77"/>
              </a:rPr>
              <a:t> Flag indicating if the Visa was certified or denied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Nunito" pitchFamily="2" charset="77"/>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9"/>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239" name="Google Shape;239;p49"/>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44</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401</TotalTime>
  <Words>7341</Words>
  <Application>Microsoft Macintosh PowerPoint</Application>
  <PresentationFormat>On-screen Show (16:9)</PresentationFormat>
  <Paragraphs>902</Paragraphs>
  <Slides>44</Slides>
  <Notes>44</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44</vt:i4>
      </vt:variant>
    </vt:vector>
  </HeadingPairs>
  <TitlesOfParts>
    <vt:vector size="53" baseType="lpstr">
      <vt:lpstr>Nunito SemiBold</vt:lpstr>
      <vt:lpstr>Arial</vt:lpstr>
      <vt:lpstr>system-ui</vt:lpstr>
      <vt:lpstr>Nunito ExtraBold</vt:lpstr>
      <vt:lpstr>Calibri</vt:lpstr>
      <vt:lpstr>Nunito</vt:lpstr>
      <vt:lpstr>Simple Light</vt:lpstr>
      <vt:lpstr>Just Logo</vt:lpstr>
      <vt:lpstr>Just Logo</vt:lpstr>
      <vt:lpstr>Easy Visa</vt:lpstr>
      <vt:lpstr>Contents / Agenda</vt:lpstr>
      <vt:lpstr>Executive Summary </vt:lpstr>
      <vt:lpstr>Business Problem Overview</vt:lpstr>
      <vt:lpstr>Solution Approach and Outcome</vt:lpstr>
      <vt:lpstr>Data Overview</vt:lpstr>
      <vt:lpstr>EDA Results – Descriptive Statistics</vt:lpstr>
      <vt:lpstr>EDA Results: Handling of Negative Employee Numbers</vt:lpstr>
      <vt:lpstr>EDA Results – Analysis of Categorical Data</vt:lpstr>
      <vt:lpstr>EDA Results – Univariate Analysis (Educational Level Distribution)</vt:lpstr>
      <vt:lpstr>EDA Results – Univariate Analysis (Regional Employment)</vt:lpstr>
      <vt:lpstr>EDA Results – Univariate Analysis (Job Experience)</vt:lpstr>
      <vt:lpstr>EDA Results – Univariate Analysis (Case Status)</vt:lpstr>
      <vt:lpstr>EDA Results – Bivariate Analysis (Correlation Check)</vt:lpstr>
      <vt:lpstr>EDA Results: Bivariate Analysis -- Does education level influence visa approval?</vt:lpstr>
      <vt:lpstr>EDA Results – Bivariate Analysis: How does visa status vary across different continents? </vt:lpstr>
      <vt:lpstr>PowerPoint Presentation</vt:lpstr>
      <vt:lpstr>PowerPoint Presentation</vt:lpstr>
      <vt:lpstr>PowerPoint Presentation</vt:lpstr>
      <vt:lpstr>PowerPoint Presentation</vt:lpstr>
      <vt:lpstr>Data Pre-Preprocessing : Outlier Check</vt:lpstr>
      <vt:lpstr>Data Pre-Processing : Outlier Check</vt:lpstr>
      <vt:lpstr>Data Pre-Processing: Missing Value Detection and Treatment</vt:lpstr>
      <vt:lpstr>Data Pre-Processing: Duplicate Value Check</vt:lpstr>
      <vt:lpstr>Data Pre-Processing: Feature Engineering</vt:lpstr>
      <vt:lpstr>Data Preparation for Modeling: Data Splitting and Class Distribution </vt:lpstr>
      <vt:lpstr>Model Building: Evaluation Metrics</vt:lpstr>
      <vt:lpstr>Model Building with Original Data</vt:lpstr>
      <vt:lpstr>Model Building with Original Data</vt:lpstr>
      <vt:lpstr>Model Building with Oversampled Data</vt:lpstr>
      <vt:lpstr>Model Building with Oversampled Data</vt:lpstr>
      <vt:lpstr>Model Building with Under Sampled Data</vt:lpstr>
      <vt:lpstr>Model Building with Under Sampled Data</vt:lpstr>
      <vt:lpstr>Model Building with Under Sampled Data</vt:lpstr>
      <vt:lpstr>Model Improvement - Hyperparameter Tuning (Tuning AdaBoost using Oversampled data </vt:lpstr>
      <vt:lpstr>Model Improvement - Hyperparameter Tuning (Tuning Random forest using Under  Sampled data)  </vt:lpstr>
      <vt:lpstr>Model Improvement - Hyperparameter Tuning (Gradient boosting with Oversampled Data )  </vt:lpstr>
      <vt:lpstr>Model Performance Summary and Final Model Selection</vt:lpstr>
      <vt:lpstr>Model Performance Summary and Final Model Selection</vt:lpstr>
      <vt:lpstr>Model Performance Summary and Final Model Selection</vt:lpstr>
      <vt:lpstr>APPENDIX</vt:lpstr>
      <vt:lpstr>Data Background and Contents</vt:lpstr>
      <vt:lpstr>Data Background and Contents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Sarah Wolberg</cp:lastModifiedBy>
  <cp:revision>41</cp:revision>
  <dcterms:modified xsi:type="dcterms:W3CDTF">2026-05-04T00:41:12Z</dcterms:modified>
</cp:coreProperties>
</file>