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07"/>
  </p:normalViewPr>
  <p:slideViewPr>
    <p:cSldViewPr snapToGrid="0">
      <p:cViewPr varScale="1">
        <p:scale>
          <a:sx n="92" d="100"/>
          <a:sy n="92" d="100"/>
        </p:scale>
        <p:origin x="151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7A131-2EF9-DAD4-3BC2-F272666DC5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807B3D-80FC-46C0-D98F-91BB5775C3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6BE4E4-A39D-270B-F598-1992BE567277}"/>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F47CC949-B76A-904D-E3A0-21C7FED1CA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5DF62-B72C-CC62-A52E-0677107A7E36}"/>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2317441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7938-3F19-1837-1E89-9C197806EA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988B4-F36C-7E8C-9F1F-EED81046E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7A1906-A79A-37EC-70E7-42B409644B3B}"/>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A58F53B0-5C98-8AFB-2409-093C3B454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F2BCF-7996-0A1E-1675-8A26A32E47C6}"/>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3292477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AB26-D14A-6852-13FD-547DAC64AE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20A375-41CA-D767-F8DB-B1931C9718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E35022-8BD8-5FB5-9DE2-F4ED89F41A36}"/>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66235C95-E148-3306-E7A7-FF72D1693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DA716-5953-C1AB-2B30-8CB76CD1260F}"/>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4283007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40C7-F1D8-F3AA-791C-C3552ADBB7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7418C5-EB2A-1379-5BCC-B2967CF886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7B7759-7858-BE48-1FA3-60B318A729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2D85AC-4C09-0130-82E4-8E047CD3414A}"/>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6" name="Footer Placeholder 5">
            <a:extLst>
              <a:ext uri="{FF2B5EF4-FFF2-40B4-BE49-F238E27FC236}">
                <a16:creationId xmlns:a16="http://schemas.microsoft.com/office/drawing/2014/main" id="{71BF192E-A8B5-FDF3-518E-EDF4F798C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10308-374C-00C8-03EC-AE107B7438DE}"/>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231742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1041-A5E6-C598-D439-D0DC35D960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6878D0-D0A2-3BE5-3FA2-1A8A4DF48A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3BDC28-12F2-A66C-9462-498C792C7C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66AA31-0E35-EEF9-2343-1F822B83BF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7DE5D2-B971-B53A-66FE-F7157F817A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A4DE5-5ED9-4F86-0801-97EA725EAEAF}"/>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8" name="Footer Placeholder 7">
            <a:extLst>
              <a:ext uri="{FF2B5EF4-FFF2-40B4-BE49-F238E27FC236}">
                <a16:creationId xmlns:a16="http://schemas.microsoft.com/office/drawing/2014/main" id="{53901323-9A7F-088A-0B52-2EC243E935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19A563-E04B-DA4F-3FEC-A67EC35564D5}"/>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2298618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10224-7428-F44D-9C12-290628304D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919795-7C1F-5F18-315F-9FCCD9D5B6BB}"/>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4" name="Footer Placeholder 3">
            <a:extLst>
              <a:ext uri="{FF2B5EF4-FFF2-40B4-BE49-F238E27FC236}">
                <a16:creationId xmlns:a16="http://schemas.microsoft.com/office/drawing/2014/main" id="{8BB8B79B-D991-B4B0-E17A-70C13B8986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9627AC-9FB9-4E4E-FC18-BCCFEE833F30}"/>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127340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603227-25F1-2AA1-5B91-83CABD5A5AD2}"/>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3" name="Footer Placeholder 2">
            <a:extLst>
              <a:ext uri="{FF2B5EF4-FFF2-40B4-BE49-F238E27FC236}">
                <a16:creationId xmlns:a16="http://schemas.microsoft.com/office/drawing/2014/main" id="{4DBADFE8-6808-6FB4-E7F2-08F50198F8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EFAF19-0D4B-EB98-6D6A-4DE436673AF6}"/>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2560167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BCF14-F663-BD35-0455-9D2547ED6E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28B0F2-6813-CAA3-905F-576FEBA79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FD709D-CDFB-443D-C337-F4271D35E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6F007-650E-F4E7-4A00-3E31AD267678}"/>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6" name="Footer Placeholder 5">
            <a:extLst>
              <a:ext uri="{FF2B5EF4-FFF2-40B4-BE49-F238E27FC236}">
                <a16:creationId xmlns:a16="http://schemas.microsoft.com/office/drawing/2014/main" id="{0B2AD8A1-3F62-ACFB-6928-13E400F5B1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94FCC2-AC3A-54CA-460A-71F117CE2352}"/>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22782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5231-F0D2-A2FE-A8F3-F1A363C34D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F6FC66-6491-1675-2578-9BFFC90227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662C3E-6D36-AD9C-827F-D41BAA1D8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E3C13-26C9-7B12-59C1-FF86E5FAB484}"/>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6" name="Footer Placeholder 5">
            <a:extLst>
              <a:ext uri="{FF2B5EF4-FFF2-40B4-BE49-F238E27FC236}">
                <a16:creationId xmlns:a16="http://schemas.microsoft.com/office/drawing/2014/main" id="{A62BC79F-D1A7-C2BE-D113-D5ADF2389D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FD237-1187-0E64-8C46-E57D60A86E5E}"/>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1293222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0DE10-3E39-D4B9-3E53-0406A1C282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9A4976-7E1E-8E2A-D3CC-332034675C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5F1AD-886D-ADD7-4519-357387CD81A6}"/>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48A59460-FC1C-98CD-53A2-1EE894FB1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6DBE2-6151-C04C-D852-4FE4196149F1}"/>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1383106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040403-B9DE-F340-3675-064EB0AB9B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CAC4F-E8AE-A582-3474-521DBFBE8D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97F84-2313-8B51-0F1E-0DCEB0C1D0E5}"/>
              </a:ext>
            </a:extLst>
          </p:cNvPr>
          <p:cNvSpPr>
            <a:spLocks noGrp="1"/>
          </p:cNvSpPr>
          <p:nvPr>
            <p:ph type="dt" sz="half" idx="10"/>
          </p:nvPr>
        </p:nvSpPr>
        <p:spPr/>
        <p:txBody>
          <a:body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40151CED-D913-F985-5081-053B11718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C6DA5-1131-4B24-CB7B-C3729DF54D11}"/>
              </a:ext>
            </a:extLst>
          </p:cNvPr>
          <p:cNvSpPr>
            <a:spLocks noGrp="1"/>
          </p:cNvSpPr>
          <p:nvPr>
            <p:ph type="sldNum" sz="quarter" idx="12"/>
          </p:nvPr>
        </p:nvSpPr>
        <p:spPr/>
        <p:txBody>
          <a:bodyPr/>
          <a:lstStyle/>
          <a:p>
            <a:fld id="{A8D91AA3-E224-CE43-9C24-F777397EA476}" type="slidenum">
              <a:rPr lang="en-US" smtClean="0"/>
              <a:t>‹#›</a:t>
            </a:fld>
            <a:endParaRPr lang="en-US"/>
          </a:p>
        </p:txBody>
      </p:sp>
    </p:spTree>
    <p:extLst>
      <p:ext uri="{BB962C8B-B14F-4D97-AF65-F5344CB8AC3E}">
        <p14:creationId xmlns:p14="http://schemas.microsoft.com/office/powerpoint/2010/main" val="1214959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729698-5668-4958-91E6-4349C73ACC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7609A5-858C-B546-8DC5-14CE1EE38B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E7A06-4E48-A888-D27E-C5705FD283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C2FCDD-F83C-BA49-902A-B5142A13FEB2}" type="datetimeFigureOut">
              <a:rPr lang="en-US" smtClean="0"/>
              <a:t>3/1/26</a:t>
            </a:fld>
            <a:endParaRPr lang="en-US"/>
          </a:p>
        </p:txBody>
      </p:sp>
      <p:sp>
        <p:nvSpPr>
          <p:cNvPr id="5" name="Footer Placeholder 4">
            <a:extLst>
              <a:ext uri="{FF2B5EF4-FFF2-40B4-BE49-F238E27FC236}">
                <a16:creationId xmlns:a16="http://schemas.microsoft.com/office/drawing/2014/main" id="{9029A818-AD02-002E-CA95-8792AD555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8515A3-F4DF-1BE7-0D78-6EA386C4B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D91AA3-E224-CE43-9C24-F777397EA476}" type="slidenum">
              <a:rPr lang="en-US" smtClean="0"/>
              <a:t>‹#›</a:t>
            </a:fld>
            <a:endParaRPr lang="en-US"/>
          </a:p>
        </p:txBody>
      </p:sp>
    </p:spTree>
    <p:extLst>
      <p:ext uri="{BB962C8B-B14F-4D97-AF65-F5344CB8AC3E}">
        <p14:creationId xmlns:p14="http://schemas.microsoft.com/office/powerpoint/2010/main" val="372031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0656-448F-1705-EF2B-CF2DCFB33F9B}"/>
              </a:ext>
            </a:extLst>
          </p:cNvPr>
          <p:cNvSpPr>
            <a:spLocks noGrp="1"/>
          </p:cNvSpPr>
          <p:nvPr>
            <p:ph type="ctrTitle"/>
          </p:nvPr>
        </p:nvSpPr>
        <p:spPr/>
        <p:txBody>
          <a:bodyPr>
            <a:normAutofit fontScale="90000"/>
          </a:bodyPr>
          <a:lstStyle/>
          <a:p>
            <a:r>
              <a:rPr lang="en-US" dirty="0" err="1"/>
              <a:t>FoodHub</a:t>
            </a:r>
            <a:r>
              <a:rPr lang="en-US" dirty="0"/>
              <a:t> Business Performance &amp; Customer Insights Analysis</a:t>
            </a:r>
            <a:br>
              <a:rPr lang="en-US" dirty="0"/>
            </a:br>
            <a:r>
              <a:rPr lang="en-US" dirty="0"/>
              <a:t>Data Driven Business Insights</a:t>
            </a:r>
          </a:p>
        </p:txBody>
      </p:sp>
      <p:sp>
        <p:nvSpPr>
          <p:cNvPr id="3" name="Subtitle 2">
            <a:extLst>
              <a:ext uri="{FF2B5EF4-FFF2-40B4-BE49-F238E27FC236}">
                <a16:creationId xmlns:a16="http://schemas.microsoft.com/office/drawing/2014/main" id="{ED99A8F0-0B1E-C304-7722-8219B7CBCAE6}"/>
              </a:ext>
            </a:extLst>
          </p:cNvPr>
          <p:cNvSpPr>
            <a:spLocks noGrp="1"/>
          </p:cNvSpPr>
          <p:nvPr>
            <p:ph type="subTitle" idx="1"/>
          </p:nvPr>
        </p:nvSpPr>
        <p:spPr/>
        <p:txBody>
          <a:bodyPr/>
          <a:lstStyle/>
          <a:p>
            <a:r>
              <a:rPr lang="en-US" dirty="0"/>
              <a:t>By Sarah Wolberg</a:t>
            </a:r>
          </a:p>
        </p:txBody>
      </p:sp>
    </p:spTree>
    <p:extLst>
      <p:ext uri="{BB962C8B-B14F-4D97-AF65-F5344CB8AC3E}">
        <p14:creationId xmlns:p14="http://schemas.microsoft.com/office/powerpoint/2010/main" val="95161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E2591-B87F-EAD5-5616-D98A1599831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9421405-D431-E3D2-6A2F-6C18658BDDEA}"/>
              </a:ext>
            </a:extLst>
          </p:cNvPr>
          <p:cNvSpPr>
            <a:spLocks noGrp="1"/>
          </p:cNvSpPr>
          <p:nvPr>
            <p:ph idx="1"/>
          </p:nvPr>
        </p:nvSpPr>
        <p:spPr/>
        <p:txBody>
          <a:bodyPr/>
          <a:lstStyle/>
          <a:p>
            <a:r>
              <a:rPr lang="en-US" dirty="0" err="1"/>
              <a:t>FoodHub</a:t>
            </a:r>
            <a:r>
              <a:rPr lang="en-US" dirty="0"/>
              <a:t> is an online food delivery aggregator</a:t>
            </a:r>
          </a:p>
          <a:p>
            <a:r>
              <a:rPr lang="en-US" dirty="0"/>
              <a:t>Business goal: Improve demand understanding &amp; operational efficiency</a:t>
            </a:r>
          </a:p>
          <a:p>
            <a:r>
              <a:rPr lang="en-US" dirty="0"/>
              <a:t>Data-driven analysis of 1,898 food orders</a:t>
            </a:r>
          </a:p>
          <a:p>
            <a:endParaRPr lang="en-US" dirty="0"/>
          </a:p>
        </p:txBody>
      </p:sp>
    </p:spTree>
    <p:extLst>
      <p:ext uri="{BB962C8B-B14F-4D97-AF65-F5344CB8AC3E}">
        <p14:creationId xmlns:p14="http://schemas.microsoft.com/office/powerpoint/2010/main" val="339451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3145-0DF1-E810-1B35-BC3C276127CD}"/>
              </a:ext>
            </a:extLst>
          </p:cNvPr>
          <p:cNvSpPr>
            <a:spLocks noGrp="1"/>
          </p:cNvSpPr>
          <p:nvPr>
            <p:ph type="title"/>
          </p:nvPr>
        </p:nvSpPr>
        <p:spPr/>
        <p:txBody>
          <a:bodyPr/>
          <a:lstStyle/>
          <a:p>
            <a:r>
              <a:rPr lang="en-US" dirty="0"/>
              <a:t>Context </a:t>
            </a:r>
          </a:p>
        </p:txBody>
      </p:sp>
      <p:sp>
        <p:nvSpPr>
          <p:cNvPr id="9" name="Rectangle 5">
            <a:extLst>
              <a:ext uri="{FF2B5EF4-FFF2-40B4-BE49-F238E27FC236}">
                <a16:creationId xmlns:a16="http://schemas.microsoft.com/office/drawing/2014/main" id="{07B102BE-71AD-E446-E666-7FF3DC9C1F75}"/>
              </a:ext>
            </a:extLst>
          </p:cNvPr>
          <p:cNvSpPr>
            <a:spLocks noGrp="1" noChangeArrowheads="1"/>
          </p:cNvSpPr>
          <p:nvPr>
            <p:ph idx="1"/>
          </p:nvPr>
        </p:nvSpPr>
        <p:spPr bwMode="auto">
          <a:xfrm>
            <a:off x="633845" y="1585752"/>
            <a:ext cx="1092430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rPr>
              <a:t>The number of restaurants in New York is increasing day by day. Lots of students and busy professionals rely on those restaurants due to their hectic lifestyles. Online food delivery service is a great option for them. It provides them with good food from their favorite restaurants. A food aggregator company </a:t>
            </a:r>
            <a:r>
              <a:rPr kumimoji="0" lang="en-US" altLang="en-US" sz="2000" b="0" i="0" u="none" strike="noStrike" cap="none" normalizeH="0" baseline="0" dirty="0" err="1">
                <a:ln>
                  <a:noFill/>
                </a:ln>
                <a:solidFill>
                  <a:schemeClr val="tx1"/>
                </a:solidFill>
                <a:effectLst/>
                <a:latin typeface="+mn-lt"/>
              </a:rPr>
              <a:t>FoodHub</a:t>
            </a:r>
            <a:r>
              <a:rPr kumimoji="0" lang="en-US" altLang="en-US" sz="2000" b="0" i="0" u="none" strike="noStrike" cap="none" normalizeH="0" baseline="0" dirty="0">
                <a:ln>
                  <a:noFill/>
                </a:ln>
                <a:solidFill>
                  <a:schemeClr val="tx1"/>
                </a:solidFill>
                <a:effectLst/>
                <a:latin typeface="+mn-lt"/>
              </a:rPr>
              <a:t> offers access to multiple restaurants through a single smartphone app.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rPr>
              <a:t>The app allows the restaurants to receive a direct online order from a customer. The app assigns a delivery person from the company to pick up the order after it is confirmed by the restaurant. The delivery person then uses the map to reach the restaurant and waits for the food package. Once the food package is handed over to the delivery person, he/she confirms the pick-up in the app and travels to the customer's location to deliver the food. The delivery person confirms the drop-off in the app after delivering the food package to the customer. The customer can rate the order in the app. The food aggregator earns money by collecting a fixed margin of the delivery order from the restaurants.</a:t>
            </a:r>
          </a:p>
        </p:txBody>
      </p:sp>
    </p:spTree>
    <p:extLst>
      <p:ext uri="{BB962C8B-B14F-4D97-AF65-F5344CB8AC3E}">
        <p14:creationId xmlns:p14="http://schemas.microsoft.com/office/powerpoint/2010/main" val="573863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70FC-100C-CCEE-9CF7-B0A9DF6C18AC}"/>
              </a:ext>
            </a:extLst>
          </p:cNvPr>
          <p:cNvSpPr>
            <a:spLocks noGrp="1"/>
          </p:cNvSpPr>
          <p:nvPr>
            <p:ph type="title"/>
          </p:nvPr>
        </p:nvSpPr>
        <p:spPr/>
        <p:txBody>
          <a:bodyPr/>
          <a:lstStyle/>
          <a:p>
            <a:r>
              <a:rPr lang="en-US" dirty="0"/>
              <a:t>Objective</a:t>
            </a:r>
          </a:p>
        </p:txBody>
      </p:sp>
      <p:sp>
        <p:nvSpPr>
          <p:cNvPr id="4" name="Rectangle 1">
            <a:extLst>
              <a:ext uri="{FF2B5EF4-FFF2-40B4-BE49-F238E27FC236}">
                <a16:creationId xmlns:a16="http://schemas.microsoft.com/office/drawing/2014/main" id="{9B68C302-1219-7BD3-1C28-741FEEA9224B}"/>
              </a:ext>
            </a:extLst>
          </p:cNvPr>
          <p:cNvSpPr>
            <a:spLocks noGrp="1" noChangeArrowheads="1"/>
          </p:cNvSpPr>
          <p:nvPr>
            <p:ph idx="1"/>
          </p:nvPr>
        </p:nvSpPr>
        <p:spPr bwMode="auto">
          <a:xfrm>
            <a:off x="838200" y="1762630"/>
            <a:ext cx="1075805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The food aggregator company has stored the data of the different orders made by the registered customers in their online portal. They want to analyze the data to get a fair idea about the demand of different restaurants which will help them in enhancing their customer experience. Suppose you are hired as a Data Scientist in this company and the Data Science team has shared some of the key questions that need to be answered. Perform the data analysis to find answers to these questions that will help the company to improve the business.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15544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9ADE-95D6-E686-1ABE-D8C3100C15D6}"/>
              </a:ext>
            </a:extLst>
          </p:cNvPr>
          <p:cNvSpPr>
            <a:spLocks noGrp="1"/>
          </p:cNvSpPr>
          <p:nvPr>
            <p:ph type="title"/>
          </p:nvPr>
        </p:nvSpPr>
        <p:spPr/>
        <p:txBody>
          <a:bodyPr/>
          <a:lstStyle/>
          <a:p>
            <a:r>
              <a:rPr lang="en-US" dirty="0"/>
              <a:t>Data Description and Data Dictionary</a:t>
            </a:r>
          </a:p>
        </p:txBody>
      </p:sp>
      <p:sp>
        <p:nvSpPr>
          <p:cNvPr id="3" name="Content Placeholder 2">
            <a:extLst>
              <a:ext uri="{FF2B5EF4-FFF2-40B4-BE49-F238E27FC236}">
                <a16:creationId xmlns:a16="http://schemas.microsoft.com/office/drawing/2014/main" id="{FF8B1AB7-0DA6-2682-5740-52048F3716E4}"/>
              </a:ext>
            </a:extLst>
          </p:cNvPr>
          <p:cNvSpPr>
            <a:spLocks noGrp="1"/>
          </p:cNvSpPr>
          <p:nvPr>
            <p:ph idx="1"/>
          </p:nvPr>
        </p:nvSpPr>
        <p:spPr/>
        <p:txBody>
          <a:bodyPr>
            <a:noAutofit/>
          </a:bodyPr>
          <a:lstStyle/>
          <a:p>
            <a:pPr marL="0" indent="0">
              <a:buNone/>
            </a:pPr>
            <a:r>
              <a:rPr lang="en-US" sz="1400" b="1" dirty="0"/>
              <a:t>Data Description</a:t>
            </a:r>
            <a:endParaRPr lang="en-US" sz="1400" dirty="0"/>
          </a:p>
          <a:p>
            <a:pPr marL="0" indent="0">
              <a:buNone/>
            </a:pPr>
            <a:r>
              <a:rPr lang="en-US" sz="1400" dirty="0"/>
              <a:t>The data contains the different data related to a food order. The detailed data dictionary is given below.</a:t>
            </a:r>
          </a:p>
          <a:p>
            <a:pPr marL="0" indent="0">
              <a:buNone/>
            </a:pPr>
            <a:endParaRPr lang="en-US" sz="1400" b="1" dirty="0"/>
          </a:p>
          <a:p>
            <a:pPr marL="0" indent="0">
              <a:buNone/>
            </a:pPr>
            <a:r>
              <a:rPr lang="en-US" sz="1400" b="1" dirty="0"/>
              <a:t>Data Dictionary</a:t>
            </a:r>
            <a:endParaRPr lang="en-US" sz="1400" dirty="0"/>
          </a:p>
          <a:p>
            <a:r>
              <a:rPr lang="en-US" sz="1400" dirty="0" err="1"/>
              <a:t>order_id</a:t>
            </a:r>
            <a:r>
              <a:rPr lang="en-US" sz="1400" dirty="0"/>
              <a:t>: Unique ID of the order</a:t>
            </a:r>
          </a:p>
          <a:p>
            <a:r>
              <a:rPr lang="en-US" sz="1400" dirty="0" err="1"/>
              <a:t>customer_id</a:t>
            </a:r>
            <a:r>
              <a:rPr lang="en-US" sz="1400" dirty="0"/>
              <a:t>: ID of the customer who ordered the food</a:t>
            </a:r>
          </a:p>
          <a:p>
            <a:r>
              <a:rPr lang="en-US" sz="1400" dirty="0" err="1"/>
              <a:t>restaurant_name</a:t>
            </a:r>
            <a:r>
              <a:rPr lang="en-US" sz="1400" dirty="0"/>
              <a:t>: Name of the restaurant</a:t>
            </a:r>
          </a:p>
          <a:p>
            <a:r>
              <a:rPr lang="en-US" sz="1400" dirty="0" err="1"/>
              <a:t>cuisine_type</a:t>
            </a:r>
            <a:r>
              <a:rPr lang="en-US" sz="1400" dirty="0"/>
              <a:t>: Cuisine ordered by the customer</a:t>
            </a:r>
          </a:p>
          <a:p>
            <a:r>
              <a:rPr lang="en-US" sz="1400" dirty="0" err="1"/>
              <a:t>cost_of_the_order</a:t>
            </a:r>
            <a:r>
              <a:rPr lang="en-US" sz="1400" dirty="0"/>
              <a:t>: Cost of the order</a:t>
            </a:r>
          </a:p>
          <a:p>
            <a:r>
              <a:rPr lang="en-US" sz="1400" dirty="0" err="1"/>
              <a:t>day_of_the_week</a:t>
            </a:r>
            <a:r>
              <a:rPr lang="en-US" sz="1400" dirty="0"/>
              <a:t>: Indicates whether the order is placed on a weekday or weekend (The weekday is from Monday to Friday and the weekend is Saturday and Sunday)</a:t>
            </a:r>
          </a:p>
          <a:p>
            <a:r>
              <a:rPr lang="en-US" sz="1400" dirty="0"/>
              <a:t> rating: Rating given by the customer out of 5</a:t>
            </a:r>
          </a:p>
          <a:p>
            <a:r>
              <a:rPr lang="en-US" sz="1400" dirty="0" err="1"/>
              <a:t>food_preparation_time</a:t>
            </a:r>
            <a:r>
              <a:rPr lang="en-US" sz="1400" dirty="0"/>
              <a:t>: Time (in minutes) taken by the restaurant to prepare the food. This is calculated by taking the difference between the timestamps of the restaurant's order confirmation and the delivery person's pick-up confirmation.</a:t>
            </a:r>
          </a:p>
          <a:p>
            <a:r>
              <a:rPr lang="en-US" sz="1400" dirty="0"/>
              <a:t> </a:t>
            </a:r>
            <a:r>
              <a:rPr lang="en-US" sz="1400" dirty="0" err="1"/>
              <a:t>delivery_time</a:t>
            </a:r>
            <a:r>
              <a:rPr lang="en-US" sz="1400" dirty="0"/>
              <a:t>: Time (in minutes) taken by the delivery person to deliver the food package. This is calculated by taking the difference between the timestamps of the delivery person's pick-up confirmation and drop-off information</a:t>
            </a:r>
          </a:p>
        </p:txBody>
      </p:sp>
    </p:spTree>
    <p:extLst>
      <p:ext uri="{BB962C8B-B14F-4D97-AF65-F5344CB8AC3E}">
        <p14:creationId xmlns:p14="http://schemas.microsoft.com/office/powerpoint/2010/main" val="1956207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927E-9847-E104-94F5-533F48E55F68}"/>
              </a:ext>
            </a:extLst>
          </p:cNvPr>
          <p:cNvSpPr>
            <a:spLocks noGrp="1"/>
          </p:cNvSpPr>
          <p:nvPr>
            <p:ph type="title"/>
          </p:nvPr>
        </p:nvSpPr>
        <p:spPr/>
        <p:txBody>
          <a:bodyPr/>
          <a:lstStyle/>
          <a:p>
            <a:r>
              <a:rPr lang="en-US" dirty="0"/>
              <a:t>Question 1: How many rows and columns are present in the data? [0.5 mark]</a:t>
            </a:r>
          </a:p>
        </p:txBody>
      </p:sp>
      <p:sp>
        <p:nvSpPr>
          <p:cNvPr id="3" name="Content Placeholder 2">
            <a:extLst>
              <a:ext uri="{FF2B5EF4-FFF2-40B4-BE49-F238E27FC236}">
                <a16:creationId xmlns:a16="http://schemas.microsoft.com/office/drawing/2014/main" id="{4C1D9561-A15A-B43D-EA41-E6FBDB00B5DE}"/>
              </a:ext>
            </a:extLst>
          </p:cNvPr>
          <p:cNvSpPr>
            <a:spLocks noGrp="1"/>
          </p:cNvSpPr>
          <p:nvPr>
            <p:ph idx="1"/>
          </p:nvPr>
        </p:nvSpPr>
        <p:spPr/>
        <p:txBody>
          <a:bodyPr/>
          <a:lstStyle/>
          <a:p>
            <a:r>
              <a:rPr lang="en-US" dirty="0"/>
              <a:t>Dataset shape: 1,898 rows × 9 columns</a:t>
            </a:r>
          </a:p>
        </p:txBody>
      </p:sp>
    </p:spTree>
    <p:extLst>
      <p:ext uri="{BB962C8B-B14F-4D97-AF65-F5344CB8AC3E}">
        <p14:creationId xmlns:p14="http://schemas.microsoft.com/office/powerpoint/2010/main" val="2663919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DD163-7C90-DFF9-EC79-B69FFB7DFC4F}"/>
              </a:ext>
            </a:extLst>
          </p:cNvPr>
          <p:cNvSpPr>
            <a:spLocks noGrp="1"/>
          </p:cNvSpPr>
          <p:nvPr>
            <p:ph type="title"/>
          </p:nvPr>
        </p:nvSpPr>
        <p:spPr/>
        <p:txBody>
          <a:bodyPr>
            <a:normAutofit fontScale="90000"/>
          </a:bodyPr>
          <a:lstStyle/>
          <a:p>
            <a:r>
              <a:rPr lang="en-US" b="1" dirty="0"/>
              <a:t>Question 2: What are the datatypes of the different columns in the dataset? [0.5 mark]</a:t>
            </a:r>
            <a:br>
              <a:rPr lang="en-US" b="1" dirty="0"/>
            </a:br>
            <a:endParaRPr lang="en-US" dirty="0"/>
          </a:p>
        </p:txBody>
      </p:sp>
      <p:pic>
        <p:nvPicPr>
          <p:cNvPr id="4" name="Picture 3">
            <a:extLst>
              <a:ext uri="{FF2B5EF4-FFF2-40B4-BE49-F238E27FC236}">
                <a16:creationId xmlns:a16="http://schemas.microsoft.com/office/drawing/2014/main" id="{AE4C5B5A-40E8-9551-59A4-02CA84ED76FB}"/>
              </a:ext>
            </a:extLst>
          </p:cNvPr>
          <p:cNvPicPr>
            <a:picLocks noChangeAspect="1"/>
          </p:cNvPicPr>
          <p:nvPr/>
        </p:nvPicPr>
        <p:blipFill>
          <a:blip r:embed="rId2"/>
          <a:stretch>
            <a:fillRect/>
          </a:stretch>
        </p:blipFill>
        <p:spPr>
          <a:xfrm>
            <a:off x="6834248" y="1482436"/>
            <a:ext cx="4249388" cy="2674505"/>
          </a:xfrm>
          <a:prstGeom prst="rect">
            <a:avLst/>
          </a:prstGeom>
        </p:spPr>
      </p:pic>
      <p:sp>
        <p:nvSpPr>
          <p:cNvPr id="5" name="Rectangle 1">
            <a:extLst>
              <a:ext uri="{FF2B5EF4-FFF2-40B4-BE49-F238E27FC236}">
                <a16:creationId xmlns:a16="http://schemas.microsoft.com/office/drawing/2014/main" id="{21F98E4A-32DD-3A84-FFF5-BA7CBE245843}"/>
              </a:ext>
            </a:extLst>
          </p:cNvPr>
          <p:cNvSpPr>
            <a:spLocks noGrp="1" noChangeArrowheads="1"/>
          </p:cNvSpPr>
          <p:nvPr>
            <p:ph idx="1"/>
          </p:nvPr>
        </p:nvSpPr>
        <p:spPr bwMode="auto">
          <a:xfrm>
            <a:off x="838200" y="1482436"/>
            <a:ext cx="588125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mn-lt"/>
              </a:rPr>
              <a:t>Key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mn-lt"/>
              </a:rPr>
              <a:t>Total Orders: 1,898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mn-lt"/>
              </a:rPr>
              <a:t>Total Variables: 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mn-lt"/>
              </a:rPr>
              <a:t>Memory Usage: 133.6 KB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mn-lt"/>
              </a:rPr>
              <a:t>Missing Values: None (complete dataset — no cleaning required)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mn-lt"/>
              </a:rPr>
              <a:t>Variable Types: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mn-lt"/>
              </a:rPr>
              <a:t>Numeric Variables (used for calculations):</a:t>
            </a: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order_id</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customer_id</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cost_of_the_order</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food_preparation_time</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delivery_time</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mn-lt"/>
              </a:rPr>
              <a:t>Categorical Variables (text-based):</a:t>
            </a: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restaurant_name</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cuisine_type</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000000"/>
                </a:solidFill>
                <a:effectLst/>
                <a:latin typeface="+mn-lt"/>
              </a:rPr>
              <a:t>day_of_the_week</a:t>
            </a:r>
            <a:endParaRPr kumimoji="0" lang="en-US" altLang="en-US" sz="1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000000"/>
                </a:solidFill>
                <a:effectLst/>
                <a:latin typeface="+mn-lt"/>
              </a:rPr>
              <a:t>rating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mn-lt"/>
              </a:rPr>
              <a:t> Important Insight: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dirty="0">
                <a:ln>
                  <a:noFill/>
                </a:ln>
                <a:solidFill>
                  <a:srgbClr val="000000"/>
                </a:solidFill>
                <a:effectLst/>
                <a:latin typeface="+mn-lt"/>
              </a:rPr>
              <a:t>The rating column is stored as text (object type) because it contains the value “Not given”, meaning some customers did not provide feedback.</a:t>
            </a:r>
            <a:endParaRPr kumimoji="0" lang="en-US" altLang="en-US" sz="140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520301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5E5B-CE34-C094-C83C-E97E1BA38190}"/>
              </a:ext>
            </a:extLst>
          </p:cNvPr>
          <p:cNvSpPr>
            <a:spLocks noGrp="1"/>
          </p:cNvSpPr>
          <p:nvPr>
            <p:ph type="title"/>
          </p:nvPr>
        </p:nvSpPr>
        <p:spPr/>
        <p:txBody>
          <a:bodyPr>
            <a:noAutofit/>
          </a:bodyPr>
          <a:lstStyle/>
          <a:p>
            <a:r>
              <a:rPr lang="en-US" sz="3200" b="1" dirty="0"/>
              <a:t>Question 3: Are there any missing values in the data? If yes, treat them using an appropriate </a:t>
            </a:r>
            <a:r>
              <a:rPr lang="en-US" sz="2800" b="1" dirty="0"/>
              <a:t>method</a:t>
            </a:r>
            <a:r>
              <a:rPr lang="en-US" sz="3200" b="1" dirty="0"/>
              <a:t>. [1 Mark]</a:t>
            </a:r>
            <a:br>
              <a:rPr lang="en-US" sz="3200" b="1" dirty="0"/>
            </a:br>
            <a:endParaRPr lang="en-US" sz="3200" dirty="0"/>
          </a:p>
        </p:txBody>
      </p:sp>
      <p:sp>
        <p:nvSpPr>
          <p:cNvPr id="3" name="Content Placeholder 2">
            <a:extLst>
              <a:ext uri="{FF2B5EF4-FFF2-40B4-BE49-F238E27FC236}">
                <a16:creationId xmlns:a16="http://schemas.microsoft.com/office/drawing/2014/main" id="{DDDED3F8-AC1A-E7E0-7AFF-3DB1E226E1C0}"/>
              </a:ext>
            </a:extLst>
          </p:cNvPr>
          <p:cNvSpPr>
            <a:spLocks noGrp="1"/>
          </p:cNvSpPr>
          <p:nvPr>
            <p:ph idx="1"/>
          </p:nvPr>
        </p:nvSpPr>
        <p:spPr>
          <a:xfrm>
            <a:off x="838200" y="1825625"/>
            <a:ext cx="3373582" cy="4351338"/>
          </a:xfrm>
        </p:spPr>
        <p:txBody>
          <a:bodyPr/>
          <a:lstStyle/>
          <a:p>
            <a:r>
              <a:rPr lang="en-US" dirty="0"/>
              <a:t>There are no Missing values.</a:t>
            </a:r>
          </a:p>
        </p:txBody>
      </p:sp>
      <p:pic>
        <p:nvPicPr>
          <p:cNvPr id="4" name="Picture 3">
            <a:extLst>
              <a:ext uri="{FF2B5EF4-FFF2-40B4-BE49-F238E27FC236}">
                <a16:creationId xmlns:a16="http://schemas.microsoft.com/office/drawing/2014/main" id="{7B6BEE64-FDD8-A007-BADD-B2B5C51D735B}"/>
              </a:ext>
            </a:extLst>
          </p:cNvPr>
          <p:cNvPicPr>
            <a:picLocks noChangeAspect="1"/>
          </p:cNvPicPr>
          <p:nvPr/>
        </p:nvPicPr>
        <p:blipFill>
          <a:blip r:embed="rId2"/>
          <a:stretch>
            <a:fillRect/>
          </a:stretch>
        </p:blipFill>
        <p:spPr>
          <a:xfrm>
            <a:off x="5419436" y="1825625"/>
            <a:ext cx="4622800" cy="2921000"/>
          </a:xfrm>
          <a:prstGeom prst="rect">
            <a:avLst/>
          </a:prstGeom>
        </p:spPr>
      </p:pic>
    </p:spTree>
    <p:extLst>
      <p:ext uri="{BB962C8B-B14F-4D97-AF65-F5344CB8AC3E}">
        <p14:creationId xmlns:p14="http://schemas.microsoft.com/office/powerpoint/2010/main" val="3565779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C7B117-12D3-BD7E-6D29-097E955C5799}"/>
              </a:ext>
            </a:extLst>
          </p:cNvPr>
          <p:cNvSpPr>
            <a:spLocks noGrp="1"/>
          </p:cNvSpPr>
          <p:nvPr>
            <p:ph idx="1"/>
          </p:nvPr>
        </p:nvSpPr>
        <p:spPr>
          <a:xfrm>
            <a:off x="990599" y="4925015"/>
            <a:ext cx="10176164" cy="955965"/>
          </a:xfrm>
        </p:spPr>
        <p:txBody>
          <a:bodyPr>
            <a:normAutofit/>
          </a:bodyPr>
          <a:lstStyle/>
          <a:p>
            <a:pPr marL="0" indent="0">
              <a:buNone/>
            </a:pPr>
            <a:r>
              <a:rPr lang="en-US" sz="1600" dirty="0"/>
              <a:t>The minimum food preparation time is 20 minutes, the average preparation time is approximately 27.37 minutes, and the maximum preparation time is 35 minutes. This indicates that most orders are prepared within a relatively narrow time range, suggesting consistent kitchen operations across restaurants.</a:t>
            </a:r>
          </a:p>
        </p:txBody>
      </p:sp>
      <p:sp>
        <p:nvSpPr>
          <p:cNvPr id="4" name="Rectangle 1">
            <a:extLst>
              <a:ext uri="{FF2B5EF4-FFF2-40B4-BE49-F238E27FC236}">
                <a16:creationId xmlns:a16="http://schemas.microsoft.com/office/drawing/2014/main" id="{A5C26C8E-CE51-E827-4173-873E9D81FB4B}"/>
              </a:ext>
            </a:extLst>
          </p:cNvPr>
          <p:cNvSpPr>
            <a:spLocks noGrp="1" noChangeArrowheads="1"/>
          </p:cNvSpPr>
          <p:nvPr>
            <p:ph type="title"/>
          </p:nvPr>
        </p:nvSpPr>
        <p:spPr bwMode="auto">
          <a:xfrm>
            <a:off x="838201" y="104577"/>
            <a:ext cx="105156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n-lt"/>
              </a:rPr>
              <a:t>Question 4: Check the statistical summary of the data. What is the minimum, average, and maximum time it takes for food to be prepared once an order is placed? [2 marks]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mn-lt"/>
              </a:rPr>
            </a:br>
            <a:endParaRPr kumimoji="0" lang="en-US" altLang="en-US" sz="24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52E10B88-9CA6-55BE-C873-E78A1E79B7A5}"/>
              </a:ext>
            </a:extLst>
          </p:cNvPr>
          <p:cNvPicPr>
            <a:picLocks noChangeAspect="1"/>
          </p:cNvPicPr>
          <p:nvPr/>
        </p:nvPicPr>
        <p:blipFill>
          <a:blip r:embed="rId2"/>
          <a:stretch>
            <a:fillRect/>
          </a:stretch>
        </p:blipFill>
        <p:spPr>
          <a:xfrm>
            <a:off x="990599" y="1552101"/>
            <a:ext cx="10737023" cy="2008517"/>
          </a:xfrm>
          <a:prstGeom prst="rect">
            <a:avLst/>
          </a:prstGeom>
        </p:spPr>
      </p:pic>
      <p:pic>
        <p:nvPicPr>
          <p:cNvPr id="6" name="Picture 5">
            <a:extLst>
              <a:ext uri="{FF2B5EF4-FFF2-40B4-BE49-F238E27FC236}">
                <a16:creationId xmlns:a16="http://schemas.microsoft.com/office/drawing/2014/main" id="{33C6B2B9-22E2-ABA1-99A6-8EA099144725}"/>
              </a:ext>
            </a:extLst>
          </p:cNvPr>
          <p:cNvPicPr>
            <a:picLocks noChangeAspect="1"/>
          </p:cNvPicPr>
          <p:nvPr/>
        </p:nvPicPr>
        <p:blipFill>
          <a:blip r:embed="rId3"/>
          <a:stretch>
            <a:fillRect/>
          </a:stretch>
        </p:blipFill>
        <p:spPr>
          <a:xfrm>
            <a:off x="990599" y="3760216"/>
            <a:ext cx="5867400" cy="965200"/>
          </a:xfrm>
          <a:prstGeom prst="rect">
            <a:avLst/>
          </a:prstGeom>
        </p:spPr>
      </p:pic>
    </p:spTree>
    <p:extLst>
      <p:ext uri="{BB962C8B-B14F-4D97-AF65-F5344CB8AC3E}">
        <p14:creationId xmlns:p14="http://schemas.microsoft.com/office/powerpoint/2010/main" val="1170165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15547-9F46-F96A-3F76-F27F559DD4C0}"/>
              </a:ext>
            </a:extLst>
          </p:cNvPr>
          <p:cNvSpPr>
            <a:spLocks noGrp="1"/>
          </p:cNvSpPr>
          <p:nvPr>
            <p:ph idx="1"/>
          </p:nvPr>
        </p:nvSpPr>
        <p:spPr>
          <a:xfrm>
            <a:off x="291433" y="1609614"/>
            <a:ext cx="4537364" cy="5012491"/>
          </a:xfrm>
        </p:spPr>
        <p:txBody>
          <a:bodyPr>
            <a:normAutofit/>
          </a:bodyPr>
          <a:lstStyle/>
          <a:p>
            <a:pPr marL="0" indent="0">
              <a:buNone/>
            </a:pPr>
            <a:r>
              <a:rPr lang="en-US" sz="1600" dirty="0"/>
              <a:t>Here this means that the total number of orders is 1898 and total orders not rated is 736 which is 38.8% of all orders. This indicates that a significant proportion of customers are not providing feedback, which can limit the company’s ability to assess customer satisfaction accurately.</a:t>
            </a:r>
          </a:p>
          <a:p>
            <a:pPr marL="0" indent="0">
              <a:buNone/>
            </a:pPr>
            <a:endParaRPr lang="en-US" sz="1600" dirty="0"/>
          </a:p>
        </p:txBody>
      </p:sp>
      <p:sp>
        <p:nvSpPr>
          <p:cNvPr id="4" name="Rectangle 1">
            <a:extLst>
              <a:ext uri="{FF2B5EF4-FFF2-40B4-BE49-F238E27FC236}">
                <a16:creationId xmlns:a16="http://schemas.microsoft.com/office/drawing/2014/main" id="{1CA3D389-A9E1-7A1A-8E54-ED486F37391F}"/>
              </a:ext>
            </a:extLst>
          </p:cNvPr>
          <p:cNvSpPr>
            <a:spLocks noGrp="1" noChangeArrowheads="1"/>
          </p:cNvSpPr>
          <p:nvPr>
            <p:ph type="title"/>
          </p:nvPr>
        </p:nvSpPr>
        <p:spPr bwMode="auto">
          <a:xfrm>
            <a:off x="838200" y="473909"/>
            <a:ext cx="1042977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a:ln>
                  <a:noFill/>
                </a:ln>
                <a:solidFill>
                  <a:schemeClr val="tx1"/>
                </a:solidFill>
                <a:effectLst/>
                <a:latin typeface="var(--jp-content-font-family)"/>
              </a:rPr>
              <a:t>Question 5: How many orders are not rated? [1 mark]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0B72C9E8-6BA2-04CB-D559-E7223CFA3024}"/>
              </a:ext>
            </a:extLst>
          </p:cNvPr>
          <p:cNvPicPr>
            <a:picLocks noChangeAspect="1"/>
          </p:cNvPicPr>
          <p:nvPr/>
        </p:nvPicPr>
        <p:blipFill>
          <a:blip r:embed="rId2"/>
          <a:stretch>
            <a:fillRect/>
          </a:stretch>
        </p:blipFill>
        <p:spPr>
          <a:xfrm>
            <a:off x="4828797" y="1371600"/>
            <a:ext cx="7009911" cy="3249004"/>
          </a:xfrm>
          <a:prstGeom prst="rect">
            <a:avLst/>
          </a:prstGeom>
        </p:spPr>
      </p:pic>
    </p:spTree>
    <p:extLst>
      <p:ext uri="{BB962C8B-B14F-4D97-AF65-F5344CB8AC3E}">
        <p14:creationId xmlns:p14="http://schemas.microsoft.com/office/powerpoint/2010/main" val="2516343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A531-3717-1668-5286-F7A0C366E0EF}"/>
              </a:ext>
            </a:extLst>
          </p:cNvPr>
          <p:cNvSpPr>
            <a:spLocks noGrp="1"/>
          </p:cNvSpPr>
          <p:nvPr>
            <p:ph type="title"/>
          </p:nvPr>
        </p:nvSpPr>
        <p:spPr>
          <a:xfrm>
            <a:off x="741218" y="2498725"/>
            <a:ext cx="10515600" cy="1325563"/>
          </a:xfrm>
        </p:spPr>
        <p:txBody>
          <a:bodyPr/>
          <a:lstStyle/>
          <a:p>
            <a:r>
              <a:rPr lang="en-US" dirty="0"/>
              <a:t>Exploratory Data Analysis</a:t>
            </a:r>
          </a:p>
        </p:txBody>
      </p:sp>
    </p:spTree>
    <p:extLst>
      <p:ext uri="{BB962C8B-B14F-4D97-AF65-F5344CB8AC3E}">
        <p14:creationId xmlns:p14="http://schemas.microsoft.com/office/powerpoint/2010/main" val="2591106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16CC62-40EA-A06E-5236-8C841B6AF85A}"/>
              </a:ext>
            </a:extLst>
          </p:cNvPr>
          <p:cNvSpPr>
            <a:spLocks noGrp="1"/>
          </p:cNvSpPr>
          <p:nvPr>
            <p:ph idx="1"/>
          </p:nvPr>
        </p:nvSpPr>
        <p:spPr>
          <a:xfrm>
            <a:off x="838199" y="3616035"/>
            <a:ext cx="9497291" cy="2560927"/>
          </a:xfrm>
        </p:spPr>
        <p:txBody>
          <a:bodyPr>
            <a:normAutofit/>
          </a:bodyPr>
          <a:lstStyle/>
          <a:p>
            <a:endParaRPr lang="en-US" sz="1200" dirty="0"/>
          </a:p>
          <a:p>
            <a:r>
              <a:rPr lang="en-US" sz="1200" dirty="0"/>
              <a:t>There are 1898 unique order IDs. This confirms that each row represents a unique order. No duplicate orders were detected in the data.</a:t>
            </a:r>
          </a:p>
          <a:p>
            <a:r>
              <a:rPr lang="en-US" sz="1200" dirty="0"/>
              <a:t>There are 1200 unique customers and 1898 orders. So some customers are have placed multiple orders. The Average orders per customer place are 1898/1200 = ~1.58 orders or 1.6 orders. However, this is a low repeat rate and this suggests that customer retention strategies could further improve from long term engagement.</a:t>
            </a:r>
          </a:p>
          <a:p>
            <a:r>
              <a:rPr lang="en-US" sz="1200" dirty="0"/>
              <a:t>There are 178 unique restaurants. The market is fragmented. A few restaurants may drive a large portion of the revenue.</a:t>
            </a:r>
          </a:p>
          <a:p>
            <a:r>
              <a:rPr lang="en-US" sz="1200" dirty="0"/>
              <a:t>There are also 14 </a:t>
            </a:r>
            <a:r>
              <a:rPr lang="en-US" sz="1200" dirty="0" err="1"/>
              <a:t>cousine</a:t>
            </a:r>
            <a:r>
              <a:rPr lang="en-US" sz="1200" dirty="0"/>
              <a:t> categories where American </a:t>
            </a:r>
            <a:r>
              <a:rPr lang="en-US" sz="1200" dirty="0" err="1"/>
              <a:t>couisne</a:t>
            </a:r>
            <a:r>
              <a:rPr lang="en-US" sz="1200" dirty="0"/>
              <a:t> is </a:t>
            </a:r>
            <a:r>
              <a:rPr lang="en-US" sz="1200" dirty="0" err="1"/>
              <a:t>dominante</a:t>
            </a:r>
            <a:r>
              <a:rPr lang="en-US" sz="1200" dirty="0"/>
              <a:t> with the highest count followed by </a:t>
            </a:r>
            <a:r>
              <a:rPr lang="en-US" sz="1200" dirty="0" err="1"/>
              <a:t>Japenese</a:t>
            </a:r>
            <a:r>
              <a:rPr lang="en-US" sz="1200" dirty="0"/>
              <a:t> and Italian Cuisines. Other cuisines such as Korean, </a:t>
            </a:r>
            <a:r>
              <a:rPr lang="en-US" sz="1200" dirty="0" err="1"/>
              <a:t>Veitnamese</a:t>
            </a:r>
            <a:r>
              <a:rPr lang="en-US" sz="1200" dirty="0"/>
              <a:t>, Southern, Thai, etc. have a lower demand </a:t>
            </a:r>
            <a:r>
              <a:rPr lang="en-US" sz="1200" dirty="0" err="1"/>
              <a:t>presense</a:t>
            </a:r>
            <a:r>
              <a:rPr lang="en-US" sz="1200" dirty="0"/>
              <a:t>. Overall, </a:t>
            </a:r>
            <a:r>
              <a:rPr lang="en-US" sz="1200" dirty="0" err="1"/>
              <a:t>FoodHub</a:t>
            </a:r>
            <a:r>
              <a:rPr lang="en-US" sz="1200" dirty="0"/>
              <a:t> demand is concentrated in a few </a:t>
            </a:r>
            <a:r>
              <a:rPr lang="en-US" sz="1200" dirty="0" err="1"/>
              <a:t>coisines</a:t>
            </a:r>
            <a:r>
              <a:rPr lang="en-US" sz="1200" dirty="0"/>
              <a:t>.</a:t>
            </a:r>
          </a:p>
          <a:p>
            <a:endParaRPr lang="en-US" sz="1200" dirty="0"/>
          </a:p>
          <a:p>
            <a:endParaRPr lang="en-US" sz="1200" dirty="0"/>
          </a:p>
        </p:txBody>
      </p:sp>
      <p:sp>
        <p:nvSpPr>
          <p:cNvPr id="4" name="Rectangle 1">
            <a:extLst>
              <a:ext uri="{FF2B5EF4-FFF2-40B4-BE49-F238E27FC236}">
                <a16:creationId xmlns:a16="http://schemas.microsoft.com/office/drawing/2014/main" id="{C4CF27D8-F5B9-1AB9-A14A-A07F83F5DCF5}"/>
              </a:ext>
            </a:extLst>
          </p:cNvPr>
          <p:cNvSpPr>
            <a:spLocks noGrp="1" noChangeArrowheads="1"/>
          </p:cNvSpPr>
          <p:nvPr>
            <p:ph type="title"/>
          </p:nvPr>
        </p:nvSpPr>
        <p:spPr bwMode="auto">
          <a:xfrm>
            <a:off x="838201" y="104578"/>
            <a:ext cx="1051559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n-lt"/>
              </a:rPr>
              <a:t>Question 6: Explore all the variables and provide observations on their distributions. (Generally, histograms, boxplots, </a:t>
            </a:r>
            <a:r>
              <a:rPr kumimoji="0" lang="en-US" altLang="en-US" sz="2400" b="1" i="0" u="none" strike="noStrike" cap="none" normalizeH="0" baseline="0" dirty="0" err="1">
                <a:ln>
                  <a:noFill/>
                </a:ln>
                <a:solidFill>
                  <a:schemeClr val="tx1"/>
                </a:solidFill>
                <a:effectLst/>
                <a:latin typeface="+mn-lt"/>
              </a:rPr>
              <a:t>countplots</a:t>
            </a:r>
            <a:r>
              <a:rPr kumimoji="0" lang="en-US" altLang="en-US" sz="2400" b="1" i="0" u="none" strike="noStrike" cap="none" normalizeH="0" baseline="0" dirty="0">
                <a:ln>
                  <a:noFill/>
                </a:ln>
                <a:solidFill>
                  <a:schemeClr val="tx1"/>
                </a:solidFill>
                <a:effectLst/>
                <a:latin typeface="+mn-lt"/>
              </a:rPr>
              <a:t>, etc. are used for univariate exploration.) [9 marks]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mn-lt"/>
              </a:rPr>
            </a:br>
            <a:endParaRPr kumimoji="0" lang="en-US" altLang="en-US" sz="24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01435C9C-5AE4-4611-FCFA-3B0F4CCEB266}"/>
              </a:ext>
            </a:extLst>
          </p:cNvPr>
          <p:cNvPicPr>
            <a:picLocks noChangeAspect="1"/>
          </p:cNvPicPr>
          <p:nvPr/>
        </p:nvPicPr>
        <p:blipFill>
          <a:blip r:embed="rId2"/>
          <a:stretch>
            <a:fillRect/>
          </a:stretch>
        </p:blipFill>
        <p:spPr>
          <a:xfrm>
            <a:off x="1032163" y="1107312"/>
            <a:ext cx="7772400" cy="2660042"/>
          </a:xfrm>
          <a:prstGeom prst="rect">
            <a:avLst/>
          </a:prstGeom>
        </p:spPr>
      </p:pic>
      <p:sp>
        <p:nvSpPr>
          <p:cNvPr id="6" name="Rectangle 2">
            <a:extLst>
              <a:ext uri="{FF2B5EF4-FFF2-40B4-BE49-F238E27FC236}">
                <a16:creationId xmlns:a16="http://schemas.microsoft.com/office/drawing/2014/main" id="{24B06A4D-9F12-1D4A-131A-B1F90C719A5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var(--jp-content-font-family)"/>
              </a:rPr>
              <a:t>This tells us that there are 178 unique resturaunts. The market is fragmented. A few resturaunts may drive a large portion of the revenue.</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62B040B6-FAE4-7B32-DF81-A5F5B8E91407}"/>
              </a:ext>
            </a:extLst>
          </p:cNvPr>
          <p:cNvSpPr>
            <a:spLocks noChangeArrowheads="1"/>
          </p:cNvSpPr>
          <p:nvPr/>
        </p:nvSpPr>
        <p:spPr bwMode="auto">
          <a:xfrm>
            <a:off x="152400" y="150168"/>
            <a:ext cx="73468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var(--jp-content-font-family)"/>
              </a:rPr>
              <a:t>This tells us that there are 178 unique resturaunts. The market is fragmented. A few resturaunts may drive a large portion of the revenue.</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rPr>
            </a:br>
            <a:endParaRPr kumimoji="0" lang="en-US" altLang="en-US" sz="10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4059728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7486F-590F-3016-B198-6546A8CB0E02}"/>
              </a:ext>
            </a:extLst>
          </p:cNvPr>
          <p:cNvSpPr>
            <a:spLocks noGrp="1"/>
          </p:cNvSpPr>
          <p:nvPr>
            <p:ph type="title"/>
          </p:nvPr>
        </p:nvSpPr>
        <p:spPr/>
        <p:txBody>
          <a:bodyPr/>
          <a:lstStyle/>
          <a:p>
            <a:r>
              <a:rPr lang="en-US" dirty="0"/>
              <a:t>Cost of the Order</a:t>
            </a:r>
          </a:p>
        </p:txBody>
      </p:sp>
      <p:sp>
        <p:nvSpPr>
          <p:cNvPr id="3" name="Content Placeholder 2">
            <a:extLst>
              <a:ext uri="{FF2B5EF4-FFF2-40B4-BE49-F238E27FC236}">
                <a16:creationId xmlns:a16="http://schemas.microsoft.com/office/drawing/2014/main" id="{0C434427-4824-5D0A-BA07-5F5C6BA68078}"/>
              </a:ext>
            </a:extLst>
          </p:cNvPr>
          <p:cNvSpPr>
            <a:spLocks noGrp="1"/>
          </p:cNvSpPr>
          <p:nvPr>
            <p:ph idx="1"/>
          </p:nvPr>
        </p:nvSpPr>
        <p:spPr>
          <a:xfrm>
            <a:off x="838200" y="1510145"/>
            <a:ext cx="7114309" cy="4666818"/>
          </a:xfrm>
        </p:spPr>
        <p:txBody>
          <a:bodyPr>
            <a:normAutofit/>
          </a:bodyPr>
          <a:lstStyle/>
          <a:p>
            <a:pPr marL="0" indent="0">
              <a:buNone/>
            </a:pPr>
            <a:r>
              <a:rPr lang="en-US" dirty="0"/>
              <a:t>An observation here is that an order cost range is from 5 dollars to 35 dollars and most orders fall between 10and20. The distribution is slightly skewed to the right. Some higher cost orders or outliers are close to 30 dollars - 35 dollars .</a:t>
            </a:r>
            <a:endParaRPr lang="en-US" sz="1600" dirty="0"/>
          </a:p>
        </p:txBody>
      </p:sp>
      <p:pic>
        <p:nvPicPr>
          <p:cNvPr id="4" name="Picture 3">
            <a:extLst>
              <a:ext uri="{FF2B5EF4-FFF2-40B4-BE49-F238E27FC236}">
                <a16:creationId xmlns:a16="http://schemas.microsoft.com/office/drawing/2014/main" id="{610DD336-5E36-95A5-5F6E-C5DB6D6C29BF}"/>
              </a:ext>
            </a:extLst>
          </p:cNvPr>
          <p:cNvPicPr>
            <a:picLocks noChangeAspect="1"/>
          </p:cNvPicPr>
          <p:nvPr/>
        </p:nvPicPr>
        <p:blipFill>
          <a:blip r:embed="rId2"/>
          <a:stretch>
            <a:fillRect/>
          </a:stretch>
        </p:blipFill>
        <p:spPr>
          <a:xfrm>
            <a:off x="7725536" y="1167823"/>
            <a:ext cx="3794934" cy="5325052"/>
          </a:xfrm>
          <a:prstGeom prst="rect">
            <a:avLst/>
          </a:prstGeom>
        </p:spPr>
      </p:pic>
    </p:spTree>
    <p:extLst>
      <p:ext uri="{BB962C8B-B14F-4D97-AF65-F5344CB8AC3E}">
        <p14:creationId xmlns:p14="http://schemas.microsoft.com/office/powerpoint/2010/main" val="2046749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AAF3-3F19-0295-CE64-AC1A6FE04BF9}"/>
              </a:ext>
            </a:extLst>
          </p:cNvPr>
          <p:cNvSpPr>
            <a:spLocks noGrp="1"/>
          </p:cNvSpPr>
          <p:nvPr>
            <p:ph type="title"/>
          </p:nvPr>
        </p:nvSpPr>
        <p:spPr/>
        <p:txBody>
          <a:bodyPr/>
          <a:lstStyle/>
          <a:p>
            <a:r>
              <a:rPr lang="en-US" dirty="0"/>
              <a:t>Day of the Week</a:t>
            </a:r>
          </a:p>
        </p:txBody>
      </p:sp>
      <p:sp>
        <p:nvSpPr>
          <p:cNvPr id="3" name="Content Placeholder 2">
            <a:extLst>
              <a:ext uri="{FF2B5EF4-FFF2-40B4-BE49-F238E27FC236}">
                <a16:creationId xmlns:a16="http://schemas.microsoft.com/office/drawing/2014/main" id="{E6593D39-1266-D568-A295-164B1AE55691}"/>
              </a:ext>
            </a:extLst>
          </p:cNvPr>
          <p:cNvSpPr>
            <a:spLocks noGrp="1"/>
          </p:cNvSpPr>
          <p:nvPr>
            <p:ph idx="1"/>
          </p:nvPr>
        </p:nvSpPr>
        <p:spPr>
          <a:xfrm>
            <a:off x="838200" y="4350326"/>
            <a:ext cx="10515600" cy="2269981"/>
          </a:xfrm>
        </p:spPr>
        <p:txBody>
          <a:bodyPr>
            <a:normAutofit fontScale="70000" lnSpcReduction="20000"/>
          </a:bodyPr>
          <a:lstStyle/>
          <a:p>
            <a:pPr marL="0" indent="0">
              <a:buNone/>
            </a:pPr>
            <a:r>
              <a:rPr lang="en-US" dirty="0"/>
              <a:t>What this is saying is that (1351/1898)</a:t>
            </a:r>
            <a:r>
              <a:rPr lang="en-US" i="1" dirty="0"/>
              <a:t>100 =71% occur on weekends and (547/1898)</a:t>
            </a:r>
            <a:r>
              <a:rPr lang="en-US" dirty="0"/>
              <a:t>100 =29% occurs on weekdays. Weekend demand is 1351/547 =2.4 times higher than weekday </a:t>
            </a:r>
            <a:r>
              <a:rPr lang="en-US" dirty="0" err="1"/>
              <a:t>deman</a:t>
            </a:r>
            <a:r>
              <a:rPr lang="en-US" dirty="0"/>
              <a:t>. This is a big difference in the number of orders received during the weekends and weekdays. This maybe due to customer behavior such as social gatherings (e.g. soccer games, birthday parties, work events), wanting to spend more time with </a:t>
            </a:r>
            <a:r>
              <a:rPr lang="en-US" dirty="0" err="1"/>
              <a:t>familiy</a:t>
            </a:r>
            <a:r>
              <a:rPr lang="en-US" dirty="0"/>
              <a:t> and less time cooking, etc. The operational impact to this is that </a:t>
            </a:r>
            <a:r>
              <a:rPr lang="en-US" dirty="0" err="1"/>
              <a:t>Resturaunts</a:t>
            </a:r>
            <a:r>
              <a:rPr lang="en-US" dirty="0"/>
              <a:t> will need to make sure to have enough staff on the weekends to handle increased </a:t>
            </a:r>
            <a:r>
              <a:rPr lang="en-US" dirty="0" err="1"/>
              <a:t>worklowd</a:t>
            </a:r>
            <a:r>
              <a:rPr lang="en-US" dirty="0"/>
              <a:t>, targeted market campaigns should happen mainly on weekends and be balanced on weekdays, </a:t>
            </a:r>
            <a:r>
              <a:rPr lang="en-US" dirty="0" err="1"/>
              <a:t>restruants</a:t>
            </a:r>
            <a:r>
              <a:rPr lang="en-US" dirty="0"/>
              <a:t> should be closed dates should be sometime during the week and not the weekend.</a:t>
            </a:r>
            <a:endParaRPr lang="en-US" sz="1400" dirty="0"/>
          </a:p>
        </p:txBody>
      </p:sp>
      <p:pic>
        <p:nvPicPr>
          <p:cNvPr id="4" name="Picture 3">
            <a:extLst>
              <a:ext uri="{FF2B5EF4-FFF2-40B4-BE49-F238E27FC236}">
                <a16:creationId xmlns:a16="http://schemas.microsoft.com/office/drawing/2014/main" id="{9C009B54-C52A-0015-E319-77150CF02C13}"/>
              </a:ext>
            </a:extLst>
          </p:cNvPr>
          <p:cNvPicPr>
            <a:picLocks noChangeAspect="1"/>
          </p:cNvPicPr>
          <p:nvPr/>
        </p:nvPicPr>
        <p:blipFill>
          <a:blip r:embed="rId2"/>
          <a:stretch>
            <a:fillRect/>
          </a:stretch>
        </p:blipFill>
        <p:spPr>
          <a:xfrm>
            <a:off x="838200" y="1469913"/>
            <a:ext cx="3921991" cy="2880413"/>
          </a:xfrm>
          <a:prstGeom prst="rect">
            <a:avLst/>
          </a:prstGeom>
        </p:spPr>
      </p:pic>
      <p:pic>
        <p:nvPicPr>
          <p:cNvPr id="5" name="Picture 4">
            <a:extLst>
              <a:ext uri="{FF2B5EF4-FFF2-40B4-BE49-F238E27FC236}">
                <a16:creationId xmlns:a16="http://schemas.microsoft.com/office/drawing/2014/main" id="{87B20608-48A3-CAFD-9E1E-E6AC186726AF}"/>
              </a:ext>
            </a:extLst>
          </p:cNvPr>
          <p:cNvPicPr>
            <a:picLocks noChangeAspect="1"/>
          </p:cNvPicPr>
          <p:nvPr/>
        </p:nvPicPr>
        <p:blipFill>
          <a:blip r:embed="rId3"/>
          <a:stretch>
            <a:fillRect/>
          </a:stretch>
        </p:blipFill>
        <p:spPr>
          <a:xfrm>
            <a:off x="5885295" y="2234624"/>
            <a:ext cx="2832100" cy="546100"/>
          </a:xfrm>
          <a:prstGeom prst="rect">
            <a:avLst/>
          </a:prstGeom>
        </p:spPr>
      </p:pic>
    </p:spTree>
    <p:extLst>
      <p:ext uri="{BB962C8B-B14F-4D97-AF65-F5344CB8AC3E}">
        <p14:creationId xmlns:p14="http://schemas.microsoft.com/office/powerpoint/2010/main" val="49270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D7F0-D7BE-4B06-B810-0E10BB645E74}"/>
              </a:ext>
            </a:extLst>
          </p:cNvPr>
          <p:cNvSpPr>
            <a:spLocks noGrp="1"/>
          </p:cNvSpPr>
          <p:nvPr>
            <p:ph type="title"/>
          </p:nvPr>
        </p:nvSpPr>
        <p:spPr/>
        <p:txBody>
          <a:bodyPr/>
          <a:lstStyle/>
          <a:p>
            <a:r>
              <a:rPr lang="en-US" dirty="0"/>
              <a:t>Rating</a:t>
            </a:r>
          </a:p>
        </p:txBody>
      </p:sp>
      <p:sp>
        <p:nvSpPr>
          <p:cNvPr id="3" name="Content Placeholder 2">
            <a:extLst>
              <a:ext uri="{FF2B5EF4-FFF2-40B4-BE49-F238E27FC236}">
                <a16:creationId xmlns:a16="http://schemas.microsoft.com/office/drawing/2014/main" id="{DF6E302C-B8B5-A763-04D6-DD6C2BF17CE0}"/>
              </a:ext>
            </a:extLst>
          </p:cNvPr>
          <p:cNvSpPr>
            <a:spLocks noGrp="1"/>
          </p:cNvSpPr>
          <p:nvPr>
            <p:ph idx="1"/>
          </p:nvPr>
        </p:nvSpPr>
        <p:spPr>
          <a:xfrm>
            <a:off x="838200" y="1825625"/>
            <a:ext cx="5052491" cy="4351338"/>
          </a:xfrm>
        </p:spPr>
        <p:txBody>
          <a:bodyPr>
            <a:normAutofit/>
          </a:bodyPr>
          <a:lstStyle/>
          <a:p>
            <a:pPr marL="0" indent="0">
              <a:buNone/>
            </a:pPr>
            <a:r>
              <a:rPr lang="en-US" sz="1800" dirty="0"/>
              <a:t>The rating distribution shows that 736 orders (38.8%) were not rated. Among the 1,162 rated orders, the majority received high ratings, with 588 (31%) rated 5 stars and 386 (20%) rated 4 stars. Only 188 (9.9%) received 3 stars, and no ratings of 1 or 2 were observed. This suggests strong overall customer satisfaction. However, the high percentage of unrated orders presents an opportunity for </a:t>
            </a:r>
            <a:r>
              <a:rPr lang="en-US" sz="1800" dirty="0" err="1"/>
              <a:t>FoodHub</a:t>
            </a:r>
            <a:r>
              <a:rPr lang="en-US" sz="1800" dirty="0"/>
              <a:t> to improve customer feedback participation through incentives or reminders.</a:t>
            </a:r>
            <a:endParaRPr lang="en-US" sz="1050" dirty="0"/>
          </a:p>
        </p:txBody>
      </p:sp>
      <p:pic>
        <p:nvPicPr>
          <p:cNvPr id="4" name="Picture 3">
            <a:extLst>
              <a:ext uri="{FF2B5EF4-FFF2-40B4-BE49-F238E27FC236}">
                <a16:creationId xmlns:a16="http://schemas.microsoft.com/office/drawing/2014/main" id="{A9BE4CC7-C981-CDB7-6EC1-C7F756391B36}"/>
              </a:ext>
            </a:extLst>
          </p:cNvPr>
          <p:cNvPicPr>
            <a:picLocks noChangeAspect="1"/>
          </p:cNvPicPr>
          <p:nvPr/>
        </p:nvPicPr>
        <p:blipFill>
          <a:blip r:embed="rId2"/>
          <a:stretch>
            <a:fillRect/>
          </a:stretch>
        </p:blipFill>
        <p:spPr>
          <a:xfrm>
            <a:off x="6301310" y="263670"/>
            <a:ext cx="5551253" cy="3856929"/>
          </a:xfrm>
          <a:prstGeom prst="rect">
            <a:avLst/>
          </a:prstGeom>
        </p:spPr>
      </p:pic>
      <p:pic>
        <p:nvPicPr>
          <p:cNvPr id="5" name="Picture 4">
            <a:extLst>
              <a:ext uri="{FF2B5EF4-FFF2-40B4-BE49-F238E27FC236}">
                <a16:creationId xmlns:a16="http://schemas.microsoft.com/office/drawing/2014/main" id="{C3B4F17D-EB79-421F-0D5F-00690C605E1F}"/>
              </a:ext>
            </a:extLst>
          </p:cNvPr>
          <p:cNvPicPr>
            <a:picLocks noChangeAspect="1"/>
          </p:cNvPicPr>
          <p:nvPr/>
        </p:nvPicPr>
        <p:blipFill>
          <a:blip r:embed="rId3"/>
          <a:stretch>
            <a:fillRect/>
          </a:stretch>
        </p:blipFill>
        <p:spPr>
          <a:xfrm>
            <a:off x="7245927" y="4120599"/>
            <a:ext cx="2563091" cy="1135915"/>
          </a:xfrm>
          <a:prstGeom prst="rect">
            <a:avLst/>
          </a:prstGeom>
        </p:spPr>
      </p:pic>
      <p:pic>
        <p:nvPicPr>
          <p:cNvPr id="6" name="Picture 5">
            <a:extLst>
              <a:ext uri="{FF2B5EF4-FFF2-40B4-BE49-F238E27FC236}">
                <a16:creationId xmlns:a16="http://schemas.microsoft.com/office/drawing/2014/main" id="{D9604601-F6A0-3E91-9503-25B3D1761477}"/>
              </a:ext>
            </a:extLst>
          </p:cNvPr>
          <p:cNvPicPr>
            <a:picLocks noChangeAspect="1"/>
          </p:cNvPicPr>
          <p:nvPr/>
        </p:nvPicPr>
        <p:blipFill>
          <a:blip r:embed="rId4"/>
          <a:stretch>
            <a:fillRect/>
          </a:stretch>
        </p:blipFill>
        <p:spPr>
          <a:xfrm>
            <a:off x="7109691" y="5256514"/>
            <a:ext cx="3708400" cy="1397000"/>
          </a:xfrm>
          <a:prstGeom prst="rect">
            <a:avLst/>
          </a:prstGeom>
        </p:spPr>
      </p:pic>
    </p:spTree>
    <p:extLst>
      <p:ext uri="{BB962C8B-B14F-4D97-AF65-F5344CB8AC3E}">
        <p14:creationId xmlns:p14="http://schemas.microsoft.com/office/powerpoint/2010/main" val="101816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06E2B-1EA8-E909-C338-667E3BFE2B64}"/>
              </a:ext>
            </a:extLst>
          </p:cNvPr>
          <p:cNvSpPr>
            <a:spLocks noGrp="1"/>
          </p:cNvSpPr>
          <p:nvPr>
            <p:ph type="title"/>
          </p:nvPr>
        </p:nvSpPr>
        <p:spPr/>
        <p:txBody>
          <a:bodyPr/>
          <a:lstStyle/>
          <a:p>
            <a:r>
              <a:rPr lang="en-US" dirty="0"/>
              <a:t>Food Preparation Time</a:t>
            </a:r>
          </a:p>
        </p:txBody>
      </p:sp>
      <p:sp>
        <p:nvSpPr>
          <p:cNvPr id="3" name="Content Placeholder 2">
            <a:extLst>
              <a:ext uri="{FF2B5EF4-FFF2-40B4-BE49-F238E27FC236}">
                <a16:creationId xmlns:a16="http://schemas.microsoft.com/office/drawing/2014/main" id="{8D6C83E3-E464-4A4B-EB75-1F614F575B61}"/>
              </a:ext>
            </a:extLst>
          </p:cNvPr>
          <p:cNvSpPr>
            <a:spLocks noGrp="1"/>
          </p:cNvSpPr>
          <p:nvPr>
            <p:ph idx="1"/>
          </p:nvPr>
        </p:nvSpPr>
        <p:spPr>
          <a:xfrm>
            <a:off x="838199" y="1825625"/>
            <a:ext cx="3747656" cy="4351338"/>
          </a:xfrm>
        </p:spPr>
        <p:txBody>
          <a:bodyPr>
            <a:normAutofit/>
          </a:bodyPr>
          <a:lstStyle/>
          <a:p>
            <a:pPr marL="0" indent="0">
              <a:buNone/>
            </a:pPr>
            <a:r>
              <a:rPr lang="en-US" sz="1800" dirty="0"/>
              <a:t>The histogram and boxplot show that the minimum food prep time is 20 minutes and the maximum is 35 minutes. Most values are between 23 and 31 minutes, while the median is around 27 minutes. The distribution looks fairly symmetric with no extreme outliers.</a:t>
            </a:r>
          </a:p>
        </p:txBody>
      </p:sp>
      <p:pic>
        <p:nvPicPr>
          <p:cNvPr id="4" name="Picture 3">
            <a:extLst>
              <a:ext uri="{FF2B5EF4-FFF2-40B4-BE49-F238E27FC236}">
                <a16:creationId xmlns:a16="http://schemas.microsoft.com/office/drawing/2014/main" id="{FBBFB400-DDB7-3E88-C781-ED2933FC5A1A}"/>
              </a:ext>
            </a:extLst>
          </p:cNvPr>
          <p:cNvPicPr>
            <a:picLocks noChangeAspect="1"/>
          </p:cNvPicPr>
          <p:nvPr/>
        </p:nvPicPr>
        <p:blipFill>
          <a:blip r:embed="rId2"/>
          <a:stretch>
            <a:fillRect/>
          </a:stretch>
        </p:blipFill>
        <p:spPr>
          <a:xfrm>
            <a:off x="8014724" y="1027906"/>
            <a:ext cx="4177276" cy="5032375"/>
          </a:xfrm>
          <a:prstGeom prst="rect">
            <a:avLst/>
          </a:prstGeom>
        </p:spPr>
      </p:pic>
      <p:pic>
        <p:nvPicPr>
          <p:cNvPr id="5" name="Picture 4">
            <a:extLst>
              <a:ext uri="{FF2B5EF4-FFF2-40B4-BE49-F238E27FC236}">
                <a16:creationId xmlns:a16="http://schemas.microsoft.com/office/drawing/2014/main" id="{0F9E8362-6B7C-A7B2-B2C7-164F320F1EFA}"/>
              </a:ext>
            </a:extLst>
          </p:cNvPr>
          <p:cNvPicPr>
            <a:picLocks noChangeAspect="1"/>
          </p:cNvPicPr>
          <p:nvPr/>
        </p:nvPicPr>
        <p:blipFill>
          <a:blip r:embed="rId3"/>
          <a:stretch>
            <a:fillRect/>
          </a:stretch>
        </p:blipFill>
        <p:spPr>
          <a:xfrm>
            <a:off x="5222112" y="1690688"/>
            <a:ext cx="2744253" cy="3011055"/>
          </a:xfrm>
          <a:prstGeom prst="rect">
            <a:avLst/>
          </a:prstGeom>
        </p:spPr>
      </p:pic>
    </p:spTree>
    <p:extLst>
      <p:ext uri="{BB962C8B-B14F-4D97-AF65-F5344CB8AC3E}">
        <p14:creationId xmlns:p14="http://schemas.microsoft.com/office/powerpoint/2010/main" val="507621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6F32-36A6-25E4-C601-A0FB6E567C76}"/>
              </a:ext>
            </a:extLst>
          </p:cNvPr>
          <p:cNvSpPr>
            <a:spLocks noGrp="1"/>
          </p:cNvSpPr>
          <p:nvPr>
            <p:ph type="title"/>
          </p:nvPr>
        </p:nvSpPr>
        <p:spPr/>
        <p:txBody>
          <a:bodyPr/>
          <a:lstStyle/>
          <a:p>
            <a:r>
              <a:rPr lang="en-US" dirty="0"/>
              <a:t>Delivery Time</a:t>
            </a:r>
          </a:p>
        </p:txBody>
      </p:sp>
      <p:pic>
        <p:nvPicPr>
          <p:cNvPr id="4" name="Picture 3">
            <a:extLst>
              <a:ext uri="{FF2B5EF4-FFF2-40B4-BE49-F238E27FC236}">
                <a16:creationId xmlns:a16="http://schemas.microsoft.com/office/drawing/2014/main" id="{A2B8C7B4-4FB5-E7D7-9EED-AD811DC96D16}"/>
              </a:ext>
            </a:extLst>
          </p:cNvPr>
          <p:cNvPicPr>
            <a:picLocks noChangeAspect="1"/>
          </p:cNvPicPr>
          <p:nvPr/>
        </p:nvPicPr>
        <p:blipFill>
          <a:blip r:embed="rId2"/>
          <a:stretch>
            <a:fillRect/>
          </a:stretch>
        </p:blipFill>
        <p:spPr>
          <a:xfrm>
            <a:off x="7706055" y="1485106"/>
            <a:ext cx="3647745" cy="5032375"/>
          </a:xfrm>
          <a:prstGeom prst="rect">
            <a:avLst/>
          </a:prstGeom>
        </p:spPr>
      </p:pic>
      <p:sp>
        <p:nvSpPr>
          <p:cNvPr id="7" name="Content Placeholder 6">
            <a:extLst>
              <a:ext uri="{FF2B5EF4-FFF2-40B4-BE49-F238E27FC236}">
                <a16:creationId xmlns:a16="http://schemas.microsoft.com/office/drawing/2014/main" id="{30DBDEA2-B5D2-65CC-A82A-8F10A0DCD14E}"/>
              </a:ext>
            </a:extLst>
          </p:cNvPr>
          <p:cNvSpPr>
            <a:spLocks noGrp="1"/>
          </p:cNvSpPr>
          <p:nvPr>
            <p:ph idx="1"/>
          </p:nvPr>
        </p:nvSpPr>
        <p:spPr>
          <a:xfrm>
            <a:off x="838200" y="1825625"/>
            <a:ext cx="6867855" cy="4351338"/>
          </a:xfrm>
        </p:spPr>
        <p:txBody>
          <a:bodyPr/>
          <a:lstStyle/>
          <a:p>
            <a:pPr marL="0" indent="0">
              <a:buNone/>
            </a:pPr>
            <a:r>
              <a:rPr lang="en-US" dirty="0"/>
              <a:t>Delivery time is moderately centered around 25-29 minutes. </a:t>
            </a:r>
            <a:r>
              <a:rPr lang="en-US" dirty="0" err="1"/>
              <a:t>ther</a:t>
            </a:r>
            <a:r>
              <a:rPr lang="en-US" dirty="0"/>
              <a:t> </a:t>
            </a:r>
            <a:r>
              <a:rPr lang="en-US" dirty="0" err="1"/>
              <a:t>eis</a:t>
            </a:r>
            <a:r>
              <a:rPr lang="en-US" dirty="0"/>
              <a:t> a slight skew to the right where we see some deliveries 31-33 minutes. Delivery time looks like it has more variability than prep time. Compared to food prep time, delivery time spreads more across bins, shows slightly more dispersion, and likely influenced by certain factors such as traffic, distance, or driver </a:t>
            </a:r>
            <a:r>
              <a:rPr lang="en-US" dirty="0" err="1"/>
              <a:t>availabilty</a:t>
            </a:r>
            <a:r>
              <a:rPr lang="en-US" dirty="0"/>
              <a:t>.</a:t>
            </a:r>
          </a:p>
        </p:txBody>
      </p:sp>
    </p:spTree>
    <p:extLst>
      <p:ext uri="{BB962C8B-B14F-4D97-AF65-F5344CB8AC3E}">
        <p14:creationId xmlns:p14="http://schemas.microsoft.com/office/powerpoint/2010/main" val="3134387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1AED8-CE41-9EEF-50A9-3B660D60306E}"/>
              </a:ext>
            </a:extLst>
          </p:cNvPr>
          <p:cNvSpPr>
            <a:spLocks noGrp="1"/>
          </p:cNvSpPr>
          <p:nvPr>
            <p:ph idx="1"/>
          </p:nvPr>
        </p:nvSpPr>
        <p:spPr>
          <a:xfrm>
            <a:off x="838200" y="4530435"/>
            <a:ext cx="10515600" cy="1646527"/>
          </a:xfrm>
        </p:spPr>
        <p:txBody>
          <a:bodyPr>
            <a:normAutofit fontScale="62500" lnSpcReduction="20000"/>
          </a:bodyPr>
          <a:lstStyle/>
          <a:p>
            <a:pPr marL="0" indent="0">
              <a:buNone/>
            </a:pPr>
            <a:r>
              <a:rPr lang="en-US" dirty="0"/>
              <a:t>The top 5 restaurants by number of orders are Shake Shack (219 or 11.5%), The Meatball Shop (132 or 6.95%), Blue Ribbon Sushi (119 or 6.27%), Blue Ribbon Fried Chicken (96 or 5.06%), and Parm (68 or 3.58%). Shake Shack leads significantly, accounting for approximately 11.5% of total orders. The distribution shows that demand is concentrated among a few high-performing restaurants. </a:t>
            </a:r>
            <a:r>
              <a:rPr lang="en-US" dirty="0" err="1"/>
              <a:t>FoodHub</a:t>
            </a:r>
            <a:r>
              <a:rPr lang="en-US" dirty="0"/>
              <a:t> may benefit from strengthening partnerships and promotional efforts with these top restaurants to maximize revenue and customer </a:t>
            </a:r>
            <a:r>
              <a:rPr lang="en-US" dirty="0" err="1"/>
              <a:t>engagement.The</a:t>
            </a:r>
            <a:r>
              <a:rPr lang="en-US" dirty="0"/>
              <a:t> top 5 restaurants contribute approximately one-third (~33–35%)of total orders, indicating that demand is concentrated among a small subset of restaurants. Shake Shack alone accounts for over 11% of total orders, highlighting its strong popularity among customers.</a:t>
            </a:r>
            <a:endParaRPr lang="en-US" sz="1600" dirty="0"/>
          </a:p>
        </p:txBody>
      </p:sp>
      <p:sp>
        <p:nvSpPr>
          <p:cNvPr id="4" name="Rectangle 1">
            <a:extLst>
              <a:ext uri="{FF2B5EF4-FFF2-40B4-BE49-F238E27FC236}">
                <a16:creationId xmlns:a16="http://schemas.microsoft.com/office/drawing/2014/main" id="{A444A6A1-C620-0B42-9187-40ABEEA1B5BF}"/>
              </a:ext>
            </a:extLst>
          </p:cNvPr>
          <p:cNvSpPr>
            <a:spLocks noGrp="1" noChangeArrowheads="1"/>
          </p:cNvSpPr>
          <p:nvPr>
            <p:ph type="title"/>
          </p:nvPr>
        </p:nvSpPr>
        <p:spPr bwMode="auto">
          <a:xfrm>
            <a:off x="838200" y="566241"/>
            <a:ext cx="1122005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rPr>
              <a:t>Question 7: Which are the top 5 restaurants in terms of the number of orders received? [1 mark]</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latin typeface="+mn-lt"/>
              </a:rPr>
            </a:br>
            <a:endParaRPr kumimoji="0" lang="en-US" altLang="en-US" sz="20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C2D2BDBF-12DD-5423-3721-46E972316630}"/>
              </a:ext>
            </a:extLst>
          </p:cNvPr>
          <p:cNvPicPr>
            <a:picLocks noChangeAspect="1"/>
          </p:cNvPicPr>
          <p:nvPr/>
        </p:nvPicPr>
        <p:blipFill>
          <a:blip r:embed="rId2"/>
          <a:stretch>
            <a:fillRect/>
          </a:stretch>
        </p:blipFill>
        <p:spPr>
          <a:xfrm>
            <a:off x="838200" y="1739900"/>
            <a:ext cx="3822700" cy="1689100"/>
          </a:xfrm>
          <a:prstGeom prst="rect">
            <a:avLst/>
          </a:prstGeom>
        </p:spPr>
      </p:pic>
      <p:pic>
        <p:nvPicPr>
          <p:cNvPr id="6" name="Picture 5">
            <a:extLst>
              <a:ext uri="{FF2B5EF4-FFF2-40B4-BE49-F238E27FC236}">
                <a16:creationId xmlns:a16="http://schemas.microsoft.com/office/drawing/2014/main" id="{04A4C2BF-D4FA-A1C3-824F-341E7E73617E}"/>
              </a:ext>
            </a:extLst>
          </p:cNvPr>
          <p:cNvPicPr>
            <a:picLocks noChangeAspect="1"/>
          </p:cNvPicPr>
          <p:nvPr/>
        </p:nvPicPr>
        <p:blipFill>
          <a:blip r:embed="rId3"/>
          <a:stretch>
            <a:fillRect/>
          </a:stretch>
        </p:blipFill>
        <p:spPr>
          <a:xfrm>
            <a:off x="6096000" y="1828800"/>
            <a:ext cx="4343400" cy="1600200"/>
          </a:xfrm>
          <a:prstGeom prst="rect">
            <a:avLst/>
          </a:prstGeom>
        </p:spPr>
      </p:pic>
    </p:spTree>
    <p:extLst>
      <p:ext uri="{BB962C8B-B14F-4D97-AF65-F5344CB8AC3E}">
        <p14:creationId xmlns:p14="http://schemas.microsoft.com/office/powerpoint/2010/main" val="36327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1F8B37-141E-C0AA-2848-961318CA7296}"/>
              </a:ext>
            </a:extLst>
          </p:cNvPr>
          <p:cNvSpPr>
            <a:spLocks noGrp="1"/>
          </p:cNvSpPr>
          <p:nvPr>
            <p:ph idx="1"/>
          </p:nvPr>
        </p:nvSpPr>
        <p:spPr>
          <a:xfrm>
            <a:off x="838200" y="4170217"/>
            <a:ext cx="10515600" cy="2006745"/>
          </a:xfrm>
        </p:spPr>
        <p:txBody>
          <a:bodyPr>
            <a:normAutofit fontScale="77500" lnSpcReduction="20000"/>
          </a:bodyPr>
          <a:lstStyle/>
          <a:p>
            <a:pPr marL="0" indent="0">
              <a:buNone/>
            </a:pPr>
            <a:r>
              <a:rPr lang="en-US" dirty="0"/>
              <a:t>American cuisine is the most popular cuisine on weekends, accounting for 30.7% of weekend orders. Japanese cuisine follows closely at 24.8%. Together, these two cuisines account for over 55% of weekend demand. Additionally, the top four cuisines (American, Japanese, Italian, and Chinese) make up approximately 83% of total weekend orders, indicating strong demand concentration in a limited number of cuisine categories. </a:t>
            </a:r>
            <a:r>
              <a:rPr lang="en-US" dirty="0" err="1"/>
              <a:t>FoodHub</a:t>
            </a:r>
            <a:r>
              <a:rPr lang="en-US" dirty="0"/>
              <a:t> can leverage this insight by prioritizing promotions and partnerships within these high-demand cuisine segments during weekends.</a:t>
            </a:r>
            <a:endParaRPr lang="en-US" sz="1600" dirty="0"/>
          </a:p>
        </p:txBody>
      </p:sp>
      <p:sp>
        <p:nvSpPr>
          <p:cNvPr id="4" name="Rectangle 1">
            <a:extLst>
              <a:ext uri="{FF2B5EF4-FFF2-40B4-BE49-F238E27FC236}">
                <a16:creationId xmlns:a16="http://schemas.microsoft.com/office/drawing/2014/main" id="{A59AA2EC-BBC0-F53F-6676-F4503ED59611}"/>
              </a:ext>
            </a:extLst>
          </p:cNvPr>
          <p:cNvSpPr>
            <a:spLocks noGrp="1" noChangeArrowheads="1"/>
          </p:cNvSpPr>
          <p:nvPr>
            <p:ph type="title"/>
          </p:nvPr>
        </p:nvSpPr>
        <p:spPr bwMode="auto">
          <a:xfrm>
            <a:off x="838200" y="166132"/>
            <a:ext cx="1051560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n-lt"/>
              </a:rPr>
              <a:t>Question 8: Which is the most popular cuisine on weekends? [1 mark]</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mn-lt"/>
              </a:rPr>
            </a:br>
            <a:endParaRPr kumimoji="0" lang="en-US" altLang="en-US" sz="28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2AD64D32-CC0F-2F50-A08B-698FCFC9782D}"/>
              </a:ext>
            </a:extLst>
          </p:cNvPr>
          <p:cNvPicPr>
            <a:picLocks noChangeAspect="1"/>
          </p:cNvPicPr>
          <p:nvPr/>
        </p:nvPicPr>
        <p:blipFill>
          <a:blip r:embed="rId2"/>
          <a:stretch>
            <a:fillRect/>
          </a:stretch>
        </p:blipFill>
        <p:spPr>
          <a:xfrm>
            <a:off x="2189017" y="1027906"/>
            <a:ext cx="2842491" cy="2902544"/>
          </a:xfrm>
          <a:prstGeom prst="rect">
            <a:avLst/>
          </a:prstGeom>
        </p:spPr>
      </p:pic>
      <p:pic>
        <p:nvPicPr>
          <p:cNvPr id="6" name="Picture 5">
            <a:extLst>
              <a:ext uri="{FF2B5EF4-FFF2-40B4-BE49-F238E27FC236}">
                <a16:creationId xmlns:a16="http://schemas.microsoft.com/office/drawing/2014/main" id="{2748376E-82C8-3248-8B47-63AD06F4875C}"/>
              </a:ext>
            </a:extLst>
          </p:cNvPr>
          <p:cNvPicPr>
            <a:picLocks noChangeAspect="1"/>
          </p:cNvPicPr>
          <p:nvPr/>
        </p:nvPicPr>
        <p:blipFill>
          <a:blip r:embed="rId3"/>
          <a:stretch>
            <a:fillRect/>
          </a:stretch>
        </p:blipFill>
        <p:spPr>
          <a:xfrm>
            <a:off x="6096000" y="1027906"/>
            <a:ext cx="3252121" cy="2902544"/>
          </a:xfrm>
          <a:prstGeom prst="rect">
            <a:avLst/>
          </a:prstGeom>
        </p:spPr>
      </p:pic>
    </p:spTree>
    <p:extLst>
      <p:ext uri="{BB962C8B-B14F-4D97-AF65-F5344CB8AC3E}">
        <p14:creationId xmlns:p14="http://schemas.microsoft.com/office/powerpoint/2010/main" val="1205253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C1D616-8CF1-B7B7-09A1-EFBF3ACECC48}"/>
              </a:ext>
            </a:extLst>
          </p:cNvPr>
          <p:cNvSpPr>
            <a:spLocks noGrp="1"/>
          </p:cNvSpPr>
          <p:nvPr>
            <p:ph idx="1"/>
          </p:nvPr>
        </p:nvSpPr>
        <p:spPr>
          <a:xfrm>
            <a:off x="942109" y="4030936"/>
            <a:ext cx="10515600" cy="2521527"/>
          </a:xfrm>
        </p:spPr>
        <p:txBody>
          <a:bodyPr>
            <a:normAutofit lnSpcReduction="10000"/>
          </a:bodyPr>
          <a:lstStyle/>
          <a:p>
            <a:pPr marL="0" indent="0">
              <a:buNone/>
            </a:pPr>
            <a:r>
              <a:rPr lang="en-US" dirty="0"/>
              <a:t>Out of 1,898 total orders, 555 orders (29.24%) cost more than 20 dollars. Which indicates that nearly one-third of customers place higher-value orders. While the majority of orders are priced at 20 dollars or below, the higher-priced segment represents a significant revenue opportunity, especially since the company earns a higher commission on orders above 20 dollars. Targeted promotions on premium meals could further increase overall profitability.</a:t>
            </a:r>
            <a:endParaRPr lang="en-US" sz="1400" dirty="0"/>
          </a:p>
        </p:txBody>
      </p:sp>
      <p:sp>
        <p:nvSpPr>
          <p:cNvPr id="4" name="Rectangle 1">
            <a:extLst>
              <a:ext uri="{FF2B5EF4-FFF2-40B4-BE49-F238E27FC236}">
                <a16:creationId xmlns:a16="http://schemas.microsoft.com/office/drawing/2014/main" id="{A326569F-021D-77F7-C5CF-FB99BCEA3FC4}"/>
              </a:ext>
            </a:extLst>
          </p:cNvPr>
          <p:cNvSpPr>
            <a:spLocks noGrp="1" noChangeArrowheads="1"/>
          </p:cNvSpPr>
          <p:nvPr>
            <p:ph type="title"/>
          </p:nvPr>
        </p:nvSpPr>
        <p:spPr bwMode="auto">
          <a:xfrm>
            <a:off x="838200" y="-80089"/>
            <a:ext cx="10619509"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a:ln>
                  <a:noFill/>
                </a:ln>
                <a:solidFill>
                  <a:schemeClr val="tx1"/>
                </a:solidFill>
                <a:effectLst/>
                <a:latin typeface="+mn-lt"/>
              </a:rPr>
              <a:t>Question 9: What percentage of the orders cost more than 20 dollars? [2 marks]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600" b="0" i="0" u="none" strike="noStrike" cap="none" normalizeH="0" baseline="0">
                <a:ln>
                  <a:noFill/>
                </a:ln>
                <a:solidFill>
                  <a:schemeClr val="tx1"/>
                </a:solidFill>
                <a:effectLst/>
                <a:latin typeface="+mn-lt"/>
              </a:rPr>
            </a:br>
            <a:endParaRPr kumimoji="0" lang="en-US" altLang="en-US" sz="3600" b="0" i="0" u="none" strike="noStrike" cap="none" normalizeH="0" baseline="0">
              <a:ln>
                <a:noFill/>
              </a:ln>
              <a:solidFill>
                <a:schemeClr val="tx1"/>
              </a:solidFill>
              <a:effectLst/>
              <a:latin typeface="+mn-lt"/>
            </a:endParaRPr>
          </a:p>
        </p:txBody>
      </p:sp>
      <p:pic>
        <p:nvPicPr>
          <p:cNvPr id="5" name="Picture 4">
            <a:extLst>
              <a:ext uri="{FF2B5EF4-FFF2-40B4-BE49-F238E27FC236}">
                <a16:creationId xmlns:a16="http://schemas.microsoft.com/office/drawing/2014/main" id="{EC492678-E0A3-5887-A588-E0A96DB198F2}"/>
              </a:ext>
            </a:extLst>
          </p:cNvPr>
          <p:cNvPicPr>
            <a:picLocks noChangeAspect="1"/>
          </p:cNvPicPr>
          <p:nvPr/>
        </p:nvPicPr>
        <p:blipFill>
          <a:blip r:embed="rId2"/>
          <a:stretch>
            <a:fillRect/>
          </a:stretch>
        </p:blipFill>
        <p:spPr>
          <a:xfrm>
            <a:off x="734291" y="2128975"/>
            <a:ext cx="9446840" cy="932136"/>
          </a:xfrm>
          <a:prstGeom prst="rect">
            <a:avLst/>
          </a:prstGeom>
        </p:spPr>
      </p:pic>
    </p:spTree>
    <p:extLst>
      <p:ext uri="{BB962C8B-B14F-4D97-AF65-F5344CB8AC3E}">
        <p14:creationId xmlns:p14="http://schemas.microsoft.com/office/powerpoint/2010/main" val="3486244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254FD7-53C7-980D-88DB-61F33ADA829E}"/>
              </a:ext>
            </a:extLst>
          </p:cNvPr>
          <p:cNvSpPr>
            <a:spLocks noGrp="1"/>
          </p:cNvSpPr>
          <p:nvPr>
            <p:ph idx="1"/>
          </p:nvPr>
        </p:nvSpPr>
        <p:spPr>
          <a:xfrm>
            <a:off x="838200" y="3020291"/>
            <a:ext cx="10515600" cy="3156672"/>
          </a:xfrm>
        </p:spPr>
        <p:txBody>
          <a:bodyPr>
            <a:normAutofit/>
          </a:bodyPr>
          <a:lstStyle/>
          <a:p>
            <a:pPr marL="0" indent="0">
              <a:buNone/>
            </a:pPr>
            <a:r>
              <a:rPr lang="en-US" dirty="0"/>
              <a:t>The mean delivery time is 24.26 minutes, </a:t>
            </a:r>
            <a:r>
              <a:rPr lang="en-US" dirty="0" err="1"/>
              <a:t>inticating</a:t>
            </a:r>
            <a:r>
              <a:rPr lang="en-US" dirty="0"/>
              <a:t> that most deliveries are completed within approximately 25 minutes after pickup. When combined with the average food preparation time, customers receive their orders in roughly 50 minutes from placement. This suggests relatively efficient delivery operations; however, further optimization of delivery logistics could help reduce total service time and improve customer satisfaction.</a:t>
            </a:r>
            <a:endParaRPr lang="en-US" sz="1400" dirty="0"/>
          </a:p>
        </p:txBody>
      </p:sp>
      <p:sp>
        <p:nvSpPr>
          <p:cNvPr id="4" name="Rectangle 1">
            <a:extLst>
              <a:ext uri="{FF2B5EF4-FFF2-40B4-BE49-F238E27FC236}">
                <a16:creationId xmlns:a16="http://schemas.microsoft.com/office/drawing/2014/main" id="{59FC49EA-C60A-7201-7325-51C61B090E55}"/>
              </a:ext>
            </a:extLst>
          </p:cNvPr>
          <p:cNvSpPr>
            <a:spLocks noGrp="1" noChangeArrowheads="1"/>
          </p:cNvSpPr>
          <p:nvPr>
            <p:ph type="title"/>
          </p:nvPr>
        </p:nvSpPr>
        <p:spPr bwMode="auto">
          <a:xfrm>
            <a:off x="838200" y="381576"/>
            <a:ext cx="1051560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n-lt"/>
              </a:rPr>
              <a:t>Question 10: What is the mean order delivery time? [1 mark]</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mn-lt"/>
              </a:rPr>
            </a:br>
            <a:endParaRPr kumimoji="0" lang="en-US" altLang="en-US" sz="28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A05D581C-9910-53CB-0B9E-BD962D545C27}"/>
              </a:ext>
            </a:extLst>
          </p:cNvPr>
          <p:cNvPicPr>
            <a:picLocks noChangeAspect="1"/>
          </p:cNvPicPr>
          <p:nvPr/>
        </p:nvPicPr>
        <p:blipFill>
          <a:blip r:embed="rId2"/>
          <a:stretch>
            <a:fillRect/>
          </a:stretch>
        </p:blipFill>
        <p:spPr>
          <a:xfrm>
            <a:off x="1243444" y="1674237"/>
            <a:ext cx="9637423" cy="528635"/>
          </a:xfrm>
          <a:prstGeom prst="rect">
            <a:avLst/>
          </a:prstGeom>
        </p:spPr>
      </p:pic>
    </p:spTree>
    <p:extLst>
      <p:ext uri="{BB962C8B-B14F-4D97-AF65-F5344CB8AC3E}">
        <p14:creationId xmlns:p14="http://schemas.microsoft.com/office/powerpoint/2010/main" val="3037272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4FBB87-ACB9-18A1-BE3B-CA278F3B6368}"/>
              </a:ext>
            </a:extLst>
          </p:cNvPr>
          <p:cNvSpPr>
            <a:spLocks noGrp="1"/>
          </p:cNvSpPr>
          <p:nvPr>
            <p:ph idx="1"/>
          </p:nvPr>
        </p:nvSpPr>
        <p:spPr>
          <a:xfrm>
            <a:off x="838200" y="4724399"/>
            <a:ext cx="10515600" cy="1452563"/>
          </a:xfrm>
        </p:spPr>
        <p:txBody>
          <a:bodyPr>
            <a:normAutofit fontScale="70000" lnSpcReduction="20000"/>
          </a:bodyPr>
          <a:lstStyle/>
          <a:p>
            <a:pPr marL="0" indent="0">
              <a:buNone/>
            </a:pPr>
            <a:r>
              <a:rPr lang="en-US" dirty="0"/>
              <a:t>The top frequent customers are customer IDs 52832 (13 orders), 47440 (10 orders), and 83287 (9 orders). These customers exhibit significantly higher ordering frequency compared to the average of approximately 1.6 orders per customer. This indicates the presence of a loyal customer segment. Offering promotional discounts, loyalty rewards, or exclusive offers to these high-frequency customers could further strengthen retention and increase lifetime value.</a:t>
            </a:r>
          </a:p>
        </p:txBody>
      </p:sp>
      <p:sp>
        <p:nvSpPr>
          <p:cNvPr id="4" name="Rectangle 1">
            <a:extLst>
              <a:ext uri="{FF2B5EF4-FFF2-40B4-BE49-F238E27FC236}">
                <a16:creationId xmlns:a16="http://schemas.microsoft.com/office/drawing/2014/main" id="{03BC53A6-E730-F882-0054-CDE786F23C08}"/>
              </a:ext>
            </a:extLst>
          </p:cNvPr>
          <p:cNvSpPr>
            <a:spLocks noGrp="1" noChangeArrowheads="1"/>
          </p:cNvSpPr>
          <p:nvPr>
            <p:ph type="title"/>
          </p:nvPr>
        </p:nvSpPr>
        <p:spPr bwMode="auto">
          <a:xfrm>
            <a:off x="838200" y="104578"/>
            <a:ext cx="105156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n-lt"/>
              </a:rPr>
              <a:t>Question 11: The company has decided to give 20% discount vouchers to the top 5 most frequent customers. Find the IDs of these customers and the number of orders they placed. [1 mark]</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mn-lt"/>
              </a:rPr>
            </a:br>
            <a:endParaRPr kumimoji="0" lang="en-US" altLang="en-US" sz="2400" b="0" i="0" u="none" strike="noStrike" cap="none" normalizeH="0" baseline="0" dirty="0">
              <a:ln>
                <a:noFill/>
              </a:ln>
              <a:solidFill>
                <a:schemeClr val="tx1"/>
              </a:solidFill>
              <a:effectLst/>
              <a:latin typeface="+mn-lt"/>
            </a:endParaRPr>
          </a:p>
        </p:txBody>
      </p:sp>
      <p:pic>
        <p:nvPicPr>
          <p:cNvPr id="5" name="Picture 4">
            <a:extLst>
              <a:ext uri="{FF2B5EF4-FFF2-40B4-BE49-F238E27FC236}">
                <a16:creationId xmlns:a16="http://schemas.microsoft.com/office/drawing/2014/main" id="{4BD1AD1A-7A26-66A0-3F96-B99DE9D46640}"/>
              </a:ext>
            </a:extLst>
          </p:cNvPr>
          <p:cNvPicPr>
            <a:picLocks noChangeAspect="1"/>
          </p:cNvPicPr>
          <p:nvPr/>
        </p:nvPicPr>
        <p:blipFill>
          <a:blip r:embed="rId2"/>
          <a:stretch>
            <a:fillRect/>
          </a:stretch>
        </p:blipFill>
        <p:spPr>
          <a:xfrm>
            <a:off x="1054677" y="1511300"/>
            <a:ext cx="4404013" cy="1868369"/>
          </a:xfrm>
          <a:prstGeom prst="rect">
            <a:avLst/>
          </a:prstGeom>
        </p:spPr>
      </p:pic>
    </p:spTree>
    <p:extLst>
      <p:ext uri="{BB962C8B-B14F-4D97-AF65-F5344CB8AC3E}">
        <p14:creationId xmlns:p14="http://schemas.microsoft.com/office/powerpoint/2010/main" val="187310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420A0-22CF-D734-4CB4-C2469F0FC6CC}"/>
              </a:ext>
            </a:extLst>
          </p:cNvPr>
          <p:cNvSpPr>
            <a:spLocks noGrp="1"/>
          </p:cNvSpPr>
          <p:nvPr>
            <p:ph type="title"/>
          </p:nvPr>
        </p:nvSpPr>
        <p:spPr>
          <a:xfrm>
            <a:off x="1059873" y="1390361"/>
            <a:ext cx="10515600" cy="1325563"/>
          </a:xfrm>
        </p:spPr>
        <p:txBody>
          <a:bodyPr/>
          <a:lstStyle/>
          <a:p>
            <a:r>
              <a:rPr lang="en-US" dirty="0"/>
              <a:t>Multivariate Analysis</a:t>
            </a:r>
          </a:p>
        </p:txBody>
      </p:sp>
    </p:spTree>
    <p:extLst>
      <p:ext uri="{BB962C8B-B14F-4D97-AF65-F5344CB8AC3E}">
        <p14:creationId xmlns:p14="http://schemas.microsoft.com/office/powerpoint/2010/main" val="362626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37DDA-2259-EDE4-86DA-A7DA92B4ADDC}"/>
              </a:ext>
            </a:extLst>
          </p:cNvPr>
          <p:cNvSpPr>
            <a:spLocks noGrp="1"/>
          </p:cNvSpPr>
          <p:nvPr>
            <p:ph idx="1"/>
          </p:nvPr>
        </p:nvSpPr>
        <p:spPr>
          <a:xfrm>
            <a:off x="838200" y="5013399"/>
            <a:ext cx="10515600" cy="1538883"/>
          </a:xfrm>
        </p:spPr>
        <p:txBody>
          <a:bodyPr>
            <a:normAutofit fontScale="62500" lnSpcReduction="20000"/>
          </a:bodyPr>
          <a:lstStyle/>
          <a:p>
            <a:pPr marL="0" indent="0">
              <a:buNone/>
            </a:pPr>
            <a:r>
              <a:rPr lang="en-US" dirty="0"/>
              <a:t>The boxplot reveals clear variation in order cost across cuisine types. French cuisine exhibits one of the highest median costs, followed by Southern and Thai cuisines, suggesting a premium pricing structure. American, Japanese, Italian, and Mexican cuisines fall within a moderate price range, indicating strong mid-market positioning. Vietnamese cuisine shows a comparatively lower median cost. The presence of outliers and varying interquartile ranges indicates price diversity within cuisines. These differences suggest that cuisine type plays a significant role in pricing strategy and revenue generation, with certain cuisines likely contributing higher per-order revenue.</a:t>
            </a:r>
            <a:endParaRPr lang="en-US" sz="1200" dirty="0"/>
          </a:p>
        </p:txBody>
      </p:sp>
      <p:sp>
        <p:nvSpPr>
          <p:cNvPr id="5" name="Rectangle 1">
            <a:extLst>
              <a:ext uri="{FF2B5EF4-FFF2-40B4-BE49-F238E27FC236}">
                <a16:creationId xmlns:a16="http://schemas.microsoft.com/office/drawing/2014/main" id="{C2F0B54B-E72C-2DCB-6459-3C342D86F1F2}"/>
              </a:ext>
            </a:extLst>
          </p:cNvPr>
          <p:cNvSpPr>
            <a:spLocks noGrp="1" noChangeArrowheads="1"/>
          </p:cNvSpPr>
          <p:nvPr>
            <p:ph type="title"/>
          </p:nvPr>
        </p:nvSpPr>
        <p:spPr bwMode="auto">
          <a:xfrm>
            <a:off x="838200" y="258465"/>
            <a:ext cx="10515600"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var(--jp-content-font-family)"/>
              </a:rPr>
              <a:t>Question 12: Perform a multivariate analysis to explore relationships between the important variables in the dataset. (It is a good idea to explore relations between numerical variables as well as relations between numerical and categorical variables) [10 marks]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a:ln>
                  <a:noFill/>
                </a:ln>
                <a:solidFill>
                  <a:schemeClr val="tx1"/>
                </a:solidFill>
                <a:effectLst/>
              </a:rPr>
            </a:br>
            <a:endParaRPr kumimoji="0" lang="en-US" altLang="en-US" sz="2000" b="0" i="0" u="none" strike="noStrike" cap="none" normalizeH="0" baseline="0">
              <a:ln>
                <a:noFill/>
              </a:ln>
              <a:solidFill>
                <a:schemeClr val="tx1"/>
              </a:solidFill>
              <a:effectLst/>
            </a:endParaRPr>
          </a:p>
        </p:txBody>
      </p:sp>
      <p:pic>
        <p:nvPicPr>
          <p:cNvPr id="6" name="Picture 5">
            <a:extLst>
              <a:ext uri="{FF2B5EF4-FFF2-40B4-BE49-F238E27FC236}">
                <a16:creationId xmlns:a16="http://schemas.microsoft.com/office/drawing/2014/main" id="{637E6613-49A5-7CD2-F867-950880B6DD9B}"/>
              </a:ext>
            </a:extLst>
          </p:cNvPr>
          <p:cNvPicPr>
            <a:picLocks noChangeAspect="1"/>
          </p:cNvPicPr>
          <p:nvPr/>
        </p:nvPicPr>
        <p:blipFill>
          <a:blip r:embed="rId2"/>
          <a:stretch>
            <a:fillRect/>
          </a:stretch>
        </p:blipFill>
        <p:spPr>
          <a:xfrm>
            <a:off x="2133598" y="1388134"/>
            <a:ext cx="6643255" cy="3562920"/>
          </a:xfrm>
          <a:prstGeom prst="rect">
            <a:avLst/>
          </a:prstGeom>
        </p:spPr>
      </p:pic>
    </p:spTree>
    <p:extLst>
      <p:ext uri="{BB962C8B-B14F-4D97-AF65-F5344CB8AC3E}">
        <p14:creationId xmlns:p14="http://schemas.microsoft.com/office/powerpoint/2010/main" val="2778885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16E72E-1038-44F1-A833-B8CE68093039}"/>
              </a:ext>
            </a:extLst>
          </p:cNvPr>
          <p:cNvSpPr>
            <a:spLocks noGrp="1"/>
          </p:cNvSpPr>
          <p:nvPr>
            <p:ph idx="1"/>
          </p:nvPr>
        </p:nvSpPr>
        <p:spPr>
          <a:xfrm>
            <a:off x="838200" y="4987635"/>
            <a:ext cx="10515600" cy="1189327"/>
          </a:xfrm>
        </p:spPr>
        <p:txBody>
          <a:bodyPr>
            <a:normAutofit fontScale="70000" lnSpcReduction="20000"/>
          </a:bodyPr>
          <a:lstStyle/>
          <a:p>
            <a:pPr marL="0" indent="0">
              <a:buNone/>
            </a:pPr>
            <a:r>
              <a:rPr lang="en-US" dirty="0"/>
              <a:t>The food preparation time is relatively consistent across cuisine types, with most median values ranging between 25 and 28 minutes. Italian and Thai cuisines show slightly higher preparation times, while Vietnamese and Korean cuisines appear slightly faster. Overall, variability is limited, indicating standardized kitchen operations across restaurants. Cuisine type does not appear to significantly impact preparation time.</a:t>
            </a:r>
            <a:endParaRPr lang="en-US" sz="1400" dirty="0"/>
          </a:p>
        </p:txBody>
      </p:sp>
      <p:pic>
        <p:nvPicPr>
          <p:cNvPr id="4" name="Picture 3">
            <a:extLst>
              <a:ext uri="{FF2B5EF4-FFF2-40B4-BE49-F238E27FC236}">
                <a16:creationId xmlns:a16="http://schemas.microsoft.com/office/drawing/2014/main" id="{1F294C0F-E872-BF6D-2897-D1DCDD8010E5}"/>
              </a:ext>
            </a:extLst>
          </p:cNvPr>
          <p:cNvPicPr>
            <a:picLocks noChangeAspect="1"/>
          </p:cNvPicPr>
          <p:nvPr/>
        </p:nvPicPr>
        <p:blipFill>
          <a:blip r:embed="rId2"/>
          <a:stretch>
            <a:fillRect/>
          </a:stretch>
        </p:blipFill>
        <p:spPr>
          <a:xfrm>
            <a:off x="1794164" y="335161"/>
            <a:ext cx="7772400" cy="4220334"/>
          </a:xfrm>
          <a:prstGeom prst="rect">
            <a:avLst/>
          </a:prstGeom>
        </p:spPr>
      </p:pic>
    </p:spTree>
    <p:extLst>
      <p:ext uri="{BB962C8B-B14F-4D97-AF65-F5344CB8AC3E}">
        <p14:creationId xmlns:p14="http://schemas.microsoft.com/office/powerpoint/2010/main" val="2228893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55C1B-3CAD-F9E7-B36C-22347D414963}"/>
              </a:ext>
            </a:extLst>
          </p:cNvPr>
          <p:cNvSpPr>
            <a:spLocks noGrp="1"/>
          </p:cNvSpPr>
          <p:nvPr>
            <p:ph type="title"/>
          </p:nvPr>
        </p:nvSpPr>
        <p:spPr/>
        <p:txBody>
          <a:bodyPr/>
          <a:lstStyle/>
          <a:p>
            <a:r>
              <a:rPr lang="en-US" dirty="0"/>
              <a:t>Cuisine vs. Food Preparation Time: Daty of the Week vs Delivery Time</a:t>
            </a:r>
          </a:p>
        </p:txBody>
      </p:sp>
      <p:sp>
        <p:nvSpPr>
          <p:cNvPr id="3" name="Content Placeholder 2">
            <a:extLst>
              <a:ext uri="{FF2B5EF4-FFF2-40B4-BE49-F238E27FC236}">
                <a16:creationId xmlns:a16="http://schemas.microsoft.com/office/drawing/2014/main" id="{34817581-5973-930B-2F4C-068CA76103AF}"/>
              </a:ext>
            </a:extLst>
          </p:cNvPr>
          <p:cNvSpPr>
            <a:spLocks noGrp="1"/>
          </p:cNvSpPr>
          <p:nvPr>
            <p:ph idx="1"/>
          </p:nvPr>
        </p:nvSpPr>
        <p:spPr>
          <a:xfrm>
            <a:off x="838200" y="4693516"/>
            <a:ext cx="3581400" cy="1485611"/>
          </a:xfrm>
        </p:spPr>
        <p:txBody>
          <a:bodyPr>
            <a:normAutofit/>
          </a:bodyPr>
          <a:lstStyle/>
          <a:p>
            <a:pPr marL="0" indent="0">
              <a:buNone/>
            </a:pPr>
            <a:r>
              <a:rPr lang="en-US" sz="1200" dirty="0"/>
              <a:t>The boxplot shows that median delivery time is higher on weekdays (28 minutes) compared to weekends (22 minutes). This suggests that weekday deliveries may be affected by higher traffic congestion or operational demand. </a:t>
            </a:r>
            <a:r>
              <a:rPr lang="en-US" sz="1200" dirty="0" err="1"/>
              <a:t>FoodHub</a:t>
            </a:r>
            <a:r>
              <a:rPr lang="en-US" sz="1200" dirty="0"/>
              <a:t> may consider increasing delivery resources during weekdays to improve efficiency and reduce delays.</a:t>
            </a:r>
          </a:p>
        </p:txBody>
      </p:sp>
      <p:pic>
        <p:nvPicPr>
          <p:cNvPr id="4" name="Picture 3">
            <a:extLst>
              <a:ext uri="{FF2B5EF4-FFF2-40B4-BE49-F238E27FC236}">
                <a16:creationId xmlns:a16="http://schemas.microsoft.com/office/drawing/2014/main" id="{1E7640AF-BFFB-B4B0-73EE-29FF79460651}"/>
              </a:ext>
            </a:extLst>
          </p:cNvPr>
          <p:cNvPicPr>
            <a:picLocks noChangeAspect="1"/>
          </p:cNvPicPr>
          <p:nvPr/>
        </p:nvPicPr>
        <p:blipFill>
          <a:blip r:embed="rId2"/>
          <a:stretch>
            <a:fillRect/>
          </a:stretch>
        </p:blipFill>
        <p:spPr>
          <a:xfrm>
            <a:off x="588820" y="1737757"/>
            <a:ext cx="4080162" cy="3127695"/>
          </a:xfrm>
          <a:prstGeom prst="rect">
            <a:avLst/>
          </a:prstGeom>
        </p:spPr>
      </p:pic>
      <p:sp>
        <p:nvSpPr>
          <p:cNvPr id="6" name="TextBox 5">
            <a:extLst>
              <a:ext uri="{FF2B5EF4-FFF2-40B4-BE49-F238E27FC236}">
                <a16:creationId xmlns:a16="http://schemas.microsoft.com/office/drawing/2014/main" id="{67B3877F-F572-7C92-CD46-482F44ABB77A}"/>
              </a:ext>
            </a:extLst>
          </p:cNvPr>
          <p:cNvSpPr txBox="1"/>
          <p:nvPr/>
        </p:nvSpPr>
        <p:spPr>
          <a:xfrm>
            <a:off x="6712528" y="4240135"/>
            <a:ext cx="4232563" cy="1938992"/>
          </a:xfrm>
          <a:prstGeom prst="rect">
            <a:avLst/>
          </a:prstGeom>
          <a:noFill/>
        </p:spPr>
        <p:txBody>
          <a:bodyPr wrap="square">
            <a:spAutoFit/>
          </a:bodyPr>
          <a:lstStyle/>
          <a:p>
            <a:r>
              <a:rPr lang="en-US" sz="1200" dirty="0"/>
              <a:t>Revenue analysis shows that Shake Shack generates the highest total revenue (3579.53 dollars), significantly outperforming other restaurants. The Meatball Shop and Blue Ribbon Sushi follow with 2145.21 dollars and 1903.95 dollars respectively. The revenue distribution indicates strong concentration among a few high-performing restaurants, suggesting that a small subset of restaurants drives a large portion of total platform revenue. Strengthening partnerships and promotional visibility for these restaurants could further enhance overall profitability.</a:t>
            </a:r>
          </a:p>
        </p:txBody>
      </p:sp>
      <p:pic>
        <p:nvPicPr>
          <p:cNvPr id="7" name="Picture 6">
            <a:extLst>
              <a:ext uri="{FF2B5EF4-FFF2-40B4-BE49-F238E27FC236}">
                <a16:creationId xmlns:a16="http://schemas.microsoft.com/office/drawing/2014/main" id="{602590CD-87F6-A12A-0F85-1B6FF3F66EF2}"/>
              </a:ext>
            </a:extLst>
          </p:cNvPr>
          <p:cNvPicPr>
            <a:picLocks noChangeAspect="1"/>
          </p:cNvPicPr>
          <p:nvPr/>
        </p:nvPicPr>
        <p:blipFill>
          <a:blip r:embed="rId3"/>
          <a:stretch>
            <a:fillRect/>
          </a:stretch>
        </p:blipFill>
        <p:spPr>
          <a:xfrm>
            <a:off x="6712528" y="1379322"/>
            <a:ext cx="2986810" cy="2477085"/>
          </a:xfrm>
          <a:prstGeom prst="rect">
            <a:avLst/>
          </a:prstGeom>
        </p:spPr>
      </p:pic>
    </p:spTree>
    <p:extLst>
      <p:ext uri="{BB962C8B-B14F-4D97-AF65-F5344CB8AC3E}">
        <p14:creationId xmlns:p14="http://schemas.microsoft.com/office/powerpoint/2010/main" val="1127024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5F800-1C72-D624-3463-81D5698CAACC}"/>
              </a:ext>
            </a:extLst>
          </p:cNvPr>
          <p:cNvSpPr>
            <a:spLocks noGrp="1"/>
          </p:cNvSpPr>
          <p:nvPr>
            <p:ph type="title"/>
          </p:nvPr>
        </p:nvSpPr>
        <p:spPr/>
        <p:txBody>
          <a:bodyPr/>
          <a:lstStyle/>
          <a:p>
            <a:r>
              <a:rPr lang="en-US" dirty="0"/>
              <a:t>Rating vs Delivery Time</a:t>
            </a:r>
          </a:p>
        </p:txBody>
      </p:sp>
      <p:sp>
        <p:nvSpPr>
          <p:cNvPr id="3" name="Content Placeholder 2">
            <a:extLst>
              <a:ext uri="{FF2B5EF4-FFF2-40B4-BE49-F238E27FC236}">
                <a16:creationId xmlns:a16="http://schemas.microsoft.com/office/drawing/2014/main" id="{61655219-415E-B455-018D-0E891975DF4D}"/>
              </a:ext>
            </a:extLst>
          </p:cNvPr>
          <p:cNvSpPr>
            <a:spLocks noGrp="1"/>
          </p:cNvSpPr>
          <p:nvPr>
            <p:ph idx="1"/>
          </p:nvPr>
        </p:nvSpPr>
        <p:spPr>
          <a:xfrm>
            <a:off x="838200" y="5029199"/>
            <a:ext cx="10515600" cy="1147763"/>
          </a:xfrm>
        </p:spPr>
        <p:txBody>
          <a:bodyPr>
            <a:normAutofit fontScale="62500" lnSpcReduction="20000"/>
          </a:bodyPr>
          <a:lstStyle/>
          <a:p>
            <a:r>
              <a:rPr lang="en-US" dirty="0"/>
              <a:t>The relationship between rating and delivery time shows only minor variation across rating levels. Although slightly higher delivery times are observed for lower ratings, the overall differences are small. This suggests that delivery time alone may not be the primary driver of customer satisfaction, and other factors such as food quality and service experience likely play a more significant role.</a:t>
            </a:r>
            <a:endParaRPr lang="en-US" sz="1200" dirty="0"/>
          </a:p>
        </p:txBody>
      </p:sp>
      <p:pic>
        <p:nvPicPr>
          <p:cNvPr id="4" name="Picture 3">
            <a:extLst>
              <a:ext uri="{FF2B5EF4-FFF2-40B4-BE49-F238E27FC236}">
                <a16:creationId xmlns:a16="http://schemas.microsoft.com/office/drawing/2014/main" id="{D5A56F08-7317-3D83-230E-CF72471AABAE}"/>
              </a:ext>
            </a:extLst>
          </p:cNvPr>
          <p:cNvPicPr>
            <a:picLocks noChangeAspect="1"/>
          </p:cNvPicPr>
          <p:nvPr/>
        </p:nvPicPr>
        <p:blipFill>
          <a:blip r:embed="rId2"/>
          <a:stretch>
            <a:fillRect/>
          </a:stretch>
        </p:blipFill>
        <p:spPr>
          <a:xfrm>
            <a:off x="838200" y="1589696"/>
            <a:ext cx="6740236" cy="3002288"/>
          </a:xfrm>
          <a:prstGeom prst="rect">
            <a:avLst/>
          </a:prstGeom>
        </p:spPr>
      </p:pic>
    </p:spTree>
    <p:extLst>
      <p:ext uri="{BB962C8B-B14F-4D97-AF65-F5344CB8AC3E}">
        <p14:creationId xmlns:p14="http://schemas.microsoft.com/office/powerpoint/2010/main" val="3537234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A9E32-9A12-B0B7-1833-4F37535FE2EE}"/>
              </a:ext>
            </a:extLst>
          </p:cNvPr>
          <p:cNvSpPr>
            <a:spLocks noGrp="1"/>
          </p:cNvSpPr>
          <p:nvPr>
            <p:ph type="title"/>
          </p:nvPr>
        </p:nvSpPr>
        <p:spPr/>
        <p:txBody>
          <a:bodyPr/>
          <a:lstStyle/>
          <a:p>
            <a:r>
              <a:rPr lang="en-US" dirty="0"/>
              <a:t>Rating vs. Food Prep Time</a:t>
            </a:r>
          </a:p>
        </p:txBody>
      </p:sp>
      <p:sp>
        <p:nvSpPr>
          <p:cNvPr id="3" name="Content Placeholder 2">
            <a:extLst>
              <a:ext uri="{FF2B5EF4-FFF2-40B4-BE49-F238E27FC236}">
                <a16:creationId xmlns:a16="http://schemas.microsoft.com/office/drawing/2014/main" id="{C2CA4CE4-B0CD-A060-EC6B-F3B3BF7B2472}"/>
              </a:ext>
            </a:extLst>
          </p:cNvPr>
          <p:cNvSpPr>
            <a:spLocks noGrp="1"/>
          </p:cNvSpPr>
          <p:nvPr>
            <p:ph idx="1"/>
          </p:nvPr>
        </p:nvSpPr>
        <p:spPr>
          <a:xfrm>
            <a:off x="838200" y="4987635"/>
            <a:ext cx="10515600" cy="1189327"/>
          </a:xfrm>
        </p:spPr>
        <p:txBody>
          <a:bodyPr>
            <a:normAutofit fontScale="62500" lnSpcReduction="20000"/>
          </a:bodyPr>
          <a:lstStyle/>
          <a:p>
            <a:pPr marL="0" indent="0">
              <a:buNone/>
            </a:pPr>
            <a:r>
              <a:rPr lang="en-US" dirty="0"/>
              <a:t>The relationship between rating and food preparation time shows minimal variation across rating levels. The average preparation time remains approximately 27 minutes for ratings 3, 4, and 5, with overlapping confidence intervals. This indicates that preparation time does not significantly influence customer ratings. Other factors such as food quality, delivery experience, and order accuracy may play a more important role in determining customer satisfaction.</a:t>
            </a:r>
            <a:endParaRPr lang="en-US" sz="1200" dirty="0"/>
          </a:p>
        </p:txBody>
      </p:sp>
      <p:pic>
        <p:nvPicPr>
          <p:cNvPr id="4" name="Picture 3">
            <a:extLst>
              <a:ext uri="{FF2B5EF4-FFF2-40B4-BE49-F238E27FC236}">
                <a16:creationId xmlns:a16="http://schemas.microsoft.com/office/drawing/2014/main" id="{27B0AC51-9F2D-3188-BD13-E6CD6C6A46FF}"/>
              </a:ext>
            </a:extLst>
          </p:cNvPr>
          <p:cNvPicPr>
            <a:picLocks noChangeAspect="1"/>
          </p:cNvPicPr>
          <p:nvPr/>
        </p:nvPicPr>
        <p:blipFill>
          <a:blip r:embed="rId2"/>
          <a:stretch>
            <a:fillRect/>
          </a:stretch>
        </p:blipFill>
        <p:spPr>
          <a:xfrm>
            <a:off x="3345873" y="1298863"/>
            <a:ext cx="7772400" cy="3429000"/>
          </a:xfrm>
          <a:prstGeom prst="rect">
            <a:avLst/>
          </a:prstGeom>
        </p:spPr>
      </p:pic>
    </p:spTree>
    <p:extLst>
      <p:ext uri="{BB962C8B-B14F-4D97-AF65-F5344CB8AC3E}">
        <p14:creationId xmlns:p14="http://schemas.microsoft.com/office/powerpoint/2010/main" val="3836211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CFDB-825B-F630-24DE-7BD21FAF9CEC}"/>
              </a:ext>
            </a:extLst>
          </p:cNvPr>
          <p:cNvSpPr>
            <a:spLocks noGrp="1"/>
          </p:cNvSpPr>
          <p:nvPr>
            <p:ph type="title"/>
          </p:nvPr>
        </p:nvSpPr>
        <p:spPr/>
        <p:txBody>
          <a:bodyPr/>
          <a:lstStyle/>
          <a:p>
            <a:r>
              <a:rPr lang="en-US" dirty="0"/>
              <a:t>Rating vs. Cost of the Order</a:t>
            </a:r>
          </a:p>
        </p:txBody>
      </p:sp>
      <p:sp>
        <p:nvSpPr>
          <p:cNvPr id="3" name="Content Placeholder 2">
            <a:extLst>
              <a:ext uri="{FF2B5EF4-FFF2-40B4-BE49-F238E27FC236}">
                <a16:creationId xmlns:a16="http://schemas.microsoft.com/office/drawing/2014/main" id="{3371389D-7279-A0DF-FC94-B25800D656FE}"/>
              </a:ext>
            </a:extLst>
          </p:cNvPr>
          <p:cNvSpPr>
            <a:spLocks noGrp="1"/>
          </p:cNvSpPr>
          <p:nvPr>
            <p:ph idx="1"/>
          </p:nvPr>
        </p:nvSpPr>
        <p:spPr>
          <a:xfrm>
            <a:off x="838200" y="5043055"/>
            <a:ext cx="10515600" cy="1133908"/>
          </a:xfrm>
        </p:spPr>
        <p:txBody>
          <a:bodyPr>
            <a:normAutofit fontScale="55000" lnSpcReduction="20000"/>
          </a:bodyPr>
          <a:lstStyle/>
          <a:p>
            <a:pPr marL="0" indent="0">
              <a:buNone/>
            </a:pPr>
            <a:r>
              <a:rPr lang="en-US" dirty="0"/>
              <a:t>The relationship between rating and cost of the order shows a slight positive trend. Orders with higher ratings tend to have marginally higher average costs, with rating 5 orders averaging approximately 17 dollars compared to 16.2 dollars for rating 3. This suggests that higher-priced meals may be associated with slightly better customer satisfaction, possibly reflecting perceived food quality or restaurant reputation. However, the difference is modest, indicating that cost alone does not strongly determine ratings.</a:t>
            </a:r>
            <a:endParaRPr lang="en-US" sz="1200" dirty="0"/>
          </a:p>
        </p:txBody>
      </p:sp>
      <p:pic>
        <p:nvPicPr>
          <p:cNvPr id="5" name="Picture 4">
            <a:extLst>
              <a:ext uri="{FF2B5EF4-FFF2-40B4-BE49-F238E27FC236}">
                <a16:creationId xmlns:a16="http://schemas.microsoft.com/office/drawing/2014/main" id="{7167D7AF-B591-34CA-D196-8DF5D972EC28}"/>
              </a:ext>
            </a:extLst>
          </p:cNvPr>
          <p:cNvPicPr>
            <a:picLocks noChangeAspect="1"/>
          </p:cNvPicPr>
          <p:nvPr/>
        </p:nvPicPr>
        <p:blipFill>
          <a:blip r:embed="rId2"/>
          <a:stretch>
            <a:fillRect/>
          </a:stretch>
        </p:blipFill>
        <p:spPr>
          <a:xfrm>
            <a:off x="1572491" y="1320276"/>
            <a:ext cx="7772400" cy="3469301"/>
          </a:xfrm>
          <a:prstGeom prst="rect">
            <a:avLst/>
          </a:prstGeom>
        </p:spPr>
      </p:pic>
    </p:spTree>
    <p:extLst>
      <p:ext uri="{BB962C8B-B14F-4D97-AF65-F5344CB8AC3E}">
        <p14:creationId xmlns:p14="http://schemas.microsoft.com/office/powerpoint/2010/main" val="911918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71F48-7C65-BF1A-BEC8-4FAFEC903BAE}"/>
              </a:ext>
            </a:extLst>
          </p:cNvPr>
          <p:cNvSpPr>
            <a:spLocks noGrp="1"/>
          </p:cNvSpPr>
          <p:nvPr>
            <p:ph type="title"/>
          </p:nvPr>
        </p:nvSpPr>
        <p:spPr/>
        <p:txBody>
          <a:bodyPr/>
          <a:lstStyle/>
          <a:p>
            <a:r>
              <a:rPr lang="en-US" dirty="0"/>
              <a:t>Correlation Amond Variables</a:t>
            </a:r>
          </a:p>
        </p:txBody>
      </p:sp>
      <p:sp>
        <p:nvSpPr>
          <p:cNvPr id="3" name="Content Placeholder 2">
            <a:extLst>
              <a:ext uri="{FF2B5EF4-FFF2-40B4-BE49-F238E27FC236}">
                <a16:creationId xmlns:a16="http://schemas.microsoft.com/office/drawing/2014/main" id="{0D65E8E0-0D05-5EFD-508B-18AF6B9EDD35}"/>
              </a:ext>
            </a:extLst>
          </p:cNvPr>
          <p:cNvSpPr>
            <a:spLocks noGrp="1"/>
          </p:cNvSpPr>
          <p:nvPr>
            <p:ph idx="1"/>
          </p:nvPr>
        </p:nvSpPr>
        <p:spPr>
          <a:xfrm>
            <a:off x="838200" y="4851400"/>
            <a:ext cx="10515600" cy="1325563"/>
          </a:xfrm>
        </p:spPr>
        <p:txBody>
          <a:bodyPr>
            <a:normAutofit fontScale="62500" lnSpcReduction="20000"/>
          </a:bodyPr>
          <a:lstStyle/>
          <a:p>
            <a:pPr marL="0" indent="0">
              <a:buNone/>
            </a:pPr>
            <a:r>
              <a:rPr lang="en-US" dirty="0"/>
              <a:t>The correlation analysis reveals very weak relationships among cost, food preparation time, and delivery time. The correlation between cost and preparation time (0.04) and between preparation and delivery time (0.01) are close to zero, indicating minimal linear association. Similarly, the correlation between cost and delivery time (-0.03) is negligible. These findings suggest that pricing, preparation time, and delivery time operate largely independently, and no strong linear relationships exist among these operational variables.</a:t>
            </a:r>
            <a:endParaRPr lang="en-US" sz="1200" dirty="0"/>
          </a:p>
        </p:txBody>
      </p:sp>
      <p:pic>
        <p:nvPicPr>
          <p:cNvPr id="4" name="Picture 3">
            <a:extLst>
              <a:ext uri="{FF2B5EF4-FFF2-40B4-BE49-F238E27FC236}">
                <a16:creationId xmlns:a16="http://schemas.microsoft.com/office/drawing/2014/main" id="{1443E822-C2D6-A409-ADD9-40EFDE6BA934}"/>
              </a:ext>
            </a:extLst>
          </p:cNvPr>
          <p:cNvPicPr>
            <a:picLocks noChangeAspect="1"/>
          </p:cNvPicPr>
          <p:nvPr/>
        </p:nvPicPr>
        <p:blipFill>
          <a:blip r:embed="rId2"/>
          <a:stretch>
            <a:fillRect/>
          </a:stretch>
        </p:blipFill>
        <p:spPr>
          <a:xfrm>
            <a:off x="969818" y="1426799"/>
            <a:ext cx="6809510" cy="3228693"/>
          </a:xfrm>
          <a:prstGeom prst="rect">
            <a:avLst/>
          </a:prstGeom>
        </p:spPr>
      </p:pic>
    </p:spTree>
    <p:extLst>
      <p:ext uri="{BB962C8B-B14F-4D97-AF65-F5344CB8AC3E}">
        <p14:creationId xmlns:p14="http://schemas.microsoft.com/office/powerpoint/2010/main" val="2241045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F39E-107A-39C9-4028-6E2D9DF5DFCC}"/>
              </a:ext>
            </a:extLst>
          </p:cNvPr>
          <p:cNvSpPr>
            <a:spLocks noGrp="1"/>
          </p:cNvSpPr>
          <p:nvPr>
            <p:ph type="title"/>
          </p:nvPr>
        </p:nvSpPr>
        <p:spPr/>
        <p:txBody>
          <a:bodyPr>
            <a:normAutofit/>
          </a:bodyPr>
          <a:lstStyle/>
          <a:p>
            <a:r>
              <a:rPr lang="en-US" sz="1600" b="1" dirty="0"/>
              <a:t>Question 13: The company wants to provide a promotional offer in the advertisement of the restaurants. The condition to get the offer is that the restaurants must have a rating count of more than 50 and the average rating should be greater than 4. Find the restaurants fulfilling the criteria to get the promotional offer. [3 marks]</a:t>
            </a:r>
            <a:br>
              <a:rPr lang="en-US" sz="1600" b="1" dirty="0"/>
            </a:br>
            <a:endParaRPr lang="en-US" sz="1600" dirty="0"/>
          </a:p>
        </p:txBody>
      </p:sp>
      <p:sp>
        <p:nvSpPr>
          <p:cNvPr id="3" name="Content Placeholder 2">
            <a:extLst>
              <a:ext uri="{FF2B5EF4-FFF2-40B4-BE49-F238E27FC236}">
                <a16:creationId xmlns:a16="http://schemas.microsoft.com/office/drawing/2014/main" id="{68003912-0E7B-2B9B-1832-BA1D14191A77}"/>
              </a:ext>
            </a:extLst>
          </p:cNvPr>
          <p:cNvSpPr>
            <a:spLocks noGrp="1"/>
          </p:cNvSpPr>
          <p:nvPr>
            <p:ph idx="1"/>
          </p:nvPr>
        </p:nvSpPr>
        <p:spPr>
          <a:xfrm>
            <a:off x="838200" y="4738255"/>
            <a:ext cx="4869873" cy="1438708"/>
          </a:xfrm>
        </p:spPr>
        <p:txBody>
          <a:bodyPr>
            <a:normAutofit fontScale="55000" lnSpcReduction="20000"/>
          </a:bodyPr>
          <a:lstStyle/>
          <a:p>
            <a:r>
              <a:rPr lang="en-US" dirty="0"/>
              <a:t>Shake Shack has the highest number of ratings (133), followed by The Meatball Shop (84), Blue Ribbon Sushi (73), and Blue Ribbon Fried Chicken (64). These restaurants exceed the minimum rating count threshold of 50. After applying the second condition of average rating greater than 4, four restaurants qualify for the promotional offer.</a:t>
            </a:r>
            <a:endParaRPr lang="en-US" sz="1200" dirty="0"/>
          </a:p>
        </p:txBody>
      </p:sp>
      <p:pic>
        <p:nvPicPr>
          <p:cNvPr id="4" name="Picture 3">
            <a:extLst>
              <a:ext uri="{FF2B5EF4-FFF2-40B4-BE49-F238E27FC236}">
                <a16:creationId xmlns:a16="http://schemas.microsoft.com/office/drawing/2014/main" id="{43ECAED6-7620-AD47-DB79-039097B78434}"/>
              </a:ext>
            </a:extLst>
          </p:cNvPr>
          <p:cNvPicPr>
            <a:picLocks noChangeAspect="1"/>
          </p:cNvPicPr>
          <p:nvPr/>
        </p:nvPicPr>
        <p:blipFill>
          <a:blip r:embed="rId2"/>
          <a:stretch>
            <a:fillRect/>
          </a:stretch>
        </p:blipFill>
        <p:spPr>
          <a:xfrm>
            <a:off x="1493404" y="1441306"/>
            <a:ext cx="3746500" cy="2514600"/>
          </a:xfrm>
          <a:prstGeom prst="rect">
            <a:avLst/>
          </a:prstGeom>
        </p:spPr>
      </p:pic>
      <p:sp>
        <p:nvSpPr>
          <p:cNvPr id="6" name="TextBox 5">
            <a:extLst>
              <a:ext uri="{FF2B5EF4-FFF2-40B4-BE49-F238E27FC236}">
                <a16:creationId xmlns:a16="http://schemas.microsoft.com/office/drawing/2014/main" id="{026228FF-4C2B-F423-13D8-AA8752036BF6}"/>
              </a:ext>
            </a:extLst>
          </p:cNvPr>
          <p:cNvSpPr txBox="1"/>
          <p:nvPr/>
        </p:nvSpPr>
        <p:spPr>
          <a:xfrm>
            <a:off x="6363277" y="3955906"/>
            <a:ext cx="4869872" cy="2031325"/>
          </a:xfrm>
          <a:prstGeom prst="rect">
            <a:avLst/>
          </a:prstGeom>
          <a:noFill/>
        </p:spPr>
        <p:txBody>
          <a:bodyPr wrap="square">
            <a:spAutoFit/>
          </a:bodyPr>
          <a:lstStyle/>
          <a:p>
            <a:r>
              <a:rPr lang="en-US" sz="1400" dirty="0"/>
              <a:t>Based on the promotional criteria (rating count greater than 50 and average rating above 4), four restaurants qualify: The Meatball Shop (4.51), Blue Ribbon Fried Chicken (4.33), Shake Shack (4.28), and Blue Ribbon Sushi (4.22). These restaurants demonstrate both strong customer engagement and high satisfaction levels. Featuring these restaurants in promotional advertisements is likely to enhance customer trust, drive increased order volume, and maximize platform revenue.</a:t>
            </a:r>
          </a:p>
        </p:txBody>
      </p:sp>
      <p:pic>
        <p:nvPicPr>
          <p:cNvPr id="7" name="Picture 6">
            <a:extLst>
              <a:ext uri="{FF2B5EF4-FFF2-40B4-BE49-F238E27FC236}">
                <a16:creationId xmlns:a16="http://schemas.microsoft.com/office/drawing/2014/main" id="{76F9AA5A-38AB-6D9E-B494-E395966D4DC1}"/>
              </a:ext>
            </a:extLst>
          </p:cNvPr>
          <p:cNvPicPr>
            <a:picLocks noChangeAspect="1"/>
          </p:cNvPicPr>
          <p:nvPr/>
        </p:nvPicPr>
        <p:blipFill>
          <a:blip r:embed="rId3"/>
          <a:stretch>
            <a:fillRect/>
          </a:stretch>
        </p:blipFill>
        <p:spPr>
          <a:xfrm>
            <a:off x="5708073" y="1532732"/>
            <a:ext cx="5473700" cy="2032000"/>
          </a:xfrm>
          <a:prstGeom prst="rect">
            <a:avLst/>
          </a:prstGeom>
        </p:spPr>
      </p:pic>
    </p:spTree>
    <p:extLst>
      <p:ext uri="{BB962C8B-B14F-4D97-AF65-F5344CB8AC3E}">
        <p14:creationId xmlns:p14="http://schemas.microsoft.com/office/powerpoint/2010/main" val="1286381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4FDD-03BD-6766-2110-0A5A0148A45D}"/>
              </a:ext>
            </a:extLst>
          </p:cNvPr>
          <p:cNvSpPr>
            <a:spLocks noGrp="1"/>
          </p:cNvSpPr>
          <p:nvPr>
            <p:ph type="title"/>
          </p:nvPr>
        </p:nvSpPr>
        <p:spPr/>
        <p:txBody>
          <a:bodyPr>
            <a:normAutofit/>
          </a:bodyPr>
          <a:lstStyle/>
          <a:p>
            <a:r>
              <a:rPr lang="en-US" sz="1800" b="1" dirty="0"/>
              <a:t>Question 14: The company charges the restaurant 25% on the orders having cost greater than 20 dollars and 15% on the orders having cost greater than 5 dollars. Find the net revenue generated by the company across all orders. [3 marks]</a:t>
            </a:r>
            <a:br>
              <a:rPr lang="en-US" sz="1800" b="1" dirty="0"/>
            </a:br>
            <a:endParaRPr lang="en-US" sz="1800" dirty="0"/>
          </a:p>
        </p:txBody>
      </p:sp>
      <p:sp>
        <p:nvSpPr>
          <p:cNvPr id="3" name="Content Placeholder 2">
            <a:extLst>
              <a:ext uri="{FF2B5EF4-FFF2-40B4-BE49-F238E27FC236}">
                <a16:creationId xmlns:a16="http://schemas.microsoft.com/office/drawing/2014/main" id="{5267D326-6255-E2DC-8645-0E5BB33155FF}"/>
              </a:ext>
            </a:extLst>
          </p:cNvPr>
          <p:cNvSpPr>
            <a:spLocks noGrp="1"/>
          </p:cNvSpPr>
          <p:nvPr>
            <p:ph idx="1"/>
          </p:nvPr>
        </p:nvSpPr>
        <p:spPr>
          <a:xfrm>
            <a:off x="838200" y="4655127"/>
            <a:ext cx="10515600" cy="1521836"/>
          </a:xfrm>
        </p:spPr>
        <p:txBody>
          <a:bodyPr>
            <a:normAutofit fontScale="62500" lnSpcReduction="20000"/>
          </a:bodyPr>
          <a:lstStyle/>
          <a:p>
            <a:pPr marL="0" indent="0">
              <a:buNone/>
            </a:pPr>
            <a:r>
              <a:rPr lang="en-US" dirty="0"/>
              <a:t>After applying the commission structure (25% on orders above 20 dollars and 15% on orders above 5 dollars), the total net revenue generated across all orders is approximately 6,166.30 dollars . This indicates that commission-based revenue is strongly influenced by higher-value orders. Since nearly 30% of orders exceed 20 dollars, promoting premium-priced meals could significantly increase overall profitability. On average, the company earns approximately 3.25 per </a:t>
            </a:r>
            <a:r>
              <a:rPr lang="en-US" dirty="0" err="1"/>
              <a:t>dollarsorder</a:t>
            </a:r>
            <a:r>
              <a:rPr lang="en-US" dirty="0"/>
              <a:t>, highlighting the importance of both order volume and order value in revenue generation.</a:t>
            </a:r>
            <a:endParaRPr lang="en-US" sz="1200" dirty="0"/>
          </a:p>
        </p:txBody>
      </p:sp>
      <p:pic>
        <p:nvPicPr>
          <p:cNvPr id="4" name="Picture 3">
            <a:extLst>
              <a:ext uri="{FF2B5EF4-FFF2-40B4-BE49-F238E27FC236}">
                <a16:creationId xmlns:a16="http://schemas.microsoft.com/office/drawing/2014/main" id="{1248A55C-B469-253D-5355-1031628C89F9}"/>
              </a:ext>
            </a:extLst>
          </p:cNvPr>
          <p:cNvPicPr>
            <a:picLocks noChangeAspect="1"/>
          </p:cNvPicPr>
          <p:nvPr/>
        </p:nvPicPr>
        <p:blipFill>
          <a:blip r:embed="rId2"/>
          <a:stretch>
            <a:fillRect/>
          </a:stretch>
        </p:blipFill>
        <p:spPr>
          <a:xfrm>
            <a:off x="0" y="1507660"/>
            <a:ext cx="12270231" cy="2179720"/>
          </a:xfrm>
          <a:prstGeom prst="rect">
            <a:avLst/>
          </a:prstGeom>
        </p:spPr>
      </p:pic>
    </p:spTree>
    <p:extLst>
      <p:ext uri="{BB962C8B-B14F-4D97-AF65-F5344CB8AC3E}">
        <p14:creationId xmlns:p14="http://schemas.microsoft.com/office/powerpoint/2010/main" val="3331700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8A492-BD0C-11FF-1158-8C880B1F85F8}"/>
              </a:ext>
            </a:extLst>
          </p:cNvPr>
          <p:cNvSpPr>
            <a:spLocks noGrp="1"/>
          </p:cNvSpPr>
          <p:nvPr>
            <p:ph type="title"/>
          </p:nvPr>
        </p:nvSpPr>
        <p:spPr/>
        <p:txBody>
          <a:bodyPr>
            <a:normAutofit/>
          </a:bodyPr>
          <a:lstStyle/>
          <a:p>
            <a:r>
              <a:rPr lang="en-US" sz="2000" b="1" dirty="0"/>
              <a:t>Question 15: The company wants to analyze the total time required to deliver the food. What percentage of orders take more than 60 minutes to get delivered from the time the order is placed? (The food has to be prepared and then delivered.)[2 marks]</a:t>
            </a:r>
            <a:br>
              <a:rPr lang="en-US" sz="2000" b="1" dirty="0"/>
            </a:br>
            <a:endParaRPr lang="en-US" sz="2000" dirty="0"/>
          </a:p>
        </p:txBody>
      </p:sp>
      <p:sp>
        <p:nvSpPr>
          <p:cNvPr id="3" name="Content Placeholder 2">
            <a:extLst>
              <a:ext uri="{FF2B5EF4-FFF2-40B4-BE49-F238E27FC236}">
                <a16:creationId xmlns:a16="http://schemas.microsoft.com/office/drawing/2014/main" id="{15DE1DB9-73A9-A4F2-F056-A39545139F42}"/>
              </a:ext>
            </a:extLst>
          </p:cNvPr>
          <p:cNvSpPr>
            <a:spLocks noGrp="1"/>
          </p:cNvSpPr>
          <p:nvPr>
            <p:ph idx="1"/>
          </p:nvPr>
        </p:nvSpPr>
        <p:spPr>
          <a:xfrm>
            <a:off x="838200" y="4419599"/>
            <a:ext cx="10515600" cy="1757363"/>
          </a:xfrm>
        </p:spPr>
        <p:txBody>
          <a:bodyPr>
            <a:normAutofit fontScale="85000" lnSpcReduction="20000"/>
          </a:bodyPr>
          <a:lstStyle/>
          <a:p>
            <a:pPr marL="0" indent="0">
              <a:buNone/>
            </a:pPr>
            <a:r>
              <a:rPr lang="en-US" dirty="0"/>
              <a:t>Approximately 10.54% of orders take more than 60 minutes from the time the order is placed to delivery. This means that about 1 in 10 customers experience a delivery time exceeding one hour. While the majority of orders (nearly 90%) are delivered within 60 minutes, the remaining delayed segment may negatively impact customer satisfaction. Reducing these longer delivery cases could improve service reliability and enhance overall customer experience.</a:t>
            </a:r>
            <a:endParaRPr lang="en-US" sz="1400" dirty="0"/>
          </a:p>
        </p:txBody>
      </p:sp>
      <p:pic>
        <p:nvPicPr>
          <p:cNvPr id="4" name="Picture 3">
            <a:extLst>
              <a:ext uri="{FF2B5EF4-FFF2-40B4-BE49-F238E27FC236}">
                <a16:creationId xmlns:a16="http://schemas.microsoft.com/office/drawing/2014/main" id="{68405A86-56B3-B47E-9CE9-501F407CCD6C}"/>
              </a:ext>
            </a:extLst>
          </p:cNvPr>
          <p:cNvPicPr>
            <a:picLocks noChangeAspect="1"/>
          </p:cNvPicPr>
          <p:nvPr/>
        </p:nvPicPr>
        <p:blipFill>
          <a:blip r:embed="rId2"/>
          <a:stretch>
            <a:fillRect/>
          </a:stretch>
        </p:blipFill>
        <p:spPr>
          <a:xfrm>
            <a:off x="1535546" y="2438401"/>
            <a:ext cx="6350000" cy="495300"/>
          </a:xfrm>
          <a:prstGeom prst="rect">
            <a:avLst/>
          </a:prstGeom>
        </p:spPr>
      </p:pic>
    </p:spTree>
    <p:extLst>
      <p:ext uri="{BB962C8B-B14F-4D97-AF65-F5344CB8AC3E}">
        <p14:creationId xmlns:p14="http://schemas.microsoft.com/office/powerpoint/2010/main" val="1982594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CE63ED-843B-9FCF-BDEE-833FE2D67388}"/>
              </a:ext>
            </a:extLst>
          </p:cNvPr>
          <p:cNvSpPr>
            <a:spLocks noGrp="1"/>
          </p:cNvSpPr>
          <p:nvPr>
            <p:ph idx="1"/>
          </p:nvPr>
        </p:nvSpPr>
        <p:spPr>
          <a:xfrm>
            <a:off x="838200" y="5292435"/>
            <a:ext cx="10515600" cy="884527"/>
          </a:xfrm>
        </p:spPr>
        <p:txBody>
          <a:bodyPr>
            <a:normAutofit fontScale="55000" lnSpcReduction="20000"/>
          </a:bodyPr>
          <a:lstStyle/>
          <a:p>
            <a:pPr marL="0" indent="0">
              <a:buNone/>
            </a:pPr>
            <a:r>
              <a:rPr lang="en-US" dirty="0"/>
              <a:t>The mean delivery time is approximately 28 minutes on weekdays and 22 minutes on weekends. This indicates that weekday deliveries take about 6 minutes longer on average compared to weekend deliveries. The difference may be due to higher traffic congestion, business-hour demand, or operational constraints during weekdays. Improving delivery efficiency during weekdays could enhance customer satisfaction and reduce service delays.</a:t>
            </a:r>
            <a:endParaRPr lang="en-US" sz="1200" dirty="0"/>
          </a:p>
        </p:txBody>
      </p:sp>
      <p:sp>
        <p:nvSpPr>
          <p:cNvPr id="4" name="Rectangle 1">
            <a:extLst>
              <a:ext uri="{FF2B5EF4-FFF2-40B4-BE49-F238E27FC236}">
                <a16:creationId xmlns:a16="http://schemas.microsoft.com/office/drawing/2014/main" id="{C1FB431D-B6AC-B0C3-95D2-B48C1CBA61F0}"/>
              </a:ext>
            </a:extLst>
          </p:cNvPr>
          <p:cNvSpPr>
            <a:spLocks noGrp="1" noChangeArrowheads="1"/>
          </p:cNvSpPr>
          <p:nvPr>
            <p:ph type="title"/>
          </p:nvPr>
        </p:nvSpPr>
        <p:spPr bwMode="auto">
          <a:xfrm>
            <a:off x="838200" y="473909"/>
            <a:ext cx="105156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var(--jp-content-font-family)"/>
              </a:rPr>
              <a:t>Question 16: The company wants to analyze the delivery time of the orders on weekdays and weekends. How does the mean delivery time vary during weekdays and weekends? [2 marks]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endParaRPr>
          </a:p>
        </p:txBody>
      </p:sp>
      <p:pic>
        <p:nvPicPr>
          <p:cNvPr id="5" name="Picture 4">
            <a:extLst>
              <a:ext uri="{FF2B5EF4-FFF2-40B4-BE49-F238E27FC236}">
                <a16:creationId xmlns:a16="http://schemas.microsoft.com/office/drawing/2014/main" id="{31F041DF-7BD5-F527-6737-6AB59B107B12}"/>
              </a:ext>
            </a:extLst>
          </p:cNvPr>
          <p:cNvPicPr>
            <a:picLocks noChangeAspect="1"/>
          </p:cNvPicPr>
          <p:nvPr/>
        </p:nvPicPr>
        <p:blipFill>
          <a:blip r:embed="rId2"/>
          <a:stretch>
            <a:fillRect/>
          </a:stretch>
        </p:blipFill>
        <p:spPr>
          <a:xfrm>
            <a:off x="3067050" y="3124200"/>
            <a:ext cx="6057900" cy="609600"/>
          </a:xfrm>
          <a:prstGeom prst="rect">
            <a:avLst/>
          </a:prstGeom>
        </p:spPr>
      </p:pic>
    </p:spTree>
    <p:extLst>
      <p:ext uri="{BB962C8B-B14F-4D97-AF65-F5344CB8AC3E}">
        <p14:creationId xmlns:p14="http://schemas.microsoft.com/office/powerpoint/2010/main" val="4039062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CAB98-9E42-F29F-A54D-673C9DBEE460}"/>
              </a:ext>
            </a:extLst>
          </p:cNvPr>
          <p:cNvSpPr>
            <a:spLocks noGrp="1"/>
          </p:cNvSpPr>
          <p:nvPr>
            <p:ph type="title"/>
          </p:nvPr>
        </p:nvSpPr>
        <p:spPr>
          <a:xfrm>
            <a:off x="838200" y="365125"/>
            <a:ext cx="10515600" cy="1325563"/>
          </a:xfrm>
        </p:spPr>
        <p:txBody>
          <a:bodyPr>
            <a:normAutofit/>
          </a:bodyPr>
          <a:lstStyle/>
          <a:p>
            <a:r>
              <a:rPr lang="en-US" sz="2000" b="1" dirty="0"/>
              <a:t>Question 17: What are your conclusions from the analysis? What recommendations would you like to share to help improve the business? (You can use cuisine type and feedback ratings to drive your business recommendations.) [6 marks]</a:t>
            </a:r>
            <a:br>
              <a:rPr lang="en-US" sz="2000" b="1" dirty="0"/>
            </a:br>
            <a:endParaRPr lang="en-US" sz="2000" dirty="0"/>
          </a:p>
        </p:txBody>
      </p:sp>
      <p:sp>
        <p:nvSpPr>
          <p:cNvPr id="4" name="Rectangle 1">
            <a:extLst>
              <a:ext uri="{FF2B5EF4-FFF2-40B4-BE49-F238E27FC236}">
                <a16:creationId xmlns:a16="http://schemas.microsoft.com/office/drawing/2014/main" id="{DC20CF76-BB95-133F-B3FF-CE9B4B14E65D}"/>
              </a:ext>
            </a:extLst>
          </p:cNvPr>
          <p:cNvSpPr>
            <a:spLocks noGrp="1" noChangeArrowheads="1"/>
          </p:cNvSpPr>
          <p:nvPr>
            <p:ph idx="1"/>
          </p:nvPr>
        </p:nvSpPr>
        <p:spPr bwMode="auto">
          <a:xfrm>
            <a:off x="838199" y="1375909"/>
            <a:ext cx="10855037" cy="5250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var(--jp-content-font-family)"/>
              </a:rPr>
              <a:t>Conclusions: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Demand is Highly Concentrated on Weekends: Approximately 71% of total orders occur on weekends, indicating that customer demand significantly increases during this period. Weekend demand is more than twice that of weekdays.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Revenue and Order Volume Are Concentrated Among Few Restaurants: The top 5 restaurants contribute approximately 33% of total orders. Shake Shack alone accounts for over 11% of all orders and generates the highest revenue ($3,579.53). This indicates strong brand dominance and demand concentration.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Cuisine Preferences Are Strongly Focused: American cuisine accounts for 30.7% of weekend orders, followed by Japanese cuisine at 24.8%. Together, these two cuisines represent over 55% of weekend demand. The top four cuisines make up approximately 83% of weekend orders, indicating significant customer preference clustering.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High Customer Satisfaction Levels: Among rated orders, 84% are rated 4 or 5 stars, indicating strong overall satisfaction. However, 38.8% of orders are not rated, limiting feedback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Delivery Performance Differences: mean delivery time = 24.16 minutes, weekday delivery time (28 min) is significantly longer than weekend delivery time (22 min), 10.54% of orders exceed 60 minutes total service time. This suggests operational inefficiencies during weekdays and a small but meaningful delayed-delivery segment.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Limited Correlation Between Operational Variables: Cost, preparation time, and delivery time show negligible correlation. This suggests pricing and operational speed operate largely independently.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var(--jp-content-font-famil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var(--jp-content-font-family)"/>
              </a:rPr>
              <a:t>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Increase Weekend Operational Capacity: Since demand is highest on weekends then it is recommended to increase delivery staffing during these times, offer weekend premium promotions, and highlight top-performing cuisines (American &amp; Japanese).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Improve Weekday Delivery Efficiency: Weekday delivery is 6 minutes slower on average and it is reccommended to optimize routing algorithms, increase driver availability during peak weekday hours, and implement traffic-based dispatching.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Target High-Value Orders: Since ~29% of orders exceed $20 and generate higher commission and it is recommeneded to promote premium meal bundles, offer loyalty incentives for high-spending customers, and upsell add-ons during checkout.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Strengthen Partnerships with Top Restaurants: Top restaurants generate a disproportionate share of revenue and it is recommended to offer featured placement in the app, run co-branded promotions, and provide advertising discounts for high-rated restaurants.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Encourage Customer Ratings: With 38.8% of orders unrated it is recommended that retauranuts provide small discounts for leaving feedback, send post-delivery rating reminders, and gamify rating participation. More feedback improves service optimization and customer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var(--jp-content-font-family)"/>
              </a:rPr>
              <a:t>Reduce Long Delivery Times (&gt;60 Minutes): Since 10.5% of orders exceed 60 minutes it is recommended to identify route bottlenecks Analyze peak-time congestion, and monitor restaurants with consistently high total_time. Reducing long-delivery cases can significantly improve satisfaction.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3957057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3940</Words>
  <Application>Microsoft Macintosh PowerPoint</Application>
  <PresentationFormat>Widescreen</PresentationFormat>
  <Paragraphs>136</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var(--jp-content-font-family)</vt:lpstr>
      <vt:lpstr>Office Theme</vt:lpstr>
      <vt:lpstr>FoodHub Business Performance &amp; Customer Insights Analysis Data Driven Business Insights</vt:lpstr>
      <vt:lpstr>Introduction</vt:lpstr>
      <vt:lpstr>Context </vt:lpstr>
      <vt:lpstr>Objective</vt:lpstr>
      <vt:lpstr>Data Description and Data Dictionary</vt:lpstr>
      <vt:lpstr>Question 1: How many rows and columns are present in the data? [0.5 mark]</vt:lpstr>
      <vt:lpstr>Question 2: What are the datatypes of the different columns in the dataset? [0.5 mark] </vt:lpstr>
      <vt:lpstr>Question 3: Are there any missing values in the data? If yes, treat them using an appropriate method. [1 Mark] </vt:lpstr>
      <vt:lpstr>Question 4: Check the statistical summary of the data. What is the minimum, average, and maximum time it takes for food to be prepared once an order is placed? [2 marks]  </vt:lpstr>
      <vt:lpstr>Question 5: How many orders are not rated? [1 mark] </vt:lpstr>
      <vt:lpstr>Exploratory Data Analysis</vt:lpstr>
      <vt:lpstr>Question 6: Explore all the variables and provide observations on their distributions. (Generally, histograms, boxplots, countplots, etc. are used for univariate exploration.) [9 marks]  </vt:lpstr>
      <vt:lpstr>Cost of the Order</vt:lpstr>
      <vt:lpstr>Day of the Week</vt:lpstr>
      <vt:lpstr>Rating</vt:lpstr>
      <vt:lpstr>Food Preparation Time</vt:lpstr>
      <vt:lpstr>Delivery Time</vt:lpstr>
      <vt:lpstr>Question 7: Which are the top 5 restaurants in terms of the number of orders received? [1 mark]  </vt:lpstr>
      <vt:lpstr>Question 8: Which is the most popular cuisine on weekends? [1 mark]  </vt:lpstr>
      <vt:lpstr>Question 9: What percentage of the orders cost more than 20 dollars? [2 marks]  </vt:lpstr>
      <vt:lpstr>Question 10: What is the mean order delivery time? [1 mark]  </vt:lpstr>
      <vt:lpstr>Question 11: The company has decided to give 20% discount vouchers to the top 5 most frequent customers. Find the IDs of these customers and the number of orders they placed. [1 mark]  </vt:lpstr>
      <vt:lpstr>Multivariate Analysis</vt:lpstr>
      <vt:lpstr>Question 12: Perform a multivariate analysis to explore relationships between the important variables in the dataset. (It is a good idea to explore relations between numerical variables as well as relations between numerical and categorical variables) [10 marks]  </vt:lpstr>
      <vt:lpstr>PowerPoint Presentation</vt:lpstr>
      <vt:lpstr>Cuisine vs. Food Preparation Time: Daty of the Week vs Delivery Time</vt:lpstr>
      <vt:lpstr>Rating vs Delivery Time</vt:lpstr>
      <vt:lpstr>Rating vs. Food Prep Time</vt:lpstr>
      <vt:lpstr>Rating vs. Cost of the Order</vt:lpstr>
      <vt:lpstr>Correlation Amond Variables</vt:lpstr>
      <vt:lpstr>Question 13: The company wants to provide a promotional offer in the advertisement of the restaurants. The condition to get the offer is that the restaurants must have a rating count of more than 50 and the average rating should be greater than 4. Find the restaurants fulfilling the criteria to get the promotional offer. [3 marks] </vt:lpstr>
      <vt:lpstr>Question 14: The company charges the restaurant 25% on the orders having cost greater than 20 dollars and 15% on the orders having cost greater than 5 dollars. Find the net revenue generated by the company across all orders. [3 marks] </vt:lpstr>
      <vt:lpstr>Question 15: The company wants to analyze the total time required to deliver the food. What percentage of orders take more than 60 minutes to get delivered from the time the order is placed? (The food has to be prepared and then delivered.)[2 marks] </vt:lpstr>
      <vt:lpstr>Question 16: The company wants to analyze the delivery time of the orders on weekdays and weekends. How does the mean delivery time vary during weekdays and weekends? [2 marks]  </vt:lpstr>
      <vt:lpstr>Question 17: What are your conclusions from the analysis? What recommendations would you like to share to help improve the business? (You can use cuisine type and feedback ratings to drive your business recommendations.) [6 marks]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Wolberg</dc:creator>
  <cp:lastModifiedBy>Sarah Wolberg</cp:lastModifiedBy>
  <cp:revision>8</cp:revision>
  <dcterms:created xsi:type="dcterms:W3CDTF">2026-03-02T04:19:03Z</dcterms:created>
  <dcterms:modified xsi:type="dcterms:W3CDTF">2026-03-02T05:29:06Z</dcterms:modified>
</cp:coreProperties>
</file>